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5.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 1: The strategy" id="{a3c994b0-1331-5ace-7916-d4fa2f5243a5}">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Lst>
        </p14:section>
        <p14:section name="Part 2: Hands-on session" id="{278ab59c-92d0-471f-b6ea-3c953f2402e8}">
          <p14:sldIdLst>
            <p14:sldId id="276"/>
            <p14:sldId id="277"/>
            <p14:sldId id="278"/>
            <p14:sldId id="279"/>
            <p14:sldId id="280"/>
            <p14:sldId id="281"/>
            <p14:sldId id="282"/>
            <p14:sldId id="283"/>
            <p14:sldId id="284"/>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What would help you learn a difficult topic?</c:v>
                </c:pt>
              </c:strCache>
            </c:strRef>
          </c:tx>
          <c:spPr>
            <a:solidFill>
              <a:srgbClr val="1F8A84"/>
            </a:solidFill>
            <a:effectLst/>
          </c:spPr>
          <c:invertIfNegative val="0"/>
          <c:dLbls>
            <c:numFmt formatCode="#,##0" sourceLinked="0"/>
            <c:txPr>
              <a:bodyPr/>
              <a:lstStyle/>
              <a:p>
                <a:pPr>
                  <a:defRPr b="1" i="0" strike="noStrike" sz="1200" u="none">
                    <a:solidFill>
                      <a:srgbClr val="1E1208"/>
                    </a:solidFill>
                    <a:latin typeface="Arial"/>
                  </a:defRPr>
                </a:pPr>
              </a:p>
            </c:txPr>
            <c:showLegendKey val="0"/>
            <c:showVal val="1"/>
            <c:showCatName val="0"/>
            <c:showSerName val="0"/>
            <c:showPercent val="0"/>
            <c:showBubbleSize val="0"/>
            <c:showLeaderLines val="0"/>
          </c:dLbls>
          <c:cat>
            <c:multiLvlStrRef>
              <c:f>Sheet1!$A$2:$A$7</c:f>
              <c:multiLvlStrCache>
                <c:ptCount val="6"/>
                <c:lvl>
                  <c:pt idx="0">
                    <c:v>Step-by-step explanations</c:v>
                  </c:pt>
                  <c:pt idx="1">
                    <c:v>Practice questions</c:v>
                  </c:pt>
                  <c:pt idx="2">
                    <c:v>Quizzes</c:v>
                  </c:pt>
                  <c:pt idx="3">
                    <c:v>Games / challenges</c:v>
                  </c:pt>
                  <c:pt idx="4">
                    <c:v>Examples</c:v>
                  </c:pt>
                  <c:pt idx="5">
                    <c:v>Study at my own pace</c:v>
                  </c:pt>
                </c:lvl>
              </c:multiLvlStrCache>
            </c:multiLvlStrRef>
          </c:cat>
          <c:val>
            <c:numRef>
              <c:f>Sheet1!$B$2:$B$7</c:f>
              <c:numCache>
                <c:formatCode>General</c:formatCode>
                <c:ptCount val="6"/>
                <c:pt idx="0">
                  <c:v>11</c:v>
                </c:pt>
                <c:pt idx="1">
                  <c:v>7</c:v>
                </c:pt>
                <c:pt idx="2">
                  <c:v>6</c:v>
                </c:pt>
                <c:pt idx="3">
                  <c:v>4</c:v>
                </c:pt>
                <c:pt idx="4">
                  <c:v>3</c:v>
                </c:pt>
                <c:pt idx="5">
                  <c:v>3</c:v>
                </c:pt>
              </c:numCache>
            </c:numRef>
          </c:val>
        </c:ser>
        <c:dLbls>
          <c:numFmt formatCode="#,##0" sourceLinked="0"/>
          <c:txPr>
            <a:bodyPr/>
            <a:lstStyle/>
            <a:p>
              <a:pPr>
                <a:defRPr b="1" i="0" strike="noStrike" sz="1200" u="none">
                  <a:solidFill>
                    <a:srgbClr val="1E1208"/>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1208"/>
                </a:solidFill>
                <a:latin typeface="Arial"/>
              </a:defRPr>
            </a:pPr>
            <a:endParaRPr lang="en-US"/>
          </a:p>
        </c:txPr>
        <c:crossAx val="2094734552"/>
        <c:crosses val="autoZero"/>
        <c:auto val="1"/>
        <c:lblAlgn val="ctr"/>
        <c:noMultiLvlLbl val="1"/>
      </c:catAx>
      <c:valAx>
        <c:axId val="2094734552"/>
        <c:scaling>
          <c:orientation val="minMax"/>
          <c:max val="1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If a platform showed your progress, what would you want to see?</c:v>
                </c:pt>
              </c:strCache>
            </c:strRef>
          </c:tx>
          <c:spPr>
            <a:solidFill>
              <a:srgbClr val="D4762A"/>
            </a:solidFill>
            <a:effectLst/>
          </c:spPr>
          <c:invertIfNegative val="0"/>
          <c:dLbls>
            <c:numFmt formatCode="#,##0" sourceLinked="0"/>
            <c:txPr>
              <a:bodyPr/>
              <a:lstStyle/>
              <a:p>
                <a:pPr>
                  <a:defRPr b="1" i="0" strike="noStrike" sz="1200" u="none">
                    <a:solidFill>
                      <a:srgbClr val="1E1208"/>
                    </a:solidFill>
                    <a:latin typeface="Arial"/>
                  </a:defRPr>
                </a:pPr>
              </a:p>
            </c:txPr>
            <c:showLegendKey val="0"/>
            <c:showVal val="1"/>
            <c:showCatName val="0"/>
            <c:showSerName val="0"/>
            <c:showPercent val="0"/>
            <c:showBubbleSize val="0"/>
            <c:showLeaderLines val="0"/>
          </c:dLbls>
          <c:cat>
            <c:multiLvlStrRef>
              <c:f>Sheet1!$A$2:$A$6</c:f>
              <c:multiLvlStrCache>
                <c:ptCount val="5"/>
                <c:lvl>
                  <c:pt idx="0">
                    <c:v>Topics I need to improve</c:v>
                  </c:pt>
                  <c:pt idx="1">
                    <c:v>Grades</c:v>
                  </c:pt>
                  <c:pt idx="2">
                    <c:v>Compare with my previous results</c:v>
                  </c:pt>
                  <c:pt idx="3">
                    <c:v>Strongest subjects</c:v>
                  </c:pt>
                  <c:pt idx="4">
                    <c:v>Progress toward goals</c:v>
                  </c:pt>
                </c:lvl>
              </c:multiLvlStrCache>
            </c:multiLvlStrRef>
          </c:cat>
          <c:val>
            <c:numRef>
              <c:f>Sheet1!$B$2:$B$6</c:f>
              <c:numCache>
                <c:formatCode>General</c:formatCode>
                <c:ptCount val="5"/>
                <c:pt idx="0">
                  <c:v>9</c:v>
                </c:pt>
                <c:pt idx="1">
                  <c:v>7</c:v>
                </c:pt>
                <c:pt idx="2">
                  <c:v>6</c:v>
                </c:pt>
                <c:pt idx="3">
                  <c:v>5</c:v>
                </c:pt>
                <c:pt idx="4">
                  <c:v>5</c:v>
                </c:pt>
              </c:numCache>
            </c:numRef>
          </c:val>
        </c:ser>
        <c:dLbls>
          <c:numFmt formatCode="#,##0" sourceLinked="0"/>
          <c:txPr>
            <a:bodyPr/>
            <a:lstStyle/>
            <a:p>
              <a:pPr>
                <a:defRPr b="1" i="0" strike="noStrike" sz="1200" u="none">
                  <a:solidFill>
                    <a:srgbClr val="1E1208"/>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1208"/>
                </a:solidFill>
                <a:latin typeface="Arial"/>
              </a:defRPr>
            </a:pPr>
            <a:endParaRPr lang="en-US"/>
          </a:p>
        </c:txPr>
        <c:crossAx val="2094734552"/>
        <c:crosses val="autoZero"/>
        <c:auto val="1"/>
        <c:lblAlgn val="ctr"/>
        <c:noMultiLvlLbl val="1"/>
      </c:catAx>
      <c:valAx>
        <c:axId val="2094734552"/>
        <c:scaling>
          <c:orientation val="minMax"/>
          <c:max val="1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Which parts of assessment take the most time or effort?</c:v>
                </c:pt>
              </c:strCache>
            </c:strRef>
          </c:tx>
          <c:spPr>
            <a:solidFill>
              <a:srgbClr val="D4762A"/>
            </a:solidFill>
            <a:effectLst/>
          </c:spPr>
          <c:invertIfNegative val="0"/>
          <c:dLbls>
            <c:numFmt formatCode="#,##0" sourceLinked="0"/>
            <c:txPr>
              <a:bodyPr/>
              <a:lstStyle/>
              <a:p>
                <a:pPr>
                  <a:defRPr b="1" i="0" strike="noStrike" sz="1200" u="none">
                    <a:solidFill>
                      <a:srgbClr val="1E1208"/>
                    </a:solidFill>
                    <a:latin typeface="Arial"/>
                  </a:defRPr>
                </a:pPr>
              </a:p>
            </c:txPr>
            <c:showLegendKey val="0"/>
            <c:showVal val="1"/>
            <c:showCatName val="0"/>
            <c:showSerName val="0"/>
            <c:showPercent val="0"/>
            <c:showBubbleSize val="0"/>
            <c:showLeaderLines val="0"/>
          </c:dLbls>
          <c:cat>
            <c:multiLvlStrRef>
              <c:f>Sheet1!$A$2:$A$6</c:f>
              <c:multiLvlStrCache>
                <c:ptCount val="5"/>
                <c:lvl>
                  <c:pt idx="0">
                    <c:v>Marking</c:v>
                  </c:pt>
                  <c:pt idx="1">
                    <c:v>Creating questions</c:v>
                  </c:pt>
                  <c:pt idx="2">
                    <c:v>Analyzing performance</c:v>
                  </c:pt>
                  <c:pt idx="3">
                    <c:v>Calculating results</c:v>
                  </c:pt>
                  <c:pt idx="4">
                    <c:v>Recording grades</c:v>
                  </c:pt>
                </c:lvl>
              </c:multiLvlStrCache>
            </c:multiLvlStrRef>
          </c:cat>
          <c:val>
            <c:numRef>
              <c:f>Sheet1!$B$2:$B$6</c:f>
              <c:numCache>
                <c:formatCode>General</c:formatCode>
                <c:ptCount val="5"/>
                <c:pt idx="0">
                  <c:v>8</c:v>
                </c:pt>
                <c:pt idx="1">
                  <c:v>6</c:v>
                </c:pt>
                <c:pt idx="2">
                  <c:v>5</c:v>
                </c:pt>
                <c:pt idx="3">
                  <c:v>4</c:v>
                </c:pt>
                <c:pt idx="4">
                  <c:v>3</c:v>
                </c:pt>
              </c:numCache>
            </c:numRef>
          </c:val>
        </c:ser>
        <c:dLbls>
          <c:numFmt formatCode="#,##0" sourceLinked="0"/>
          <c:txPr>
            <a:bodyPr/>
            <a:lstStyle/>
            <a:p>
              <a:pPr>
                <a:defRPr b="1" i="0" strike="noStrike" sz="1200" u="none">
                  <a:solidFill>
                    <a:srgbClr val="1E1208"/>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1208"/>
                </a:solidFill>
                <a:latin typeface="Arial"/>
              </a:defRPr>
            </a:pPr>
            <a:endParaRPr lang="en-US"/>
          </a:p>
        </c:txPr>
        <c:crossAx val="2094734552"/>
        <c:crosses val="autoZero"/>
        <c:auto val="1"/>
        <c:lblAlgn val="ctr"/>
        <c:noMultiLvlLbl val="1"/>
      </c:catAx>
      <c:valAx>
        <c:axId val="2094734552"/>
        <c:scaling>
          <c:orientation val="minMax"/>
          <c:max val="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What should a platform tell you about your students?</c:v>
                </c:pt>
              </c:strCache>
            </c:strRef>
          </c:tx>
          <c:spPr>
            <a:solidFill>
              <a:srgbClr val="1F8A84"/>
            </a:solidFill>
            <a:effectLst/>
          </c:spPr>
          <c:invertIfNegative val="0"/>
          <c:dLbls>
            <c:numFmt formatCode="#,##0" sourceLinked="0"/>
            <c:txPr>
              <a:bodyPr/>
              <a:lstStyle/>
              <a:p>
                <a:pPr>
                  <a:defRPr b="1" i="0" strike="noStrike" sz="1200" u="none">
                    <a:solidFill>
                      <a:srgbClr val="1E1208"/>
                    </a:solidFill>
                    <a:latin typeface="Arial"/>
                  </a:defRPr>
                </a:pPr>
              </a:p>
            </c:txPr>
            <c:showLegendKey val="0"/>
            <c:showVal val="1"/>
            <c:showCatName val="0"/>
            <c:showSerName val="0"/>
            <c:showPercent val="0"/>
            <c:showBubbleSize val="0"/>
            <c:showLeaderLines val="0"/>
          </c:dLbls>
          <c:cat>
            <c:multiLvlStrRef>
              <c:f>Sheet1!$A$2:$A$6</c:f>
              <c:multiLvlStrCache>
                <c:ptCount val="5"/>
                <c:lvl>
                  <c:pt idx="0">
                    <c:v>Students who are struggling</c:v>
                  </c:pt>
                  <c:pt idx="1">
                    <c:v>Students needing support</c:v>
                  </c:pt>
                  <c:pt idx="2">
                    <c:v>Common mistakes</c:v>
                  </c:pt>
                  <c:pt idx="3">
                    <c:v>Students who are improving</c:v>
                  </c:pt>
                  <c:pt idx="4">
                    <c:v>Class vs previous assessments</c:v>
                  </c:pt>
                </c:lvl>
              </c:multiLvlStrCache>
            </c:multiLvlStrRef>
          </c:cat>
          <c:val>
            <c:numRef>
              <c:f>Sheet1!$B$2:$B$6</c:f>
              <c:numCache>
                <c:formatCode>General</c:formatCode>
                <c:ptCount val="5"/>
                <c:pt idx="0">
                  <c:v>8</c:v>
                </c:pt>
                <c:pt idx="1">
                  <c:v>7</c:v>
                </c:pt>
                <c:pt idx="2">
                  <c:v>7</c:v>
                </c:pt>
                <c:pt idx="3">
                  <c:v>6</c:v>
                </c:pt>
                <c:pt idx="4">
                  <c:v>6</c:v>
                </c:pt>
              </c:numCache>
            </c:numRef>
          </c:val>
        </c:ser>
        <c:dLbls>
          <c:numFmt formatCode="#,##0" sourceLinked="0"/>
          <c:txPr>
            <a:bodyPr/>
            <a:lstStyle/>
            <a:p>
              <a:pPr>
                <a:defRPr b="1" i="0" strike="noStrike" sz="1200" u="none">
                  <a:solidFill>
                    <a:srgbClr val="1E1208"/>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1208"/>
                </a:solidFill>
                <a:latin typeface="Arial"/>
              </a:defRPr>
            </a:pPr>
            <a:endParaRPr lang="en-US"/>
          </a:p>
        </c:txPr>
        <c:crossAx val="2094734552"/>
        <c:crosses val="autoZero"/>
        <c:auto val="1"/>
        <c:lblAlgn val="ctr"/>
        <c:noMultiLvlLbl val="1"/>
      </c:catAx>
      <c:valAx>
        <c:axId val="2094734552"/>
        <c:scaling>
          <c:orientation val="minMax"/>
          <c:max val="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Mastery</c:v>
                </c:pt>
              </c:strCache>
            </c:strRef>
          </c:tx>
          <c:spPr>
            <a:solidFill>
              <a:schemeClr val="accent1"/>
            </a:solidFill>
            <a:ln w="9525" cap="flat">
              <a:solidFill>
                <a:srgbClr val="F9F9F9"/>
              </a:solidFill>
              <a:prstDash val="solid"/>
              <a:round/>
            </a:ln>
            <a:effectLst/>
          </c:spPr>
          <c:dPt>
            <c:idx val="0"/>
            <c:bubble3D val="0"/>
            <c:spPr>
              <a:solidFill>
                <a:srgbClr val="F2C230"/>
              </a:solidFill>
              <a:ln w="9525" cap="flat">
                <a:solidFill>
                  <a:srgbClr val="1E1710"/>
                </a:solidFill>
                <a:prstDash val="solid"/>
                <a:round/>
              </a:ln>
              <a:effectLst/>
            </c:spPr>
          </c:dPt>
          <c:dPt>
            <c:idx val="1"/>
            <c:bubble3D val="0"/>
            <c:spPr>
              <a:solidFill>
                <a:srgbClr val="3A2E22"/>
              </a:solidFill>
              <a:ln w="9525" cap="flat">
                <a:solidFill>
                  <a:srgbClr val="1E1710"/>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Mastered</c:v>
                </c:pt>
                <c:pt idx="1">
                  <c:v>To go</c:v>
                </c:pt>
              </c:strCache>
            </c:strRef>
          </c:cat>
          <c:val>
            <c:numRef>
              <c:f>Sheet1!$B$2:$B$3</c:f>
              <c:numCache>
                <c:ptCount val="2"/>
                <c:pt idx="0">
                  <c:v>72</c:v>
                </c:pt>
                <c:pt idx="1">
                  <c:v>28</c:v>
                </c:pt>
              </c:numCache>
            </c:numRef>
          </c:val>
        </c:ser>
        <c:firstSliceAng val="0"/>
        <c:holeSize val="72"/>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this slide appears right after the opening video (about 1.5 minutes). Allow 1 minute here.
SAY: Thank you for your time. The film showed an idea. In the next 30 minutes I will show how that idea is built for a real school, and then you will experience it yourselves.
NOTE: The picture is an AI-generated impression of a hillside school, used in the film. It is not a photograph of Manchester High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SAY: Two parts. First, the strategy: why this matters and what the three products are. Then the part I am most looking forward to: you will log in and use it.
SET EXPECTATIONS: There is no contract to sign today. By the end I want us to have a shared view of where Smart Assess Ja could start at Manchester High School, if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45 seconds. Pause on this slide.
SAY: Schools do not work like generic software. They work through people and roles: students, teachers, heads of department, administrators, leadership. Smart Assess Ja is organized around that structure rather than asking a school to bend around a tool.
The three circles are the three products you are about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SAY: This is not a criticism of how anyone here works. It is what exams require when everything moves through paper. Walk the chain: create, print, copy, sit, collect, mark, record, analyze. And only at the end, if there is time, do we ask the question that matters most: who needs help?
ASK THE ROOM (optional): "Which of these steps takes your department the longest?"
Picture: AI-generated, from the film.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SAY: About 1,800 students, and around them teachers, heads of department, administrators and school leadership. Every one of those people creates and needs information, every day.
The figure of about 1,800 students is the school size we were given. Correct it if the number has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(this adds about 3 minutes to Part 1 together with the next slide).
SAY: Before we built anything for Manchester, we asked. Twelve students filled in a paper survey. They could tick as many answers as they liked, so these are counts of students, out of twelve.
READ THE CHARTS: 11 of 12 said step-by-step explanations would help them learn a difficult topic. When asked what they would want to see about their own progress, 9 of 12 said the topics they need to improve. In the right-hand box are three of their own written answers, lightly corrected for spelling.
BOTTOM LINE: 10 of 12 want help studying for exams; 7 of 12 picked flashcards as a way to practise; and wifi and offline access were raised in their own words by two students.
BE HONEST: twelve students is a small sample from one school. It is a signal about what matters to them, not a measurement of the whole school. Do not describe it as representative.
CONNECT: step-by-step lessons and check-your-understanding questions are what Smart Learning is built around; showing students the topics they need to improve is on our list and not built yet. Flashcards are not built yet either. Say so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SAY: Ten teachers answered the same kind of survey. Marking was the part of assessment that takes the most time or effort: 8 of 10. Creating questions came next at 6 of 10.
When we asked what a platform should tell them about students, the top answers were who is struggling, who needs support and what mistakes are common: 7 or 8 of 10 each.
Right-hand box: 9 of 10 want a platform that shows what a student missed; 9 of 10 want activities for different ability levels; 8 of 10 want AI-assisted lesson planning.
The quote at the bottom is one teacher's own answer to "If you could add ONE feature to improve teaching at your school, what would it be?".
BE HONEST: ten teachers is a small sample. Say this is what the people who answered told us, and invite the room to add to it.
CONNECT: missed-class catch-up and AI-assisted lesson plans exist today. Essay marking is still by hand (AI only flags integrity concerns), and a per-question "most missed" view for a teacher is not built yet. Do not promise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SAY: Assess measures learning. Learning is what we do about the results. Play keeps practice engaging between assessments. They share one school, one set of people and one set of data.
STATUS (be precise): Smart Assess is in use. Smart Learning is switched on at Manchester. Smart Play is coming soon. Do not describe Smart Play as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SAY: Smart Assess is the foundation. A teacher builds an assessment once, assigns it to a class, and students sit it on a device. Answers save as students work, including when the connection is unreliable.
ACCURACY: Objective questions can be marked by the system. Written answers are marked by the teacher. Say "teachers stay in control of marking"; never say everything is marked automatically.
Integrity checks produce flags for a person to review. They do not decide anything about a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SAY: Everyone in a school has a different relationship with an assessment. The student sits it. The teacher writes and marks it. The head of department makes sure it is good. Leadership needs the picture across the school.
The review chain is the school's choice. Some schools publish directly; others want department review or a multi-stage review for formal exams.
ASK: "Which of these would fit how Manchester runs its formal exams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SAY: Integrity and fairness matter most for formal exams. The platform makes it harder to switch away from an exam, limits a student to one device, and protects their work if the connection drops. A teacher can also switch on a read-aloud accommodation.
The principle on the bottom: flags are for people to review. We never want a system to accuse a student.
If asked about the desktop kiosk app or exact settings, say you will confirm details after the session rather than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SAY: Assessment tells us what happened. Smart Learning is about what we do next. Lessons follow the five-E model: Engage, Explore, Explain, Elaborate, Evaluate. Each lesson can carry check-your-understanding questions, so a teacher can see how a student is progressing. Beside the lessons sits the Library, which the next-but-one slide shows.
Status: Smart Learning is switched on at Manchester. The AI tutor is a separate, optional switch; do not say it is active unless the school has switched it on. Where it is on, it works inside a lesson, has daily limits, and conversations that raise a wellbeing or safety concern are flagged for an adult to read.
Catch-up works when the teacher records the day a lesson was taught and assigns it to the class; students absent on that day are then offered the catch-up.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SAY: A student is out for three days with illness. In most schools the catch-up depends on the student asking, or the teacher finding time. Smart Learning is designed to give that student a clear path back into the lesson.
ACCURACY: This works when (1) the teacher assigns the lesson to the class, (2) records the day it was taught, and (3) the student's absence is recorded. Say "designed to", and explain that the teacher stays in the loop.
ASK THE ROOM: "What happens today when a student misses an important lesson?" Listen; write answers down. They are useful later.
Picture: AI-generated, from the film.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(this adds about 2 minutes to Part 1).
SAY: Smart Learning is not only lessons. Students also have a Library. It has a curriculum shelf, which includes set texts such as Shakespeare, and a read-for-fun shelf. A student can read a book page by page, bookmark a page, keep a private note, or listen to an audio recording, and the Library remembers where they stopped.
Teachers can assign a reading to a class with a due date, optionally with check-your-understanding questions, and see who has read it. Nothing about the Library is forced on a school: the school switches it on, chooses which shelves and forms see it, can switch audio off, and can hide any title.
SOURCING (say this if asked about copyright): Smart Assess Ja chooses and clears every title centrally. We use public-domain works (in Jamaica a work enters the public domain 95 years after the author's death), openly licensed texts and volunteer recordings. Schools do not upload books. A title is only published after rights are confirmed.
STATUS (be precise): the Library is built and tested, but it is switched on school by school. Confirm that it is on at Manchester and that real titles are published before you describe it as live. The screens on this slide are illustrative, not photographs of a live school account. Offline reading is NOT built; do not promise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SAY: Not every learning activity should feel like an examination. Smart Play is where practice becomes engaging: single-player topic practice, head-to-head Math Duels between students in the same grade, and live quizzes the teacher runs on the projector while students answer on their own devices.
STATUS: Smart Play is coming soon at Manchester. These are illustrative mock-ups, not live screens. Say so plainly. All numbers on the screens are examples.
Smart Play does not replace formal assessment. It reinforces learning between assessments.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SAY: The point of three products is the loop. Assess tells you where students are. Learn helps them recover and move forward. Practice reinforces it. Improve, and assess again to see whether it worked.
On the right: the same information is useful to different people at different levels. The student sees their own progress. The teacher sees the class. The head of department sees the department. Leadership gets the broader view.
This is the "one view of learning" idea from the film.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SAY: Different people need different views. A teacher needs their classrooms. A head of department needs the department. Leadership needs the school.
ACCURACY: Everything on this slide corresponds to a screen that exists in the platform today, but what each person sees depends on the roles and features switched on at Manchester. During the hands-on session, use only screens that are actually available to the accounts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SAY: Leadership will want to know where student data lives and what the AI does. Each school gets its own separate environment. Staff accounts require two-factor sign-in. AI is used to help teachers draft, and a person always reviews.
The AI tutor is optional and switched on school by school. Where it is on, flagged conversations go to an adult to read.
If asked for detail on the Data Protection Act or hosting, say you will send a written summary after the session. Do not improvise legal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SAY: I do not want to hand you a contract. This is a pathway. Step 1 is what we are doing today. Step 2 is for you to choose a starting point that matters: which departments, which classes, which kinds of assessment. Then a pilot of a defined length, a review against measures you care about, and only then a decision on how to widen it.
Everything on this slide is a proposal for discussion. Do not commit to dates, scope or numbers here. Leave the final slide of Part 2 to draw out where the room would start.
The measures are examples of what to track, not claims about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30 seconds.
SAY: That is the strategy. Now you are going to experience it. Everyone will see Smart Assess from a different seat.
Before moving on: confirm everyone has their login details, a device, and the sign-in page open. Hand out the printed challenge sheets (one page per role) and the feedback capture sheet to whoever is taking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SAY: Here is the plan for the next 40 minutes: orientation, then the teacher view, the student view, results, Smart Learning, Smart Play, and the leadership view. After that you explore on your own for 10 minutes, and we finish with a group discussion.
The bar is drawn to scale. If time is short, shorten Phase 2 or Phase 7 rather than dropping the hands-on exploration.
FACILITATOR RULE: during hands-on testing do not take over anyone's screen. Ask: "What are you trying to do?" and guide from there. Write down what you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SAY: Everyone is going to experience Smart Assess from a different perspective. If you have a teacher account, you will see how an assessment is built and marked. If you have a student account, you will take one. If you are in leadership, you will see what school-wide information looks like.
The ecosystem connects these experiences: what a teacher builds, a student completes, and a leader reviews is the same assessment.
SETUP CHECK: staff use their own real accounts. Student accounts and data are demo data only. Remind everyone not to use real student information during the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 minutes.
FACILITATE: Teachers log in with their own accounts. Walk through the list in order, but let people wander. At each stage, ask: "How much time would this normally take?" and connect the answer to the paper workflow (write, print, copy, collect, mark).
DO NOT take over anyone's screen. Ask "What are you trying to do?" and guide.
CAPTURE: Write down confusing navigation, missing information, questions, and concerns on the feedback sheet.
QUESTIONS TO USE HERE: (1) "What currently takes the most time when preparing an examination?" (2) "How much printing does assessment require?"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FACILITATE: Anyone with a student account logs in and takes the demo assessment. Students (or staff using student demo accounts) open the assigned work, answer, navigate between questions, and submit.
SAY: This is not a PDF on a screen. The platform saves answers as students work, keeps a record, and passes the responses to marking and results.
DEMO DATA: Student accounts and data are demo data only. If anyone asks, confirm no real student information is used.
Then ask: "How is this different from the teacher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FACILITATE: Return to the teacher or administrator view. Show the path: assessment, student responses, marking, results, performance information. Show how the information could support instructional decisions: which questions were missed, which classes struggled.
ASK: "What would you normally do after receiving these results?" Listen for answers like re-teaching, extra classes, or nothing, because there was no time. Then connect to Smart Learning.
QUESTION TO USE HERE: "How long does it normally take before teachers can analyze results?"
ACCURACY: Show only the screens that exist for the accounts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SAY: Assessment tells us what happened. Learning tells us what we do next.
FACILITATE: Open a Smart Learning lesson. Show the structure (the five steps), the topic, student progress, a check-your-understanding question, and the coverage view. Then tell the Manchester scenario: a student misses three days. Show how the lesson, once assigned with the day it was taught, is offered to that student as a catch-up.
LIBRARY: if the Library is switched on for the demo accounts, open it from the student menu: show the two shelves, open a book, turn a page, add a bookmark. For the teacher account, show Assign reading. If the Library menu item is not there, say it is switched on school by school and show the Library slide from Part 1 instead.
ACCURACY: Smart Learning is switched on at Manchester, so you can demo it live. The AI tutor is a separate switch. Only show it if it is enabled; otherwise describe it as optional.
QUESTION TO USE HERE: "What happens when a student misses an important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SAY: Not every learning activity should feel like an examination. Smart Play turns reinforcement and practice into something students want to do.
STATUS: Smart Play is coming soon at Manchester, so you are showing illustrative mock-ups on this slide, not a live environment. Say that plainly. Do not pretend it is live.
Walk through: the Jeopardy-style board (the teacher picks categories and runs a buzz-in board on the projector), Tug of War (two teams race through quick questions, every student appears on the field), and the rewards that keep practice going: XP, streaks, badges and class leaderboards. All names and numbers here are examples.
REMIND: Smart Play is not a replacement for formal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FACILITATE: For the principal, vice principal and heads of department: log in with their own accounts and look at what is available to them. Teachers see their classrooms; HODs see their departments; leadership gets a broader view of the school.
ACCURACY: Show only screens and permissions that are actually implemented for these accounts. If something on the list is not available at Manchester yet (for example, attendance if not set up), say so; do not demonstrate or promise it.
QUESTIONS TO USE HERE: (5) "How do HODs currently identify learning gaps across classes?" (6) "What information would leadership like to see that is difficult to get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Stop the demonstration here.
SAY: Pause. Close the laptops for a moment. Think about how an examination works today: creating, printing, administering, marking and analyzing.
ASK: "How many steps just disappeared?"
Let the room answer. Do not give a number yourself and do not claim a specific figure; only name what you actually demonstrated (for example: printing, copying, collecting, and manual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SAY: And what becomes possible when assessment data is connected to learning and reinforcement? Results from Smart Assess tell a teacher who needs help. Smart Learning gives those students a structured way back in. Smart Play keeps practice going between assessments.
This is the ecosystem. Then move straight to the hands-on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 minutes.
FACILITATE: Everyone works independently on the challenge sheet for their role. Hand out the printed sheets. Walk the room.
RULES: Do NOT immediately take over someone's screen. Ask: "What are you trying to do?" and guide. Write down: confusing navigation, missing information, questions, bugs, feature requests, and teacher, student and administrator concerns on the feedback capture sheet. These become post-meeting product feedback.
KEEP IT LIGHT: This is exploration, not a test of the participants. If someone cannot find something, that is feedback about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reference slide; not shown for long.
USE: These eight questions make the session collaborative rather than a one-way pitch. Ask them at the phase shown on each card (or any time the conversation allows). Write the answers down on the feedback sheet; they are the raw material for the next implementation conversation.
Do not rush to answer. Silence is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 to 10 minutes.
ASK: "What would need to be true for Manchester High School to successfully adopt this?"
FACILITATE: Capture the answers on a whiteboard or flip chart under six headings: People, Process, Technology, Training, Data, Implementation. Let the room fill them in; use the prompts on the cards only if the room goes quiet.
Then discuss a potential pilot or adoption pathway (see the pathway slide in Part 1). Do not pitch a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as long as the room needs.
ASK: "Where would you start?"
Then stop talking. Do not immediately pitch a contract. Let the room identify the highest-value starting point. Their answers decide the next implementation conversation: which department, which kind of assessment, which problem hurts most.
Before you leave: collect the feedback sheets, photograph any whiteboard notes, and agree who will follow up and by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DARK_BAR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DF8F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10908792" cy="10058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txBox="1"/>
          <p:nvPr/>
        </p:nvSpPr>
        <p:spPr>
          <a:xfrm>
            <a:off x="640080" y="6419088"/>
            <a:ext cx="7315200" cy="274320"/>
          </a:xfrm>
          <a:prstGeom prst="rect">
            <a:avLst/>
          </a:prstGeom>
          <a:noFill/>
          <a:ln/>
        </p:spPr>
        <p:txBody>
          <a:bodyPr wrap="square" lIns="0" tIns="0" rIns="0" bIns="0" rtlCol="0" anchor="ctr"/>
          <a:lstStyle/>
          <a:p>
            <a:pPr indent="0" marL="0">
              <a:buNone/>
            </a:pPr>
            <a:r>
              <a:rPr lang="en-US" sz="1000" spc="300" kern="0" dirty="0">
                <a:solidFill>
                  <a:schemeClr val="accent5"/>
                </a:solidFill>
              </a:rPr>
              <a:t>SMART ASSESS JA   |   BUILT FOR MANCHESTER HIGH SCHOOL</a:t>
            </a:r>
            <a:endParaRPr lang="en-US" sz="10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10908792" cy="10058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txBox="1"/>
          <p:nvPr/>
        </p:nvSpPr>
        <p:spPr>
          <a:xfrm>
            <a:off x="640080" y="6419088"/>
            <a:ext cx="7315200" cy="274320"/>
          </a:xfrm>
          <a:prstGeom prst="rect">
            <a:avLst/>
          </a:prstGeom>
          <a:noFill/>
          <a:ln/>
        </p:spPr>
        <p:txBody>
          <a:bodyPr wrap="square" lIns="0" tIns="0" rIns="0" bIns="0" rtlCol="0" anchor="ctr"/>
          <a:lstStyle/>
          <a:p>
            <a:pPr indent="0" marL="0">
              <a:buNone/>
            </a:pPr>
            <a:r>
              <a:rPr lang="en-US" sz="1000" spc="300" kern="0" dirty="0">
                <a:solidFill>
                  <a:schemeClr val="accent6"/>
                </a:solidFill>
              </a:rPr>
              <a:t>SMART ASSESS JA   |   BUILT FOR MANCHESTER HIGH SCHOOL</a:t>
            </a:r>
            <a:endParaRPr lang="en-US" sz="10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BAR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slideLayout" Target="../slideLayouts/slideLayout4.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jp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2.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Slide-15-image-1.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4.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3.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4.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slideLayout" Target="../slideLayouts/slideLayout2.xml"/><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campus photo" descr="Aerial view of a hillside school at sunrise">    </p:cNvPr>
          <p:cNvPicPr>
            <a:picLocks noChangeAspect="1"/>
          </p:cNvPicPr>
          <p:nvPr/>
        </p:nvPicPr>
        <p:blipFill>
          <a:blip r:embed="rId2"/>
          <a:srcRect l="0" r="0" t="0" b="0"/>
          <a:stretch/>
        </p:blipFill>
        <p:spPr>
          <a:xfrm>
            <a:off x="5760720" y="0"/>
            <a:ext cx="6428232" cy="6858000"/>
          </a:xfrm>
          <a:prstGeom prst="rect">
            <a:avLst/>
          </a:prstGeom>
        </p:spPr>
      </p:pic>
      <p:sp>
        <p:nvSpPr>
          <p:cNvPr id="3" name="logo plate"/>
          <p:cNvSpPr/>
          <p:nvPr/>
        </p:nvSpPr>
        <p:spPr>
          <a:xfrm>
            <a:off x="640080" y="640080"/>
            <a:ext cx="960120" cy="960120"/>
          </a:xfrm>
          <a:prstGeom prst="roundRect">
            <a:avLst>
              <a:gd name="adj" fmla="val 19048"/>
            </a:avLst>
          </a:prstGeom>
          <a:solidFill>
            <a:srgbClr val="F6EDE0"/>
          </a:solidFill>
          <a:ln w="12700">
            <a:solidFill>
              <a:srgbClr val="F6EDE0"/>
            </a:solidFill>
            <a:prstDash val="solid"/>
          </a:ln>
        </p:spPr>
      </p:sp>
      <p:pic>
        <p:nvPicPr>
          <p:cNvPr id="4" name="logo" descr="Smart Assess Ja logo">    </p:cNvPr>
          <p:cNvPicPr>
            <a:picLocks noChangeAspect="1"/>
          </p:cNvPicPr>
          <p:nvPr/>
        </p:nvPicPr>
        <p:blipFill>
          <a:blip r:embed="rId3"/>
          <a:stretch>
            <a:fillRect/>
          </a:stretch>
        </p:blipFill>
        <p:spPr>
          <a:xfrm>
            <a:off x="768096" y="786384"/>
            <a:ext cx="704088" cy="658368"/>
          </a:xfrm>
          <a:prstGeom prst="rect">
            <a:avLst/>
          </a:prstGeom>
        </p:spPr>
      </p:pic>
      <p:sp>
        <p:nvSpPr>
          <p:cNvPr id="5" name="Text 1"/>
          <p:cNvSpPr txBox="1"/>
          <p:nvPr/>
        </p:nvSpPr>
        <p:spPr>
          <a:xfrm>
            <a:off x="640080" y="2331720"/>
            <a:ext cx="5029200" cy="914400"/>
          </a:xfrm>
          <a:prstGeom prst="rect">
            <a:avLst/>
          </a:prstGeom>
          <a:noFill/>
          <a:ln/>
        </p:spPr>
        <p:txBody>
          <a:bodyPr wrap="square" lIns="0" tIns="0" rIns="0" bIns="0" rtlCol="0" anchor="t"/>
          <a:lstStyle/>
          <a:p>
            <a:pPr indent="0" marL="0">
              <a:buNone/>
            </a:pPr>
            <a:r>
              <a:rPr lang="en-US" sz="3800" b="1" spc="500" kern="0" dirty="0">
                <a:solidFill>
                  <a:schemeClr val="bg1"/>
                </a:solidFill>
              </a:rPr>
              <a:t>SMART ASSESS JA</a:t>
            </a:r>
            <a:endParaRPr lang="en-US" sz="3800" dirty="0"/>
          </a:p>
        </p:txBody>
      </p:sp>
      <p:sp>
        <p:nvSpPr>
          <p:cNvPr id="6" name="Text 2"/>
          <p:cNvSpPr txBox="1"/>
          <p:nvPr/>
        </p:nvSpPr>
        <p:spPr>
          <a:xfrm>
            <a:off x="640080" y="3291840"/>
            <a:ext cx="4937760" cy="1097280"/>
          </a:xfrm>
          <a:prstGeom prst="rect">
            <a:avLst/>
          </a:prstGeom>
          <a:noFill/>
          <a:ln/>
        </p:spPr>
        <p:txBody>
          <a:bodyPr wrap="square" lIns="0" tIns="0" rIns="0" bIns="0" rtlCol="0" anchor="t"/>
          <a:lstStyle/>
          <a:p>
            <a:pPr indent="0" marL="0">
              <a:buNone/>
            </a:pPr>
            <a:r>
              <a:rPr lang="en-US" sz="2800" dirty="0">
                <a:solidFill>
                  <a:srgbClr val="EC924A"/>
                </a:solidFill>
              </a:rPr>
              <a:t>Smarter Assessments.</a:t>
            </a:r>
            <a:endParaRPr lang="en-US" sz="2800" dirty="0"/>
          </a:p>
          <a:p>
            <a:pPr indent="0" marL="0">
              <a:buNone/>
            </a:pPr>
            <a:r>
              <a:rPr lang="en-US" sz="2800" dirty="0">
                <a:solidFill>
                  <a:srgbClr val="EC924A"/>
                </a:solidFill>
              </a:rPr>
              <a:t>Better Learning.</a:t>
            </a:r>
            <a:endParaRPr lang="en-US" sz="2800" dirty="0"/>
          </a:p>
        </p:txBody>
      </p:sp>
      <p:sp>
        <p:nvSpPr>
          <p:cNvPr id="7" name="Text 3"/>
          <p:cNvSpPr txBox="1"/>
          <p:nvPr/>
        </p:nvSpPr>
        <p:spPr>
          <a:xfrm>
            <a:off x="640080" y="5029200"/>
            <a:ext cx="4937760" cy="365760"/>
          </a:xfrm>
          <a:prstGeom prst="rect">
            <a:avLst/>
          </a:prstGeom>
          <a:noFill/>
          <a:ln/>
        </p:spPr>
        <p:txBody>
          <a:bodyPr wrap="square" lIns="0" tIns="0" rIns="0" bIns="0" rtlCol="0" anchor="t"/>
          <a:lstStyle/>
          <a:p>
            <a:pPr indent="0" marL="0">
              <a:buNone/>
            </a:pPr>
            <a:r>
              <a:rPr lang="en-US" sz="2000" dirty="0">
                <a:solidFill>
                  <a:schemeClr val="bg1"/>
                </a:solidFill>
              </a:rPr>
              <a:t>Built for Manchester High School</a:t>
            </a:r>
            <a:endParaRPr lang="en-US" sz="2000" dirty="0"/>
          </a:p>
        </p:txBody>
      </p:sp>
      <p:sp>
        <p:nvSpPr>
          <p:cNvPr id="8" name="Text 4"/>
          <p:cNvSpPr txBox="1"/>
          <p:nvPr/>
        </p:nvSpPr>
        <p:spPr>
          <a:xfrm>
            <a:off x="640080" y="5852160"/>
            <a:ext cx="4937760" cy="274320"/>
          </a:xfrm>
          <a:prstGeom prst="rect">
            <a:avLst/>
          </a:prstGeom>
          <a:noFill/>
          <a:ln/>
        </p:spPr>
        <p:txBody>
          <a:bodyPr wrap="square" lIns="0" tIns="0" rIns="0" bIns="0" rtlCol="0" anchor="t"/>
          <a:lstStyle/>
          <a:p>
            <a:pPr indent="0" marL="0">
              <a:buNone/>
            </a:pPr>
            <a:r>
              <a:rPr lang="en-US" sz="1400" dirty="0">
                <a:solidFill>
                  <a:srgbClr val="BFB09C"/>
                </a:solidFill>
              </a:rPr>
              <a:t>Strategic presentation and hands-on session</a:t>
            </a:r>
            <a:endParaRPr lang="en-US" sz="14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chemeClr val="accent1"/>
                </a:solidFill>
              </a:rPr>
              <a:t>PART 1   |   THE STRATEGY</a:t>
            </a:r>
            <a:endParaRPr lang="en-US" sz="1100" dirty="0"/>
          </a:p>
        </p:txBody>
      </p:sp>
      <p:sp>
        <p:nvSpPr>
          <p:cNvPr id="3" name="Text 0"/>
          <p:cNvSpPr/>
          <p:nvPr>
            <p:ph idx="100" type="title" hasCustomPrompt="1"/>
          </p:nvPr>
        </p:nvSpPr>
        <p:spPr>
          <a:xfrm>
            <a:off x="640080" y="548640"/>
            <a:ext cx="10908792" cy="1005840"/>
          </a:xfrm>
          <a:prstGeom prst="rect">
            <a:avLst/>
          </a:prstGeom>
          <a:noFill/>
          <a:ln/>
        </p:spPr>
        <p:txBody>
          <a:bodyPr wrap="square" lIns="0" tIns="0" rIns="0" bIns="0" rtlCol="0" anchor="t"/>
          <a:lstStyle/>
          <a:p>
            <a:pPr algn="l" indent="0" marL="0">
              <a:buNone/>
            </a:pPr>
            <a:r>
              <a:rPr lang="en-US" sz="3400" b="1" dirty="0">
                <a:solidFill>
                  <a:schemeClr val="tx1"/>
                </a:solidFill>
              </a:rPr>
              <a:t>Today: the strategy, then the experience</a:t>
            </a:r>
            <a:endParaRPr lang="en-US" sz="3400" dirty="0"/>
          </a:p>
        </p:txBody>
      </p:sp>
      <p:sp>
        <p:nvSpPr>
          <p:cNvPr id="4" name="card"/>
          <p:cNvSpPr/>
          <p:nvPr/>
        </p:nvSpPr>
        <p:spPr>
          <a:xfrm>
            <a:off x="640080" y="1783080"/>
            <a:ext cx="5285232" cy="3291840"/>
          </a:xfrm>
          <a:prstGeom prst="roundRect">
            <a:avLst>
              <a:gd name="adj" fmla="val 3333"/>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5" name="icon circle"/>
          <p:cNvSpPr/>
          <p:nvPr/>
        </p:nvSpPr>
        <p:spPr>
          <a:xfrm>
            <a:off x="1005840" y="2103120"/>
            <a:ext cx="640080" cy="640080"/>
          </a:xfrm>
          <a:prstGeom prst="ellipse">
            <a:avLst/>
          </a:prstGeom>
          <a:solidFill>
            <a:srgbClr val="D4762A"/>
          </a:solidFill>
          <a:ln w="12700">
            <a:solidFill>
              <a:srgbClr val="D4762A"/>
            </a:solidFill>
            <a:prstDash val="solid"/>
          </a:ln>
        </p:spPr>
      </p:sp>
      <p:pic>
        <p:nvPicPr>
          <p:cNvPr id="6" name="icon" descr="preencoded.png">    </p:cNvPr>
          <p:cNvPicPr>
            <a:picLocks noChangeAspect="1"/>
          </p:cNvPicPr>
          <p:nvPr/>
        </p:nvPicPr>
        <p:blipFill>
          <a:blip r:embed="rId1"/>
          <a:stretch>
            <a:fillRect/>
          </a:stretch>
        </p:blipFill>
        <p:spPr>
          <a:xfrm>
            <a:off x="1146658" y="2243938"/>
            <a:ext cx="358445" cy="358445"/>
          </a:xfrm>
          <a:prstGeom prst="rect">
            <a:avLst/>
          </a:prstGeom>
        </p:spPr>
      </p:pic>
      <p:sp>
        <p:nvSpPr>
          <p:cNvPr id="7" name="Text 4"/>
          <p:cNvSpPr txBox="1"/>
          <p:nvPr/>
        </p:nvSpPr>
        <p:spPr>
          <a:xfrm>
            <a:off x="1828800" y="2103120"/>
            <a:ext cx="3840480" cy="365760"/>
          </a:xfrm>
          <a:prstGeom prst="rect">
            <a:avLst/>
          </a:prstGeom>
          <a:noFill/>
          <a:ln/>
        </p:spPr>
        <p:txBody>
          <a:bodyPr wrap="square" lIns="0" tIns="0" rIns="0" bIns="0" rtlCol="0" anchor="t"/>
          <a:lstStyle/>
          <a:p>
            <a:pPr indent="0" marL="0">
              <a:buNone/>
            </a:pPr>
            <a:r>
              <a:rPr lang="en-US" sz="2200" b="1" dirty="0">
                <a:solidFill>
                  <a:schemeClr val="tx1"/>
                </a:solidFill>
              </a:rPr>
              <a:t>Part 1: The strategy</a:t>
            </a:r>
            <a:endParaRPr lang="en-US" sz="2200" dirty="0"/>
          </a:p>
        </p:txBody>
      </p:sp>
      <p:sp>
        <p:nvSpPr>
          <p:cNvPr id="8" name="Text 5"/>
          <p:cNvSpPr txBox="1"/>
          <p:nvPr/>
        </p:nvSpPr>
        <p:spPr>
          <a:xfrm>
            <a:off x="1828800" y="2514600"/>
            <a:ext cx="3840480" cy="274320"/>
          </a:xfrm>
          <a:prstGeom prst="rect">
            <a:avLst/>
          </a:prstGeom>
          <a:noFill/>
          <a:ln/>
        </p:spPr>
        <p:txBody>
          <a:bodyPr wrap="square" lIns="0" tIns="0" rIns="0" bIns="0" rtlCol="0" anchor="t"/>
          <a:lstStyle/>
          <a:p>
            <a:pPr indent="0" marL="0">
              <a:buNone/>
            </a:pPr>
            <a:r>
              <a:rPr lang="en-US" sz="1400" dirty="0">
                <a:solidFill>
                  <a:schemeClr val="accent5"/>
                </a:solidFill>
              </a:rPr>
              <a:t>About 30 minutes</a:t>
            </a:r>
            <a:endParaRPr lang="en-US" sz="1400" dirty="0"/>
          </a:p>
        </p:txBody>
      </p:sp>
      <p:sp>
        <p:nvSpPr>
          <p:cNvPr id="9" name="Text 6"/>
          <p:cNvSpPr txBox="1"/>
          <p:nvPr/>
        </p:nvSpPr>
        <p:spPr>
          <a:xfrm>
            <a:off x="1005840" y="3108960"/>
            <a:ext cx="4553712" cy="18288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The problem, and the scale of it</a:t>
            </a:r>
            <a:endParaRPr lang="en-US" sz="1600" dirty="0"/>
          </a:p>
          <a:p>
            <a:pPr marL="342900" indent="-342900">
              <a:spcAft>
                <a:spcPts val="800"/>
              </a:spcAft>
              <a:buSzPct val="100000"/>
              <a:buChar char="•"/>
            </a:pPr>
            <a:r>
              <a:rPr lang="en-US" sz="1600" dirty="0">
                <a:solidFill>
                  <a:schemeClr val="tx1"/>
                </a:solidFill>
              </a:rPr>
              <a:t>Smart Assess, Smart Learning and Smart Play</a:t>
            </a:r>
            <a:endParaRPr lang="en-US" sz="1600" dirty="0"/>
          </a:p>
          <a:p>
            <a:pPr marL="342900" indent="-342900">
              <a:spcAft>
                <a:spcPts val="800"/>
              </a:spcAft>
              <a:buSzPct val="100000"/>
              <a:buChar char="•"/>
            </a:pPr>
            <a:r>
              <a:rPr lang="en-US" sz="1600" dirty="0">
                <a:solidFill>
                  <a:schemeClr val="tx1"/>
                </a:solidFill>
              </a:rPr>
              <a:t>How it fits the roles in your school</a:t>
            </a:r>
            <a:endParaRPr lang="en-US" sz="1600" dirty="0"/>
          </a:p>
          <a:p>
            <a:pPr marL="342900" indent="-342900">
              <a:spcAft>
                <a:spcPts val="800"/>
              </a:spcAft>
              <a:buSzPct val="100000"/>
              <a:buChar char="•"/>
            </a:pPr>
            <a:r>
              <a:rPr lang="en-US" sz="1600" dirty="0">
                <a:solidFill>
                  <a:schemeClr val="tx1"/>
                </a:solidFill>
              </a:rPr>
              <a:t>A pilot pathway we can shape together</a:t>
            </a:r>
            <a:endParaRPr lang="en-US" sz="1600" dirty="0"/>
          </a:p>
        </p:txBody>
      </p:sp>
      <p:sp>
        <p:nvSpPr>
          <p:cNvPr id="10" name="card"/>
          <p:cNvSpPr/>
          <p:nvPr/>
        </p:nvSpPr>
        <p:spPr>
          <a:xfrm>
            <a:off x="6263640" y="1783080"/>
            <a:ext cx="5285232" cy="3291840"/>
          </a:xfrm>
          <a:prstGeom prst="roundRect">
            <a:avLst>
              <a:gd name="adj" fmla="val 3333"/>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11" name="icon circle"/>
          <p:cNvSpPr/>
          <p:nvPr/>
        </p:nvSpPr>
        <p:spPr>
          <a:xfrm>
            <a:off x="6629400" y="2103120"/>
            <a:ext cx="640080" cy="640080"/>
          </a:xfrm>
          <a:prstGeom prst="ellipse">
            <a:avLst/>
          </a:prstGeom>
          <a:solidFill>
            <a:srgbClr val="1F8A84"/>
          </a:solidFill>
          <a:ln w="12700">
            <a:solidFill>
              <a:srgbClr val="1F8A84"/>
            </a:solidFill>
            <a:prstDash val="solid"/>
          </a:ln>
        </p:spPr>
      </p:sp>
      <p:pic>
        <p:nvPicPr>
          <p:cNvPr id="12" name="icon" descr="preencoded.png">    </p:cNvPr>
          <p:cNvPicPr>
            <a:picLocks noChangeAspect="1"/>
          </p:cNvPicPr>
          <p:nvPr/>
        </p:nvPicPr>
        <p:blipFill>
          <a:blip r:embed="rId2"/>
          <a:stretch>
            <a:fillRect/>
          </a:stretch>
        </p:blipFill>
        <p:spPr>
          <a:xfrm>
            <a:off x="6770218" y="2243938"/>
            <a:ext cx="358445" cy="358445"/>
          </a:xfrm>
          <a:prstGeom prst="rect">
            <a:avLst/>
          </a:prstGeom>
        </p:spPr>
      </p:pic>
      <p:sp>
        <p:nvSpPr>
          <p:cNvPr id="13" name="Text 9"/>
          <p:cNvSpPr txBox="1"/>
          <p:nvPr/>
        </p:nvSpPr>
        <p:spPr>
          <a:xfrm>
            <a:off x="7452360" y="2103120"/>
            <a:ext cx="3840480" cy="365760"/>
          </a:xfrm>
          <a:prstGeom prst="rect">
            <a:avLst/>
          </a:prstGeom>
          <a:noFill/>
          <a:ln/>
        </p:spPr>
        <p:txBody>
          <a:bodyPr wrap="square" lIns="0" tIns="0" rIns="0" bIns="0" rtlCol="0" anchor="t"/>
          <a:lstStyle/>
          <a:p>
            <a:pPr indent="0" marL="0">
              <a:buNone/>
            </a:pPr>
            <a:r>
              <a:rPr lang="en-US" sz="2200" b="1" dirty="0">
                <a:solidFill>
                  <a:schemeClr val="tx1"/>
                </a:solidFill>
              </a:rPr>
              <a:t>Part 2: Hands-on session</a:t>
            </a:r>
            <a:endParaRPr lang="en-US" sz="2200" dirty="0"/>
          </a:p>
        </p:txBody>
      </p:sp>
      <p:sp>
        <p:nvSpPr>
          <p:cNvPr id="14" name="Text 10"/>
          <p:cNvSpPr txBox="1"/>
          <p:nvPr/>
        </p:nvSpPr>
        <p:spPr>
          <a:xfrm>
            <a:off x="7452360" y="2514600"/>
            <a:ext cx="3840480" cy="274320"/>
          </a:xfrm>
          <a:prstGeom prst="rect">
            <a:avLst/>
          </a:prstGeom>
          <a:noFill/>
          <a:ln/>
        </p:spPr>
        <p:txBody>
          <a:bodyPr wrap="square" lIns="0" tIns="0" rIns="0" bIns="0" rtlCol="0" anchor="t"/>
          <a:lstStyle/>
          <a:p>
            <a:pPr indent="0" marL="0">
              <a:buNone/>
            </a:pPr>
            <a:r>
              <a:rPr lang="en-US" sz="1400" dirty="0">
                <a:solidFill>
                  <a:schemeClr val="accent5"/>
                </a:solidFill>
              </a:rPr>
              <a:t>About 40 minutes</a:t>
            </a:r>
            <a:endParaRPr lang="en-US" sz="1400" dirty="0"/>
          </a:p>
        </p:txBody>
      </p:sp>
      <p:sp>
        <p:nvSpPr>
          <p:cNvPr id="15" name="Text 11"/>
          <p:cNvSpPr txBox="1"/>
          <p:nvPr/>
        </p:nvSpPr>
        <p:spPr>
          <a:xfrm>
            <a:off x="6629400" y="3108960"/>
            <a:ext cx="4553712" cy="18288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Experience it as a teacher, a student and a leader</a:t>
            </a:r>
            <a:endParaRPr lang="en-US" sz="1600" dirty="0"/>
          </a:p>
          <a:p>
            <a:pPr marL="342900" indent="-342900">
              <a:spcAft>
                <a:spcPts val="800"/>
              </a:spcAft>
              <a:buSzPct val="100000"/>
              <a:buChar char="•"/>
            </a:pPr>
            <a:r>
              <a:rPr lang="en-US" sz="1600" dirty="0">
                <a:solidFill>
                  <a:schemeClr val="tx1"/>
                </a:solidFill>
              </a:rPr>
              <a:t>Explore on your own for 10 minutes</a:t>
            </a:r>
            <a:endParaRPr lang="en-US" sz="1600" dirty="0"/>
          </a:p>
          <a:p>
            <a:pPr marL="342900" indent="-342900">
              <a:spcAft>
                <a:spcPts val="800"/>
              </a:spcAft>
              <a:buSzPct val="100000"/>
              <a:buChar char="•"/>
            </a:pPr>
            <a:r>
              <a:rPr lang="en-US" sz="1600" dirty="0">
                <a:solidFill>
                  <a:schemeClr val="tx1"/>
                </a:solidFill>
              </a:rPr>
              <a:t>Tell us what works and what does not</a:t>
            </a:r>
            <a:endParaRPr lang="en-US" sz="1600" dirty="0"/>
          </a:p>
          <a:p>
            <a:pPr marL="342900" indent="-342900">
              <a:spcAft>
                <a:spcPts val="800"/>
              </a:spcAft>
              <a:buSzPct val="100000"/>
              <a:buChar char="•"/>
            </a:pPr>
            <a:r>
              <a:rPr lang="en-US" sz="1600" dirty="0">
                <a:solidFill>
                  <a:schemeClr val="tx1"/>
                </a:solidFill>
              </a:rPr>
              <a:t>Decide together where it could start</a:t>
            </a:r>
            <a:endParaRPr lang="en-US" sz="1600" dirty="0"/>
          </a:p>
        </p:txBody>
      </p:sp>
      <p:sp>
        <p:nvSpPr>
          <p:cNvPr id="16" name="goal banner"/>
          <p:cNvSpPr/>
          <p:nvPr/>
        </p:nvSpPr>
        <p:spPr>
          <a:xfrm>
            <a:off x="640080" y="5303520"/>
            <a:ext cx="10908792" cy="822960"/>
          </a:xfrm>
          <a:prstGeom prst="roundRect">
            <a:avLst>
              <a:gd name="adj" fmla="val 13333"/>
            </a:avLst>
          </a:prstGeom>
          <a:solidFill>
            <a:srgbClr val="1E1208"/>
          </a:solidFill>
          <a:ln w="12700">
            <a:solidFill>
              <a:srgbClr val="1E1208"/>
            </a:solidFill>
            <a:prstDash val="solid"/>
          </a:ln>
        </p:spPr>
      </p:sp>
      <p:sp>
        <p:nvSpPr>
          <p:cNvPr id="17" name="Text 13"/>
          <p:cNvSpPr txBox="1"/>
          <p:nvPr/>
        </p:nvSpPr>
        <p:spPr>
          <a:xfrm>
            <a:off x="1005840" y="5303520"/>
            <a:ext cx="10149840" cy="822960"/>
          </a:xfrm>
          <a:prstGeom prst="rect">
            <a:avLst/>
          </a:prstGeom>
          <a:noFill/>
          <a:ln/>
        </p:spPr>
        <p:txBody>
          <a:bodyPr wrap="square" lIns="0" tIns="0" rIns="0" bIns="0" rtlCol="0" anchor="ctr"/>
          <a:lstStyle/>
          <a:p>
            <a:pPr indent="0" marL="0">
              <a:buNone/>
            </a:pPr>
            <a:r>
              <a:rPr lang="en-US" sz="1800" b="1" dirty="0">
                <a:solidFill>
                  <a:schemeClr val="bg1"/>
                </a:solidFill>
              </a:rPr>
              <a:t>By the end: a shared view of where Smart Assess Ja could start at Manchester High School.</a:t>
            </a:r>
            <a:endParaRPr lang="en-US" sz="18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1920240"/>
            <a:ext cx="6766560" cy="2560320"/>
          </a:xfrm>
          <a:prstGeom prst="rect">
            <a:avLst/>
          </a:prstGeom>
          <a:noFill/>
          <a:ln/>
        </p:spPr>
        <p:txBody>
          <a:bodyPr wrap="square" lIns="0" tIns="0" rIns="0" bIns="0" rtlCol="0" anchor="t"/>
          <a:lstStyle/>
          <a:p>
            <a:pPr indent="0" marL="0">
              <a:buNone/>
            </a:pPr>
            <a:r>
              <a:rPr lang="en-US" sz="4200" b="1" dirty="0">
                <a:solidFill>
                  <a:schemeClr val="bg1"/>
                </a:solidFill>
              </a:rPr>
              <a:t>Technology finally organized around how a school actually works.</a:t>
            </a:r>
            <a:endParaRPr lang="en-US" sz="4200" dirty="0"/>
          </a:p>
        </p:txBody>
      </p:sp>
      <p:sp>
        <p:nvSpPr>
          <p:cNvPr id="3" name="Text 1"/>
          <p:cNvSpPr txBox="1"/>
          <p:nvPr/>
        </p:nvSpPr>
        <p:spPr>
          <a:xfrm>
            <a:off x="822960" y="4572000"/>
            <a:ext cx="7315200" cy="457200"/>
          </a:xfrm>
          <a:prstGeom prst="rect">
            <a:avLst/>
          </a:prstGeom>
          <a:noFill/>
          <a:ln/>
        </p:spPr>
        <p:txBody>
          <a:bodyPr wrap="square" lIns="0" tIns="0" rIns="0" bIns="0" rtlCol="0" anchor="t"/>
          <a:lstStyle/>
          <a:p>
            <a:pPr indent="0" marL="0">
              <a:buNone/>
            </a:pPr>
            <a:r>
              <a:rPr lang="en-US" sz="2000" dirty="0">
                <a:solidFill>
                  <a:srgbClr val="EC924A"/>
                </a:solidFill>
              </a:rPr>
              <a:t>That is the idea behind Smart Assess Ja.</a:t>
            </a:r>
            <a:endParaRPr lang="en-US" sz="2000" dirty="0"/>
          </a:p>
        </p:txBody>
      </p:sp>
      <p:sp>
        <p:nvSpPr>
          <p:cNvPr id="4" name="product circle"/>
          <p:cNvSpPr/>
          <p:nvPr/>
        </p:nvSpPr>
        <p:spPr>
          <a:xfrm>
            <a:off x="7863840" y="2468880"/>
            <a:ext cx="1737360" cy="1737360"/>
          </a:xfrm>
          <a:prstGeom prst="ellipse">
            <a:avLst/>
          </a:prstGeom>
          <a:solidFill>
            <a:srgbClr val="D4762A">
              <a:alpha val="82000"/>
            </a:srgbClr>
          </a:solidFill>
          <a:ln w="12700">
            <a:solidFill>
              <a:srgbClr val="D4762A"/>
            </a:solidFill>
            <a:prstDash val="solid"/>
          </a:ln>
        </p:spPr>
      </p:sp>
      <p:sp>
        <p:nvSpPr>
          <p:cNvPr id="5" name="product circle"/>
          <p:cNvSpPr/>
          <p:nvPr/>
        </p:nvSpPr>
        <p:spPr>
          <a:xfrm>
            <a:off x="8941003" y="2468880"/>
            <a:ext cx="1737360" cy="1737360"/>
          </a:xfrm>
          <a:prstGeom prst="ellipse">
            <a:avLst/>
          </a:prstGeom>
          <a:solidFill>
            <a:srgbClr val="1F8A84">
              <a:alpha val="82000"/>
            </a:srgbClr>
          </a:solidFill>
          <a:ln w="12700">
            <a:solidFill>
              <a:srgbClr val="1F8A84"/>
            </a:solidFill>
            <a:prstDash val="solid"/>
          </a:ln>
        </p:spPr>
      </p:sp>
      <p:sp>
        <p:nvSpPr>
          <p:cNvPr id="6" name="product circle"/>
          <p:cNvSpPr/>
          <p:nvPr/>
        </p:nvSpPr>
        <p:spPr>
          <a:xfrm>
            <a:off x="10018166" y="2468880"/>
            <a:ext cx="1737360" cy="1737360"/>
          </a:xfrm>
          <a:prstGeom prst="ellipse">
            <a:avLst/>
          </a:prstGeom>
          <a:solidFill>
            <a:srgbClr val="F2C230">
              <a:alpha val="82000"/>
            </a:srgbClr>
          </a:solidFill>
          <a:ln w="12700">
            <a:solidFill>
              <a:srgbClr val="F2C230"/>
            </a:solidFill>
            <a:prstDash val="solid"/>
          </a:ln>
        </p:spPr>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chemeClr val="accent1"/>
                </a:solidFill>
              </a:rPr>
              <a:t>PART 1   |   THE STRATEGY</a:t>
            </a:r>
            <a:endParaRPr lang="en-US" sz="1100" dirty="0"/>
          </a:p>
        </p:txBody>
      </p:sp>
      <p:sp>
        <p:nvSpPr>
          <p:cNvPr id="3" name="Text 0"/>
          <p:cNvSpPr/>
          <p:nvPr>
            <p:ph idx="100" type="title" hasCustomPrompt="1"/>
          </p:nvPr>
        </p:nvSpPr>
        <p:spPr>
          <a:xfrm>
            <a:off x="640080" y="548640"/>
            <a:ext cx="10908792" cy="1005840"/>
          </a:xfrm>
          <a:prstGeom prst="rect">
            <a:avLst/>
          </a:prstGeom>
          <a:noFill/>
          <a:ln/>
        </p:spPr>
        <p:txBody>
          <a:bodyPr wrap="square" lIns="0" tIns="0" rIns="0" bIns="0" rtlCol="0" anchor="t"/>
          <a:lstStyle/>
          <a:p>
            <a:pPr algn="l" indent="0" marL="0">
              <a:buNone/>
            </a:pPr>
            <a:r>
              <a:rPr lang="en-US" sz="3400" b="1" dirty="0">
                <a:solidFill>
                  <a:schemeClr val="tx1"/>
                </a:solidFill>
              </a:rPr>
              <a:t>Every term, learning travels onto paper, and back again</a:t>
            </a:r>
            <a:endParaRPr lang="en-US" sz="3400" dirty="0"/>
          </a:p>
        </p:txBody>
      </p:sp>
      <p:pic>
        <p:nvPicPr>
          <p:cNvPr id="4" name="teacher photo" descr="A teacher marking a pile of exam scripts at dusk">    </p:cNvPr>
          <p:cNvPicPr>
            <a:picLocks noChangeAspect="1"/>
          </p:cNvPicPr>
          <p:nvPr/>
        </p:nvPicPr>
        <p:blipFill>
          <a:blip r:embed="rId1"/>
          <a:srcRect l="0" r="0" t="0" b="0"/>
          <a:stretch/>
        </p:blipFill>
        <p:spPr>
          <a:xfrm>
            <a:off x="640080" y="1783080"/>
            <a:ext cx="3840480" cy="3794760"/>
          </a:xfrm>
          <a:prstGeom prst="rect">
            <a:avLst/>
          </a:prstGeom>
        </p:spPr>
      </p:pic>
      <p:sp>
        <p:nvSpPr>
          <p:cNvPr id="5" name="step 1"/>
          <p:cNvSpPr/>
          <p:nvPr/>
        </p:nvSpPr>
        <p:spPr>
          <a:xfrm>
            <a:off x="4754880" y="1783080"/>
            <a:ext cx="2103120" cy="1143000"/>
          </a:xfrm>
          <a:prstGeom prst="roundRect">
            <a:avLst>
              <a:gd name="adj" fmla="val 9600"/>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6" name="number"/>
          <p:cNvSpPr/>
          <p:nvPr/>
        </p:nvSpPr>
        <p:spPr>
          <a:xfrm>
            <a:off x="4919472" y="1965960"/>
            <a:ext cx="347472" cy="347472"/>
          </a:xfrm>
          <a:prstGeom prst="ellipse">
            <a:avLst/>
          </a:prstGeom>
          <a:solidFill>
            <a:srgbClr val="FAE8D4"/>
          </a:solidFill>
          <a:ln w="12700">
            <a:solidFill>
              <a:srgbClr val="FAE8D4"/>
            </a:solidFill>
            <a:prstDash val="solid"/>
          </a:ln>
        </p:spPr>
      </p:sp>
      <p:sp>
        <p:nvSpPr>
          <p:cNvPr id="7" name="Text 4"/>
          <p:cNvSpPr txBox="1"/>
          <p:nvPr/>
        </p:nvSpPr>
        <p:spPr>
          <a:xfrm>
            <a:off x="4919472" y="1965960"/>
            <a:ext cx="347472" cy="347472"/>
          </a:xfrm>
          <a:prstGeom prst="rect">
            <a:avLst/>
          </a:prstGeom>
          <a:noFill/>
          <a:ln/>
        </p:spPr>
        <p:txBody>
          <a:bodyPr wrap="square" lIns="0" tIns="0" rIns="0" bIns="0" rtlCol="0" anchor="ctr"/>
          <a:lstStyle/>
          <a:p>
            <a:pPr algn="ctr" indent="0" marL="0">
              <a:buNone/>
            </a:pPr>
            <a:r>
              <a:rPr lang="en-US" sz="1300" b="1" dirty="0">
                <a:solidFill>
                  <a:srgbClr val="A85A18"/>
                </a:solidFill>
              </a:rPr>
              <a:t>1</a:t>
            </a:r>
            <a:endParaRPr lang="en-US" sz="1300" dirty="0"/>
          </a:p>
        </p:txBody>
      </p:sp>
      <p:sp>
        <p:nvSpPr>
          <p:cNvPr id="8" name="Text 5"/>
          <p:cNvSpPr txBox="1"/>
          <p:nvPr/>
        </p:nvSpPr>
        <p:spPr>
          <a:xfrm>
            <a:off x="4919472" y="2386584"/>
            <a:ext cx="1773936" cy="457200"/>
          </a:xfrm>
          <a:prstGeom prst="rect">
            <a:avLst/>
          </a:prstGeom>
          <a:noFill/>
          <a:ln/>
        </p:spPr>
        <p:txBody>
          <a:bodyPr wrap="square" lIns="0" tIns="0" rIns="0" bIns="0" rtlCol="0" anchor="t"/>
          <a:lstStyle/>
          <a:p>
            <a:pPr indent="0" marL="0">
              <a:buNone/>
            </a:pPr>
            <a:r>
              <a:rPr lang="en-US" sz="1500" b="1" dirty="0">
                <a:solidFill>
                  <a:schemeClr val="tx1"/>
                </a:solidFill>
              </a:rPr>
              <a:t>Teacher creates the exam</a:t>
            </a:r>
            <a:endParaRPr lang="en-US" sz="1500" dirty="0"/>
          </a:p>
        </p:txBody>
      </p:sp>
      <p:sp>
        <p:nvSpPr>
          <p:cNvPr id="9" name="step 2"/>
          <p:cNvSpPr/>
          <p:nvPr/>
        </p:nvSpPr>
        <p:spPr>
          <a:xfrm>
            <a:off x="7054596" y="1783080"/>
            <a:ext cx="2103120" cy="1143000"/>
          </a:xfrm>
          <a:prstGeom prst="roundRect">
            <a:avLst>
              <a:gd name="adj" fmla="val 9600"/>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10" name="number"/>
          <p:cNvSpPr/>
          <p:nvPr/>
        </p:nvSpPr>
        <p:spPr>
          <a:xfrm>
            <a:off x="7219188" y="1965960"/>
            <a:ext cx="347472" cy="347472"/>
          </a:xfrm>
          <a:prstGeom prst="ellipse">
            <a:avLst/>
          </a:prstGeom>
          <a:solidFill>
            <a:srgbClr val="FAE8D4"/>
          </a:solidFill>
          <a:ln w="12700">
            <a:solidFill>
              <a:srgbClr val="FAE8D4"/>
            </a:solidFill>
            <a:prstDash val="solid"/>
          </a:ln>
        </p:spPr>
      </p:sp>
      <p:sp>
        <p:nvSpPr>
          <p:cNvPr id="11" name="Text 8"/>
          <p:cNvSpPr txBox="1"/>
          <p:nvPr/>
        </p:nvSpPr>
        <p:spPr>
          <a:xfrm>
            <a:off x="7219188" y="1965960"/>
            <a:ext cx="347472" cy="347472"/>
          </a:xfrm>
          <a:prstGeom prst="rect">
            <a:avLst/>
          </a:prstGeom>
          <a:noFill/>
          <a:ln/>
        </p:spPr>
        <p:txBody>
          <a:bodyPr wrap="square" lIns="0" tIns="0" rIns="0" bIns="0" rtlCol="0" anchor="ctr"/>
          <a:lstStyle/>
          <a:p>
            <a:pPr algn="ctr" indent="0" marL="0">
              <a:buNone/>
            </a:pPr>
            <a:r>
              <a:rPr lang="en-US" sz="1300" b="1" dirty="0">
                <a:solidFill>
                  <a:srgbClr val="A85A18"/>
                </a:solidFill>
              </a:rPr>
              <a:t>2</a:t>
            </a:r>
            <a:endParaRPr lang="en-US" sz="1300" dirty="0"/>
          </a:p>
        </p:txBody>
      </p:sp>
      <p:sp>
        <p:nvSpPr>
          <p:cNvPr id="12" name="Text 9"/>
          <p:cNvSpPr txBox="1"/>
          <p:nvPr/>
        </p:nvSpPr>
        <p:spPr>
          <a:xfrm>
            <a:off x="7219188" y="2386584"/>
            <a:ext cx="1773936" cy="457200"/>
          </a:xfrm>
          <a:prstGeom prst="rect">
            <a:avLst/>
          </a:prstGeom>
          <a:noFill/>
          <a:ln/>
        </p:spPr>
        <p:txBody>
          <a:bodyPr wrap="square" lIns="0" tIns="0" rIns="0" bIns="0" rtlCol="0" anchor="t"/>
          <a:lstStyle/>
          <a:p>
            <a:pPr indent="0" marL="0">
              <a:buNone/>
            </a:pPr>
            <a:r>
              <a:rPr lang="en-US" sz="1500" b="1" dirty="0">
                <a:solidFill>
                  <a:schemeClr val="tx1"/>
                </a:solidFill>
              </a:rPr>
              <a:t>Exam is printed</a:t>
            </a:r>
            <a:endParaRPr lang="en-US" sz="1500" dirty="0"/>
          </a:p>
        </p:txBody>
      </p:sp>
      <p:sp>
        <p:nvSpPr>
          <p:cNvPr id="13" name="step 3"/>
          <p:cNvSpPr/>
          <p:nvPr/>
        </p:nvSpPr>
        <p:spPr>
          <a:xfrm>
            <a:off x="9354312" y="1783080"/>
            <a:ext cx="2103120" cy="1143000"/>
          </a:xfrm>
          <a:prstGeom prst="roundRect">
            <a:avLst>
              <a:gd name="adj" fmla="val 9600"/>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14" name="number"/>
          <p:cNvSpPr/>
          <p:nvPr/>
        </p:nvSpPr>
        <p:spPr>
          <a:xfrm>
            <a:off x="9518904" y="1965960"/>
            <a:ext cx="347472" cy="347472"/>
          </a:xfrm>
          <a:prstGeom prst="ellipse">
            <a:avLst/>
          </a:prstGeom>
          <a:solidFill>
            <a:srgbClr val="FAE8D4"/>
          </a:solidFill>
          <a:ln w="12700">
            <a:solidFill>
              <a:srgbClr val="FAE8D4"/>
            </a:solidFill>
            <a:prstDash val="solid"/>
          </a:ln>
        </p:spPr>
      </p:sp>
      <p:sp>
        <p:nvSpPr>
          <p:cNvPr id="15" name="Text 12"/>
          <p:cNvSpPr txBox="1"/>
          <p:nvPr/>
        </p:nvSpPr>
        <p:spPr>
          <a:xfrm>
            <a:off x="9518904" y="1965960"/>
            <a:ext cx="347472" cy="347472"/>
          </a:xfrm>
          <a:prstGeom prst="rect">
            <a:avLst/>
          </a:prstGeom>
          <a:noFill/>
          <a:ln/>
        </p:spPr>
        <p:txBody>
          <a:bodyPr wrap="square" lIns="0" tIns="0" rIns="0" bIns="0" rtlCol="0" anchor="ctr"/>
          <a:lstStyle/>
          <a:p>
            <a:pPr algn="ctr" indent="0" marL="0">
              <a:buNone/>
            </a:pPr>
            <a:r>
              <a:rPr lang="en-US" sz="1300" b="1" dirty="0">
                <a:solidFill>
                  <a:srgbClr val="A85A18"/>
                </a:solidFill>
              </a:rPr>
              <a:t>3</a:t>
            </a:r>
            <a:endParaRPr lang="en-US" sz="1300" dirty="0"/>
          </a:p>
        </p:txBody>
      </p:sp>
      <p:sp>
        <p:nvSpPr>
          <p:cNvPr id="16" name="Text 13"/>
          <p:cNvSpPr txBox="1"/>
          <p:nvPr/>
        </p:nvSpPr>
        <p:spPr>
          <a:xfrm>
            <a:off x="9518904" y="2386584"/>
            <a:ext cx="1773936" cy="457200"/>
          </a:xfrm>
          <a:prstGeom prst="rect">
            <a:avLst/>
          </a:prstGeom>
          <a:noFill/>
          <a:ln/>
        </p:spPr>
        <p:txBody>
          <a:bodyPr wrap="square" lIns="0" tIns="0" rIns="0" bIns="0" rtlCol="0" anchor="t"/>
          <a:lstStyle/>
          <a:p>
            <a:pPr indent="0" marL="0">
              <a:buNone/>
            </a:pPr>
            <a:r>
              <a:rPr lang="en-US" sz="1500" b="1" dirty="0">
                <a:solidFill>
                  <a:schemeClr val="tx1"/>
                </a:solidFill>
              </a:rPr>
              <a:t>Copies multiply</a:t>
            </a:r>
            <a:endParaRPr lang="en-US" sz="1500" dirty="0"/>
          </a:p>
        </p:txBody>
      </p:sp>
      <p:sp>
        <p:nvSpPr>
          <p:cNvPr id="17" name="step 4"/>
          <p:cNvSpPr/>
          <p:nvPr/>
        </p:nvSpPr>
        <p:spPr>
          <a:xfrm>
            <a:off x="4754880" y="3108960"/>
            <a:ext cx="2103120" cy="1143000"/>
          </a:xfrm>
          <a:prstGeom prst="roundRect">
            <a:avLst>
              <a:gd name="adj" fmla="val 9600"/>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18" name="number"/>
          <p:cNvSpPr/>
          <p:nvPr/>
        </p:nvSpPr>
        <p:spPr>
          <a:xfrm>
            <a:off x="4919472" y="3291840"/>
            <a:ext cx="347472" cy="347472"/>
          </a:xfrm>
          <a:prstGeom prst="ellipse">
            <a:avLst/>
          </a:prstGeom>
          <a:solidFill>
            <a:srgbClr val="FAE8D4"/>
          </a:solidFill>
          <a:ln w="12700">
            <a:solidFill>
              <a:srgbClr val="FAE8D4"/>
            </a:solidFill>
            <a:prstDash val="solid"/>
          </a:ln>
        </p:spPr>
      </p:sp>
      <p:sp>
        <p:nvSpPr>
          <p:cNvPr id="19" name="Text 16"/>
          <p:cNvSpPr txBox="1"/>
          <p:nvPr/>
        </p:nvSpPr>
        <p:spPr>
          <a:xfrm>
            <a:off x="4919472" y="3291840"/>
            <a:ext cx="347472" cy="347472"/>
          </a:xfrm>
          <a:prstGeom prst="rect">
            <a:avLst/>
          </a:prstGeom>
          <a:noFill/>
          <a:ln/>
        </p:spPr>
        <p:txBody>
          <a:bodyPr wrap="square" lIns="0" tIns="0" rIns="0" bIns="0" rtlCol="0" anchor="ctr"/>
          <a:lstStyle/>
          <a:p>
            <a:pPr algn="ctr" indent="0" marL="0">
              <a:buNone/>
            </a:pPr>
            <a:r>
              <a:rPr lang="en-US" sz="1300" b="1" dirty="0">
                <a:solidFill>
                  <a:srgbClr val="A85A18"/>
                </a:solidFill>
              </a:rPr>
              <a:t>4</a:t>
            </a:r>
            <a:endParaRPr lang="en-US" sz="1300" dirty="0"/>
          </a:p>
        </p:txBody>
      </p:sp>
      <p:sp>
        <p:nvSpPr>
          <p:cNvPr id="20" name="Text 17"/>
          <p:cNvSpPr txBox="1"/>
          <p:nvPr/>
        </p:nvSpPr>
        <p:spPr>
          <a:xfrm>
            <a:off x="4919472" y="3712464"/>
            <a:ext cx="1773936" cy="457200"/>
          </a:xfrm>
          <a:prstGeom prst="rect">
            <a:avLst/>
          </a:prstGeom>
          <a:noFill/>
          <a:ln/>
        </p:spPr>
        <p:txBody>
          <a:bodyPr wrap="square" lIns="0" tIns="0" rIns="0" bIns="0" rtlCol="0" anchor="t"/>
          <a:lstStyle/>
          <a:p>
            <a:pPr indent="0" marL="0">
              <a:buNone/>
            </a:pPr>
            <a:r>
              <a:rPr lang="en-US" sz="1500" b="1" dirty="0">
                <a:solidFill>
                  <a:schemeClr val="tx1"/>
                </a:solidFill>
              </a:rPr>
              <a:t>Students sit the exam</a:t>
            </a:r>
            <a:endParaRPr lang="en-US" sz="1500" dirty="0"/>
          </a:p>
        </p:txBody>
      </p:sp>
      <p:sp>
        <p:nvSpPr>
          <p:cNvPr id="21" name="step 5"/>
          <p:cNvSpPr/>
          <p:nvPr/>
        </p:nvSpPr>
        <p:spPr>
          <a:xfrm>
            <a:off x="7054596" y="3108960"/>
            <a:ext cx="2103120" cy="1143000"/>
          </a:xfrm>
          <a:prstGeom prst="roundRect">
            <a:avLst>
              <a:gd name="adj" fmla="val 9600"/>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22" name="number"/>
          <p:cNvSpPr/>
          <p:nvPr/>
        </p:nvSpPr>
        <p:spPr>
          <a:xfrm>
            <a:off x="7219188" y="3291840"/>
            <a:ext cx="347472" cy="347472"/>
          </a:xfrm>
          <a:prstGeom prst="ellipse">
            <a:avLst/>
          </a:prstGeom>
          <a:solidFill>
            <a:srgbClr val="FAE8D4"/>
          </a:solidFill>
          <a:ln w="12700">
            <a:solidFill>
              <a:srgbClr val="FAE8D4"/>
            </a:solidFill>
            <a:prstDash val="solid"/>
          </a:ln>
        </p:spPr>
      </p:sp>
      <p:sp>
        <p:nvSpPr>
          <p:cNvPr id="23" name="Text 20"/>
          <p:cNvSpPr txBox="1"/>
          <p:nvPr/>
        </p:nvSpPr>
        <p:spPr>
          <a:xfrm>
            <a:off x="7219188" y="3291840"/>
            <a:ext cx="347472" cy="347472"/>
          </a:xfrm>
          <a:prstGeom prst="rect">
            <a:avLst/>
          </a:prstGeom>
          <a:noFill/>
          <a:ln/>
        </p:spPr>
        <p:txBody>
          <a:bodyPr wrap="square" lIns="0" tIns="0" rIns="0" bIns="0" rtlCol="0" anchor="ctr"/>
          <a:lstStyle/>
          <a:p>
            <a:pPr algn="ctr" indent="0" marL="0">
              <a:buNone/>
            </a:pPr>
            <a:r>
              <a:rPr lang="en-US" sz="1300" b="1" dirty="0">
                <a:solidFill>
                  <a:srgbClr val="A85A18"/>
                </a:solidFill>
              </a:rPr>
              <a:t>5</a:t>
            </a:r>
            <a:endParaRPr lang="en-US" sz="1300" dirty="0"/>
          </a:p>
        </p:txBody>
      </p:sp>
      <p:sp>
        <p:nvSpPr>
          <p:cNvPr id="24" name="Text 21"/>
          <p:cNvSpPr txBox="1"/>
          <p:nvPr/>
        </p:nvSpPr>
        <p:spPr>
          <a:xfrm>
            <a:off x="7219188" y="3712464"/>
            <a:ext cx="1773936" cy="457200"/>
          </a:xfrm>
          <a:prstGeom prst="rect">
            <a:avLst/>
          </a:prstGeom>
          <a:noFill/>
          <a:ln/>
        </p:spPr>
        <p:txBody>
          <a:bodyPr wrap="square" lIns="0" tIns="0" rIns="0" bIns="0" rtlCol="0" anchor="t"/>
          <a:lstStyle/>
          <a:p>
            <a:pPr indent="0" marL="0">
              <a:buNone/>
            </a:pPr>
            <a:r>
              <a:rPr lang="en-US" sz="1500" b="1" dirty="0">
                <a:solidFill>
                  <a:schemeClr val="tx1"/>
                </a:solidFill>
              </a:rPr>
              <a:t>Papers are collected</a:t>
            </a:r>
            <a:endParaRPr lang="en-US" sz="1500" dirty="0"/>
          </a:p>
        </p:txBody>
      </p:sp>
      <p:sp>
        <p:nvSpPr>
          <p:cNvPr id="25" name="step 6"/>
          <p:cNvSpPr/>
          <p:nvPr/>
        </p:nvSpPr>
        <p:spPr>
          <a:xfrm>
            <a:off x="9354312" y="3108960"/>
            <a:ext cx="2103120" cy="1143000"/>
          </a:xfrm>
          <a:prstGeom prst="roundRect">
            <a:avLst>
              <a:gd name="adj" fmla="val 9600"/>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26" name="number"/>
          <p:cNvSpPr/>
          <p:nvPr/>
        </p:nvSpPr>
        <p:spPr>
          <a:xfrm>
            <a:off x="9518904" y="3291840"/>
            <a:ext cx="347472" cy="347472"/>
          </a:xfrm>
          <a:prstGeom prst="ellipse">
            <a:avLst/>
          </a:prstGeom>
          <a:solidFill>
            <a:srgbClr val="FAE8D4"/>
          </a:solidFill>
          <a:ln w="12700">
            <a:solidFill>
              <a:srgbClr val="FAE8D4"/>
            </a:solidFill>
            <a:prstDash val="solid"/>
          </a:ln>
        </p:spPr>
      </p:sp>
      <p:sp>
        <p:nvSpPr>
          <p:cNvPr id="27" name="Text 24"/>
          <p:cNvSpPr txBox="1"/>
          <p:nvPr/>
        </p:nvSpPr>
        <p:spPr>
          <a:xfrm>
            <a:off x="9518904" y="3291840"/>
            <a:ext cx="347472" cy="347472"/>
          </a:xfrm>
          <a:prstGeom prst="rect">
            <a:avLst/>
          </a:prstGeom>
          <a:noFill/>
          <a:ln/>
        </p:spPr>
        <p:txBody>
          <a:bodyPr wrap="square" lIns="0" tIns="0" rIns="0" bIns="0" rtlCol="0" anchor="ctr"/>
          <a:lstStyle/>
          <a:p>
            <a:pPr algn="ctr" indent="0" marL="0">
              <a:buNone/>
            </a:pPr>
            <a:r>
              <a:rPr lang="en-US" sz="1300" b="1" dirty="0">
                <a:solidFill>
                  <a:srgbClr val="A85A18"/>
                </a:solidFill>
              </a:rPr>
              <a:t>6</a:t>
            </a:r>
            <a:endParaRPr lang="en-US" sz="1300" dirty="0"/>
          </a:p>
        </p:txBody>
      </p:sp>
      <p:sp>
        <p:nvSpPr>
          <p:cNvPr id="28" name="Text 25"/>
          <p:cNvSpPr txBox="1"/>
          <p:nvPr/>
        </p:nvSpPr>
        <p:spPr>
          <a:xfrm>
            <a:off x="9518904" y="3712464"/>
            <a:ext cx="1773936" cy="457200"/>
          </a:xfrm>
          <a:prstGeom prst="rect">
            <a:avLst/>
          </a:prstGeom>
          <a:noFill/>
          <a:ln/>
        </p:spPr>
        <p:txBody>
          <a:bodyPr wrap="square" lIns="0" tIns="0" rIns="0" bIns="0" rtlCol="0" anchor="t"/>
          <a:lstStyle/>
          <a:p>
            <a:pPr indent="0" marL="0">
              <a:buNone/>
            </a:pPr>
            <a:r>
              <a:rPr lang="en-US" sz="1500" b="1" dirty="0">
                <a:solidFill>
                  <a:schemeClr val="tx1"/>
                </a:solidFill>
              </a:rPr>
              <a:t>Teacher marks</a:t>
            </a:r>
            <a:endParaRPr lang="en-US" sz="1500" dirty="0"/>
          </a:p>
        </p:txBody>
      </p:sp>
      <p:sp>
        <p:nvSpPr>
          <p:cNvPr id="29" name="step 7"/>
          <p:cNvSpPr/>
          <p:nvPr/>
        </p:nvSpPr>
        <p:spPr>
          <a:xfrm>
            <a:off x="4754880" y="4434840"/>
            <a:ext cx="2103120" cy="1143000"/>
          </a:xfrm>
          <a:prstGeom prst="roundRect">
            <a:avLst>
              <a:gd name="adj" fmla="val 9600"/>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30" name="number"/>
          <p:cNvSpPr/>
          <p:nvPr/>
        </p:nvSpPr>
        <p:spPr>
          <a:xfrm>
            <a:off x="4919472" y="4617720"/>
            <a:ext cx="347472" cy="347472"/>
          </a:xfrm>
          <a:prstGeom prst="ellipse">
            <a:avLst/>
          </a:prstGeom>
          <a:solidFill>
            <a:srgbClr val="FAE8D4"/>
          </a:solidFill>
          <a:ln w="12700">
            <a:solidFill>
              <a:srgbClr val="FAE8D4"/>
            </a:solidFill>
            <a:prstDash val="solid"/>
          </a:ln>
        </p:spPr>
      </p:sp>
      <p:sp>
        <p:nvSpPr>
          <p:cNvPr id="31" name="Text 28"/>
          <p:cNvSpPr txBox="1"/>
          <p:nvPr/>
        </p:nvSpPr>
        <p:spPr>
          <a:xfrm>
            <a:off x="4919472" y="4617720"/>
            <a:ext cx="347472" cy="347472"/>
          </a:xfrm>
          <a:prstGeom prst="rect">
            <a:avLst/>
          </a:prstGeom>
          <a:noFill/>
          <a:ln/>
        </p:spPr>
        <p:txBody>
          <a:bodyPr wrap="square" lIns="0" tIns="0" rIns="0" bIns="0" rtlCol="0" anchor="ctr"/>
          <a:lstStyle/>
          <a:p>
            <a:pPr algn="ctr" indent="0" marL="0">
              <a:buNone/>
            </a:pPr>
            <a:r>
              <a:rPr lang="en-US" sz="1300" b="1" dirty="0">
                <a:solidFill>
                  <a:srgbClr val="A85A18"/>
                </a:solidFill>
              </a:rPr>
              <a:t>7</a:t>
            </a:r>
            <a:endParaRPr lang="en-US" sz="1300" dirty="0"/>
          </a:p>
        </p:txBody>
      </p:sp>
      <p:sp>
        <p:nvSpPr>
          <p:cNvPr id="32" name="Text 29"/>
          <p:cNvSpPr txBox="1"/>
          <p:nvPr/>
        </p:nvSpPr>
        <p:spPr>
          <a:xfrm>
            <a:off x="4919472" y="5038344"/>
            <a:ext cx="1773936" cy="457200"/>
          </a:xfrm>
          <a:prstGeom prst="rect">
            <a:avLst/>
          </a:prstGeom>
          <a:noFill/>
          <a:ln/>
        </p:spPr>
        <p:txBody>
          <a:bodyPr wrap="square" lIns="0" tIns="0" rIns="0" bIns="0" rtlCol="0" anchor="t"/>
          <a:lstStyle/>
          <a:p>
            <a:pPr indent="0" marL="0">
              <a:buNone/>
            </a:pPr>
            <a:r>
              <a:rPr lang="en-US" sz="1500" b="1" dirty="0">
                <a:solidFill>
                  <a:schemeClr val="tx1"/>
                </a:solidFill>
              </a:rPr>
              <a:t>Grades are recorded</a:t>
            </a:r>
            <a:endParaRPr lang="en-US" sz="1500" dirty="0"/>
          </a:p>
        </p:txBody>
      </p:sp>
      <p:sp>
        <p:nvSpPr>
          <p:cNvPr id="33" name="step 8"/>
          <p:cNvSpPr/>
          <p:nvPr/>
        </p:nvSpPr>
        <p:spPr>
          <a:xfrm>
            <a:off x="7054596" y="4434840"/>
            <a:ext cx="2103120" cy="1143000"/>
          </a:xfrm>
          <a:prstGeom prst="roundRect">
            <a:avLst>
              <a:gd name="adj" fmla="val 9600"/>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34" name="number"/>
          <p:cNvSpPr/>
          <p:nvPr/>
        </p:nvSpPr>
        <p:spPr>
          <a:xfrm>
            <a:off x="7219188" y="4617720"/>
            <a:ext cx="347472" cy="347472"/>
          </a:xfrm>
          <a:prstGeom prst="ellipse">
            <a:avLst/>
          </a:prstGeom>
          <a:solidFill>
            <a:srgbClr val="FAE8D4"/>
          </a:solidFill>
          <a:ln w="12700">
            <a:solidFill>
              <a:srgbClr val="FAE8D4"/>
            </a:solidFill>
            <a:prstDash val="solid"/>
          </a:ln>
        </p:spPr>
      </p:sp>
      <p:sp>
        <p:nvSpPr>
          <p:cNvPr id="35" name="Text 32"/>
          <p:cNvSpPr txBox="1"/>
          <p:nvPr/>
        </p:nvSpPr>
        <p:spPr>
          <a:xfrm>
            <a:off x="7219188" y="4617720"/>
            <a:ext cx="347472" cy="347472"/>
          </a:xfrm>
          <a:prstGeom prst="rect">
            <a:avLst/>
          </a:prstGeom>
          <a:noFill/>
          <a:ln/>
        </p:spPr>
        <p:txBody>
          <a:bodyPr wrap="square" lIns="0" tIns="0" rIns="0" bIns="0" rtlCol="0" anchor="ctr"/>
          <a:lstStyle/>
          <a:p>
            <a:pPr algn="ctr" indent="0" marL="0">
              <a:buNone/>
            </a:pPr>
            <a:r>
              <a:rPr lang="en-US" sz="1300" b="1" dirty="0">
                <a:solidFill>
                  <a:srgbClr val="A85A18"/>
                </a:solidFill>
              </a:rPr>
              <a:t>8</a:t>
            </a:r>
            <a:endParaRPr lang="en-US" sz="1300" dirty="0"/>
          </a:p>
        </p:txBody>
      </p:sp>
      <p:sp>
        <p:nvSpPr>
          <p:cNvPr id="36" name="Text 33"/>
          <p:cNvSpPr txBox="1"/>
          <p:nvPr/>
        </p:nvSpPr>
        <p:spPr>
          <a:xfrm>
            <a:off x="7219188" y="5038344"/>
            <a:ext cx="1773936" cy="457200"/>
          </a:xfrm>
          <a:prstGeom prst="rect">
            <a:avLst/>
          </a:prstGeom>
          <a:noFill/>
          <a:ln/>
        </p:spPr>
        <p:txBody>
          <a:bodyPr wrap="square" lIns="0" tIns="0" rIns="0" bIns="0" rtlCol="0" anchor="t"/>
          <a:lstStyle/>
          <a:p>
            <a:pPr indent="0" marL="0">
              <a:buNone/>
            </a:pPr>
            <a:r>
              <a:rPr lang="en-US" sz="1500" b="1" dirty="0">
                <a:solidFill>
                  <a:schemeClr val="tx1"/>
                </a:solidFill>
              </a:rPr>
              <a:t>Results are analyzed</a:t>
            </a:r>
            <a:endParaRPr lang="en-US" sz="1500" dirty="0"/>
          </a:p>
        </p:txBody>
      </p:sp>
      <p:sp>
        <p:nvSpPr>
          <p:cNvPr id="37" name="step 9"/>
          <p:cNvSpPr/>
          <p:nvPr/>
        </p:nvSpPr>
        <p:spPr>
          <a:xfrm>
            <a:off x="9354312" y="4434840"/>
            <a:ext cx="2103120" cy="1143000"/>
          </a:xfrm>
          <a:prstGeom prst="roundRect">
            <a:avLst>
              <a:gd name="adj" fmla="val 9600"/>
            </a:avLst>
          </a:prstGeom>
          <a:solidFill>
            <a:srgbClr val="D4762A"/>
          </a:solidFill>
          <a:ln w="12700">
            <a:solidFill>
              <a:srgbClr val="D4762A"/>
            </a:solidFill>
            <a:prstDash val="solid"/>
          </a:ln>
          <a:effectLst>
            <a:outerShdw sx="100000" sy="100000" kx="0" ky="0" algn="bl" rotWithShape="0" blurRad="127000" dist="25400" dir="5400000">
              <a:srgbClr val="000000">
                <a:alpha val="10000"/>
              </a:srgbClr>
            </a:outerShdw>
          </a:effectLst>
        </p:spPr>
      </p:sp>
      <p:sp>
        <p:nvSpPr>
          <p:cNvPr id="38" name="number"/>
          <p:cNvSpPr/>
          <p:nvPr/>
        </p:nvSpPr>
        <p:spPr>
          <a:xfrm>
            <a:off x="9518904" y="4617720"/>
            <a:ext cx="347472" cy="347472"/>
          </a:xfrm>
          <a:prstGeom prst="ellipse">
            <a:avLst/>
          </a:prstGeom>
          <a:solidFill>
            <a:srgbClr val="FFFFFF"/>
          </a:solidFill>
          <a:ln w="12700">
            <a:solidFill>
              <a:srgbClr val="FFFFFF"/>
            </a:solidFill>
            <a:prstDash val="solid"/>
          </a:ln>
        </p:spPr>
      </p:sp>
      <p:sp>
        <p:nvSpPr>
          <p:cNvPr id="39" name="Text 36"/>
          <p:cNvSpPr txBox="1"/>
          <p:nvPr/>
        </p:nvSpPr>
        <p:spPr>
          <a:xfrm>
            <a:off x="9518904" y="4617720"/>
            <a:ext cx="347472" cy="347472"/>
          </a:xfrm>
          <a:prstGeom prst="rect">
            <a:avLst/>
          </a:prstGeom>
          <a:noFill/>
          <a:ln/>
        </p:spPr>
        <p:txBody>
          <a:bodyPr wrap="square" lIns="0" tIns="0" rIns="0" bIns="0" rtlCol="0" anchor="ctr"/>
          <a:lstStyle/>
          <a:p>
            <a:pPr algn="ctr" indent="0" marL="0">
              <a:buNone/>
            </a:pPr>
            <a:r>
              <a:rPr lang="en-US" sz="1300" b="1" dirty="0">
                <a:solidFill>
                  <a:srgbClr val="A85A18"/>
                </a:solidFill>
              </a:rPr>
              <a:t>9</a:t>
            </a:r>
            <a:endParaRPr lang="en-US" sz="1300" dirty="0"/>
          </a:p>
        </p:txBody>
      </p:sp>
      <p:sp>
        <p:nvSpPr>
          <p:cNvPr id="40" name="Text 37"/>
          <p:cNvSpPr txBox="1"/>
          <p:nvPr/>
        </p:nvSpPr>
        <p:spPr>
          <a:xfrm>
            <a:off x="9518904" y="5038344"/>
            <a:ext cx="1773936" cy="457200"/>
          </a:xfrm>
          <a:prstGeom prst="rect">
            <a:avLst/>
          </a:prstGeom>
          <a:noFill/>
          <a:ln/>
        </p:spPr>
        <p:txBody>
          <a:bodyPr wrap="square" lIns="0" tIns="0" rIns="0" bIns="0" rtlCol="0" anchor="t"/>
          <a:lstStyle/>
          <a:p>
            <a:pPr indent="0" marL="0">
              <a:buNone/>
            </a:pPr>
            <a:r>
              <a:rPr lang="en-US" sz="1500" b="1" dirty="0">
                <a:solidFill>
                  <a:schemeClr val="bg1"/>
                </a:solidFill>
              </a:rPr>
              <a:t>Who needs help?</a:t>
            </a:r>
            <a:endParaRPr lang="en-US" sz="1500" dirty="0"/>
          </a:p>
        </p:txBody>
      </p:sp>
      <p:sp>
        <p:nvSpPr>
          <p:cNvPr id="41" name="Text 38"/>
          <p:cNvSpPr txBox="1"/>
          <p:nvPr/>
        </p:nvSpPr>
        <p:spPr>
          <a:xfrm>
            <a:off x="4754880" y="5852160"/>
            <a:ext cx="6766560" cy="320040"/>
          </a:xfrm>
          <a:prstGeom prst="rect">
            <a:avLst/>
          </a:prstGeom>
          <a:noFill/>
          <a:ln/>
        </p:spPr>
        <p:txBody>
          <a:bodyPr wrap="square" lIns="0" tIns="0" rIns="0" bIns="0" rtlCol="0" anchor="t"/>
          <a:lstStyle/>
          <a:p>
            <a:pPr indent="0" marL="0">
              <a:buNone/>
            </a:pPr>
            <a:r>
              <a:rPr lang="en-US" sz="1600" b="1" spc="100" kern="0" dirty="0">
                <a:solidFill>
                  <a:schemeClr val="accent1"/>
                </a:solidFill>
              </a:rPr>
              <a:t>Time.   Cost.   Paper.   Administration.   Fragmentation.</a:t>
            </a:r>
            <a:endParaRPr lang="en-US" sz="16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rgbClr val="EC924A"/>
                </a:solidFill>
              </a:rPr>
              <a:t>PART 1   |   THE STRATEGY</a:t>
            </a:r>
            <a:endParaRPr lang="en-US" sz="1100" dirty="0"/>
          </a:p>
        </p:txBody>
      </p:sp>
      <p:sp>
        <p:nvSpPr>
          <p:cNvPr id="3" name="Text 0"/>
          <p:cNvSpPr/>
          <p:nvPr>
            <p:ph idx="100" type="title" hasCustomPrompt="1"/>
          </p:nvPr>
        </p:nvSpPr>
        <p:spPr>
          <a:xfrm>
            <a:off x="640080" y="548640"/>
            <a:ext cx="10908792" cy="1005840"/>
          </a:xfrm>
          <a:prstGeom prst="rect">
            <a:avLst/>
          </a:prstGeom>
          <a:noFill/>
          <a:ln/>
        </p:spPr>
        <p:txBody>
          <a:bodyPr wrap="square" lIns="0" tIns="0" rIns="0" bIns="0" rtlCol="0" anchor="t"/>
          <a:lstStyle/>
          <a:p>
            <a:pPr algn="l" indent="0" marL="0">
              <a:buNone/>
            </a:pPr>
            <a:r>
              <a:rPr lang="en-US" sz="3400" b="1" dirty="0">
                <a:solidFill>
                  <a:schemeClr val="bg1"/>
                </a:solidFill>
              </a:rPr>
              <a:t>One school of about 1,800 students</a:t>
            </a:r>
            <a:endParaRPr lang="en-US" sz="3400" dirty="0"/>
          </a:p>
        </p:txBody>
      </p:sp>
      <p:sp>
        <p:nvSpPr>
          <p:cNvPr id="4" name="Text 2"/>
          <p:cNvSpPr txBox="1"/>
          <p:nvPr/>
        </p:nvSpPr>
        <p:spPr>
          <a:xfrm>
            <a:off x="640080" y="2011680"/>
            <a:ext cx="4206240" cy="1188720"/>
          </a:xfrm>
          <a:prstGeom prst="rect">
            <a:avLst/>
          </a:prstGeom>
          <a:noFill/>
          <a:ln/>
        </p:spPr>
        <p:txBody>
          <a:bodyPr wrap="square" lIns="0" tIns="0" rIns="0" bIns="0" rtlCol="0" anchor="t"/>
          <a:lstStyle/>
          <a:p>
            <a:pPr indent="0" marL="0">
              <a:buNone/>
            </a:pPr>
            <a:r>
              <a:rPr lang="en-US" sz="8000" b="1" dirty="0">
                <a:solidFill>
                  <a:srgbClr val="EC924A"/>
                </a:solidFill>
              </a:rPr>
              <a:t>≈1,800</a:t>
            </a:r>
            <a:endParaRPr lang="en-US" sz="8000" dirty="0"/>
          </a:p>
        </p:txBody>
      </p:sp>
      <p:sp>
        <p:nvSpPr>
          <p:cNvPr id="5" name="Text 3"/>
          <p:cNvSpPr txBox="1"/>
          <p:nvPr/>
        </p:nvSpPr>
        <p:spPr>
          <a:xfrm>
            <a:off x="640080" y="3200400"/>
            <a:ext cx="4206240" cy="457200"/>
          </a:xfrm>
          <a:prstGeom prst="rect">
            <a:avLst/>
          </a:prstGeom>
          <a:noFill/>
          <a:ln/>
        </p:spPr>
        <p:txBody>
          <a:bodyPr wrap="square" lIns="0" tIns="0" rIns="0" bIns="0" rtlCol="0" anchor="t"/>
          <a:lstStyle/>
          <a:p>
            <a:pPr indent="0" marL="0">
              <a:buNone/>
            </a:pPr>
            <a:r>
              <a:rPr lang="en-US" sz="2600" dirty="0">
                <a:solidFill>
                  <a:schemeClr val="bg1"/>
                </a:solidFill>
              </a:rPr>
              <a:t>students</a:t>
            </a:r>
            <a:endParaRPr lang="en-US" sz="2600" dirty="0"/>
          </a:p>
        </p:txBody>
      </p:sp>
      <p:sp>
        <p:nvSpPr>
          <p:cNvPr id="6" name="Text 4"/>
          <p:cNvSpPr txBox="1"/>
          <p:nvPr/>
        </p:nvSpPr>
        <p:spPr>
          <a:xfrm>
            <a:off x="640080" y="4114800"/>
            <a:ext cx="4023360" cy="1463040"/>
          </a:xfrm>
          <a:prstGeom prst="rect">
            <a:avLst/>
          </a:prstGeom>
          <a:noFill/>
          <a:ln/>
        </p:spPr>
        <p:txBody>
          <a:bodyPr wrap="square" lIns="0" tIns="0" rIns="0" bIns="0" rtlCol="0" anchor="t"/>
          <a:lstStyle/>
          <a:p>
            <a:pPr indent="0" marL="0">
              <a:buNone/>
            </a:pPr>
            <a:r>
              <a:rPr lang="en-US" sz="1800" dirty="0">
                <a:solidFill>
                  <a:srgbClr val="BFB09C"/>
                </a:solidFill>
              </a:rPr>
              <a:t>Every test, lesson and class creates information. The question is whether teachers and leaders can see it.</a:t>
            </a:r>
            <a:endParaRPr lang="en-US" sz="1800" dirty="0"/>
          </a:p>
        </p:txBody>
      </p:sp>
      <p:sp>
        <p:nvSpPr>
          <p:cNvPr id="7" name="link"/>
          <p:cNvSpPr/>
          <p:nvPr/>
        </p:nvSpPr>
        <p:spPr>
          <a:xfrm flipH="1">
            <a:off x="5760720" y="3657600"/>
            <a:ext cx="2286000" cy="91440"/>
          </a:xfrm>
          <a:prstGeom prst="line">
            <a:avLst/>
          </a:prstGeom>
          <a:noFill/>
          <a:ln w="19050">
            <a:solidFill>
              <a:srgbClr val="3A2E22"/>
            </a:solidFill>
            <a:prstDash val="solid"/>
          </a:ln>
        </p:spPr>
      </p:sp>
      <p:sp>
        <p:nvSpPr>
          <p:cNvPr id="8" name="link"/>
          <p:cNvSpPr/>
          <p:nvPr/>
        </p:nvSpPr>
        <p:spPr>
          <a:xfrm flipH="1" flipV="1">
            <a:off x="6720840" y="1920240"/>
            <a:ext cx="1325880" cy="1737360"/>
          </a:xfrm>
          <a:prstGeom prst="line">
            <a:avLst/>
          </a:prstGeom>
          <a:noFill/>
          <a:ln w="19050">
            <a:solidFill>
              <a:srgbClr val="3A2E22"/>
            </a:solidFill>
            <a:prstDash val="solid"/>
          </a:ln>
        </p:spPr>
      </p:sp>
      <p:sp>
        <p:nvSpPr>
          <p:cNvPr id="9" name="link"/>
          <p:cNvSpPr/>
          <p:nvPr/>
        </p:nvSpPr>
        <p:spPr>
          <a:xfrm flipV="1">
            <a:off x="8046720" y="1920240"/>
            <a:ext cx="1325880" cy="1737360"/>
          </a:xfrm>
          <a:prstGeom prst="line">
            <a:avLst/>
          </a:prstGeom>
          <a:noFill/>
          <a:ln w="19050">
            <a:solidFill>
              <a:srgbClr val="3A2E22"/>
            </a:solidFill>
            <a:prstDash val="solid"/>
          </a:ln>
        </p:spPr>
      </p:sp>
      <p:sp>
        <p:nvSpPr>
          <p:cNvPr id="10" name="link"/>
          <p:cNvSpPr/>
          <p:nvPr/>
        </p:nvSpPr>
        <p:spPr>
          <a:xfrm>
            <a:off x="8046720" y="3657600"/>
            <a:ext cx="2286000" cy="91440"/>
          </a:xfrm>
          <a:prstGeom prst="line">
            <a:avLst/>
          </a:prstGeom>
          <a:noFill/>
          <a:ln w="19050">
            <a:solidFill>
              <a:srgbClr val="3A2E22"/>
            </a:solidFill>
            <a:prstDash val="solid"/>
          </a:ln>
        </p:spPr>
      </p:sp>
      <p:sp>
        <p:nvSpPr>
          <p:cNvPr id="11" name="link"/>
          <p:cNvSpPr/>
          <p:nvPr/>
        </p:nvSpPr>
        <p:spPr>
          <a:xfrm>
            <a:off x="8046720" y="3657600"/>
            <a:ext cx="0" cy="1737360"/>
          </a:xfrm>
          <a:prstGeom prst="line">
            <a:avLst/>
          </a:prstGeom>
          <a:noFill/>
          <a:ln w="19050">
            <a:solidFill>
              <a:srgbClr val="3A2E22"/>
            </a:solidFill>
            <a:prstDash val="solid"/>
          </a:ln>
        </p:spPr>
      </p:sp>
      <p:sp>
        <p:nvSpPr>
          <p:cNvPr id="12" name="school"/>
          <p:cNvSpPr/>
          <p:nvPr/>
        </p:nvSpPr>
        <p:spPr>
          <a:xfrm>
            <a:off x="7178040" y="2788920"/>
            <a:ext cx="1737360" cy="1737360"/>
          </a:xfrm>
          <a:prstGeom prst="ellipse">
            <a:avLst/>
          </a:prstGeom>
          <a:solidFill>
            <a:srgbClr val="1E1710"/>
          </a:solidFill>
          <a:ln w="25400">
            <a:solidFill>
              <a:srgbClr val="D4762A"/>
            </a:solidFill>
            <a:prstDash val="solid"/>
          </a:ln>
        </p:spPr>
      </p:sp>
      <p:sp>
        <p:nvSpPr>
          <p:cNvPr id="13" name="Text 11"/>
          <p:cNvSpPr txBox="1"/>
          <p:nvPr/>
        </p:nvSpPr>
        <p:spPr>
          <a:xfrm>
            <a:off x="7178040" y="2788920"/>
            <a:ext cx="1737360" cy="1737360"/>
          </a:xfrm>
          <a:prstGeom prst="rect">
            <a:avLst/>
          </a:prstGeom>
          <a:noFill/>
          <a:ln/>
        </p:spPr>
        <p:txBody>
          <a:bodyPr wrap="square" lIns="0" tIns="0" rIns="0" bIns="0" rtlCol="0" anchor="ctr"/>
          <a:lstStyle/>
          <a:p>
            <a:pPr algn="ctr" indent="0" marL="0">
              <a:buNone/>
            </a:pPr>
            <a:r>
              <a:rPr lang="en-US" sz="1500" b="1" dirty="0">
                <a:solidFill>
                  <a:schemeClr val="bg1"/>
                </a:solidFill>
              </a:rPr>
              <a:t>Manchester</a:t>
            </a:r>
            <a:endParaRPr lang="en-US" sz="1500" dirty="0"/>
          </a:p>
          <a:p>
            <a:pPr algn="ctr" indent="0" marL="0">
              <a:buNone/>
            </a:pPr>
            <a:r>
              <a:rPr lang="en-US" sz="1500" b="1" dirty="0">
                <a:solidFill>
                  <a:schemeClr val="bg1"/>
                </a:solidFill>
              </a:rPr>
              <a:t>High School</a:t>
            </a:r>
            <a:endParaRPr lang="en-US" sz="1500" dirty="0"/>
          </a:p>
        </p:txBody>
      </p:sp>
      <p:sp>
        <p:nvSpPr>
          <p:cNvPr id="14" name="node"/>
          <p:cNvSpPr/>
          <p:nvPr/>
        </p:nvSpPr>
        <p:spPr>
          <a:xfrm>
            <a:off x="5577840" y="3566160"/>
            <a:ext cx="365760" cy="365760"/>
          </a:xfrm>
          <a:prstGeom prst="ellipse">
            <a:avLst/>
          </a:prstGeom>
          <a:solidFill>
            <a:srgbClr val="D4762A"/>
          </a:solidFill>
          <a:ln w="12700">
            <a:solidFill>
              <a:srgbClr val="D4762A"/>
            </a:solidFill>
            <a:prstDash val="solid"/>
          </a:ln>
        </p:spPr>
      </p:sp>
      <p:sp>
        <p:nvSpPr>
          <p:cNvPr id="15" name="Text 13"/>
          <p:cNvSpPr txBox="1"/>
          <p:nvPr/>
        </p:nvSpPr>
        <p:spPr>
          <a:xfrm>
            <a:off x="4846320" y="4023360"/>
            <a:ext cx="1828800" cy="310896"/>
          </a:xfrm>
          <a:prstGeom prst="rect">
            <a:avLst/>
          </a:prstGeom>
          <a:noFill/>
          <a:ln/>
        </p:spPr>
        <p:txBody>
          <a:bodyPr wrap="square" lIns="0" tIns="0" rIns="0" bIns="0" rtlCol="0" anchor="t"/>
          <a:lstStyle/>
          <a:p>
            <a:pPr algn="ctr" indent="0" marL="0">
              <a:buNone/>
            </a:pPr>
            <a:r>
              <a:rPr lang="en-US" sz="1600" b="1" dirty="0">
                <a:solidFill>
                  <a:schemeClr val="bg1"/>
                </a:solidFill>
              </a:rPr>
              <a:t>Students</a:t>
            </a:r>
            <a:endParaRPr lang="en-US" sz="1600" dirty="0"/>
          </a:p>
        </p:txBody>
      </p:sp>
      <p:sp>
        <p:nvSpPr>
          <p:cNvPr id="16" name="node"/>
          <p:cNvSpPr/>
          <p:nvPr/>
        </p:nvSpPr>
        <p:spPr>
          <a:xfrm>
            <a:off x="6537960" y="1737360"/>
            <a:ext cx="365760" cy="365760"/>
          </a:xfrm>
          <a:prstGeom prst="ellipse">
            <a:avLst/>
          </a:prstGeom>
          <a:solidFill>
            <a:srgbClr val="EC924A"/>
          </a:solidFill>
          <a:ln w="12700">
            <a:solidFill>
              <a:srgbClr val="EC924A"/>
            </a:solidFill>
            <a:prstDash val="solid"/>
          </a:ln>
        </p:spPr>
      </p:sp>
      <p:sp>
        <p:nvSpPr>
          <p:cNvPr id="17" name="Text 15"/>
          <p:cNvSpPr txBox="1"/>
          <p:nvPr/>
        </p:nvSpPr>
        <p:spPr>
          <a:xfrm>
            <a:off x="5806440" y="2194560"/>
            <a:ext cx="1828800" cy="310896"/>
          </a:xfrm>
          <a:prstGeom prst="rect">
            <a:avLst/>
          </a:prstGeom>
          <a:noFill/>
          <a:ln/>
        </p:spPr>
        <p:txBody>
          <a:bodyPr wrap="square" lIns="0" tIns="0" rIns="0" bIns="0" rtlCol="0" anchor="t"/>
          <a:lstStyle/>
          <a:p>
            <a:pPr algn="ctr" indent="0" marL="0">
              <a:buNone/>
            </a:pPr>
            <a:r>
              <a:rPr lang="en-US" sz="1600" b="1" dirty="0">
                <a:solidFill>
                  <a:schemeClr val="bg1"/>
                </a:solidFill>
              </a:rPr>
              <a:t>Teachers</a:t>
            </a:r>
            <a:endParaRPr lang="en-US" sz="1600" dirty="0"/>
          </a:p>
        </p:txBody>
      </p:sp>
      <p:sp>
        <p:nvSpPr>
          <p:cNvPr id="18" name="node"/>
          <p:cNvSpPr/>
          <p:nvPr/>
        </p:nvSpPr>
        <p:spPr>
          <a:xfrm>
            <a:off x="9189720" y="1737360"/>
            <a:ext cx="365760" cy="365760"/>
          </a:xfrm>
          <a:prstGeom prst="ellipse">
            <a:avLst/>
          </a:prstGeom>
          <a:solidFill>
            <a:srgbClr val="3DB5AB"/>
          </a:solidFill>
          <a:ln w="12700">
            <a:solidFill>
              <a:srgbClr val="3DB5AB"/>
            </a:solidFill>
            <a:prstDash val="solid"/>
          </a:ln>
        </p:spPr>
      </p:sp>
      <p:sp>
        <p:nvSpPr>
          <p:cNvPr id="19" name="Text 17"/>
          <p:cNvSpPr txBox="1"/>
          <p:nvPr/>
        </p:nvSpPr>
        <p:spPr>
          <a:xfrm>
            <a:off x="8458200" y="2194560"/>
            <a:ext cx="1828800" cy="310896"/>
          </a:xfrm>
          <a:prstGeom prst="rect">
            <a:avLst/>
          </a:prstGeom>
          <a:noFill/>
          <a:ln/>
        </p:spPr>
        <p:txBody>
          <a:bodyPr wrap="square" lIns="0" tIns="0" rIns="0" bIns="0" rtlCol="0" anchor="t"/>
          <a:lstStyle/>
          <a:p>
            <a:pPr algn="ctr" indent="0" marL="0">
              <a:buNone/>
            </a:pPr>
            <a:r>
              <a:rPr lang="en-US" sz="1600" b="1" dirty="0">
                <a:solidFill>
                  <a:schemeClr val="bg1"/>
                </a:solidFill>
              </a:rPr>
              <a:t>HODs</a:t>
            </a:r>
            <a:endParaRPr lang="en-US" sz="1600" dirty="0"/>
          </a:p>
        </p:txBody>
      </p:sp>
      <p:sp>
        <p:nvSpPr>
          <p:cNvPr id="20" name="node"/>
          <p:cNvSpPr/>
          <p:nvPr/>
        </p:nvSpPr>
        <p:spPr>
          <a:xfrm>
            <a:off x="10149840" y="3566160"/>
            <a:ext cx="365760" cy="365760"/>
          </a:xfrm>
          <a:prstGeom prst="ellipse">
            <a:avLst/>
          </a:prstGeom>
          <a:solidFill>
            <a:srgbClr val="F2C230"/>
          </a:solidFill>
          <a:ln w="12700">
            <a:solidFill>
              <a:srgbClr val="F2C230"/>
            </a:solidFill>
            <a:prstDash val="solid"/>
          </a:ln>
        </p:spPr>
      </p:sp>
      <p:sp>
        <p:nvSpPr>
          <p:cNvPr id="21" name="Text 19"/>
          <p:cNvSpPr txBox="1"/>
          <p:nvPr/>
        </p:nvSpPr>
        <p:spPr>
          <a:xfrm>
            <a:off x="9418320" y="4023360"/>
            <a:ext cx="1828800" cy="310896"/>
          </a:xfrm>
          <a:prstGeom prst="rect">
            <a:avLst/>
          </a:prstGeom>
          <a:noFill/>
          <a:ln/>
        </p:spPr>
        <p:txBody>
          <a:bodyPr wrap="square" lIns="0" tIns="0" rIns="0" bIns="0" rtlCol="0" anchor="t"/>
          <a:lstStyle/>
          <a:p>
            <a:pPr algn="ctr" indent="0" marL="0">
              <a:buNone/>
            </a:pPr>
            <a:r>
              <a:rPr lang="en-US" sz="1600" b="1" dirty="0">
                <a:solidFill>
                  <a:schemeClr val="bg1"/>
                </a:solidFill>
              </a:rPr>
              <a:t>Administrators</a:t>
            </a:r>
            <a:endParaRPr lang="en-US" sz="1600" dirty="0"/>
          </a:p>
        </p:txBody>
      </p:sp>
      <p:sp>
        <p:nvSpPr>
          <p:cNvPr id="22" name="node"/>
          <p:cNvSpPr/>
          <p:nvPr/>
        </p:nvSpPr>
        <p:spPr>
          <a:xfrm>
            <a:off x="7863840" y="5212080"/>
            <a:ext cx="365760" cy="365760"/>
          </a:xfrm>
          <a:prstGeom prst="ellipse">
            <a:avLst/>
          </a:prstGeom>
          <a:solidFill>
            <a:srgbClr val="F6EDE0"/>
          </a:solidFill>
          <a:ln w="12700">
            <a:solidFill>
              <a:srgbClr val="F6EDE0"/>
            </a:solidFill>
            <a:prstDash val="solid"/>
          </a:ln>
        </p:spPr>
      </p:sp>
      <p:sp>
        <p:nvSpPr>
          <p:cNvPr id="23" name="Text 21"/>
          <p:cNvSpPr txBox="1"/>
          <p:nvPr/>
        </p:nvSpPr>
        <p:spPr>
          <a:xfrm>
            <a:off x="7132320" y="5669280"/>
            <a:ext cx="1828800" cy="310896"/>
          </a:xfrm>
          <a:prstGeom prst="rect">
            <a:avLst/>
          </a:prstGeom>
          <a:noFill/>
          <a:ln/>
        </p:spPr>
        <p:txBody>
          <a:bodyPr wrap="square" lIns="0" tIns="0" rIns="0" bIns="0" rtlCol="0" anchor="t"/>
          <a:lstStyle/>
          <a:p>
            <a:pPr algn="ctr" indent="0" marL="0">
              <a:buNone/>
            </a:pPr>
            <a:r>
              <a:rPr lang="en-US" sz="1600" b="1" dirty="0">
                <a:solidFill>
                  <a:schemeClr val="bg1"/>
                </a:solidFill>
              </a:rPr>
              <a:t>Leadership</a:t>
            </a:r>
            <a:endParaRPr lang="en-US" sz="16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chemeClr val="accent1"/>
                </a:solidFill>
              </a:rPr>
              <a:t>PART 1   |   THE STRATEGY</a:t>
            </a:r>
            <a:endParaRPr lang="en-US" sz="1100" dirty="0"/>
          </a:p>
        </p:txBody>
      </p:sp>
      <p:sp>
        <p:nvSpPr>
          <p:cNvPr id="3" name="Text 0"/>
          <p:cNvSpPr/>
          <p:nvPr>
            <p:ph idx="100" type="title" hasCustomPrompt="1"/>
          </p:nvPr>
        </p:nvSpPr>
        <p:spPr>
          <a:xfrm>
            <a:off x="640080" y="548640"/>
            <a:ext cx="10908792" cy="1005840"/>
          </a:xfrm>
          <a:prstGeom prst="rect">
            <a:avLst/>
          </a:prstGeom>
          <a:noFill/>
          <a:ln/>
        </p:spPr>
        <p:txBody>
          <a:bodyPr wrap="square" lIns="0" tIns="0" rIns="0" bIns="0" rtlCol="0" anchor="t"/>
          <a:lstStyle/>
          <a:p>
            <a:pPr algn="l" indent="0" marL="0">
              <a:buNone/>
            </a:pPr>
            <a:r>
              <a:rPr lang="en-US" sz="3400" b="1" dirty="0">
                <a:solidFill>
                  <a:schemeClr val="tx1"/>
                </a:solidFill>
              </a:rPr>
              <a:t>What 12 Manchester students told us</a:t>
            </a:r>
            <a:endParaRPr lang="en-US" sz="3400" dirty="0"/>
          </a:p>
        </p:txBody>
      </p:sp>
      <p:sp>
        <p:nvSpPr>
          <p:cNvPr id="4" name="Text 2"/>
          <p:cNvSpPr txBox="1"/>
          <p:nvPr/>
        </p:nvSpPr>
        <p:spPr>
          <a:xfrm>
            <a:off x="640080" y="1737360"/>
            <a:ext cx="4069080" cy="457200"/>
          </a:xfrm>
          <a:prstGeom prst="rect">
            <a:avLst/>
          </a:prstGeom>
          <a:noFill/>
          <a:ln/>
        </p:spPr>
        <p:txBody>
          <a:bodyPr wrap="square" lIns="0" tIns="0" rIns="0" bIns="0" rtlCol="0" anchor="t"/>
          <a:lstStyle/>
          <a:p>
            <a:pPr indent="0" marL="0">
              <a:buNone/>
            </a:pPr>
            <a:r>
              <a:rPr lang="en-US" sz="1300" b="1" dirty="0">
                <a:solidFill>
                  <a:schemeClr val="tx1"/>
                </a:solidFill>
              </a:rPr>
              <a:t>What would help you learn a difficult topic?</a:t>
            </a:r>
            <a:endParaRPr lang="en-US" sz="1300" dirty="0"/>
          </a:p>
        </p:txBody>
      </p:sp>
      <p:graphicFrame>
        <p:nvGraphicFramePr>
          <p:cNvPr id="5" name="Chart 0" descr=""/>
          <p:cNvGraphicFramePr/>
          <p:nvPr/>
        </p:nvGraphicFramePr>
        <p:xfrm>
          <a:off x="640080" y="2194560"/>
          <a:ext cx="4069080" cy="27432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4892040" y="1737360"/>
            <a:ext cx="3931920" cy="457200"/>
          </a:xfrm>
          <a:prstGeom prst="rect">
            <a:avLst/>
          </a:prstGeom>
          <a:noFill/>
          <a:ln/>
        </p:spPr>
        <p:txBody>
          <a:bodyPr wrap="square" lIns="0" tIns="0" rIns="0" bIns="0" rtlCol="0" anchor="t"/>
          <a:lstStyle/>
          <a:p>
            <a:pPr indent="0" marL="0">
              <a:buNone/>
            </a:pPr>
            <a:r>
              <a:rPr lang="en-US" sz="1300" b="1" dirty="0">
                <a:solidFill>
                  <a:schemeClr val="tx1"/>
                </a:solidFill>
              </a:rPr>
              <a:t>If a platform showed your progress, what would you want to see?</a:t>
            </a:r>
            <a:endParaRPr lang="en-US" sz="1300" dirty="0"/>
          </a:p>
        </p:txBody>
      </p:sp>
      <p:graphicFrame>
        <p:nvGraphicFramePr>
          <p:cNvPr id="7" name="Chart 1" descr=""/>
          <p:cNvGraphicFramePr/>
          <p:nvPr/>
        </p:nvGraphicFramePr>
        <p:xfrm>
          <a:off x="4892040" y="2194560"/>
          <a:ext cx="3931920" cy="2743200"/>
        </p:xfrm>
        <a:graphic xmlns:a="http://schemas.openxmlformats.org/drawingml/2006/main">
          <a:graphicData uri="http://schemas.openxmlformats.org/drawingml/2006/chart">
            <c:chart xmlns:c="http://schemas.openxmlformats.org/drawingml/2006/chart" r:id="rId2"/>
          </a:graphicData>
        </a:graphic>
      </p:graphicFrame>
      <p:sp>
        <p:nvSpPr>
          <p:cNvPr id="8" name="quotes panel"/>
          <p:cNvSpPr/>
          <p:nvPr/>
        </p:nvSpPr>
        <p:spPr>
          <a:xfrm>
            <a:off x="9098280" y="1783080"/>
            <a:ext cx="2450592" cy="3108960"/>
          </a:xfrm>
          <a:prstGeom prst="roundRect">
            <a:avLst>
              <a:gd name="adj" fmla="val 4478"/>
            </a:avLst>
          </a:prstGeom>
          <a:solidFill>
            <a:srgbClr val="1E1208"/>
          </a:solidFill>
          <a:ln w="12700">
            <a:solidFill>
              <a:srgbClr val="1E1208"/>
            </a:solidFill>
            <a:prstDash val="solid"/>
          </a:ln>
        </p:spPr>
      </p:sp>
      <p:sp>
        <p:nvSpPr>
          <p:cNvPr id="9" name="Text 5"/>
          <p:cNvSpPr txBox="1"/>
          <p:nvPr/>
        </p:nvSpPr>
        <p:spPr>
          <a:xfrm>
            <a:off x="9326880" y="1938528"/>
            <a:ext cx="2011680" cy="228600"/>
          </a:xfrm>
          <a:prstGeom prst="rect">
            <a:avLst/>
          </a:prstGeom>
          <a:noFill/>
          <a:ln/>
        </p:spPr>
        <p:txBody>
          <a:bodyPr wrap="square" lIns="0" tIns="0" rIns="0" bIns="0" rtlCol="0" anchor="t"/>
          <a:lstStyle/>
          <a:p>
            <a:pPr indent="0" marL="0">
              <a:buNone/>
            </a:pPr>
            <a:r>
              <a:rPr lang="en-US" sz="1000" b="1" spc="400" kern="0" dirty="0">
                <a:solidFill>
                  <a:srgbClr val="EC924A"/>
                </a:solidFill>
              </a:rPr>
              <a:t>IN THEIR WORDS</a:t>
            </a:r>
            <a:endParaRPr lang="en-US" sz="1000" dirty="0"/>
          </a:p>
        </p:txBody>
      </p:sp>
      <p:sp>
        <p:nvSpPr>
          <p:cNvPr id="10" name="Text 6"/>
          <p:cNvSpPr txBox="1"/>
          <p:nvPr/>
        </p:nvSpPr>
        <p:spPr>
          <a:xfrm>
            <a:off x="9326880" y="2286000"/>
            <a:ext cx="2057400" cy="2468880"/>
          </a:xfrm>
          <a:prstGeom prst="rect">
            <a:avLst/>
          </a:prstGeom>
          <a:noFill/>
          <a:ln/>
        </p:spPr>
        <p:txBody>
          <a:bodyPr wrap="square" lIns="0" tIns="0" rIns="0" bIns="0" rtlCol="0" anchor="t"/>
          <a:lstStyle/>
          <a:p>
            <a:pPr indent="0" marL="0">
              <a:buNone/>
            </a:pPr>
            <a:r>
              <a:rPr lang="en-US" sz="1200" i="1" dirty="0">
                <a:solidFill>
                  <a:srgbClr val="FFFFFF"/>
                </a:solidFill>
              </a:rPr>
              <a:t>"Interactive quiz competitions where you could compete with students islandwide."</a:t>
            </a:r>
            <a:endParaRPr lang="en-US" sz="1600" dirty="0"/>
          </a:p>
          <a:p>
            <a:pPr indent="0" marL="0">
              <a:buNone/>
            </a:pPr>
            <a:r>
              <a:rPr lang="en-US" sz="500" i="1" dirty="0">
                <a:solidFill>
                  <a:schemeClr val="tx1"/>
                </a:solidFill>
              </a:rPr>
              <a:t> </a:t>
            </a:r>
            <a:endParaRPr lang="en-US" sz="1600" dirty="0"/>
          </a:p>
          <a:p>
            <a:pPr indent="0" marL="0">
              <a:buNone/>
            </a:pPr>
            <a:r>
              <a:rPr lang="en-US" sz="1200" i="1" dirty="0">
                <a:solidFill>
                  <a:srgbClr val="FFFFFF"/>
                </a:solidFill>
              </a:rPr>
              <a:t>"It should be offline as well as online."</a:t>
            </a:r>
            <a:endParaRPr lang="en-US" sz="1600" dirty="0"/>
          </a:p>
          <a:p>
            <a:pPr indent="0" marL="0">
              <a:buNone/>
            </a:pPr>
            <a:r>
              <a:rPr lang="en-US" sz="500" i="1" dirty="0">
                <a:solidFill>
                  <a:schemeClr val="tx1"/>
                </a:solidFill>
              </a:rPr>
              <a:t> </a:t>
            </a:r>
            <a:endParaRPr lang="en-US" sz="1600" dirty="0"/>
          </a:p>
          <a:p>
            <a:pPr indent="0" marL="0">
              <a:buNone/>
            </a:pPr>
            <a:r>
              <a:rPr lang="en-US" sz="1200" i="1" dirty="0">
                <a:solidFill>
                  <a:srgbClr val="FFFFFF"/>
                </a:solidFill>
              </a:rPr>
              <a:t>"Better wifi access."</a:t>
            </a:r>
            <a:endParaRPr lang="en-US" sz="1600" dirty="0"/>
          </a:p>
          <a:p>
            <a:pPr indent="0" marL="0">
              <a:buNone/>
            </a:pPr>
            <a:r>
              <a:rPr lang="en-US" sz="500" i="1" dirty="0">
                <a:solidFill>
                  <a:schemeClr val="tx1"/>
                </a:solidFill>
              </a:rPr>
              <a:t> </a:t>
            </a:r>
            <a:endParaRPr lang="en-US" sz="1600" dirty="0"/>
          </a:p>
          <a:p>
            <a:pPr indent="0" marL="0">
              <a:buNone/>
            </a:pPr>
            <a:r>
              <a:rPr lang="en-US" sz="1200" i="1" dirty="0">
                <a:solidFill>
                  <a:srgbClr val="FFFFFF"/>
                </a:solidFill>
              </a:rPr>
              <a:t>"Challenges between students online."</a:t>
            </a:r>
            <a:endParaRPr lang="en-US" sz="1600" dirty="0"/>
          </a:p>
          <a:p>
            <a:pPr indent="0" marL="0">
              <a:buNone/>
            </a:pPr>
            <a:r>
              <a:rPr lang="en-US" sz="500" i="1" dirty="0">
                <a:solidFill>
                  <a:schemeClr val="tx1"/>
                </a:solidFill>
              </a:rPr>
              <a:t> </a:t>
            </a:r>
            <a:endParaRPr lang="en-US" sz="1600" dirty="0"/>
          </a:p>
          <a:p>
            <a:pPr indent="0" marL="0">
              <a:buNone/>
            </a:pPr>
            <a:r>
              <a:rPr lang="en-US" sz="1200" i="1" dirty="0">
                <a:solidFill>
                  <a:srgbClr val="FFFFFF"/>
                </a:solidFill>
              </a:rPr>
              <a:t>"AI tutor."</a:t>
            </a:r>
            <a:endParaRPr lang="en-US" sz="1600" dirty="0"/>
          </a:p>
        </p:txBody>
      </p:sp>
      <p:sp>
        <p:nvSpPr>
          <p:cNvPr id="11" name="takeaway"/>
          <p:cNvSpPr/>
          <p:nvPr/>
        </p:nvSpPr>
        <p:spPr>
          <a:xfrm>
            <a:off x="640080" y="5120640"/>
            <a:ext cx="10908792" cy="658368"/>
          </a:xfrm>
          <a:prstGeom prst="roundRect">
            <a:avLst>
              <a:gd name="adj" fmla="val 16667"/>
            </a:avLst>
          </a:prstGeom>
          <a:solidFill>
            <a:srgbClr val="FAE8D4"/>
          </a:solidFill>
          <a:ln w="12700">
            <a:solidFill>
              <a:srgbClr val="EAD9C4"/>
            </a:solidFill>
            <a:prstDash val="solid"/>
          </a:ln>
        </p:spPr>
      </p:sp>
      <p:sp>
        <p:nvSpPr>
          <p:cNvPr id="12" name="Text 8"/>
          <p:cNvSpPr txBox="1"/>
          <p:nvPr/>
        </p:nvSpPr>
        <p:spPr>
          <a:xfrm>
            <a:off x="868680" y="5120640"/>
            <a:ext cx="10424160" cy="658368"/>
          </a:xfrm>
          <a:prstGeom prst="rect">
            <a:avLst/>
          </a:prstGeom>
          <a:noFill/>
          <a:ln/>
        </p:spPr>
        <p:txBody>
          <a:bodyPr wrap="square" lIns="0" tIns="0" rIns="0" bIns="0" rtlCol="0" anchor="ctr">
            <a:normAutofit/>
          </a:bodyPr>
          <a:lstStyle/>
          <a:p>
            <a:pPr indent="0" marL="0">
              <a:buNone/>
            </a:pPr>
            <a:r>
              <a:rPr lang="en-US" sz="1500" b="1" dirty="0">
                <a:solidFill>
                  <a:schemeClr val="tx1"/>
                </a:solidFill>
              </a:rPr>
              <a:t>10 of 12 want help studying for exams. 7 of 12 chose flashcards for practice. Wifi and offline access came up in their own words.</a:t>
            </a:r>
            <a:endParaRPr lang="en-US" sz="1500" dirty="0"/>
          </a:p>
        </p:txBody>
      </p:sp>
      <p:sp>
        <p:nvSpPr>
          <p:cNvPr id="13" name="Text 9"/>
          <p:cNvSpPr txBox="1"/>
          <p:nvPr/>
        </p:nvSpPr>
        <p:spPr>
          <a:xfrm>
            <a:off x="640080" y="5943600"/>
            <a:ext cx="10881360" cy="320040"/>
          </a:xfrm>
          <a:prstGeom prst="rect">
            <a:avLst/>
          </a:prstGeom>
          <a:noFill/>
          <a:ln/>
        </p:spPr>
        <p:txBody>
          <a:bodyPr wrap="square" lIns="0" tIns="0" rIns="0" bIns="0" rtlCol="0" anchor="t"/>
          <a:lstStyle/>
          <a:p>
            <a:pPr indent="0" marL="0">
              <a:buNone/>
            </a:pPr>
            <a:r>
              <a:rPr lang="en-US" sz="1000" i="1" dirty="0">
                <a:solidFill>
                  <a:schemeClr val="accent5"/>
                </a:solidFill>
              </a:rPr>
              <a:t>Manchester High School student survey. 12 students, who could tick as many answers as they liked. A small sample, so read it as a signal, not a verdict.</a:t>
            </a:r>
            <a:endParaRPr lang="en-US" sz="10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chemeClr val="accent1"/>
                </a:solidFill>
              </a:rPr>
              <a:t>PART 1   |   THE STRATEGY</a:t>
            </a:r>
            <a:endParaRPr lang="en-US" sz="1100" dirty="0"/>
          </a:p>
        </p:txBody>
      </p:sp>
      <p:sp>
        <p:nvSpPr>
          <p:cNvPr id="3" name="Text 0"/>
          <p:cNvSpPr/>
          <p:nvPr>
            <p:ph idx="100" type="title" hasCustomPrompt="1"/>
          </p:nvPr>
        </p:nvSpPr>
        <p:spPr>
          <a:xfrm>
            <a:off x="640080" y="548640"/>
            <a:ext cx="10908792" cy="1005840"/>
          </a:xfrm>
          <a:prstGeom prst="rect">
            <a:avLst/>
          </a:prstGeom>
          <a:noFill/>
          <a:ln/>
        </p:spPr>
        <p:txBody>
          <a:bodyPr wrap="square" lIns="0" tIns="0" rIns="0" bIns="0" rtlCol="0" anchor="t"/>
          <a:lstStyle/>
          <a:p>
            <a:pPr algn="l" indent="0" marL="0">
              <a:buNone/>
            </a:pPr>
            <a:r>
              <a:rPr lang="en-US" sz="3400" b="1" dirty="0">
                <a:solidFill>
                  <a:schemeClr val="tx1"/>
                </a:solidFill>
              </a:rPr>
              <a:t>What 10 Manchester teachers told us</a:t>
            </a:r>
            <a:endParaRPr lang="en-US" sz="3400" dirty="0"/>
          </a:p>
        </p:txBody>
      </p:sp>
      <p:sp>
        <p:nvSpPr>
          <p:cNvPr id="4" name="Text 2"/>
          <p:cNvSpPr txBox="1"/>
          <p:nvPr/>
        </p:nvSpPr>
        <p:spPr>
          <a:xfrm>
            <a:off x="640080" y="1737360"/>
            <a:ext cx="4069080" cy="457200"/>
          </a:xfrm>
          <a:prstGeom prst="rect">
            <a:avLst/>
          </a:prstGeom>
          <a:noFill/>
          <a:ln/>
        </p:spPr>
        <p:txBody>
          <a:bodyPr wrap="square" lIns="0" tIns="0" rIns="0" bIns="0" rtlCol="0" anchor="t"/>
          <a:lstStyle/>
          <a:p>
            <a:pPr indent="0" marL="0">
              <a:buNone/>
            </a:pPr>
            <a:r>
              <a:rPr lang="en-US" sz="1300" b="1" dirty="0">
                <a:solidFill>
                  <a:schemeClr val="tx1"/>
                </a:solidFill>
              </a:rPr>
              <a:t>Which parts of assessment take the most time or effort?</a:t>
            </a:r>
            <a:endParaRPr lang="en-US" sz="1300" dirty="0"/>
          </a:p>
        </p:txBody>
      </p:sp>
      <p:graphicFrame>
        <p:nvGraphicFramePr>
          <p:cNvPr id="5" name="Chart 0" descr=""/>
          <p:cNvGraphicFramePr/>
          <p:nvPr/>
        </p:nvGraphicFramePr>
        <p:xfrm>
          <a:off x="640080" y="2194560"/>
          <a:ext cx="4069080" cy="27432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4892040" y="1737360"/>
            <a:ext cx="3931920" cy="457200"/>
          </a:xfrm>
          <a:prstGeom prst="rect">
            <a:avLst/>
          </a:prstGeom>
          <a:noFill/>
          <a:ln/>
        </p:spPr>
        <p:txBody>
          <a:bodyPr wrap="square" lIns="0" tIns="0" rIns="0" bIns="0" rtlCol="0" anchor="t"/>
          <a:lstStyle/>
          <a:p>
            <a:pPr indent="0" marL="0">
              <a:buNone/>
            </a:pPr>
            <a:r>
              <a:rPr lang="en-US" sz="1300" b="1" dirty="0">
                <a:solidFill>
                  <a:schemeClr val="tx1"/>
                </a:solidFill>
              </a:rPr>
              <a:t>What should a platform tell you about your students?</a:t>
            </a:r>
            <a:endParaRPr lang="en-US" sz="1300" dirty="0"/>
          </a:p>
        </p:txBody>
      </p:sp>
      <p:graphicFrame>
        <p:nvGraphicFramePr>
          <p:cNvPr id="7" name="Chart 1" descr=""/>
          <p:cNvGraphicFramePr/>
          <p:nvPr/>
        </p:nvGraphicFramePr>
        <p:xfrm>
          <a:off x="4892040" y="2194560"/>
          <a:ext cx="3931920" cy="2743200"/>
        </p:xfrm>
        <a:graphic xmlns:a="http://schemas.openxmlformats.org/drawingml/2006/main">
          <a:graphicData uri="http://schemas.openxmlformats.org/drawingml/2006/chart">
            <c:chart xmlns:c="http://schemas.openxmlformats.org/drawingml/2006/chart" r:id="rId2"/>
          </a:graphicData>
        </a:graphic>
      </p:graphicFrame>
      <p:sp>
        <p:nvSpPr>
          <p:cNvPr id="8" name="stats panel"/>
          <p:cNvSpPr/>
          <p:nvPr/>
        </p:nvSpPr>
        <p:spPr>
          <a:xfrm>
            <a:off x="9098280" y="1783080"/>
            <a:ext cx="2450592" cy="3108960"/>
          </a:xfrm>
          <a:prstGeom prst="roundRect">
            <a:avLst>
              <a:gd name="adj" fmla="val 4478"/>
            </a:avLst>
          </a:prstGeom>
          <a:solidFill>
            <a:srgbClr val="1E1208"/>
          </a:solidFill>
          <a:ln w="12700">
            <a:solidFill>
              <a:srgbClr val="1E1208"/>
            </a:solidFill>
            <a:prstDash val="solid"/>
          </a:ln>
        </p:spPr>
      </p:sp>
      <p:sp>
        <p:nvSpPr>
          <p:cNvPr id="9" name="Text 5"/>
          <p:cNvSpPr txBox="1"/>
          <p:nvPr/>
        </p:nvSpPr>
        <p:spPr>
          <a:xfrm>
            <a:off x="9326880" y="1938528"/>
            <a:ext cx="2011680" cy="228600"/>
          </a:xfrm>
          <a:prstGeom prst="rect">
            <a:avLst/>
          </a:prstGeom>
          <a:noFill/>
          <a:ln/>
        </p:spPr>
        <p:txBody>
          <a:bodyPr wrap="square" lIns="0" tIns="0" rIns="0" bIns="0" rtlCol="0" anchor="t"/>
          <a:lstStyle/>
          <a:p>
            <a:pPr indent="0" marL="0">
              <a:buNone/>
            </a:pPr>
            <a:r>
              <a:rPr lang="en-US" sz="1000" b="1" spc="400" kern="0" dirty="0">
                <a:solidFill>
                  <a:srgbClr val="EC924A"/>
                </a:solidFill>
              </a:rPr>
              <a:t>AND ALSO</a:t>
            </a:r>
            <a:endParaRPr lang="en-US" sz="1000" dirty="0"/>
          </a:p>
        </p:txBody>
      </p:sp>
      <p:sp>
        <p:nvSpPr>
          <p:cNvPr id="10" name="Text 6"/>
          <p:cNvSpPr txBox="1"/>
          <p:nvPr/>
        </p:nvSpPr>
        <p:spPr>
          <a:xfrm>
            <a:off x="9326880" y="2286000"/>
            <a:ext cx="2103120" cy="411480"/>
          </a:xfrm>
          <a:prstGeom prst="rect">
            <a:avLst/>
          </a:prstGeom>
          <a:noFill/>
          <a:ln/>
        </p:spPr>
        <p:txBody>
          <a:bodyPr wrap="square" lIns="0" tIns="0" rIns="0" bIns="0" rtlCol="0" anchor="t"/>
          <a:lstStyle/>
          <a:p>
            <a:pPr indent="0" marL="0">
              <a:buNone/>
            </a:pPr>
            <a:r>
              <a:rPr lang="en-US" sz="2400" b="1" dirty="0">
                <a:solidFill>
                  <a:srgbClr val="FFFFFF"/>
                </a:solidFill>
              </a:rPr>
              <a:t>9 of 10</a:t>
            </a:r>
            <a:endParaRPr lang="en-US" sz="2400" dirty="0"/>
          </a:p>
        </p:txBody>
      </p:sp>
      <p:sp>
        <p:nvSpPr>
          <p:cNvPr id="11" name="Text 7"/>
          <p:cNvSpPr txBox="1"/>
          <p:nvPr/>
        </p:nvSpPr>
        <p:spPr>
          <a:xfrm>
            <a:off x="9326880" y="2706624"/>
            <a:ext cx="2103120" cy="411480"/>
          </a:xfrm>
          <a:prstGeom prst="rect">
            <a:avLst/>
          </a:prstGeom>
          <a:noFill/>
          <a:ln/>
        </p:spPr>
        <p:txBody>
          <a:bodyPr wrap="square" lIns="0" tIns="0" rIns="0" bIns="0" rtlCol="0" anchor="t"/>
          <a:lstStyle/>
          <a:p>
            <a:pPr indent="0" marL="0">
              <a:buNone/>
            </a:pPr>
            <a:r>
              <a:rPr lang="en-US" sz="1100" dirty="0">
                <a:solidFill>
                  <a:srgbClr val="BFB09C"/>
                </a:solidFill>
              </a:rPr>
              <a:t>want a platform to show what a student missed</a:t>
            </a:r>
            <a:endParaRPr lang="en-US" sz="1100" dirty="0"/>
          </a:p>
        </p:txBody>
      </p:sp>
      <p:sp>
        <p:nvSpPr>
          <p:cNvPr id="12" name="Text 8"/>
          <p:cNvSpPr txBox="1"/>
          <p:nvPr/>
        </p:nvSpPr>
        <p:spPr>
          <a:xfrm>
            <a:off x="9326880" y="3182112"/>
            <a:ext cx="2103120" cy="411480"/>
          </a:xfrm>
          <a:prstGeom prst="rect">
            <a:avLst/>
          </a:prstGeom>
          <a:noFill/>
          <a:ln/>
        </p:spPr>
        <p:txBody>
          <a:bodyPr wrap="square" lIns="0" tIns="0" rIns="0" bIns="0" rtlCol="0" anchor="t"/>
          <a:lstStyle/>
          <a:p>
            <a:pPr indent="0" marL="0">
              <a:buNone/>
            </a:pPr>
            <a:r>
              <a:rPr lang="en-US" sz="2400" b="1" dirty="0">
                <a:solidFill>
                  <a:srgbClr val="FFFFFF"/>
                </a:solidFill>
              </a:rPr>
              <a:t>9 of 10</a:t>
            </a:r>
            <a:endParaRPr lang="en-US" sz="2400" dirty="0"/>
          </a:p>
        </p:txBody>
      </p:sp>
      <p:sp>
        <p:nvSpPr>
          <p:cNvPr id="13" name="Text 9"/>
          <p:cNvSpPr txBox="1"/>
          <p:nvPr/>
        </p:nvSpPr>
        <p:spPr>
          <a:xfrm>
            <a:off x="9326880" y="3602736"/>
            <a:ext cx="2103120" cy="411480"/>
          </a:xfrm>
          <a:prstGeom prst="rect">
            <a:avLst/>
          </a:prstGeom>
          <a:noFill/>
          <a:ln/>
        </p:spPr>
        <p:txBody>
          <a:bodyPr wrap="square" lIns="0" tIns="0" rIns="0" bIns="0" rtlCol="0" anchor="t"/>
          <a:lstStyle/>
          <a:p>
            <a:pPr indent="0" marL="0">
              <a:buNone/>
            </a:pPr>
            <a:r>
              <a:rPr lang="en-US" sz="1100" dirty="0">
                <a:solidFill>
                  <a:srgbClr val="BFB09C"/>
                </a:solidFill>
              </a:rPr>
              <a:t>want activities for different ability levels</a:t>
            </a:r>
            <a:endParaRPr lang="en-US" sz="1100" dirty="0"/>
          </a:p>
        </p:txBody>
      </p:sp>
      <p:sp>
        <p:nvSpPr>
          <p:cNvPr id="14" name="Text 10"/>
          <p:cNvSpPr txBox="1"/>
          <p:nvPr/>
        </p:nvSpPr>
        <p:spPr>
          <a:xfrm>
            <a:off x="9326880" y="4078224"/>
            <a:ext cx="2103120" cy="411480"/>
          </a:xfrm>
          <a:prstGeom prst="rect">
            <a:avLst/>
          </a:prstGeom>
          <a:noFill/>
          <a:ln/>
        </p:spPr>
        <p:txBody>
          <a:bodyPr wrap="square" lIns="0" tIns="0" rIns="0" bIns="0" rtlCol="0" anchor="t"/>
          <a:lstStyle/>
          <a:p>
            <a:pPr indent="0" marL="0">
              <a:buNone/>
            </a:pPr>
            <a:r>
              <a:rPr lang="en-US" sz="2400" b="1" dirty="0">
                <a:solidFill>
                  <a:srgbClr val="FFFFFF"/>
                </a:solidFill>
              </a:rPr>
              <a:t>8 of 10</a:t>
            </a:r>
            <a:endParaRPr lang="en-US" sz="2400" dirty="0"/>
          </a:p>
        </p:txBody>
      </p:sp>
      <p:sp>
        <p:nvSpPr>
          <p:cNvPr id="15" name="Text 11"/>
          <p:cNvSpPr txBox="1"/>
          <p:nvPr/>
        </p:nvSpPr>
        <p:spPr>
          <a:xfrm>
            <a:off x="9326880" y="4498848"/>
            <a:ext cx="2103120" cy="411480"/>
          </a:xfrm>
          <a:prstGeom prst="rect">
            <a:avLst/>
          </a:prstGeom>
          <a:noFill/>
          <a:ln/>
        </p:spPr>
        <p:txBody>
          <a:bodyPr wrap="square" lIns="0" tIns="0" rIns="0" bIns="0" rtlCol="0" anchor="t"/>
          <a:lstStyle/>
          <a:p>
            <a:pPr indent="0" marL="0">
              <a:buNone/>
            </a:pPr>
            <a:r>
              <a:rPr lang="en-US" sz="1100" dirty="0">
                <a:solidFill>
                  <a:srgbClr val="BFB09C"/>
                </a:solidFill>
              </a:rPr>
              <a:t>want AI-assisted lesson planning</a:t>
            </a:r>
            <a:endParaRPr lang="en-US" sz="1100" dirty="0"/>
          </a:p>
        </p:txBody>
      </p:sp>
      <p:sp>
        <p:nvSpPr>
          <p:cNvPr id="16" name="takeaway"/>
          <p:cNvSpPr/>
          <p:nvPr/>
        </p:nvSpPr>
        <p:spPr>
          <a:xfrm>
            <a:off x="640080" y="5120640"/>
            <a:ext cx="10908792" cy="658368"/>
          </a:xfrm>
          <a:prstGeom prst="roundRect">
            <a:avLst>
              <a:gd name="adj" fmla="val 16667"/>
            </a:avLst>
          </a:prstGeom>
          <a:solidFill>
            <a:srgbClr val="FAE8D4"/>
          </a:solidFill>
          <a:ln w="12700">
            <a:solidFill>
              <a:srgbClr val="EAD9C4"/>
            </a:solidFill>
            <a:prstDash val="solid"/>
          </a:ln>
        </p:spPr>
      </p:sp>
      <p:sp>
        <p:nvSpPr>
          <p:cNvPr id="17" name="Text 13"/>
          <p:cNvSpPr txBox="1"/>
          <p:nvPr/>
        </p:nvSpPr>
        <p:spPr>
          <a:xfrm>
            <a:off x="868680" y="5120640"/>
            <a:ext cx="10424160" cy="658368"/>
          </a:xfrm>
          <a:prstGeom prst="rect">
            <a:avLst/>
          </a:prstGeom>
          <a:noFill/>
          <a:ln/>
        </p:spPr>
        <p:txBody>
          <a:bodyPr wrap="square" lIns="0" tIns="0" rIns="0" bIns="0" rtlCol="0" anchor="ctr">
            <a:normAutofit/>
          </a:bodyPr>
          <a:lstStyle/>
          <a:p>
            <a:pPr indent="0" marL="0">
              <a:buNone/>
            </a:pPr>
            <a:r>
              <a:rPr lang="en-US" sz="1400" b="1" i="1" dirty="0">
                <a:solidFill>
                  <a:schemeClr val="tx1"/>
                </a:solidFill>
              </a:rPr>
              <a:t>"A learning gap tracker that analyses assessment results, identifies areas where students need support and suggests suitable activities for reteaching and practice."</a:t>
            </a:r>
            <a:endParaRPr lang="en-US" sz="1400" dirty="0"/>
          </a:p>
        </p:txBody>
      </p:sp>
      <p:sp>
        <p:nvSpPr>
          <p:cNvPr id="18" name="Text 14"/>
          <p:cNvSpPr txBox="1"/>
          <p:nvPr/>
        </p:nvSpPr>
        <p:spPr>
          <a:xfrm>
            <a:off x="640080" y="5943600"/>
            <a:ext cx="10881360" cy="320040"/>
          </a:xfrm>
          <a:prstGeom prst="rect">
            <a:avLst/>
          </a:prstGeom>
          <a:noFill/>
          <a:ln/>
        </p:spPr>
        <p:txBody>
          <a:bodyPr wrap="square" lIns="0" tIns="0" rIns="0" bIns="0" rtlCol="0" anchor="t"/>
          <a:lstStyle/>
          <a:p>
            <a:pPr indent="0" marL="0">
              <a:buNone/>
            </a:pPr>
            <a:r>
              <a:rPr lang="en-US" sz="1000" i="1" dirty="0">
                <a:solidFill>
                  <a:schemeClr val="accent5"/>
                </a:solidFill>
              </a:rPr>
              <a:t>Manchester High School teacher survey. 10 teachers, who could tick as many answers as they liked. A small sample, so read it as a signal, not a verdict.</a:t>
            </a:r>
            <a:endParaRPr lang="en-US" sz="10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rgbClr val="EC924A"/>
                </a:solidFill>
              </a:rPr>
              <a:t>PART 1   |   THE STRATEGY</a:t>
            </a:r>
            <a:endParaRPr lang="en-US" sz="1100" dirty="0"/>
          </a:p>
        </p:txBody>
      </p:sp>
      <p:sp>
        <p:nvSpPr>
          <p:cNvPr id="3" name="Text 0"/>
          <p:cNvSpPr/>
          <p:nvPr>
            <p:ph idx="100" type="title" hasCustomPrompt="1"/>
          </p:nvPr>
        </p:nvSpPr>
        <p:spPr>
          <a:xfrm>
            <a:off x="640080" y="548640"/>
            <a:ext cx="10908792" cy="1005840"/>
          </a:xfrm>
          <a:prstGeom prst="rect">
            <a:avLst/>
          </a:prstGeom>
          <a:noFill/>
          <a:ln/>
        </p:spPr>
        <p:txBody>
          <a:bodyPr wrap="square" lIns="0" tIns="0" rIns="0" bIns="0" rtlCol="0" anchor="t"/>
          <a:lstStyle/>
          <a:p>
            <a:pPr algn="l" indent="0" marL="0">
              <a:buNone/>
            </a:pPr>
            <a:r>
              <a:rPr lang="en-US" sz="3400" b="1" dirty="0">
                <a:solidFill>
                  <a:schemeClr val="bg1"/>
                </a:solidFill>
              </a:rPr>
              <a:t>Three products. One ecosystem</a:t>
            </a:r>
            <a:endParaRPr lang="en-US" sz="3400" dirty="0"/>
          </a:p>
        </p:txBody>
      </p:sp>
      <p:sp>
        <p:nvSpPr>
          <p:cNvPr id="4" name="card"/>
          <p:cNvSpPr/>
          <p:nvPr/>
        </p:nvSpPr>
        <p:spPr>
          <a:xfrm>
            <a:off x="640080" y="1783080"/>
            <a:ext cx="3429000" cy="4160520"/>
          </a:xfrm>
          <a:prstGeom prst="roundRect">
            <a:avLst>
              <a:gd name="adj" fmla="val 3200"/>
            </a:avLst>
          </a:prstGeom>
          <a:solidFill>
            <a:srgbClr val="1E1710"/>
          </a:solidFill>
          <a:ln w="12700">
            <a:solidFill>
              <a:srgbClr val="3A2E22"/>
            </a:solidFill>
            <a:prstDash val="solid"/>
          </a:ln>
        </p:spPr>
      </p:sp>
      <p:sp>
        <p:nvSpPr>
          <p:cNvPr id="5" name="icon circle"/>
          <p:cNvSpPr/>
          <p:nvPr/>
        </p:nvSpPr>
        <p:spPr>
          <a:xfrm>
            <a:off x="960120" y="2103120"/>
            <a:ext cx="731520" cy="731520"/>
          </a:xfrm>
          <a:prstGeom prst="ellipse">
            <a:avLst/>
          </a:prstGeom>
          <a:solidFill>
            <a:srgbClr val="EC924A"/>
          </a:solidFill>
          <a:ln w="12700">
            <a:solidFill>
              <a:srgbClr val="EC924A"/>
            </a:solidFill>
            <a:prstDash val="solid"/>
          </a:ln>
        </p:spPr>
      </p:sp>
      <p:pic>
        <p:nvPicPr>
          <p:cNvPr id="6" name="icon" descr="preencoded.png">    </p:cNvPr>
          <p:cNvPicPr>
            <a:picLocks noChangeAspect="1"/>
          </p:cNvPicPr>
          <p:nvPr/>
        </p:nvPicPr>
        <p:blipFill>
          <a:blip r:embed="rId2"/>
          <a:stretch>
            <a:fillRect/>
          </a:stretch>
        </p:blipFill>
        <p:spPr>
          <a:xfrm>
            <a:off x="1121054" y="2264054"/>
            <a:ext cx="409651" cy="409651"/>
          </a:xfrm>
          <a:prstGeom prst="rect">
            <a:avLst/>
          </a:prstGeom>
        </p:spPr>
      </p:pic>
      <p:sp>
        <p:nvSpPr>
          <p:cNvPr id="7" name="Text 4"/>
          <p:cNvSpPr txBox="1"/>
          <p:nvPr/>
        </p:nvSpPr>
        <p:spPr>
          <a:xfrm>
            <a:off x="960120" y="3108960"/>
            <a:ext cx="2834640" cy="320040"/>
          </a:xfrm>
          <a:prstGeom prst="rect">
            <a:avLst/>
          </a:prstGeom>
          <a:noFill/>
          <a:ln/>
        </p:spPr>
        <p:txBody>
          <a:bodyPr wrap="square" lIns="0" tIns="0" rIns="0" bIns="0" rtlCol="0" anchor="t"/>
          <a:lstStyle/>
          <a:p>
            <a:pPr indent="0" marL="0">
              <a:buNone/>
            </a:pPr>
            <a:r>
              <a:rPr lang="en-US" sz="1500" b="1" spc="400" kern="0" dirty="0">
                <a:solidFill>
                  <a:srgbClr val="EC924A"/>
                </a:solidFill>
              </a:rPr>
              <a:t>SMART ASSESS</a:t>
            </a:r>
            <a:endParaRPr lang="en-US" sz="1500" dirty="0"/>
          </a:p>
        </p:txBody>
      </p:sp>
      <p:sp>
        <p:nvSpPr>
          <p:cNvPr id="8" name="Text 5"/>
          <p:cNvSpPr txBox="1"/>
          <p:nvPr/>
        </p:nvSpPr>
        <p:spPr>
          <a:xfrm>
            <a:off x="960120" y="3474720"/>
            <a:ext cx="2834640" cy="822960"/>
          </a:xfrm>
          <a:prstGeom prst="rect">
            <a:avLst/>
          </a:prstGeom>
          <a:noFill/>
          <a:ln/>
        </p:spPr>
        <p:txBody>
          <a:bodyPr wrap="square" lIns="0" tIns="0" rIns="0" bIns="0" rtlCol="0" anchor="t"/>
          <a:lstStyle/>
          <a:p>
            <a:pPr indent="0" marL="0">
              <a:buNone/>
            </a:pPr>
            <a:r>
              <a:rPr lang="en-US" sz="2200" b="1" dirty="0">
                <a:solidFill>
                  <a:schemeClr val="bg1"/>
                </a:solidFill>
              </a:rPr>
              <a:t>Measure learning.</a:t>
            </a:r>
            <a:endParaRPr lang="en-US" sz="2200" dirty="0"/>
          </a:p>
        </p:txBody>
      </p:sp>
      <p:sp>
        <p:nvSpPr>
          <p:cNvPr id="9" name="Text 6"/>
          <p:cNvSpPr txBox="1"/>
          <p:nvPr/>
        </p:nvSpPr>
        <p:spPr>
          <a:xfrm>
            <a:off x="960120" y="4343400"/>
            <a:ext cx="2834640" cy="1005840"/>
          </a:xfrm>
          <a:prstGeom prst="rect">
            <a:avLst/>
          </a:prstGeom>
          <a:noFill/>
          <a:ln/>
        </p:spPr>
        <p:txBody>
          <a:bodyPr wrap="square" lIns="0" tIns="0" rIns="0" bIns="0" rtlCol="0" anchor="t"/>
          <a:lstStyle/>
          <a:p>
            <a:pPr indent="0" marL="0">
              <a:buNone/>
            </a:pPr>
            <a:r>
              <a:rPr lang="en-US" sz="1400" dirty="0">
                <a:solidFill>
                  <a:srgbClr val="BFB09C"/>
                </a:solidFill>
              </a:rPr>
              <a:t>Exams, tests and tasks, results, report cards and department insight.</a:t>
            </a:r>
            <a:endParaRPr lang="en-US" sz="1400" dirty="0"/>
          </a:p>
        </p:txBody>
      </p:sp>
      <p:sp>
        <p:nvSpPr>
          <p:cNvPr id="10" name="chip"/>
          <p:cNvSpPr/>
          <p:nvPr/>
        </p:nvSpPr>
        <p:spPr>
          <a:xfrm>
            <a:off x="960120" y="5394960"/>
            <a:ext cx="1371600" cy="310896"/>
          </a:xfrm>
          <a:prstGeom prst="roundRect">
            <a:avLst>
              <a:gd name="adj" fmla="val 50000"/>
            </a:avLst>
          </a:prstGeom>
          <a:solidFill>
            <a:srgbClr val="EC924A"/>
          </a:solidFill>
          <a:ln w="12700">
            <a:solidFill>
              <a:srgbClr val="EC924A"/>
            </a:solidFill>
            <a:prstDash val="solid"/>
          </a:ln>
        </p:spPr>
      </p:sp>
      <p:sp>
        <p:nvSpPr>
          <p:cNvPr id="11" name="Text 8"/>
          <p:cNvSpPr txBox="1"/>
          <p:nvPr/>
        </p:nvSpPr>
        <p:spPr>
          <a:xfrm>
            <a:off x="960120" y="5394960"/>
            <a:ext cx="1371600" cy="310896"/>
          </a:xfrm>
          <a:prstGeom prst="rect">
            <a:avLst/>
          </a:prstGeom>
          <a:noFill/>
          <a:ln/>
        </p:spPr>
        <p:txBody>
          <a:bodyPr wrap="square" lIns="0" tIns="0" rIns="0" bIns="0" rtlCol="0" anchor="ctr"/>
          <a:lstStyle/>
          <a:p>
            <a:pPr algn="ctr" indent="0" marL="0">
              <a:buNone/>
            </a:pPr>
            <a:r>
              <a:rPr lang="en-US" sz="1100" b="1" dirty="0">
                <a:solidFill>
                  <a:srgbClr val="14100C"/>
                </a:solidFill>
              </a:rPr>
              <a:t>Available now</a:t>
            </a:r>
            <a:endParaRPr lang="en-US" sz="1100" dirty="0"/>
          </a:p>
        </p:txBody>
      </p:sp>
      <p:sp>
        <p:nvSpPr>
          <p:cNvPr id="12" name="card"/>
          <p:cNvSpPr/>
          <p:nvPr/>
        </p:nvSpPr>
        <p:spPr>
          <a:xfrm>
            <a:off x="4389120" y="1783080"/>
            <a:ext cx="3429000" cy="4160520"/>
          </a:xfrm>
          <a:prstGeom prst="roundRect">
            <a:avLst>
              <a:gd name="adj" fmla="val 3200"/>
            </a:avLst>
          </a:prstGeom>
          <a:solidFill>
            <a:srgbClr val="1E1710"/>
          </a:solidFill>
          <a:ln w="12700">
            <a:solidFill>
              <a:srgbClr val="3A2E22"/>
            </a:solidFill>
            <a:prstDash val="solid"/>
          </a:ln>
        </p:spPr>
      </p:sp>
      <p:sp>
        <p:nvSpPr>
          <p:cNvPr id="13" name="icon circle"/>
          <p:cNvSpPr/>
          <p:nvPr/>
        </p:nvSpPr>
        <p:spPr>
          <a:xfrm>
            <a:off x="4709160" y="2103120"/>
            <a:ext cx="731520" cy="731520"/>
          </a:xfrm>
          <a:prstGeom prst="ellipse">
            <a:avLst/>
          </a:prstGeom>
          <a:solidFill>
            <a:srgbClr val="3DB5AB"/>
          </a:solidFill>
          <a:ln w="12700">
            <a:solidFill>
              <a:srgbClr val="3DB5AB"/>
            </a:solidFill>
            <a:prstDash val="solid"/>
          </a:ln>
        </p:spPr>
      </p:sp>
      <p:pic>
        <p:nvPicPr>
          <p:cNvPr id="14" name="icon" descr="preencoded.png">    </p:cNvPr>
          <p:cNvPicPr>
            <a:picLocks noChangeAspect="1"/>
          </p:cNvPicPr>
          <p:nvPr/>
        </p:nvPicPr>
        <p:blipFill>
          <a:blip r:embed="rId3"/>
          <a:stretch>
            <a:fillRect/>
          </a:stretch>
        </p:blipFill>
        <p:spPr>
          <a:xfrm>
            <a:off x="4870094" y="2264054"/>
            <a:ext cx="409651" cy="409651"/>
          </a:xfrm>
          <a:prstGeom prst="rect">
            <a:avLst/>
          </a:prstGeom>
        </p:spPr>
      </p:pic>
      <p:sp>
        <p:nvSpPr>
          <p:cNvPr id="15" name="Text 11"/>
          <p:cNvSpPr txBox="1"/>
          <p:nvPr/>
        </p:nvSpPr>
        <p:spPr>
          <a:xfrm>
            <a:off x="4709160" y="3108960"/>
            <a:ext cx="2834640" cy="320040"/>
          </a:xfrm>
          <a:prstGeom prst="rect">
            <a:avLst/>
          </a:prstGeom>
          <a:noFill/>
          <a:ln/>
        </p:spPr>
        <p:txBody>
          <a:bodyPr wrap="square" lIns="0" tIns="0" rIns="0" bIns="0" rtlCol="0" anchor="t"/>
          <a:lstStyle/>
          <a:p>
            <a:pPr indent="0" marL="0">
              <a:buNone/>
            </a:pPr>
            <a:r>
              <a:rPr lang="en-US" sz="1500" b="1" spc="400" kern="0" dirty="0">
                <a:solidFill>
                  <a:srgbClr val="3DB5AB"/>
                </a:solidFill>
              </a:rPr>
              <a:t>SMART LEARNING</a:t>
            </a:r>
            <a:endParaRPr lang="en-US" sz="1500" dirty="0"/>
          </a:p>
        </p:txBody>
      </p:sp>
      <p:sp>
        <p:nvSpPr>
          <p:cNvPr id="16" name="Text 12"/>
          <p:cNvSpPr txBox="1"/>
          <p:nvPr/>
        </p:nvSpPr>
        <p:spPr>
          <a:xfrm>
            <a:off x="4709160" y="3474720"/>
            <a:ext cx="2834640" cy="822960"/>
          </a:xfrm>
          <a:prstGeom prst="rect">
            <a:avLst/>
          </a:prstGeom>
          <a:noFill/>
          <a:ln/>
        </p:spPr>
        <p:txBody>
          <a:bodyPr wrap="square" lIns="0" tIns="0" rIns="0" bIns="0" rtlCol="0" anchor="t"/>
          <a:lstStyle/>
          <a:p>
            <a:pPr indent="0" marL="0">
              <a:buNone/>
            </a:pPr>
            <a:r>
              <a:rPr lang="en-US" sz="2200" b="1" dirty="0">
                <a:solidFill>
                  <a:schemeClr val="bg1"/>
                </a:solidFill>
              </a:rPr>
              <a:t>Deliver and recover learning.</a:t>
            </a:r>
            <a:endParaRPr lang="en-US" sz="2200" dirty="0"/>
          </a:p>
        </p:txBody>
      </p:sp>
      <p:sp>
        <p:nvSpPr>
          <p:cNvPr id="17" name="Text 13"/>
          <p:cNvSpPr txBox="1"/>
          <p:nvPr/>
        </p:nvSpPr>
        <p:spPr>
          <a:xfrm>
            <a:off x="4709160" y="4343400"/>
            <a:ext cx="2834640" cy="1005840"/>
          </a:xfrm>
          <a:prstGeom prst="rect">
            <a:avLst/>
          </a:prstGeom>
          <a:noFill/>
          <a:ln/>
        </p:spPr>
        <p:txBody>
          <a:bodyPr wrap="square" lIns="0" tIns="0" rIns="0" bIns="0" rtlCol="0" anchor="t"/>
          <a:lstStyle/>
          <a:p>
            <a:pPr indent="0" marL="0">
              <a:buNone/>
            </a:pPr>
            <a:r>
              <a:rPr lang="en-US" sz="1400" dirty="0">
                <a:solidFill>
                  <a:srgbClr val="BFB09C"/>
                </a:solidFill>
              </a:rPr>
              <a:t>Structured lessons, check-your-understanding, and a path back for students who miss class.</a:t>
            </a:r>
            <a:endParaRPr lang="en-US" sz="1400" dirty="0"/>
          </a:p>
        </p:txBody>
      </p:sp>
      <p:sp>
        <p:nvSpPr>
          <p:cNvPr id="18" name="chip"/>
          <p:cNvSpPr/>
          <p:nvPr/>
        </p:nvSpPr>
        <p:spPr>
          <a:xfrm>
            <a:off x="4709160" y="5394960"/>
            <a:ext cx="2286000" cy="310896"/>
          </a:xfrm>
          <a:prstGeom prst="roundRect">
            <a:avLst>
              <a:gd name="adj" fmla="val 50000"/>
            </a:avLst>
          </a:prstGeom>
          <a:solidFill>
            <a:srgbClr val="3DB5AB"/>
          </a:solidFill>
          <a:ln w="12700">
            <a:solidFill>
              <a:srgbClr val="3DB5AB"/>
            </a:solidFill>
            <a:prstDash val="solid"/>
          </a:ln>
        </p:spPr>
      </p:sp>
      <p:sp>
        <p:nvSpPr>
          <p:cNvPr id="19" name="Text 15"/>
          <p:cNvSpPr txBox="1"/>
          <p:nvPr/>
        </p:nvSpPr>
        <p:spPr>
          <a:xfrm>
            <a:off x="4709160" y="5394960"/>
            <a:ext cx="2286000" cy="310896"/>
          </a:xfrm>
          <a:prstGeom prst="rect">
            <a:avLst/>
          </a:prstGeom>
          <a:noFill/>
          <a:ln/>
        </p:spPr>
        <p:txBody>
          <a:bodyPr wrap="square" lIns="0" tIns="0" rIns="0" bIns="0" rtlCol="0" anchor="ctr"/>
          <a:lstStyle/>
          <a:p>
            <a:pPr algn="ctr" indent="0" marL="0">
              <a:buNone/>
            </a:pPr>
            <a:r>
              <a:rPr lang="en-US" sz="1100" b="1" dirty="0">
                <a:solidFill>
                  <a:srgbClr val="14100C"/>
                </a:solidFill>
              </a:rPr>
              <a:t>Switched on at Manchester</a:t>
            </a:r>
            <a:endParaRPr lang="en-US" sz="1100" dirty="0"/>
          </a:p>
        </p:txBody>
      </p:sp>
      <p:sp>
        <p:nvSpPr>
          <p:cNvPr id="20" name="card"/>
          <p:cNvSpPr/>
          <p:nvPr/>
        </p:nvSpPr>
        <p:spPr>
          <a:xfrm>
            <a:off x="8138160" y="1783080"/>
            <a:ext cx="3429000" cy="4160520"/>
          </a:xfrm>
          <a:prstGeom prst="roundRect">
            <a:avLst>
              <a:gd name="adj" fmla="val 3200"/>
            </a:avLst>
          </a:prstGeom>
          <a:solidFill>
            <a:srgbClr val="1E1710"/>
          </a:solidFill>
          <a:ln w="12700">
            <a:solidFill>
              <a:srgbClr val="3A2E22"/>
            </a:solidFill>
            <a:prstDash val="solid"/>
          </a:ln>
        </p:spPr>
      </p:sp>
      <p:sp>
        <p:nvSpPr>
          <p:cNvPr id="21" name="icon circle"/>
          <p:cNvSpPr/>
          <p:nvPr/>
        </p:nvSpPr>
        <p:spPr>
          <a:xfrm>
            <a:off x="8458200" y="2103120"/>
            <a:ext cx="731520" cy="731520"/>
          </a:xfrm>
          <a:prstGeom prst="ellipse">
            <a:avLst/>
          </a:prstGeom>
          <a:solidFill>
            <a:srgbClr val="F2C230"/>
          </a:solidFill>
          <a:ln w="12700">
            <a:solidFill>
              <a:srgbClr val="F2C230"/>
            </a:solidFill>
            <a:prstDash val="solid"/>
          </a:ln>
        </p:spPr>
      </p:sp>
      <p:pic>
        <p:nvPicPr>
          <p:cNvPr id="22" name="icon" descr="preencoded.png">    </p:cNvPr>
          <p:cNvPicPr>
            <a:picLocks noChangeAspect="1"/>
          </p:cNvPicPr>
          <p:nvPr/>
        </p:nvPicPr>
        <p:blipFill>
          <a:blip r:embed="rId4"/>
          <a:stretch>
            <a:fillRect/>
          </a:stretch>
        </p:blipFill>
        <p:spPr>
          <a:xfrm>
            <a:off x="8619134" y="2264054"/>
            <a:ext cx="409651" cy="409651"/>
          </a:xfrm>
          <a:prstGeom prst="rect">
            <a:avLst/>
          </a:prstGeom>
        </p:spPr>
      </p:pic>
      <p:sp>
        <p:nvSpPr>
          <p:cNvPr id="23" name="Text 18"/>
          <p:cNvSpPr txBox="1"/>
          <p:nvPr/>
        </p:nvSpPr>
        <p:spPr>
          <a:xfrm>
            <a:off x="8458200" y="3108960"/>
            <a:ext cx="2834640" cy="320040"/>
          </a:xfrm>
          <a:prstGeom prst="rect">
            <a:avLst/>
          </a:prstGeom>
          <a:noFill/>
          <a:ln/>
        </p:spPr>
        <p:txBody>
          <a:bodyPr wrap="square" lIns="0" tIns="0" rIns="0" bIns="0" rtlCol="0" anchor="t"/>
          <a:lstStyle/>
          <a:p>
            <a:pPr indent="0" marL="0">
              <a:buNone/>
            </a:pPr>
            <a:r>
              <a:rPr lang="en-US" sz="1500" b="1" spc="400" kern="0" dirty="0">
                <a:solidFill>
                  <a:srgbClr val="F2C230"/>
                </a:solidFill>
              </a:rPr>
              <a:t>SMART PLAY</a:t>
            </a:r>
            <a:endParaRPr lang="en-US" sz="1500" dirty="0"/>
          </a:p>
        </p:txBody>
      </p:sp>
      <p:sp>
        <p:nvSpPr>
          <p:cNvPr id="24" name="Text 19"/>
          <p:cNvSpPr txBox="1"/>
          <p:nvPr/>
        </p:nvSpPr>
        <p:spPr>
          <a:xfrm>
            <a:off x="8458200" y="3474720"/>
            <a:ext cx="2834640" cy="822960"/>
          </a:xfrm>
          <a:prstGeom prst="rect">
            <a:avLst/>
          </a:prstGeom>
          <a:noFill/>
          <a:ln/>
        </p:spPr>
        <p:txBody>
          <a:bodyPr wrap="square" lIns="0" tIns="0" rIns="0" bIns="0" rtlCol="0" anchor="t"/>
          <a:lstStyle/>
          <a:p>
            <a:pPr indent="0" marL="0">
              <a:buNone/>
            </a:pPr>
            <a:r>
              <a:rPr lang="en-US" sz="2200" b="1" dirty="0">
                <a:solidFill>
                  <a:schemeClr val="bg1"/>
                </a:solidFill>
              </a:rPr>
              <a:t>Engage and reinforce learning.</a:t>
            </a:r>
            <a:endParaRPr lang="en-US" sz="2200" dirty="0"/>
          </a:p>
        </p:txBody>
      </p:sp>
      <p:sp>
        <p:nvSpPr>
          <p:cNvPr id="25" name="Text 20"/>
          <p:cNvSpPr txBox="1"/>
          <p:nvPr/>
        </p:nvSpPr>
        <p:spPr>
          <a:xfrm>
            <a:off x="8458200" y="4343400"/>
            <a:ext cx="2834640" cy="1005840"/>
          </a:xfrm>
          <a:prstGeom prst="rect">
            <a:avLst/>
          </a:prstGeom>
          <a:noFill/>
          <a:ln/>
        </p:spPr>
        <p:txBody>
          <a:bodyPr wrap="square" lIns="0" tIns="0" rIns="0" bIns="0" rtlCol="0" anchor="t"/>
          <a:lstStyle/>
          <a:p>
            <a:pPr indent="0" marL="0">
              <a:buNone/>
            </a:pPr>
            <a:r>
              <a:rPr lang="en-US" sz="1400" dirty="0">
                <a:solidFill>
                  <a:srgbClr val="BFB09C"/>
                </a:solidFill>
              </a:rPr>
              <a:t>Practice that feels like play: Topic Mastery, Math Duels, live games and rewards.</a:t>
            </a:r>
            <a:endParaRPr lang="en-US" sz="1400" dirty="0"/>
          </a:p>
        </p:txBody>
      </p:sp>
      <p:sp>
        <p:nvSpPr>
          <p:cNvPr id="26" name="chip"/>
          <p:cNvSpPr/>
          <p:nvPr/>
        </p:nvSpPr>
        <p:spPr>
          <a:xfrm>
            <a:off x="8458200" y="5394960"/>
            <a:ext cx="1371600" cy="310896"/>
          </a:xfrm>
          <a:prstGeom prst="roundRect">
            <a:avLst>
              <a:gd name="adj" fmla="val 50000"/>
            </a:avLst>
          </a:prstGeom>
          <a:solidFill>
            <a:srgbClr val="F2C230"/>
          </a:solidFill>
          <a:ln w="12700">
            <a:solidFill>
              <a:srgbClr val="F2C230"/>
            </a:solidFill>
            <a:prstDash val="solid"/>
          </a:ln>
        </p:spPr>
      </p:sp>
      <p:sp>
        <p:nvSpPr>
          <p:cNvPr id="27" name="Text 22"/>
          <p:cNvSpPr txBox="1"/>
          <p:nvPr/>
        </p:nvSpPr>
        <p:spPr>
          <a:xfrm>
            <a:off x="8458200" y="5394960"/>
            <a:ext cx="1371600" cy="310896"/>
          </a:xfrm>
          <a:prstGeom prst="rect">
            <a:avLst/>
          </a:prstGeom>
          <a:noFill/>
          <a:ln/>
        </p:spPr>
        <p:txBody>
          <a:bodyPr wrap="square" lIns="0" tIns="0" rIns="0" bIns="0" rtlCol="0" anchor="ctr"/>
          <a:lstStyle/>
          <a:p>
            <a:pPr algn="ctr" indent="0" marL="0">
              <a:buNone/>
            </a:pPr>
            <a:r>
              <a:rPr lang="en-US" sz="1100" b="1" dirty="0">
                <a:solidFill>
                  <a:srgbClr val="14100C"/>
                </a:solidFill>
              </a:rPr>
              <a:t>Coming soon</a:t>
            </a:r>
            <a:endParaRPr lang="en-US" sz="11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chemeClr val="accent1"/>
                </a:solidFill>
              </a:rPr>
              <a:t>PART 1   |   THE STRATEGY</a:t>
            </a:r>
            <a:endParaRPr lang="en-US" sz="1100" dirty="0"/>
          </a:p>
        </p:txBody>
      </p:sp>
      <p:sp>
        <p:nvSpPr>
          <p:cNvPr id="3" name="Text 0"/>
          <p:cNvSpPr/>
          <p:nvPr>
            <p:ph idx="100" type="title" hasCustomPrompt="1"/>
          </p:nvPr>
        </p:nvSpPr>
        <p:spPr>
          <a:xfrm>
            <a:off x="640080" y="548640"/>
            <a:ext cx="10908792" cy="1005840"/>
          </a:xfrm>
          <a:prstGeom prst="rect">
            <a:avLst/>
          </a:prstGeom>
          <a:noFill/>
          <a:ln/>
        </p:spPr>
        <p:txBody>
          <a:bodyPr wrap="square" lIns="0" tIns="0" rIns="0" bIns="0" rtlCol="0" anchor="t"/>
          <a:lstStyle/>
          <a:p>
            <a:pPr algn="l" indent="0" marL="0">
              <a:buNone/>
            </a:pPr>
            <a:r>
              <a:rPr lang="en-US" sz="3400" b="1" dirty="0">
                <a:solidFill>
                  <a:schemeClr val="tx1"/>
                </a:solidFill>
              </a:rPr>
              <a:t>Smart Assess: every assessment, one secure record</a:t>
            </a:r>
            <a:endParaRPr lang="en-US" sz="3400" dirty="0"/>
          </a:p>
        </p:txBody>
      </p:sp>
      <p:sp>
        <p:nvSpPr>
          <p:cNvPr id="4" name="Text 2"/>
          <p:cNvSpPr txBox="1"/>
          <p:nvPr/>
        </p:nvSpPr>
        <p:spPr>
          <a:xfrm>
            <a:off x="640080" y="1783080"/>
            <a:ext cx="3291840" cy="1463040"/>
          </a:xfrm>
          <a:prstGeom prst="rect">
            <a:avLst/>
          </a:prstGeom>
          <a:noFill/>
          <a:ln/>
        </p:spPr>
        <p:txBody>
          <a:bodyPr wrap="square" lIns="0" tIns="0" rIns="0" bIns="0" rtlCol="0" anchor="t"/>
          <a:lstStyle/>
          <a:p>
            <a:pPr indent="0" marL="0">
              <a:buNone/>
            </a:pPr>
            <a:r>
              <a:rPr lang="en-US" sz="1800" dirty="0">
                <a:solidFill>
                  <a:schemeClr val="accent5"/>
                </a:solidFill>
              </a:rPr>
              <a:t>From a five-minute pop quiz to a formal end-of-year exam, built once and kept in one place.</a:t>
            </a:r>
            <a:endParaRPr lang="en-US" sz="1800" dirty="0"/>
          </a:p>
        </p:txBody>
      </p:sp>
      <p:sp>
        <p:nvSpPr>
          <p:cNvPr id="5" name="chip"/>
          <p:cNvSpPr/>
          <p:nvPr/>
        </p:nvSpPr>
        <p:spPr>
          <a:xfrm>
            <a:off x="640080" y="3429000"/>
            <a:ext cx="3291840" cy="384048"/>
          </a:xfrm>
          <a:prstGeom prst="roundRect">
            <a:avLst>
              <a:gd name="adj" fmla="val 50000"/>
            </a:avLst>
          </a:prstGeom>
          <a:solidFill>
            <a:srgbClr val="FAE8D4"/>
          </a:solidFill>
          <a:ln w="12700">
            <a:solidFill>
              <a:srgbClr val="FAE8D4"/>
            </a:solidFill>
            <a:prstDash val="solid"/>
          </a:ln>
        </p:spPr>
      </p:sp>
      <p:sp>
        <p:nvSpPr>
          <p:cNvPr id="6" name="Text 4"/>
          <p:cNvSpPr txBox="1"/>
          <p:nvPr/>
        </p:nvSpPr>
        <p:spPr>
          <a:xfrm>
            <a:off x="640080" y="3429000"/>
            <a:ext cx="3291840" cy="384048"/>
          </a:xfrm>
          <a:prstGeom prst="rect">
            <a:avLst/>
          </a:prstGeom>
          <a:noFill/>
          <a:ln/>
        </p:spPr>
        <p:txBody>
          <a:bodyPr wrap="square" lIns="0" tIns="0" rIns="0" bIns="0" rtlCol="0" anchor="ctr"/>
          <a:lstStyle/>
          <a:p>
            <a:pPr algn="ctr" indent="0" marL="0">
              <a:buNone/>
            </a:pPr>
            <a:r>
              <a:rPr lang="en-US" sz="1300" b="1" dirty="0">
                <a:solidFill>
                  <a:srgbClr val="A85A18"/>
                </a:solidFill>
              </a:rPr>
              <a:t>Teachers stay in control of marking</a:t>
            </a:r>
            <a:endParaRPr lang="en-US" sz="1300" dirty="0"/>
          </a:p>
        </p:txBody>
      </p:sp>
      <p:sp>
        <p:nvSpPr>
          <p:cNvPr id="7" name="card"/>
          <p:cNvSpPr/>
          <p:nvPr/>
        </p:nvSpPr>
        <p:spPr>
          <a:xfrm>
            <a:off x="4343400" y="1783080"/>
            <a:ext cx="3520440" cy="1234440"/>
          </a:xfrm>
          <a:prstGeom prst="roundRect">
            <a:avLst>
              <a:gd name="adj" fmla="val 8889"/>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8" name="icon circle"/>
          <p:cNvSpPr/>
          <p:nvPr/>
        </p:nvSpPr>
        <p:spPr>
          <a:xfrm>
            <a:off x="4544568" y="2057400"/>
            <a:ext cx="640080" cy="640080"/>
          </a:xfrm>
          <a:prstGeom prst="ellipse">
            <a:avLst/>
          </a:prstGeom>
          <a:solidFill>
            <a:srgbClr val="D4762A"/>
          </a:solidFill>
          <a:ln w="12700">
            <a:solidFill>
              <a:srgbClr val="D4762A"/>
            </a:solidFill>
            <a:prstDash val="solid"/>
          </a:ln>
        </p:spPr>
      </p:sp>
      <p:pic>
        <p:nvPicPr>
          <p:cNvPr id="9" name="icon" descr="preencoded.png">    </p:cNvPr>
          <p:cNvPicPr>
            <a:picLocks noChangeAspect="1"/>
          </p:cNvPicPr>
          <p:nvPr/>
        </p:nvPicPr>
        <p:blipFill>
          <a:blip r:embed="rId1"/>
          <a:stretch>
            <a:fillRect/>
          </a:stretch>
        </p:blipFill>
        <p:spPr>
          <a:xfrm>
            <a:off x="4685386" y="2198218"/>
            <a:ext cx="358445" cy="358445"/>
          </a:xfrm>
          <a:prstGeom prst="rect">
            <a:avLst/>
          </a:prstGeom>
        </p:spPr>
      </p:pic>
      <p:sp>
        <p:nvSpPr>
          <p:cNvPr id="10" name="Text 7"/>
          <p:cNvSpPr txBox="1"/>
          <p:nvPr/>
        </p:nvSpPr>
        <p:spPr>
          <a:xfrm>
            <a:off x="5349240" y="2039112"/>
            <a:ext cx="2423160" cy="365760"/>
          </a:xfrm>
          <a:prstGeom prst="rect">
            <a:avLst/>
          </a:prstGeom>
          <a:noFill/>
          <a:ln/>
        </p:spPr>
        <p:txBody>
          <a:bodyPr wrap="square" lIns="0" tIns="0" rIns="0" bIns="0" rtlCol="0" anchor="t"/>
          <a:lstStyle/>
          <a:p>
            <a:pPr indent="0" marL="0">
              <a:buNone/>
            </a:pPr>
            <a:r>
              <a:rPr lang="en-US" sz="1600" b="1" dirty="0">
                <a:solidFill>
                  <a:schemeClr val="tx1"/>
                </a:solidFill>
              </a:rPr>
              <a:t>Exams, tests and tasks</a:t>
            </a:r>
            <a:endParaRPr lang="en-US" sz="1600" dirty="0"/>
          </a:p>
        </p:txBody>
      </p:sp>
      <p:sp>
        <p:nvSpPr>
          <p:cNvPr id="11" name="Text 8"/>
          <p:cNvSpPr txBox="1"/>
          <p:nvPr/>
        </p:nvSpPr>
        <p:spPr>
          <a:xfrm>
            <a:off x="5349240" y="2423160"/>
            <a:ext cx="2423160" cy="502920"/>
          </a:xfrm>
          <a:prstGeom prst="rect">
            <a:avLst/>
          </a:prstGeom>
          <a:noFill/>
          <a:ln/>
        </p:spPr>
        <p:txBody>
          <a:bodyPr wrap="square" lIns="0" tIns="0" rIns="0" bIns="0" rtlCol="0" anchor="t"/>
          <a:lstStyle/>
          <a:p>
            <a:pPr indent="0" marL="0">
              <a:buNone/>
            </a:pPr>
            <a:r>
              <a:rPr lang="en-US" sz="1300" dirty="0">
                <a:solidFill>
                  <a:schemeClr val="accent5"/>
                </a:solidFill>
              </a:rPr>
              <a:t>Pop quizzes through final exams</a:t>
            </a:r>
            <a:endParaRPr lang="en-US" sz="1300" dirty="0"/>
          </a:p>
        </p:txBody>
      </p:sp>
      <p:sp>
        <p:nvSpPr>
          <p:cNvPr id="12" name="card"/>
          <p:cNvSpPr/>
          <p:nvPr/>
        </p:nvSpPr>
        <p:spPr>
          <a:xfrm>
            <a:off x="8001000" y="1783080"/>
            <a:ext cx="3520440" cy="1234440"/>
          </a:xfrm>
          <a:prstGeom prst="roundRect">
            <a:avLst>
              <a:gd name="adj" fmla="val 8889"/>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13" name="icon circle"/>
          <p:cNvSpPr/>
          <p:nvPr/>
        </p:nvSpPr>
        <p:spPr>
          <a:xfrm>
            <a:off x="8202168" y="2057400"/>
            <a:ext cx="640080" cy="640080"/>
          </a:xfrm>
          <a:prstGeom prst="ellipse">
            <a:avLst/>
          </a:prstGeom>
          <a:solidFill>
            <a:srgbClr val="D4762A"/>
          </a:solidFill>
          <a:ln w="12700">
            <a:solidFill>
              <a:srgbClr val="D4762A"/>
            </a:solidFill>
            <a:prstDash val="solid"/>
          </a:ln>
        </p:spPr>
      </p:sp>
      <p:pic>
        <p:nvPicPr>
          <p:cNvPr id="14" name="icon" descr="preencoded.png">    </p:cNvPr>
          <p:cNvPicPr>
            <a:picLocks noChangeAspect="1"/>
          </p:cNvPicPr>
          <p:nvPr/>
        </p:nvPicPr>
        <p:blipFill>
          <a:blip r:embed="rId2"/>
          <a:stretch>
            <a:fillRect/>
          </a:stretch>
        </p:blipFill>
        <p:spPr>
          <a:xfrm>
            <a:off x="8342986" y="2198218"/>
            <a:ext cx="358445" cy="358445"/>
          </a:xfrm>
          <a:prstGeom prst="rect">
            <a:avLst/>
          </a:prstGeom>
        </p:spPr>
      </p:pic>
      <p:sp>
        <p:nvSpPr>
          <p:cNvPr id="15" name="Text 11"/>
          <p:cNvSpPr txBox="1"/>
          <p:nvPr/>
        </p:nvSpPr>
        <p:spPr>
          <a:xfrm>
            <a:off x="9006840" y="2039112"/>
            <a:ext cx="2423160" cy="365760"/>
          </a:xfrm>
          <a:prstGeom prst="rect">
            <a:avLst/>
          </a:prstGeom>
          <a:noFill/>
          <a:ln/>
        </p:spPr>
        <p:txBody>
          <a:bodyPr wrap="square" lIns="0" tIns="0" rIns="0" bIns="0" rtlCol="0" anchor="t"/>
          <a:lstStyle/>
          <a:p>
            <a:pPr indent="0" marL="0">
              <a:buNone/>
            </a:pPr>
            <a:r>
              <a:rPr lang="en-US" sz="1600" b="1" dirty="0">
                <a:solidFill>
                  <a:schemeClr val="tx1"/>
                </a:solidFill>
              </a:rPr>
              <a:t>Question bank</a:t>
            </a:r>
            <a:endParaRPr lang="en-US" sz="1600" dirty="0"/>
          </a:p>
        </p:txBody>
      </p:sp>
      <p:sp>
        <p:nvSpPr>
          <p:cNvPr id="16" name="Text 12"/>
          <p:cNvSpPr txBox="1"/>
          <p:nvPr/>
        </p:nvSpPr>
        <p:spPr>
          <a:xfrm>
            <a:off x="9006840" y="2423160"/>
            <a:ext cx="2423160" cy="502920"/>
          </a:xfrm>
          <a:prstGeom prst="rect">
            <a:avLst/>
          </a:prstGeom>
          <a:noFill/>
          <a:ln/>
        </p:spPr>
        <p:txBody>
          <a:bodyPr wrap="square" lIns="0" tIns="0" rIns="0" bIns="0" rtlCol="0" anchor="t"/>
          <a:lstStyle/>
          <a:p>
            <a:pPr indent="0" marL="0">
              <a:buNone/>
            </a:pPr>
            <a:r>
              <a:rPr lang="en-US" sz="1300" dirty="0">
                <a:solidFill>
                  <a:schemeClr val="accent5"/>
                </a:solidFill>
              </a:rPr>
              <a:t>Reusable, so nothing starts from zero</a:t>
            </a:r>
            <a:endParaRPr lang="en-US" sz="1300" dirty="0"/>
          </a:p>
        </p:txBody>
      </p:sp>
      <p:sp>
        <p:nvSpPr>
          <p:cNvPr id="17" name="card"/>
          <p:cNvSpPr/>
          <p:nvPr/>
        </p:nvSpPr>
        <p:spPr>
          <a:xfrm>
            <a:off x="4343400" y="3154680"/>
            <a:ext cx="3520440" cy="1234440"/>
          </a:xfrm>
          <a:prstGeom prst="roundRect">
            <a:avLst>
              <a:gd name="adj" fmla="val 8889"/>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18" name="icon circle"/>
          <p:cNvSpPr/>
          <p:nvPr/>
        </p:nvSpPr>
        <p:spPr>
          <a:xfrm>
            <a:off x="4544568" y="3429000"/>
            <a:ext cx="640080" cy="640080"/>
          </a:xfrm>
          <a:prstGeom prst="ellipse">
            <a:avLst/>
          </a:prstGeom>
          <a:solidFill>
            <a:srgbClr val="D4762A"/>
          </a:solidFill>
          <a:ln w="12700">
            <a:solidFill>
              <a:srgbClr val="D4762A"/>
            </a:solidFill>
            <a:prstDash val="solid"/>
          </a:ln>
        </p:spPr>
      </p:sp>
      <p:pic>
        <p:nvPicPr>
          <p:cNvPr id="19" name="icon" descr="preencoded.png">    </p:cNvPr>
          <p:cNvPicPr>
            <a:picLocks noChangeAspect="1"/>
          </p:cNvPicPr>
          <p:nvPr/>
        </p:nvPicPr>
        <p:blipFill>
          <a:blip r:embed="rId3"/>
          <a:stretch>
            <a:fillRect/>
          </a:stretch>
        </p:blipFill>
        <p:spPr>
          <a:xfrm>
            <a:off x="4685386" y="3569818"/>
            <a:ext cx="358445" cy="358445"/>
          </a:xfrm>
          <a:prstGeom prst="rect">
            <a:avLst/>
          </a:prstGeom>
        </p:spPr>
      </p:pic>
      <p:sp>
        <p:nvSpPr>
          <p:cNvPr id="20" name="Text 15"/>
          <p:cNvSpPr txBox="1"/>
          <p:nvPr/>
        </p:nvSpPr>
        <p:spPr>
          <a:xfrm>
            <a:off x="5349240" y="3410712"/>
            <a:ext cx="2423160" cy="365760"/>
          </a:xfrm>
          <a:prstGeom prst="rect">
            <a:avLst/>
          </a:prstGeom>
          <a:noFill/>
          <a:ln/>
        </p:spPr>
        <p:txBody>
          <a:bodyPr wrap="square" lIns="0" tIns="0" rIns="0" bIns="0" rtlCol="0" anchor="t"/>
          <a:lstStyle/>
          <a:p>
            <a:pPr indent="0" marL="0">
              <a:buNone/>
            </a:pPr>
            <a:r>
              <a:rPr lang="en-US" sz="1600" b="1" dirty="0">
                <a:solidFill>
                  <a:schemeClr val="tx1"/>
                </a:solidFill>
              </a:rPr>
              <a:t>Saved as students work</a:t>
            </a:r>
            <a:endParaRPr lang="en-US" sz="1600" dirty="0"/>
          </a:p>
        </p:txBody>
      </p:sp>
      <p:sp>
        <p:nvSpPr>
          <p:cNvPr id="21" name="Text 16"/>
          <p:cNvSpPr txBox="1"/>
          <p:nvPr/>
        </p:nvSpPr>
        <p:spPr>
          <a:xfrm>
            <a:off x="5349240" y="3794760"/>
            <a:ext cx="2423160" cy="502920"/>
          </a:xfrm>
          <a:prstGeom prst="rect">
            <a:avLst/>
          </a:prstGeom>
          <a:noFill/>
          <a:ln/>
        </p:spPr>
        <p:txBody>
          <a:bodyPr wrap="square" lIns="0" tIns="0" rIns="0" bIns="0" rtlCol="0" anchor="t"/>
          <a:lstStyle/>
          <a:p>
            <a:pPr indent="0" marL="0">
              <a:buNone/>
            </a:pPr>
            <a:r>
              <a:rPr lang="en-US" sz="1300" dirty="0">
                <a:solidFill>
                  <a:schemeClr val="accent5"/>
                </a:solidFill>
              </a:rPr>
              <a:t>Answers keep safe if the connection drops</a:t>
            </a:r>
            <a:endParaRPr lang="en-US" sz="1300" dirty="0"/>
          </a:p>
        </p:txBody>
      </p:sp>
      <p:sp>
        <p:nvSpPr>
          <p:cNvPr id="22" name="card"/>
          <p:cNvSpPr/>
          <p:nvPr/>
        </p:nvSpPr>
        <p:spPr>
          <a:xfrm>
            <a:off x="8001000" y="3154680"/>
            <a:ext cx="3520440" cy="1234440"/>
          </a:xfrm>
          <a:prstGeom prst="roundRect">
            <a:avLst>
              <a:gd name="adj" fmla="val 8889"/>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23" name="icon circle"/>
          <p:cNvSpPr/>
          <p:nvPr/>
        </p:nvSpPr>
        <p:spPr>
          <a:xfrm>
            <a:off x="8202168" y="3429000"/>
            <a:ext cx="640080" cy="640080"/>
          </a:xfrm>
          <a:prstGeom prst="ellipse">
            <a:avLst/>
          </a:prstGeom>
          <a:solidFill>
            <a:srgbClr val="D4762A"/>
          </a:solidFill>
          <a:ln w="12700">
            <a:solidFill>
              <a:srgbClr val="D4762A"/>
            </a:solidFill>
            <a:prstDash val="solid"/>
          </a:ln>
        </p:spPr>
      </p:sp>
      <p:pic>
        <p:nvPicPr>
          <p:cNvPr id="24" name="icon" descr="preencoded.png">    </p:cNvPr>
          <p:cNvPicPr>
            <a:picLocks noChangeAspect="1"/>
          </p:cNvPicPr>
          <p:nvPr/>
        </p:nvPicPr>
        <p:blipFill>
          <a:blip r:embed="rId4"/>
          <a:stretch>
            <a:fillRect/>
          </a:stretch>
        </p:blipFill>
        <p:spPr>
          <a:xfrm>
            <a:off x="8342986" y="3569818"/>
            <a:ext cx="358445" cy="358445"/>
          </a:xfrm>
          <a:prstGeom prst="rect">
            <a:avLst/>
          </a:prstGeom>
        </p:spPr>
      </p:pic>
      <p:sp>
        <p:nvSpPr>
          <p:cNvPr id="25" name="Text 19"/>
          <p:cNvSpPr txBox="1"/>
          <p:nvPr/>
        </p:nvSpPr>
        <p:spPr>
          <a:xfrm>
            <a:off x="9006840" y="3410712"/>
            <a:ext cx="2423160" cy="365760"/>
          </a:xfrm>
          <a:prstGeom prst="rect">
            <a:avLst/>
          </a:prstGeom>
          <a:noFill/>
          <a:ln/>
        </p:spPr>
        <p:txBody>
          <a:bodyPr wrap="square" lIns="0" tIns="0" rIns="0" bIns="0" rtlCol="0" anchor="t"/>
          <a:lstStyle/>
          <a:p>
            <a:pPr indent="0" marL="0">
              <a:buNone/>
            </a:pPr>
            <a:r>
              <a:rPr lang="en-US" sz="1600" b="1" dirty="0">
                <a:solidFill>
                  <a:schemeClr val="tx1"/>
                </a:solidFill>
              </a:rPr>
              <a:t>Results and report cards</a:t>
            </a:r>
            <a:endParaRPr lang="en-US" sz="1600" dirty="0"/>
          </a:p>
        </p:txBody>
      </p:sp>
      <p:sp>
        <p:nvSpPr>
          <p:cNvPr id="26" name="Text 20"/>
          <p:cNvSpPr txBox="1"/>
          <p:nvPr/>
        </p:nvSpPr>
        <p:spPr>
          <a:xfrm>
            <a:off x="9006840" y="3794760"/>
            <a:ext cx="2423160" cy="502920"/>
          </a:xfrm>
          <a:prstGeom prst="rect">
            <a:avLst/>
          </a:prstGeom>
          <a:noFill/>
          <a:ln/>
        </p:spPr>
        <p:txBody>
          <a:bodyPr wrap="square" lIns="0" tIns="0" rIns="0" bIns="0" rtlCol="0" anchor="t"/>
          <a:lstStyle/>
          <a:p>
            <a:pPr indent="0" marL="0">
              <a:buNone/>
            </a:pPr>
            <a:r>
              <a:rPr lang="en-US" sz="1300" dirty="0">
                <a:solidFill>
                  <a:schemeClr val="accent5"/>
                </a:solidFill>
              </a:rPr>
              <a:t>Released when the teacher is ready</a:t>
            </a:r>
            <a:endParaRPr lang="en-US" sz="1300" dirty="0"/>
          </a:p>
        </p:txBody>
      </p:sp>
      <p:sp>
        <p:nvSpPr>
          <p:cNvPr id="27" name="card"/>
          <p:cNvSpPr/>
          <p:nvPr/>
        </p:nvSpPr>
        <p:spPr>
          <a:xfrm>
            <a:off x="4343400" y="4526280"/>
            <a:ext cx="3520440" cy="1234440"/>
          </a:xfrm>
          <a:prstGeom prst="roundRect">
            <a:avLst>
              <a:gd name="adj" fmla="val 8889"/>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28" name="icon circle"/>
          <p:cNvSpPr/>
          <p:nvPr/>
        </p:nvSpPr>
        <p:spPr>
          <a:xfrm>
            <a:off x="4544568" y="4800600"/>
            <a:ext cx="640080" cy="640080"/>
          </a:xfrm>
          <a:prstGeom prst="ellipse">
            <a:avLst/>
          </a:prstGeom>
          <a:solidFill>
            <a:srgbClr val="D4762A"/>
          </a:solidFill>
          <a:ln w="12700">
            <a:solidFill>
              <a:srgbClr val="D4762A"/>
            </a:solidFill>
            <a:prstDash val="solid"/>
          </a:ln>
        </p:spPr>
      </p:sp>
      <p:pic>
        <p:nvPicPr>
          <p:cNvPr id="29" name="icon" descr="preencoded.png">    </p:cNvPr>
          <p:cNvPicPr>
            <a:picLocks noChangeAspect="1"/>
          </p:cNvPicPr>
          <p:nvPr/>
        </p:nvPicPr>
        <p:blipFill>
          <a:blip r:embed="rId5"/>
          <a:stretch>
            <a:fillRect/>
          </a:stretch>
        </p:blipFill>
        <p:spPr>
          <a:xfrm>
            <a:off x="4685386" y="4941418"/>
            <a:ext cx="358445" cy="358445"/>
          </a:xfrm>
          <a:prstGeom prst="rect">
            <a:avLst/>
          </a:prstGeom>
        </p:spPr>
      </p:pic>
      <p:sp>
        <p:nvSpPr>
          <p:cNvPr id="30" name="Text 23"/>
          <p:cNvSpPr txBox="1"/>
          <p:nvPr/>
        </p:nvSpPr>
        <p:spPr>
          <a:xfrm>
            <a:off x="5349240" y="4782312"/>
            <a:ext cx="2423160" cy="365760"/>
          </a:xfrm>
          <a:prstGeom prst="rect">
            <a:avLst/>
          </a:prstGeom>
          <a:noFill/>
          <a:ln/>
        </p:spPr>
        <p:txBody>
          <a:bodyPr wrap="square" lIns="0" tIns="0" rIns="0" bIns="0" rtlCol="0" anchor="t"/>
          <a:lstStyle/>
          <a:p>
            <a:pPr indent="0" marL="0">
              <a:buNone/>
            </a:pPr>
            <a:r>
              <a:rPr lang="en-US" sz="1600" b="1" dirty="0">
                <a:solidFill>
                  <a:schemeClr val="tx1"/>
                </a:solidFill>
              </a:rPr>
              <a:t>Department analytics</a:t>
            </a:r>
            <a:endParaRPr lang="en-US" sz="1600" dirty="0"/>
          </a:p>
        </p:txBody>
      </p:sp>
      <p:sp>
        <p:nvSpPr>
          <p:cNvPr id="31" name="Text 24"/>
          <p:cNvSpPr txBox="1"/>
          <p:nvPr/>
        </p:nvSpPr>
        <p:spPr>
          <a:xfrm>
            <a:off x="5349240" y="5166360"/>
            <a:ext cx="2423160" cy="502920"/>
          </a:xfrm>
          <a:prstGeom prst="rect">
            <a:avLst/>
          </a:prstGeom>
          <a:noFill/>
          <a:ln/>
        </p:spPr>
        <p:txBody>
          <a:bodyPr wrap="square" lIns="0" tIns="0" rIns="0" bIns="0" rtlCol="0" anchor="t"/>
          <a:lstStyle/>
          <a:p>
            <a:pPr indent="0" marL="0">
              <a:buNone/>
            </a:pPr>
            <a:r>
              <a:rPr lang="en-US" sz="1300" dirty="0">
                <a:solidFill>
                  <a:schemeClr val="accent5"/>
                </a:solidFill>
              </a:rPr>
              <a:t>How classes performed, at a glance</a:t>
            </a:r>
            <a:endParaRPr lang="en-US" sz="1300" dirty="0"/>
          </a:p>
        </p:txBody>
      </p:sp>
      <p:sp>
        <p:nvSpPr>
          <p:cNvPr id="32" name="card"/>
          <p:cNvSpPr/>
          <p:nvPr/>
        </p:nvSpPr>
        <p:spPr>
          <a:xfrm>
            <a:off x="8001000" y="4526280"/>
            <a:ext cx="3520440" cy="1234440"/>
          </a:xfrm>
          <a:prstGeom prst="roundRect">
            <a:avLst>
              <a:gd name="adj" fmla="val 8889"/>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33" name="icon circle"/>
          <p:cNvSpPr/>
          <p:nvPr/>
        </p:nvSpPr>
        <p:spPr>
          <a:xfrm>
            <a:off x="8202168" y="4800600"/>
            <a:ext cx="640080" cy="640080"/>
          </a:xfrm>
          <a:prstGeom prst="ellipse">
            <a:avLst/>
          </a:prstGeom>
          <a:solidFill>
            <a:srgbClr val="D4762A"/>
          </a:solidFill>
          <a:ln w="12700">
            <a:solidFill>
              <a:srgbClr val="D4762A"/>
            </a:solidFill>
            <a:prstDash val="solid"/>
          </a:ln>
        </p:spPr>
      </p:sp>
      <p:pic>
        <p:nvPicPr>
          <p:cNvPr id="34" name="icon" descr="preencoded.png">    </p:cNvPr>
          <p:cNvPicPr>
            <a:picLocks noChangeAspect="1"/>
          </p:cNvPicPr>
          <p:nvPr/>
        </p:nvPicPr>
        <p:blipFill>
          <a:blip r:embed="rId6"/>
          <a:stretch>
            <a:fillRect/>
          </a:stretch>
        </p:blipFill>
        <p:spPr>
          <a:xfrm>
            <a:off x="8342986" y="4941418"/>
            <a:ext cx="358445" cy="358445"/>
          </a:xfrm>
          <a:prstGeom prst="rect">
            <a:avLst/>
          </a:prstGeom>
        </p:spPr>
      </p:pic>
      <p:sp>
        <p:nvSpPr>
          <p:cNvPr id="35" name="Text 27"/>
          <p:cNvSpPr txBox="1"/>
          <p:nvPr/>
        </p:nvSpPr>
        <p:spPr>
          <a:xfrm>
            <a:off x="9006840" y="4782312"/>
            <a:ext cx="2423160" cy="365760"/>
          </a:xfrm>
          <a:prstGeom prst="rect">
            <a:avLst/>
          </a:prstGeom>
          <a:noFill/>
          <a:ln/>
        </p:spPr>
        <p:txBody>
          <a:bodyPr wrap="square" lIns="0" tIns="0" rIns="0" bIns="0" rtlCol="0" anchor="t"/>
          <a:lstStyle/>
          <a:p>
            <a:pPr indent="0" marL="0">
              <a:buNone/>
            </a:pPr>
            <a:r>
              <a:rPr lang="en-US" sz="1600" b="1" dirty="0">
                <a:solidFill>
                  <a:schemeClr val="tx1"/>
                </a:solidFill>
              </a:rPr>
              <a:t>Integrity checks</a:t>
            </a:r>
            <a:endParaRPr lang="en-US" sz="1600" dirty="0"/>
          </a:p>
        </p:txBody>
      </p:sp>
      <p:sp>
        <p:nvSpPr>
          <p:cNvPr id="36" name="Text 28"/>
          <p:cNvSpPr txBox="1"/>
          <p:nvPr/>
        </p:nvSpPr>
        <p:spPr>
          <a:xfrm>
            <a:off x="9006840" y="5166360"/>
            <a:ext cx="2423160" cy="502920"/>
          </a:xfrm>
          <a:prstGeom prst="rect">
            <a:avLst/>
          </a:prstGeom>
          <a:noFill/>
          <a:ln/>
        </p:spPr>
        <p:txBody>
          <a:bodyPr wrap="square" lIns="0" tIns="0" rIns="0" bIns="0" rtlCol="0" anchor="t"/>
          <a:lstStyle/>
          <a:p>
            <a:pPr indent="0" marL="0">
              <a:buNone/>
            </a:pPr>
            <a:r>
              <a:rPr lang="en-US" sz="1300" dirty="0">
                <a:solidFill>
                  <a:schemeClr val="accent5"/>
                </a:solidFill>
              </a:rPr>
              <a:t>Flags go to a person to review</a:t>
            </a:r>
            <a:endParaRPr lang="en-US" sz="13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chemeClr val="accent1"/>
                </a:solidFill>
              </a:rPr>
              <a:t>PART 1   |   THE STRATEGY</a:t>
            </a:r>
            <a:endParaRPr lang="en-US" sz="1100" dirty="0"/>
          </a:p>
        </p:txBody>
      </p:sp>
      <p:sp>
        <p:nvSpPr>
          <p:cNvPr id="3" name="Text 0"/>
          <p:cNvSpPr/>
          <p:nvPr>
            <p:ph idx="100" type="title" hasCustomPrompt="1"/>
          </p:nvPr>
        </p:nvSpPr>
        <p:spPr>
          <a:xfrm>
            <a:off x="640080" y="548640"/>
            <a:ext cx="10908792" cy="1005840"/>
          </a:xfrm>
          <a:prstGeom prst="rect">
            <a:avLst/>
          </a:prstGeom>
          <a:noFill/>
          <a:ln/>
        </p:spPr>
        <p:txBody>
          <a:bodyPr wrap="square" lIns="0" tIns="0" rIns="0" bIns="0" rtlCol="0" anchor="t"/>
          <a:lstStyle/>
          <a:p>
            <a:pPr algn="l" indent="0" marL="0">
              <a:buNone/>
            </a:pPr>
            <a:r>
              <a:rPr lang="en-US" sz="3400" b="1" dirty="0">
                <a:solidFill>
                  <a:schemeClr val="tx1"/>
                </a:solidFill>
              </a:rPr>
              <a:t>Built around the roles already inside your school</a:t>
            </a:r>
            <a:endParaRPr lang="en-US" sz="3400" dirty="0"/>
          </a:p>
        </p:txBody>
      </p:sp>
      <p:sp>
        <p:nvSpPr>
          <p:cNvPr id="4" name="card"/>
          <p:cNvSpPr/>
          <p:nvPr/>
        </p:nvSpPr>
        <p:spPr>
          <a:xfrm>
            <a:off x="640080" y="1783080"/>
            <a:ext cx="2606040" cy="2651760"/>
          </a:xfrm>
          <a:prstGeom prst="roundRect">
            <a:avLst>
              <a:gd name="adj" fmla="val 4211"/>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5" name="icon circle"/>
          <p:cNvSpPr/>
          <p:nvPr/>
        </p:nvSpPr>
        <p:spPr>
          <a:xfrm>
            <a:off x="914400" y="2057400"/>
            <a:ext cx="731520" cy="731520"/>
          </a:xfrm>
          <a:prstGeom prst="ellipse">
            <a:avLst/>
          </a:prstGeom>
          <a:solidFill>
            <a:srgbClr val="1F8A84"/>
          </a:solidFill>
          <a:ln w="12700">
            <a:solidFill>
              <a:srgbClr val="1F8A84"/>
            </a:solidFill>
            <a:prstDash val="solid"/>
          </a:ln>
        </p:spPr>
      </p:sp>
      <p:pic>
        <p:nvPicPr>
          <p:cNvPr id="6" name="icon" descr="preencoded.png">    </p:cNvPr>
          <p:cNvPicPr>
            <a:picLocks noChangeAspect="1"/>
          </p:cNvPicPr>
          <p:nvPr/>
        </p:nvPicPr>
        <p:blipFill>
          <a:blip r:embed="rId1"/>
          <a:stretch>
            <a:fillRect/>
          </a:stretch>
        </p:blipFill>
        <p:spPr>
          <a:xfrm>
            <a:off x="1075334" y="2218334"/>
            <a:ext cx="409651" cy="409651"/>
          </a:xfrm>
          <a:prstGeom prst="rect">
            <a:avLst/>
          </a:prstGeom>
        </p:spPr>
      </p:pic>
      <p:sp>
        <p:nvSpPr>
          <p:cNvPr id="7" name="Text 4"/>
          <p:cNvSpPr txBox="1"/>
          <p:nvPr/>
        </p:nvSpPr>
        <p:spPr>
          <a:xfrm>
            <a:off x="914400" y="2926080"/>
            <a:ext cx="2103120" cy="640080"/>
          </a:xfrm>
          <a:prstGeom prst="rect">
            <a:avLst/>
          </a:prstGeom>
          <a:noFill/>
          <a:ln/>
        </p:spPr>
        <p:txBody>
          <a:bodyPr wrap="square" lIns="0" tIns="0" rIns="0" bIns="0" rtlCol="0" anchor="t"/>
          <a:lstStyle/>
          <a:p>
            <a:pPr indent="0" marL="0">
              <a:buNone/>
            </a:pPr>
            <a:r>
              <a:rPr lang="en-US" sz="1800" b="1" dirty="0">
                <a:solidFill>
                  <a:schemeClr val="tx1"/>
                </a:solidFill>
              </a:rPr>
              <a:t>Student</a:t>
            </a:r>
            <a:endParaRPr lang="en-US" sz="1800" dirty="0"/>
          </a:p>
        </p:txBody>
      </p:sp>
      <p:sp>
        <p:nvSpPr>
          <p:cNvPr id="8" name="Text 5"/>
          <p:cNvSpPr txBox="1"/>
          <p:nvPr/>
        </p:nvSpPr>
        <p:spPr>
          <a:xfrm>
            <a:off x="914400" y="3566160"/>
            <a:ext cx="2103120" cy="777240"/>
          </a:xfrm>
          <a:prstGeom prst="rect">
            <a:avLst/>
          </a:prstGeom>
          <a:noFill/>
          <a:ln/>
        </p:spPr>
        <p:txBody>
          <a:bodyPr wrap="square" lIns="0" tIns="0" rIns="0" bIns="0" rtlCol="0" anchor="t"/>
          <a:lstStyle/>
          <a:p>
            <a:pPr indent="0" marL="0">
              <a:buNone/>
            </a:pPr>
            <a:r>
              <a:rPr lang="en-US" sz="1300" dirty="0">
                <a:solidFill>
                  <a:schemeClr val="accent5"/>
                </a:solidFill>
              </a:rPr>
              <a:t>Takes assigned work, sees results and progress.</a:t>
            </a:r>
            <a:endParaRPr lang="en-US" sz="1300" dirty="0"/>
          </a:p>
        </p:txBody>
      </p:sp>
      <p:sp>
        <p:nvSpPr>
          <p:cNvPr id="9" name="card"/>
          <p:cNvSpPr/>
          <p:nvPr/>
        </p:nvSpPr>
        <p:spPr>
          <a:xfrm>
            <a:off x="3401568" y="1783080"/>
            <a:ext cx="2606040" cy="2651760"/>
          </a:xfrm>
          <a:prstGeom prst="roundRect">
            <a:avLst>
              <a:gd name="adj" fmla="val 4211"/>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10" name="icon circle"/>
          <p:cNvSpPr/>
          <p:nvPr/>
        </p:nvSpPr>
        <p:spPr>
          <a:xfrm>
            <a:off x="3675888" y="2057400"/>
            <a:ext cx="731520" cy="731520"/>
          </a:xfrm>
          <a:prstGeom prst="ellipse">
            <a:avLst/>
          </a:prstGeom>
          <a:solidFill>
            <a:srgbClr val="D4762A"/>
          </a:solidFill>
          <a:ln w="12700">
            <a:solidFill>
              <a:srgbClr val="D4762A"/>
            </a:solidFill>
            <a:prstDash val="solid"/>
          </a:ln>
        </p:spPr>
      </p:sp>
      <p:pic>
        <p:nvPicPr>
          <p:cNvPr id="11" name="icon" descr="preencoded.png">    </p:cNvPr>
          <p:cNvPicPr>
            <a:picLocks noChangeAspect="1"/>
          </p:cNvPicPr>
          <p:nvPr/>
        </p:nvPicPr>
        <p:blipFill>
          <a:blip r:embed="rId2"/>
          <a:stretch>
            <a:fillRect/>
          </a:stretch>
        </p:blipFill>
        <p:spPr>
          <a:xfrm>
            <a:off x="3836822" y="2218334"/>
            <a:ext cx="409651" cy="409651"/>
          </a:xfrm>
          <a:prstGeom prst="rect">
            <a:avLst/>
          </a:prstGeom>
        </p:spPr>
      </p:pic>
      <p:sp>
        <p:nvSpPr>
          <p:cNvPr id="12" name="Text 8"/>
          <p:cNvSpPr txBox="1"/>
          <p:nvPr/>
        </p:nvSpPr>
        <p:spPr>
          <a:xfrm>
            <a:off x="3675888" y="2926080"/>
            <a:ext cx="2103120" cy="640080"/>
          </a:xfrm>
          <a:prstGeom prst="rect">
            <a:avLst/>
          </a:prstGeom>
          <a:noFill/>
          <a:ln/>
        </p:spPr>
        <p:txBody>
          <a:bodyPr wrap="square" lIns="0" tIns="0" rIns="0" bIns="0" rtlCol="0" anchor="t"/>
          <a:lstStyle/>
          <a:p>
            <a:pPr indent="0" marL="0">
              <a:buNone/>
            </a:pPr>
            <a:r>
              <a:rPr lang="en-US" sz="1800" b="1" dirty="0">
                <a:solidFill>
                  <a:schemeClr val="tx1"/>
                </a:solidFill>
              </a:rPr>
              <a:t>Teacher</a:t>
            </a:r>
            <a:endParaRPr lang="en-US" sz="1800" dirty="0"/>
          </a:p>
        </p:txBody>
      </p:sp>
      <p:sp>
        <p:nvSpPr>
          <p:cNvPr id="13" name="Text 9"/>
          <p:cNvSpPr txBox="1"/>
          <p:nvPr/>
        </p:nvSpPr>
        <p:spPr>
          <a:xfrm>
            <a:off x="3675888" y="3566160"/>
            <a:ext cx="2103120" cy="777240"/>
          </a:xfrm>
          <a:prstGeom prst="rect">
            <a:avLst/>
          </a:prstGeom>
          <a:noFill/>
          <a:ln/>
        </p:spPr>
        <p:txBody>
          <a:bodyPr wrap="square" lIns="0" tIns="0" rIns="0" bIns="0" rtlCol="0" anchor="t"/>
          <a:lstStyle/>
          <a:p>
            <a:pPr indent="0" marL="0">
              <a:buNone/>
            </a:pPr>
            <a:r>
              <a:rPr lang="en-US" sz="1300" dirty="0">
                <a:solidFill>
                  <a:schemeClr val="accent5"/>
                </a:solidFill>
              </a:rPr>
              <a:t>Creates and assigns assessments, marks, plans lessons.</a:t>
            </a:r>
            <a:endParaRPr lang="en-US" sz="1300" dirty="0"/>
          </a:p>
        </p:txBody>
      </p:sp>
      <p:sp>
        <p:nvSpPr>
          <p:cNvPr id="14" name="card"/>
          <p:cNvSpPr/>
          <p:nvPr/>
        </p:nvSpPr>
        <p:spPr>
          <a:xfrm>
            <a:off x="6163056" y="1783080"/>
            <a:ext cx="2606040" cy="2651760"/>
          </a:xfrm>
          <a:prstGeom prst="roundRect">
            <a:avLst>
              <a:gd name="adj" fmla="val 4211"/>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15" name="icon circle"/>
          <p:cNvSpPr/>
          <p:nvPr/>
        </p:nvSpPr>
        <p:spPr>
          <a:xfrm>
            <a:off x="6437376" y="2057400"/>
            <a:ext cx="731520" cy="731520"/>
          </a:xfrm>
          <a:prstGeom prst="ellipse">
            <a:avLst/>
          </a:prstGeom>
          <a:solidFill>
            <a:srgbClr val="D4762A"/>
          </a:solidFill>
          <a:ln w="12700">
            <a:solidFill>
              <a:srgbClr val="D4762A"/>
            </a:solidFill>
            <a:prstDash val="solid"/>
          </a:ln>
        </p:spPr>
      </p:sp>
      <p:pic>
        <p:nvPicPr>
          <p:cNvPr id="16" name="icon" descr="preencoded.png">    </p:cNvPr>
          <p:cNvPicPr>
            <a:picLocks noChangeAspect="1"/>
          </p:cNvPicPr>
          <p:nvPr/>
        </p:nvPicPr>
        <p:blipFill>
          <a:blip r:embed="rId3"/>
          <a:stretch>
            <a:fillRect/>
          </a:stretch>
        </p:blipFill>
        <p:spPr>
          <a:xfrm>
            <a:off x="6598310" y="2218334"/>
            <a:ext cx="409651" cy="409651"/>
          </a:xfrm>
          <a:prstGeom prst="rect">
            <a:avLst/>
          </a:prstGeom>
        </p:spPr>
      </p:pic>
      <p:sp>
        <p:nvSpPr>
          <p:cNvPr id="17" name="Text 12"/>
          <p:cNvSpPr txBox="1"/>
          <p:nvPr/>
        </p:nvSpPr>
        <p:spPr>
          <a:xfrm>
            <a:off x="6437376" y="2926080"/>
            <a:ext cx="2103120" cy="640080"/>
          </a:xfrm>
          <a:prstGeom prst="rect">
            <a:avLst/>
          </a:prstGeom>
          <a:noFill/>
          <a:ln/>
        </p:spPr>
        <p:txBody>
          <a:bodyPr wrap="square" lIns="0" tIns="0" rIns="0" bIns="0" rtlCol="0" anchor="t"/>
          <a:lstStyle/>
          <a:p>
            <a:pPr indent="0" marL="0">
              <a:buNone/>
            </a:pPr>
            <a:r>
              <a:rPr lang="en-US" sz="1800" b="1" dirty="0">
                <a:solidFill>
                  <a:schemeClr val="tx1"/>
                </a:solidFill>
              </a:rPr>
              <a:t>Head of department</a:t>
            </a:r>
            <a:endParaRPr lang="en-US" sz="1800" dirty="0"/>
          </a:p>
        </p:txBody>
      </p:sp>
      <p:sp>
        <p:nvSpPr>
          <p:cNvPr id="18" name="Text 13"/>
          <p:cNvSpPr txBox="1"/>
          <p:nvPr/>
        </p:nvSpPr>
        <p:spPr>
          <a:xfrm>
            <a:off x="6437376" y="3566160"/>
            <a:ext cx="2103120" cy="777240"/>
          </a:xfrm>
          <a:prstGeom prst="rect">
            <a:avLst/>
          </a:prstGeom>
          <a:noFill/>
          <a:ln/>
        </p:spPr>
        <p:txBody>
          <a:bodyPr wrap="square" lIns="0" tIns="0" rIns="0" bIns="0" rtlCol="0" anchor="t"/>
          <a:lstStyle/>
          <a:p>
            <a:pPr indent="0" marL="0">
              <a:buNone/>
            </a:pPr>
            <a:r>
              <a:rPr lang="en-US" sz="1300" dirty="0">
                <a:solidFill>
                  <a:schemeClr val="accent5"/>
                </a:solidFill>
              </a:rPr>
              <a:t>Reviews and publishes, sees the whole department.</a:t>
            </a:r>
            <a:endParaRPr lang="en-US" sz="1300" dirty="0"/>
          </a:p>
        </p:txBody>
      </p:sp>
      <p:sp>
        <p:nvSpPr>
          <p:cNvPr id="19" name="card"/>
          <p:cNvSpPr/>
          <p:nvPr/>
        </p:nvSpPr>
        <p:spPr>
          <a:xfrm>
            <a:off x="8924544" y="1783080"/>
            <a:ext cx="2606040" cy="2651760"/>
          </a:xfrm>
          <a:prstGeom prst="roundRect">
            <a:avLst>
              <a:gd name="adj" fmla="val 4211"/>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20" name="icon circle"/>
          <p:cNvSpPr/>
          <p:nvPr/>
        </p:nvSpPr>
        <p:spPr>
          <a:xfrm>
            <a:off x="9198864" y="2057400"/>
            <a:ext cx="731520" cy="731520"/>
          </a:xfrm>
          <a:prstGeom prst="ellipse">
            <a:avLst/>
          </a:prstGeom>
          <a:solidFill>
            <a:srgbClr val="D4762A"/>
          </a:solidFill>
          <a:ln w="12700">
            <a:solidFill>
              <a:srgbClr val="D4762A"/>
            </a:solidFill>
            <a:prstDash val="solid"/>
          </a:ln>
        </p:spPr>
      </p:sp>
      <p:pic>
        <p:nvPicPr>
          <p:cNvPr id="21" name="icon" descr="preencoded.png">    </p:cNvPr>
          <p:cNvPicPr>
            <a:picLocks noChangeAspect="1"/>
          </p:cNvPicPr>
          <p:nvPr/>
        </p:nvPicPr>
        <p:blipFill>
          <a:blip r:embed="rId4"/>
          <a:stretch>
            <a:fillRect/>
          </a:stretch>
        </p:blipFill>
        <p:spPr>
          <a:xfrm>
            <a:off x="9359798" y="2218334"/>
            <a:ext cx="409651" cy="409651"/>
          </a:xfrm>
          <a:prstGeom prst="rect">
            <a:avLst/>
          </a:prstGeom>
        </p:spPr>
      </p:pic>
      <p:sp>
        <p:nvSpPr>
          <p:cNvPr id="22" name="Text 16"/>
          <p:cNvSpPr txBox="1"/>
          <p:nvPr/>
        </p:nvSpPr>
        <p:spPr>
          <a:xfrm>
            <a:off x="9198864" y="2926080"/>
            <a:ext cx="2103120" cy="640080"/>
          </a:xfrm>
          <a:prstGeom prst="rect">
            <a:avLst/>
          </a:prstGeom>
          <a:noFill/>
          <a:ln/>
        </p:spPr>
        <p:txBody>
          <a:bodyPr wrap="square" lIns="0" tIns="0" rIns="0" bIns="0" rtlCol="0" anchor="t"/>
          <a:lstStyle/>
          <a:p>
            <a:pPr indent="0" marL="0">
              <a:buNone/>
            </a:pPr>
            <a:r>
              <a:rPr lang="en-US" sz="1800" b="1" dirty="0">
                <a:solidFill>
                  <a:schemeClr val="tx1"/>
                </a:solidFill>
              </a:rPr>
              <a:t>Principal and administrators</a:t>
            </a:r>
            <a:endParaRPr lang="en-US" sz="1800" dirty="0"/>
          </a:p>
        </p:txBody>
      </p:sp>
      <p:sp>
        <p:nvSpPr>
          <p:cNvPr id="23" name="Text 17"/>
          <p:cNvSpPr txBox="1"/>
          <p:nvPr/>
        </p:nvSpPr>
        <p:spPr>
          <a:xfrm>
            <a:off x="9198864" y="3566160"/>
            <a:ext cx="2103120" cy="777240"/>
          </a:xfrm>
          <a:prstGeom prst="rect">
            <a:avLst/>
          </a:prstGeom>
          <a:noFill/>
          <a:ln/>
        </p:spPr>
        <p:txBody>
          <a:bodyPr wrap="square" lIns="0" tIns="0" rIns="0" bIns="0" rtlCol="0" anchor="t"/>
          <a:lstStyle/>
          <a:p>
            <a:pPr indent="0" marL="0">
              <a:buNone/>
            </a:pPr>
            <a:r>
              <a:rPr lang="en-US" sz="1300" dirty="0">
                <a:solidFill>
                  <a:schemeClr val="accent5"/>
                </a:solidFill>
              </a:rPr>
              <a:t>Sets up the school and sees across it.</a:t>
            </a:r>
            <a:endParaRPr lang="en-US" sz="1300" dirty="0"/>
          </a:p>
        </p:txBody>
      </p:sp>
      <p:sp>
        <p:nvSpPr>
          <p:cNvPr id="24" name="Text 18"/>
          <p:cNvSpPr txBox="1"/>
          <p:nvPr/>
        </p:nvSpPr>
        <p:spPr>
          <a:xfrm>
            <a:off x="640080" y="4709160"/>
            <a:ext cx="7315200" cy="365760"/>
          </a:xfrm>
          <a:prstGeom prst="rect">
            <a:avLst/>
          </a:prstGeom>
          <a:noFill/>
          <a:ln/>
        </p:spPr>
        <p:txBody>
          <a:bodyPr wrap="square" lIns="0" tIns="0" rIns="0" bIns="0" rtlCol="0" anchor="t"/>
          <a:lstStyle/>
          <a:p>
            <a:pPr indent="0" marL="0">
              <a:buNone/>
            </a:pPr>
            <a:r>
              <a:rPr lang="en-US" sz="1800" b="1" dirty="0">
                <a:solidFill>
                  <a:schemeClr val="tx1"/>
                </a:solidFill>
              </a:rPr>
              <a:t>Your school chooses how exams are reviewed</a:t>
            </a:r>
            <a:endParaRPr lang="en-US" sz="1800" dirty="0"/>
          </a:p>
        </p:txBody>
      </p:sp>
      <p:sp>
        <p:nvSpPr>
          <p:cNvPr id="25" name="workflow option"/>
          <p:cNvSpPr/>
          <p:nvPr/>
        </p:nvSpPr>
        <p:spPr>
          <a:xfrm>
            <a:off x="640080" y="5166360"/>
            <a:ext cx="3520440" cy="1005840"/>
          </a:xfrm>
          <a:prstGeom prst="roundRect">
            <a:avLst>
              <a:gd name="adj" fmla="val 9091"/>
            </a:avLst>
          </a:prstGeom>
          <a:solidFill>
            <a:srgbClr val="FAE8D4"/>
          </a:solidFill>
          <a:ln w="12700">
            <a:solidFill>
              <a:srgbClr val="FAE8D4"/>
            </a:solidFill>
            <a:prstDash val="solid"/>
          </a:ln>
        </p:spPr>
      </p:sp>
      <p:sp>
        <p:nvSpPr>
          <p:cNvPr id="26" name="Text 20"/>
          <p:cNvSpPr txBox="1"/>
          <p:nvPr/>
        </p:nvSpPr>
        <p:spPr>
          <a:xfrm>
            <a:off x="868680" y="5303520"/>
            <a:ext cx="3108960" cy="274320"/>
          </a:xfrm>
          <a:prstGeom prst="rect">
            <a:avLst/>
          </a:prstGeom>
          <a:noFill/>
          <a:ln/>
        </p:spPr>
        <p:txBody>
          <a:bodyPr wrap="square" lIns="0" tIns="0" rIns="0" bIns="0" rtlCol="0" anchor="t"/>
          <a:lstStyle/>
          <a:p>
            <a:pPr indent="0" marL="0">
              <a:buNone/>
            </a:pPr>
            <a:r>
              <a:rPr lang="en-US" sz="1500" b="1" dirty="0">
                <a:solidFill>
                  <a:srgbClr val="A85A18"/>
                </a:solidFill>
              </a:rPr>
              <a:t>Direct publish</a:t>
            </a:r>
            <a:endParaRPr lang="en-US" sz="1500" dirty="0"/>
          </a:p>
        </p:txBody>
      </p:sp>
      <p:sp>
        <p:nvSpPr>
          <p:cNvPr id="27" name="Text 21"/>
          <p:cNvSpPr txBox="1"/>
          <p:nvPr/>
        </p:nvSpPr>
        <p:spPr>
          <a:xfrm>
            <a:off x="868680" y="5623560"/>
            <a:ext cx="3108960" cy="457200"/>
          </a:xfrm>
          <a:prstGeom prst="rect">
            <a:avLst/>
          </a:prstGeom>
          <a:noFill/>
          <a:ln/>
        </p:spPr>
        <p:txBody>
          <a:bodyPr wrap="square" lIns="0" tIns="0" rIns="0" bIns="0" rtlCol="0" anchor="t"/>
          <a:lstStyle/>
          <a:p>
            <a:pPr indent="0" marL="0">
              <a:buNone/>
            </a:pPr>
            <a:r>
              <a:rPr lang="en-US" sz="1300" dirty="0">
                <a:solidFill>
                  <a:schemeClr val="tx1"/>
                </a:solidFill>
              </a:rPr>
              <a:t>A teacher writes and publishes to their class.</a:t>
            </a:r>
            <a:endParaRPr lang="en-US" sz="1300" dirty="0"/>
          </a:p>
        </p:txBody>
      </p:sp>
      <p:sp>
        <p:nvSpPr>
          <p:cNvPr id="28" name="workflow option"/>
          <p:cNvSpPr/>
          <p:nvPr/>
        </p:nvSpPr>
        <p:spPr>
          <a:xfrm>
            <a:off x="4343400" y="5166360"/>
            <a:ext cx="3520440" cy="1005840"/>
          </a:xfrm>
          <a:prstGeom prst="roundRect">
            <a:avLst>
              <a:gd name="adj" fmla="val 9091"/>
            </a:avLst>
          </a:prstGeom>
          <a:solidFill>
            <a:srgbClr val="FAE8D4"/>
          </a:solidFill>
          <a:ln w="12700">
            <a:solidFill>
              <a:srgbClr val="FAE8D4"/>
            </a:solidFill>
            <a:prstDash val="solid"/>
          </a:ln>
        </p:spPr>
      </p:sp>
      <p:sp>
        <p:nvSpPr>
          <p:cNvPr id="29" name="Text 23"/>
          <p:cNvSpPr txBox="1"/>
          <p:nvPr/>
        </p:nvSpPr>
        <p:spPr>
          <a:xfrm>
            <a:off x="4572000" y="5303520"/>
            <a:ext cx="3108960" cy="274320"/>
          </a:xfrm>
          <a:prstGeom prst="rect">
            <a:avLst/>
          </a:prstGeom>
          <a:noFill/>
          <a:ln/>
        </p:spPr>
        <p:txBody>
          <a:bodyPr wrap="square" lIns="0" tIns="0" rIns="0" bIns="0" rtlCol="0" anchor="t"/>
          <a:lstStyle/>
          <a:p>
            <a:pPr indent="0" marL="0">
              <a:buNone/>
            </a:pPr>
            <a:r>
              <a:rPr lang="en-US" sz="1500" b="1" dirty="0">
                <a:solidFill>
                  <a:srgbClr val="A85A18"/>
                </a:solidFill>
              </a:rPr>
              <a:t>Department review</a:t>
            </a:r>
            <a:endParaRPr lang="en-US" sz="1500" dirty="0"/>
          </a:p>
        </p:txBody>
      </p:sp>
      <p:sp>
        <p:nvSpPr>
          <p:cNvPr id="30" name="Text 24"/>
          <p:cNvSpPr txBox="1"/>
          <p:nvPr/>
        </p:nvSpPr>
        <p:spPr>
          <a:xfrm>
            <a:off x="4572000" y="5623560"/>
            <a:ext cx="3108960" cy="457200"/>
          </a:xfrm>
          <a:prstGeom prst="rect">
            <a:avLst/>
          </a:prstGeom>
          <a:noFill/>
          <a:ln/>
        </p:spPr>
        <p:txBody>
          <a:bodyPr wrap="square" lIns="0" tIns="0" rIns="0" bIns="0" rtlCol="0" anchor="t"/>
          <a:lstStyle/>
          <a:p>
            <a:pPr indent="0" marL="0">
              <a:buNone/>
            </a:pPr>
            <a:r>
              <a:rPr lang="en-US" sz="1300" dirty="0">
                <a:solidFill>
                  <a:schemeClr val="tx1"/>
                </a:solidFill>
              </a:rPr>
              <a:t>A head of department reviews and publishes.</a:t>
            </a:r>
            <a:endParaRPr lang="en-US" sz="1300" dirty="0"/>
          </a:p>
        </p:txBody>
      </p:sp>
      <p:sp>
        <p:nvSpPr>
          <p:cNvPr id="31" name="workflow option"/>
          <p:cNvSpPr/>
          <p:nvPr/>
        </p:nvSpPr>
        <p:spPr>
          <a:xfrm>
            <a:off x="8046720" y="5166360"/>
            <a:ext cx="3520440" cy="1005840"/>
          </a:xfrm>
          <a:prstGeom prst="roundRect">
            <a:avLst>
              <a:gd name="adj" fmla="val 9091"/>
            </a:avLst>
          </a:prstGeom>
          <a:solidFill>
            <a:srgbClr val="FAE8D4"/>
          </a:solidFill>
          <a:ln w="12700">
            <a:solidFill>
              <a:srgbClr val="FAE8D4"/>
            </a:solidFill>
            <a:prstDash val="solid"/>
          </a:ln>
        </p:spPr>
      </p:sp>
      <p:sp>
        <p:nvSpPr>
          <p:cNvPr id="32" name="Text 26"/>
          <p:cNvSpPr txBox="1"/>
          <p:nvPr/>
        </p:nvSpPr>
        <p:spPr>
          <a:xfrm>
            <a:off x="8275320" y="5303520"/>
            <a:ext cx="3108960" cy="274320"/>
          </a:xfrm>
          <a:prstGeom prst="rect">
            <a:avLst/>
          </a:prstGeom>
          <a:noFill/>
          <a:ln/>
        </p:spPr>
        <p:txBody>
          <a:bodyPr wrap="square" lIns="0" tIns="0" rIns="0" bIns="0" rtlCol="0" anchor="t"/>
          <a:lstStyle/>
          <a:p>
            <a:pPr indent="0" marL="0">
              <a:buNone/>
            </a:pPr>
            <a:r>
              <a:rPr lang="en-US" sz="1500" b="1" dirty="0">
                <a:solidFill>
                  <a:srgbClr val="A85A18"/>
                </a:solidFill>
              </a:rPr>
              <a:t>Multi-stage review</a:t>
            </a:r>
            <a:endParaRPr lang="en-US" sz="1500" dirty="0"/>
          </a:p>
        </p:txBody>
      </p:sp>
      <p:sp>
        <p:nvSpPr>
          <p:cNvPr id="33" name="Text 27"/>
          <p:cNvSpPr txBox="1"/>
          <p:nvPr/>
        </p:nvSpPr>
        <p:spPr>
          <a:xfrm>
            <a:off x="8275320" y="5623560"/>
            <a:ext cx="3108960" cy="457200"/>
          </a:xfrm>
          <a:prstGeom prst="rect">
            <a:avLst/>
          </a:prstGeom>
          <a:noFill/>
          <a:ln/>
        </p:spPr>
        <p:txBody>
          <a:bodyPr wrap="square" lIns="0" tIns="0" rIns="0" bIns="0" rtlCol="0" anchor="t"/>
          <a:lstStyle/>
          <a:p>
            <a:pPr indent="0" marL="0">
              <a:buNone/>
            </a:pPr>
            <a:r>
              <a:rPr lang="en-US" sz="1300" dirty="0">
                <a:solidFill>
                  <a:schemeClr val="tx1"/>
                </a:solidFill>
              </a:rPr>
              <a:t>Team lead, senior lead, then department head.</a:t>
            </a:r>
            <a:endParaRPr lang="en-US" sz="13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chemeClr val="accent1"/>
                </a:solidFill>
              </a:rPr>
              <a:t>PART 1   |   THE STRATEGY</a:t>
            </a:r>
            <a:endParaRPr lang="en-US" sz="1100" dirty="0"/>
          </a:p>
        </p:txBody>
      </p:sp>
      <p:sp>
        <p:nvSpPr>
          <p:cNvPr id="3" name="Text 0"/>
          <p:cNvSpPr/>
          <p:nvPr>
            <p:ph idx="100" type="title" hasCustomPrompt="1"/>
          </p:nvPr>
        </p:nvSpPr>
        <p:spPr>
          <a:xfrm>
            <a:off x="640080" y="548640"/>
            <a:ext cx="10908792" cy="1005840"/>
          </a:xfrm>
          <a:prstGeom prst="rect">
            <a:avLst/>
          </a:prstGeom>
          <a:noFill/>
          <a:ln/>
        </p:spPr>
        <p:txBody>
          <a:bodyPr wrap="square" lIns="0" tIns="0" rIns="0" bIns="0" rtlCol="0" anchor="t"/>
          <a:lstStyle/>
          <a:p>
            <a:pPr algn="l" indent="0" marL="0">
              <a:buNone/>
            </a:pPr>
            <a:r>
              <a:rPr lang="en-US" sz="3400" b="1" dirty="0">
                <a:solidFill>
                  <a:schemeClr val="tx1"/>
                </a:solidFill>
              </a:rPr>
              <a:t>Fair, secure and accessible by design</a:t>
            </a:r>
            <a:endParaRPr lang="en-US" sz="3400" dirty="0"/>
          </a:p>
        </p:txBody>
      </p:sp>
      <p:sp>
        <p:nvSpPr>
          <p:cNvPr id="4" name="card"/>
          <p:cNvSpPr/>
          <p:nvPr/>
        </p:nvSpPr>
        <p:spPr>
          <a:xfrm>
            <a:off x="640080" y="1783080"/>
            <a:ext cx="5376672" cy="1417320"/>
          </a:xfrm>
          <a:prstGeom prst="roundRect">
            <a:avLst>
              <a:gd name="adj" fmla="val 7742"/>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5" name="icon circle"/>
          <p:cNvSpPr/>
          <p:nvPr/>
        </p:nvSpPr>
        <p:spPr>
          <a:xfrm>
            <a:off x="914400" y="2130552"/>
            <a:ext cx="731520" cy="731520"/>
          </a:xfrm>
          <a:prstGeom prst="ellipse">
            <a:avLst/>
          </a:prstGeom>
          <a:solidFill>
            <a:srgbClr val="D4762A"/>
          </a:solidFill>
          <a:ln w="12700">
            <a:solidFill>
              <a:srgbClr val="D4762A"/>
            </a:solidFill>
            <a:prstDash val="solid"/>
          </a:ln>
        </p:spPr>
      </p:sp>
      <p:pic>
        <p:nvPicPr>
          <p:cNvPr id="6" name="icon" descr="preencoded.png">    </p:cNvPr>
          <p:cNvPicPr>
            <a:picLocks noChangeAspect="1"/>
          </p:cNvPicPr>
          <p:nvPr/>
        </p:nvPicPr>
        <p:blipFill>
          <a:blip r:embed="rId1"/>
          <a:stretch>
            <a:fillRect/>
          </a:stretch>
        </p:blipFill>
        <p:spPr>
          <a:xfrm>
            <a:off x="1075334" y="2291486"/>
            <a:ext cx="409651" cy="409651"/>
          </a:xfrm>
          <a:prstGeom prst="rect">
            <a:avLst/>
          </a:prstGeom>
        </p:spPr>
      </p:pic>
      <p:sp>
        <p:nvSpPr>
          <p:cNvPr id="7" name="Text 4"/>
          <p:cNvSpPr txBox="1"/>
          <p:nvPr/>
        </p:nvSpPr>
        <p:spPr>
          <a:xfrm>
            <a:off x="1920240" y="2057400"/>
            <a:ext cx="3931920" cy="365760"/>
          </a:xfrm>
          <a:prstGeom prst="rect">
            <a:avLst/>
          </a:prstGeom>
          <a:noFill/>
          <a:ln/>
        </p:spPr>
        <p:txBody>
          <a:bodyPr wrap="square" lIns="0" tIns="0" rIns="0" bIns="0" rtlCol="0" anchor="t"/>
          <a:lstStyle/>
          <a:p>
            <a:pPr indent="0" marL="0">
              <a:buNone/>
            </a:pPr>
            <a:r>
              <a:rPr lang="en-US" sz="1700" b="1" dirty="0">
                <a:solidFill>
                  <a:schemeClr val="tx1"/>
                </a:solidFill>
              </a:rPr>
              <a:t>Fullscreen lock and tab-switch detection</a:t>
            </a:r>
            <a:endParaRPr lang="en-US" sz="1700" dirty="0"/>
          </a:p>
        </p:txBody>
      </p:sp>
      <p:sp>
        <p:nvSpPr>
          <p:cNvPr id="8" name="Text 5"/>
          <p:cNvSpPr txBox="1"/>
          <p:nvPr/>
        </p:nvSpPr>
        <p:spPr>
          <a:xfrm>
            <a:off x="1920240" y="2496312"/>
            <a:ext cx="3931920" cy="548640"/>
          </a:xfrm>
          <a:prstGeom prst="rect">
            <a:avLst/>
          </a:prstGeom>
          <a:noFill/>
          <a:ln/>
        </p:spPr>
        <p:txBody>
          <a:bodyPr wrap="square" lIns="0" tIns="0" rIns="0" bIns="0" rtlCol="0" anchor="t"/>
          <a:lstStyle/>
          <a:p>
            <a:pPr indent="0" marL="0">
              <a:buNone/>
            </a:pPr>
            <a:r>
              <a:rPr lang="en-US" sz="1400" dirty="0">
                <a:solidFill>
                  <a:schemeClr val="accent5"/>
                </a:solidFill>
              </a:rPr>
              <a:t>The exam notices when a student leaves the window.</a:t>
            </a:r>
            <a:endParaRPr lang="en-US" sz="1400" dirty="0"/>
          </a:p>
        </p:txBody>
      </p:sp>
      <p:sp>
        <p:nvSpPr>
          <p:cNvPr id="9" name="card"/>
          <p:cNvSpPr/>
          <p:nvPr/>
        </p:nvSpPr>
        <p:spPr>
          <a:xfrm>
            <a:off x="6172200" y="1783080"/>
            <a:ext cx="5376672" cy="1417320"/>
          </a:xfrm>
          <a:prstGeom prst="roundRect">
            <a:avLst>
              <a:gd name="adj" fmla="val 7742"/>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10" name="icon circle"/>
          <p:cNvSpPr/>
          <p:nvPr/>
        </p:nvSpPr>
        <p:spPr>
          <a:xfrm>
            <a:off x="6446520" y="2130552"/>
            <a:ext cx="731520" cy="731520"/>
          </a:xfrm>
          <a:prstGeom prst="ellipse">
            <a:avLst/>
          </a:prstGeom>
          <a:solidFill>
            <a:srgbClr val="D4762A"/>
          </a:solidFill>
          <a:ln w="12700">
            <a:solidFill>
              <a:srgbClr val="D4762A"/>
            </a:solidFill>
            <a:prstDash val="solid"/>
          </a:ln>
        </p:spPr>
      </p:sp>
      <p:pic>
        <p:nvPicPr>
          <p:cNvPr id="11" name="icon" descr="preencoded.png">    </p:cNvPr>
          <p:cNvPicPr>
            <a:picLocks noChangeAspect="1"/>
          </p:cNvPicPr>
          <p:nvPr/>
        </p:nvPicPr>
        <p:blipFill>
          <a:blip r:embed="rId2"/>
          <a:stretch>
            <a:fillRect/>
          </a:stretch>
        </p:blipFill>
        <p:spPr>
          <a:xfrm>
            <a:off x="6607454" y="2291486"/>
            <a:ext cx="409651" cy="409651"/>
          </a:xfrm>
          <a:prstGeom prst="rect">
            <a:avLst/>
          </a:prstGeom>
        </p:spPr>
      </p:pic>
      <p:sp>
        <p:nvSpPr>
          <p:cNvPr id="12" name="Text 8"/>
          <p:cNvSpPr txBox="1"/>
          <p:nvPr/>
        </p:nvSpPr>
        <p:spPr>
          <a:xfrm>
            <a:off x="7452360" y="2057400"/>
            <a:ext cx="3931920" cy="365760"/>
          </a:xfrm>
          <a:prstGeom prst="rect">
            <a:avLst/>
          </a:prstGeom>
          <a:noFill/>
          <a:ln/>
        </p:spPr>
        <p:txBody>
          <a:bodyPr wrap="square" lIns="0" tIns="0" rIns="0" bIns="0" rtlCol="0" anchor="t"/>
          <a:lstStyle/>
          <a:p>
            <a:pPr indent="0" marL="0">
              <a:buNone/>
            </a:pPr>
            <a:r>
              <a:rPr lang="en-US" sz="1700" b="1" dirty="0">
                <a:solidFill>
                  <a:schemeClr val="tx1"/>
                </a:solidFill>
              </a:rPr>
              <a:t>Single-device sign-in</a:t>
            </a:r>
            <a:endParaRPr lang="en-US" sz="1700" dirty="0"/>
          </a:p>
        </p:txBody>
      </p:sp>
      <p:sp>
        <p:nvSpPr>
          <p:cNvPr id="13" name="Text 9"/>
          <p:cNvSpPr txBox="1"/>
          <p:nvPr/>
        </p:nvSpPr>
        <p:spPr>
          <a:xfrm>
            <a:off x="7452360" y="2496312"/>
            <a:ext cx="3931920" cy="548640"/>
          </a:xfrm>
          <a:prstGeom prst="rect">
            <a:avLst/>
          </a:prstGeom>
          <a:noFill/>
          <a:ln/>
        </p:spPr>
        <p:txBody>
          <a:bodyPr wrap="square" lIns="0" tIns="0" rIns="0" bIns="0" rtlCol="0" anchor="t"/>
          <a:lstStyle/>
          <a:p>
            <a:pPr indent="0" marL="0">
              <a:buNone/>
            </a:pPr>
            <a:r>
              <a:rPr lang="en-US" sz="1400" dirty="0">
                <a:solidFill>
                  <a:schemeClr val="accent5"/>
                </a:solidFill>
              </a:rPr>
              <a:t>A student is signed in on one device at a time.</a:t>
            </a:r>
            <a:endParaRPr lang="en-US" sz="1400" dirty="0"/>
          </a:p>
        </p:txBody>
      </p:sp>
      <p:sp>
        <p:nvSpPr>
          <p:cNvPr id="14" name="card"/>
          <p:cNvSpPr/>
          <p:nvPr/>
        </p:nvSpPr>
        <p:spPr>
          <a:xfrm>
            <a:off x="640080" y="3383280"/>
            <a:ext cx="5376672" cy="1417320"/>
          </a:xfrm>
          <a:prstGeom prst="roundRect">
            <a:avLst>
              <a:gd name="adj" fmla="val 7742"/>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15" name="icon circle"/>
          <p:cNvSpPr/>
          <p:nvPr/>
        </p:nvSpPr>
        <p:spPr>
          <a:xfrm>
            <a:off x="914400" y="3730752"/>
            <a:ext cx="731520" cy="731520"/>
          </a:xfrm>
          <a:prstGeom prst="ellipse">
            <a:avLst/>
          </a:prstGeom>
          <a:solidFill>
            <a:srgbClr val="D4762A"/>
          </a:solidFill>
          <a:ln w="12700">
            <a:solidFill>
              <a:srgbClr val="D4762A"/>
            </a:solidFill>
            <a:prstDash val="solid"/>
          </a:ln>
        </p:spPr>
      </p:sp>
      <p:pic>
        <p:nvPicPr>
          <p:cNvPr id="16" name="icon" descr="preencoded.png">    </p:cNvPr>
          <p:cNvPicPr>
            <a:picLocks noChangeAspect="1"/>
          </p:cNvPicPr>
          <p:nvPr/>
        </p:nvPicPr>
        <p:blipFill>
          <a:blip r:embed="rId3"/>
          <a:stretch>
            <a:fillRect/>
          </a:stretch>
        </p:blipFill>
        <p:spPr>
          <a:xfrm>
            <a:off x="1075334" y="3891686"/>
            <a:ext cx="409651" cy="409651"/>
          </a:xfrm>
          <a:prstGeom prst="rect">
            <a:avLst/>
          </a:prstGeom>
        </p:spPr>
      </p:pic>
      <p:sp>
        <p:nvSpPr>
          <p:cNvPr id="17" name="Text 12"/>
          <p:cNvSpPr txBox="1"/>
          <p:nvPr/>
        </p:nvSpPr>
        <p:spPr>
          <a:xfrm>
            <a:off x="1920240" y="3657600"/>
            <a:ext cx="3931920" cy="365760"/>
          </a:xfrm>
          <a:prstGeom prst="rect">
            <a:avLst/>
          </a:prstGeom>
          <a:noFill/>
          <a:ln/>
        </p:spPr>
        <p:txBody>
          <a:bodyPr wrap="square" lIns="0" tIns="0" rIns="0" bIns="0" rtlCol="0" anchor="t"/>
          <a:lstStyle/>
          <a:p>
            <a:pPr indent="0" marL="0">
              <a:buNone/>
            </a:pPr>
            <a:r>
              <a:rPr lang="en-US" sz="1700" b="1" dirty="0">
                <a:solidFill>
                  <a:schemeClr val="tx1"/>
                </a:solidFill>
              </a:rPr>
              <a:t>Safe if the connection drops</a:t>
            </a:r>
            <a:endParaRPr lang="en-US" sz="1700" dirty="0"/>
          </a:p>
        </p:txBody>
      </p:sp>
      <p:sp>
        <p:nvSpPr>
          <p:cNvPr id="18" name="Text 13"/>
          <p:cNvSpPr txBox="1"/>
          <p:nvPr/>
        </p:nvSpPr>
        <p:spPr>
          <a:xfrm>
            <a:off x="1920240" y="4096512"/>
            <a:ext cx="3931920" cy="548640"/>
          </a:xfrm>
          <a:prstGeom prst="rect">
            <a:avLst/>
          </a:prstGeom>
          <a:noFill/>
          <a:ln/>
        </p:spPr>
        <p:txBody>
          <a:bodyPr wrap="square" lIns="0" tIns="0" rIns="0" bIns="0" rtlCol="0" anchor="t"/>
          <a:lstStyle/>
          <a:p>
            <a:pPr indent="0" marL="0">
              <a:buNone/>
            </a:pPr>
            <a:r>
              <a:rPr lang="en-US" sz="1400" dirty="0">
                <a:solidFill>
                  <a:schemeClr val="accent5"/>
                </a:solidFill>
              </a:rPr>
              <a:t>Answers are kept on the device and sync when it returns.</a:t>
            </a:r>
            <a:endParaRPr lang="en-US" sz="1400" dirty="0"/>
          </a:p>
        </p:txBody>
      </p:sp>
      <p:sp>
        <p:nvSpPr>
          <p:cNvPr id="19" name="card"/>
          <p:cNvSpPr/>
          <p:nvPr/>
        </p:nvSpPr>
        <p:spPr>
          <a:xfrm>
            <a:off x="6172200" y="3383280"/>
            <a:ext cx="5376672" cy="1417320"/>
          </a:xfrm>
          <a:prstGeom prst="roundRect">
            <a:avLst>
              <a:gd name="adj" fmla="val 7742"/>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20" name="icon circle"/>
          <p:cNvSpPr/>
          <p:nvPr/>
        </p:nvSpPr>
        <p:spPr>
          <a:xfrm>
            <a:off x="6446520" y="3730752"/>
            <a:ext cx="731520" cy="731520"/>
          </a:xfrm>
          <a:prstGeom prst="ellipse">
            <a:avLst/>
          </a:prstGeom>
          <a:solidFill>
            <a:srgbClr val="D4762A"/>
          </a:solidFill>
          <a:ln w="12700">
            <a:solidFill>
              <a:srgbClr val="D4762A"/>
            </a:solidFill>
            <a:prstDash val="solid"/>
          </a:ln>
        </p:spPr>
      </p:sp>
      <p:pic>
        <p:nvPicPr>
          <p:cNvPr id="21" name="icon" descr="preencoded.png">    </p:cNvPr>
          <p:cNvPicPr>
            <a:picLocks noChangeAspect="1"/>
          </p:cNvPicPr>
          <p:nvPr/>
        </p:nvPicPr>
        <p:blipFill>
          <a:blip r:embed="rId4"/>
          <a:stretch>
            <a:fillRect/>
          </a:stretch>
        </p:blipFill>
        <p:spPr>
          <a:xfrm>
            <a:off x="6607454" y="3891686"/>
            <a:ext cx="409651" cy="409651"/>
          </a:xfrm>
          <a:prstGeom prst="rect">
            <a:avLst/>
          </a:prstGeom>
        </p:spPr>
      </p:pic>
      <p:sp>
        <p:nvSpPr>
          <p:cNvPr id="22" name="Text 16"/>
          <p:cNvSpPr txBox="1"/>
          <p:nvPr/>
        </p:nvSpPr>
        <p:spPr>
          <a:xfrm>
            <a:off x="7452360" y="3657600"/>
            <a:ext cx="3931920" cy="365760"/>
          </a:xfrm>
          <a:prstGeom prst="rect">
            <a:avLst/>
          </a:prstGeom>
          <a:noFill/>
          <a:ln/>
        </p:spPr>
        <p:txBody>
          <a:bodyPr wrap="square" lIns="0" tIns="0" rIns="0" bIns="0" rtlCol="0" anchor="t"/>
          <a:lstStyle/>
          <a:p>
            <a:pPr indent="0" marL="0">
              <a:buNone/>
            </a:pPr>
            <a:r>
              <a:rPr lang="en-US" sz="1700" b="1" dirty="0">
                <a:solidFill>
                  <a:schemeClr val="tx1"/>
                </a:solidFill>
              </a:rPr>
              <a:t>Read-aloud support</a:t>
            </a:r>
            <a:endParaRPr lang="en-US" sz="1700" dirty="0"/>
          </a:p>
        </p:txBody>
      </p:sp>
      <p:sp>
        <p:nvSpPr>
          <p:cNvPr id="23" name="Text 17"/>
          <p:cNvSpPr txBox="1"/>
          <p:nvPr/>
        </p:nvSpPr>
        <p:spPr>
          <a:xfrm>
            <a:off x="7452360" y="4096512"/>
            <a:ext cx="3931920" cy="548640"/>
          </a:xfrm>
          <a:prstGeom prst="rect">
            <a:avLst/>
          </a:prstGeom>
          <a:noFill/>
          <a:ln/>
        </p:spPr>
        <p:txBody>
          <a:bodyPr wrap="square" lIns="0" tIns="0" rIns="0" bIns="0" rtlCol="0" anchor="t"/>
          <a:lstStyle/>
          <a:p>
            <a:pPr indent="0" marL="0">
              <a:buNone/>
            </a:pPr>
            <a:r>
              <a:rPr lang="en-US" sz="1400" dirty="0">
                <a:solidFill>
                  <a:schemeClr val="accent5"/>
                </a:solidFill>
              </a:rPr>
              <a:t>A teacher can switch it on for a student who needs it.</a:t>
            </a:r>
            <a:endParaRPr lang="en-US" sz="1400" dirty="0"/>
          </a:p>
        </p:txBody>
      </p:sp>
      <p:sp>
        <p:nvSpPr>
          <p:cNvPr id="24" name="principle"/>
          <p:cNvSpPr/>
          <p:nvPr/>
        </p:nvSpPr>
        <p:spPr>
          <a:xfrm>
            <a:off x="640080" y="5120640"/>
            <a:ext cx="10908792" cy="960120"/>
          </a:xfrm>
          <a:prstGeom prst="roundRect">
            <a:avLst>
              <a:gd name="adj" fmla="val 11429"/>
            </a:avLst>
          </a:prstGeom>
          <a:solidFill>
            <a:srgbClr val="1E1208"/>
          </a:solidFill>
          <a:ln w="12700">
            <a:solidFill>
              <a:srgbClr val="1E1208"/>
            </a:solidFill>
            <a:prstDash val="solid"/>
          </a:ln>
        </p:spPr>
      </p:sp>
      <p:sp>
        <p:nvSpPr>
          <p:cNvPr id="25" name="icon circle"/>
          <p:cNvSpPr/>
          <p:nvPr/>
        </p:nvSpPr>
        <p:spPr>
          <a:xfrm>
            <a:off x="914400" y="5321808"/>
            <a:ext cx="548640" cy="548640"/>
          </a:xfrm>
          <a:prstGeom prst="ellipse">
            <a:avLst/>
          </a:prstGeom>
          <a:solidFill>
            <a:srgbClr val="D4762A"/>
          </a:solidFill>
          <a:ln w="12700">
            <a:solidFill>
              <a:srgbClr val="D4762A"/>
            </a:solidFill>
            <a:prstDash val="solid"/>
          </a:ln>
        </p:spPr>
      </p:sp>
      <p:pic>
        <p:nvPicPr>
          <p:cNvPr id="26" name="icon" descr="preencoded.png">    </p:cNvPr>
          <p:cNvPicPr>
            <a:picLocks noChangeAspect="1"/>
          </p:cNvPicPr>
          <p:nvPr/>
        </p:nvPicPr>
        <p:blipFill>
          <a:blip r:embed="rId5"/>
          <a:stretch>
            <a:fillRect/>
          </a:stretch>
        </p:blipFill>
        <p:spPr>
          <a:xfrm>
            <a:off x="1035101" y="5442509"/>
            <a:ext cx="307238" cy="307238"/>
          </a:xfrm>
          <a:prstGeom prst="rect">
            <a:avLst/>
          </a:prstGeom>
        </p:spPr>
      </p:pic>
      <p:sp>
        <p:nvSpPr>
          <p:cNvPr id="27" name="Text 20"/>
          <p:cNvSpPr txBox="1"/>
          <p:nvPr/>
        </p:nvSpPr>
        <p:spPr>
          <a:xfrm>
            <a:off x="1691640" y="5285232"/>
            <a:ext cx="9601200" cy="640080"/>
          </a:xfrm>
          <a:prstGeom prst="rect">
            <a:avLst/>
          </a:prstGeom>
          <a:noFill/>
          <a:ln/>
        </p:spPr>
        <p:txBody>
          <a:bodyPr wrap="square" lIns="0" tIns="0" rIns="0" bIns="0" rtlCol="0" anchor="ctr"/>
          <a:lstStyle/>
          <a:p>
            <a:pPr indent="0" marL="0">
              <a:buNone/>
            </a:pPr>
            <a:r>
              <a:rPr lang="en-US" sz="1600" b="1" dirty="0">
                <a:solidFill>
                  <a:schemeClr val="bg1"/>
                </a:solidFill>
              </a:rPr>
              <a:t>A person always decides. Integrity flags are for a teacher or leader to review; nothing is concluded about a student automatically.</a:t>
            </a:r>
            <a:endParaRPr lang="en-US" sz="16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chemeClr val="accent1"/>
                </a:solidFill>
              </a:rPr>
              <a:t>PART 1   |   THE STRATEGY</a:t>
            </a:r>
            <a:endParaRPr lang="en-US" sz="1100" dirty="0"/>
          </a:p>
        </p:txBody>
      </p:sp>
      <p:sp>
        <p:nvSpPr>
          <p:cNvPr id="3" name="Text 0"/>
          <p:cNvSpPr/>
          <p:nvPr>
            <p:ph idx="100" type="title" hasCustomPrompt="1"/>
          </p:nvPr>
        </p:nvSpPr>
        <p:spPr>
          <a:xfrm>
            <a:off x="640080" y="548640"/>
            <a:ext cx="10908792" cy="1005840"/>
          </a:xfrm>
          <a:prstGeom prst="rect">
            <a:avLst/>
          </a:prstGeom>
          <a:noFill/>
          <a:ln/>
        </p:spPr>
        <p:txBody>
          <a:bodyPr wrap="square" lIns="0" tIns="0" rIns="0" bIns="0" rtlCol="0" anchor="t"/>
          <a:lstStyle/>
          <a:p>
            <a:pPr algn="l" indent="0" marL="0">
              <a:buNone/>
            </a:pPr>
            <a:r>
              <a:rPr lang="en-US" sz="3400" b="1" dirty="0">
                <a:solidFill>
                  <a:schemeClr val="tx1"/>
                </a:solidFill>
              </a:rPr>
              <a:t>Smart Learning: deliver and recover learning</a:t>
            </a:r>
            <a:endParaRPr lang="en-US" sz="3400" dirty="0"/>
          </a:p>
        </p:txBody>
      </p:sp>
      <p:sp>
        <p:nvSpPr>
          <p:cNvPr id="4" name="Text 2"/>
          <p:cNvSpPr txBox="1"/>
          <p:nvPr/>
        </p:nvSpPr>
        <p:spPr>
          <a:xfrm>
            <a:off x="640080" y="1737360"/>
            <a:ext cx="10881360" cy="457200"/>
          </a:xfrm>
          <a:prstGeom prst="rect">
            <a:avLst/>
          </a:prstGeom>
          <a:noFill/>
          <a:ln/>
        </p:spPr>
        <p:txBody>
          <a:bodyPr wrap="square" lIns="0" tIns="0" rIns="0" bIns="0" rtlCol="0" anchor="t"/>
          <a:lstStyle/>
          <a:p>
            <a:pPr indent="0" marL="0">
              <a:buNone/>
            </a:pPr>
            <a:r>
              <a:rPr lang="en-US" sz="2000" b="1" i="1" dirty="0">
                <a:solidFill>
                  <a:schemeClr val="accent2"/>
                </a:solidFill>
              </a:rPr>
              <a:t>Assessment tells us what happened. Learning tells us what we do next.</a:t>
            </a:r>
            <a:endParaRPr lang="en-US" sz="2000" dirty="0"/>
          </a:p>
        </p:txBody>
      </p:sp>
      <p:sp>
        <p:nvSpPr>
          <p:cNvPr id="5" name="5E circle"/>
          <p:cNvSpPr/>
          <p:nvPr/>
        </p:nvSpPr>
        <p:spPr>
          <a:xfrm>
            <a:off x="731520" y="2423160"/>
            <a:ext cx="640080" cy="640080"/>
          </a:xfrm>
          <a:prstGeom prst="ellipse">
            <a:avLst/>
          </a:prstGeom>
          <a:solidFill>
            <a:srgbClr val="1F8A84"/>
          </a:solidFill>
          <a:ln w="12700">
            <a:solidFill>
              <a:srgbClr val="1F8A84"/>
            </a:solidFill>
            <a:prstDash val="solid"/>
          </a:ln>
        </p:spPr>
      </p:sp>
      <p:sp>
        <p:nvSpPr>
          <p:cNvPr id="6" name="Text 4"/>
          <p:cNvSpPr txBox="1"/>
          <p:nvPr/>
        </p:nvSpPr>
        <p:spPr>
          <a:xfrm>
            <a:off x="731520" y="24231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link"/>
          <p:cNvSpPr/>
          <p:nvPr/>
        </p:nvSpPr>
        <p:spPr>
          <a:xfrm>
            <a:off x="1463040" y="2743200"/>
            <a:ext cx="1307592" cy="0"/>
          </a:xfrm>
          <a:prstGeom prst="line">
            <a:avLst/>
          </a:prstGeom>
          <a:noFill/>
          <a:ln w="25400">
            <a:solidFill>
              <a:srgbClr val="1F8A84"/>
            </a:solidFill>
            <a:prstDash val="dash"/>
          </a:ln>
        </p:spPr>
      </p:sp>
      <p:sp>
        <p:nvSpPr>
          <p:cNvPr id="8" name="Text 6"/>
          <p:cNvSpPr txBox="1"/>
          <p:nvPr/>
        </p:nvSpPr>
        <p:spPr>
          <a:xfrm>
            <a:off x="640080" y="3200400"/>
            <a:ext cx="2011680" cy="320040"/>
          </a:xfrm>
          <a:prstGeom prst="rect">
            <a:avLst/>
          </a:prstGeom>
          <a:noFill/>
          <a:ln/>
        </p:spPr>
        <p:txBody>
          <a:bodyPr wrap="square" lIns="0" tIns="0" rIns="0" bIns="0" rtlCol="0" anchor="t"/>
          <a:lstStyle/>
          <a:p>
            <a:pPr indent="0" marL="0">
              <a:buNone/>
            </a:pPr>
            <a:r>
              <a:rPr lang="en-US" sz="1800" b="1" dirty="0">
                <a:solidFill>
                  <a:schemeClr val="tx1"/>
                </a:solidFill>
              </a:rPr>
              <a:t>Engage</a:t>
            </a:r>
            <a:endParaRPr lang="en-US" sz="1800" dirty="0"/>
          </a:p>
        </p:txBody>
      </p:sp>
      <p:sp>
        <p:nvSpPr>
          <p:cNvPr id="9" name="Text 7"/>
          <p:cNvSpPr txBox="1"/>
          <p:nvPr/>
        </p:nvSpPr>
        <p:spPr>
          <a:xfrm>
            <a:off x="640080" y="3547872"/>
            <a:ext cx="2011680" cy="320040"/>
          </a:xfrm>
          <a:prstGeom prst="rect">
            <a:avLst/>
          </a:prstGeom>
          <a:noFill/>
          <a:ln/>
        </p:spPr>
        <p:txBody>
          <a:bodyPr wrap="square" lIns="0" tIns="0" rIns="0" bIns="0" rtlCol="0" anchor="t"/>
          <a:lstStyle/>
          <a:p>
            <a:pPr indent="0" marL="0">
              <a:buNone/>
            </a:pPr>
            <a:r>
              <a:rPr lang="en-US" sz="1400" dirty="0">
                <a:solidFill>
                  <a:schemeClr val="accent5"/>
                </a:solidFill>
              </a:rPr>
              <a:t>Spark interest</a:t>
            </a:r>
            <a:endParaRPr lang="en-US" sz="1400" dirty="0"/>
          </a:p>
        </p:txBody>
      </p:sp>
      <p:sp>
        <p:nvSpPr>
          <p:cNvPr id="10" name="5E circle"/>
          <p:cNvSpPr/>
          <p:nvPr/>
        </p:nvSpPr>
        <p:spPr>
          <a:xfrm>
            <a:off x="2953512" y="2423160"/>
            <a:ext cx="640080" cy="640080"/>
          </a:xfrm>
          <a:prstGeom prst="ellipse">
            <a:avLst/>
          </a:prstGeom>
          <a:solidFill>
            <a:srgbClr val="1F8A84"/>
          </a:solidFill>
          <a:ln w="12700">
            <a:solidFill>
              <a:srgbClr val="1F8A84"/>
            </a:solidFill>
            <a:prstDash val="solid"/>
          </a:ln>
        </p:spPr>
      </p:sp>
      <p:sp>
        <p:nvSpPr>
          <p:cNvPr id="11" name="Text 9"/>
          <p:cNvSpPr txBox="1"/>
          <p:nvPr/>
        </p:nvSpPr>
        <p:spPr>
          <a:xfrm>
            <a:off x="2953512" y="24231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link"/>
          <p:cNvSpPr/>
          <p:nvPr/>
        </p:nvSpPr>
        <p:spPr>
          <a:xfrm>
            <a:off x="3685032" y="2743200"/>
            <a:ext cx="1307592" cy="0"/>
          </a:xfrm>
          <a:prstGeom prst="line">
            <a:avLst/>
          </a:prstGeom>
          <a:noFill/>
          <a:ln w="25400">
            <a:solidFill>
              <a:srgbClr val="1F8A84"/>
            </a:solidFill>
            <a:prstDash val="dash"/>
          </a:ln>
        </p:spPr>
      </p:sp>
      <p:sp>
        <p:nvSpPr>
          <p:cNvPr id="13" name="Text 11"/>
          <p:cNvSpPr txBox="1"/>
          <p:nvPr/>
        </p:nvSpPr>
        <p:spPr>
          <a:xfrm>
            <a:off x="2862072" y="3200400"/>
            <a:ext cx="2011680" cy="320040"/>
          </a:xfrm>
          <a:prstGeom prst="rect">
            <a:avLst/>
          </a:prstGeom>
          <a:noFill/>
          <a:ln/>
        </p:spPr>
        <p:txBody>
          <a:bodyPr wrap="square" lIns="0" tIns="0" rIns="0" bIns="0" rtlCol="0" anchor="t"/>
          <a:lstStyle/>
          <a:p>
            <a:pPr indent="0" marL="0">
              <a:buNone/>
            </a:pPr>
            <a:r>
              <a:rPr lang="en-US" sz="1800" b="1" dirty="0">
                <a:solidFill>
                  <a:schemeClr val="tx1"/>
                </a:solidFill>
              </a:rPr>
              <a:t>Explore</a:t>
            </a:r>
            <a:endParaRPr lang="en-US" sz="1800" dirty="0"/>
          </a:p>
        </p:txBody>
      </p:sp>
      <p:sp>
        <p:nvSpPr>
          <p:cNvPr id="14" name="Text 12"/>
          <p:cNvSpPr txBox="1"/>
          <p:nvPr/>
        </p:nvSpPr>
        <p:spPr>
          <a:xfrm>
            <a:off x="2862072" y="3547872"/>
            <a:ext cx="2011680" cy="320040"/>
          </a:xfrm>
          <a:prstGeom prst="rect">
            <a:avLst/>
          </a:prstGeom>
          <a:noFill/>
          <a:ln/>
        </p:spPr>
        <p:txBody>
          <a:bodyPr wrap="square" lIns="0" tIns="0" rIns="0" bIns="0" rtlCol="0" anchor="t"/>
          <a:lstStyle/>
          <a:p>
            <a:pPr indent="0" marL="0">
              <a:buNone/>
            </a:pPr>
            <a:r>
              <a:rPr lang="en-US" sz="1400" dirty="0">
                <a:solidFill>
                  <a:schemeClr val="accent5"/>
                </a:solidFill>
              </a:rPr>
              <a:t>Investigate together</a:t>
            </a:r>
            <a:endParaRPr lang="en-US" sz="1400" dirty="0"/>
          </a:p>
        </p:txBody>
      </p:sp>
      <p:sp>
        <p:nvSpPr>
          <p:cNvPr id="15" name="5E circle"/>
          <p:cNvSpPr/>
          <p:nvPr/>
        </p:nvSpPr>
        <p:spPr>
          <a:xfrm>
            <a:off x="5175504" y="2423160"/>
            <a:ext cx="640080" cy="640080"/>
          </a:xfrm>
          <a:prstGeom prst="ellipse">
            <a:avLst/>
          </a:prstGeom>
          <a:solidFill>
            <a:srgbClr val="1F8A84"/>
          </a:solidFill>
          <a:ln w="12700">
            <a:solidFill>
              <a:srgbClr val="1F8A84"/>
            </a:solidFill>
            <a:prstDash val="solid"/>
          </a:ln>
        </p:spPr>
      </p:sp>
      <p:sp>
        <p:nvSpPr>
          <p:cNvPr id="16" name="Text 14"/>
          <p:cNvSpPr txBox="1"/>
          <p:nvPr/>
        </p:nvSpPr>
        <p:spPr>
          <a:xfrm>
            <a:off x="5175504" y="24231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7" name="link"/>
          <p:cNvSpPr/>
          <p:nvPr/>
        </p:nvSpPr>
        <p:spPr>
          <a:xfrm>
            <a:off x="5907024" y="2743200"/>
            <a:ext cx="1307592" cy="0"/>
          </a:xfrm>
          <a:prstGeom prst="line">
            <a:avLst/>
          </a:prstGeom>
          <a:noFill/>
          <a:ln w="25400">
            <a:solidFill>
              <a:srgbClr val="1F8A84"/>
            </a:solidFill>
            <a:prstDash val="dash"/>
          </a:ln>
        </p:spPr>
      </p:sp>
      <p:sp>
        <p:nvSpPr>
          <p:cNvPr id="18" name="Text 16"/>
          <p:cNvSpPr txBox="1"/>
          <p:nvPr/>
        </p:nvSpPr>
        <p:spPr>
          <a:xfrm>
            <a:off x="5084064" y="3200400"/>
            <a:ext cx="2011680" cy="320040"/>
          </a:xfrm>
          <a:prstGeom prst="rect">
            <a:avLst/>
          </a:prstGeom>
          <a:noFill/>
          <a:ln/>
        </p:spPr>
        <p:txBody>
          <a:bodyPr wrap="square" lIns="0" tIns="0" rIns="0" bIns="0" rtlCol="0" anchor="t"/>
          <a:lstStyle/>
          <a:p>
            <a:pPr indent="0" marL="0">
              <a:buNone/>
            </a:pPr>
            <a:r>
              <a:rPr lang="en-US" sz="1800" b="1" dirty="0">
                <a:solidFill>
                  <a:schemeClr val="tx1"/>
                </a:solidFill>
              </a:rPr>
              <a:t>Explain</a:t>
            </a:r>
            <a:endParaRPr lang="en-US" sz="1800" dirty="0"/>
          </a:p>
        </p:txBody>
      </p:sp>
      <p:sp>
        <p:nvSpPr>
          <p:cNvPr id="19" name="Text 17"/>
          <p:cNvSpPr txBox="1"/>
          <p:nvPr/>
        </p:nvSpPr>
        <p:spPr>
          <a:xfrm>
            <a:off x="5084064" y="3547872"/>
            <a:ext cx="2011680" cy="320040"/>
          </a:xfrm>
          <a:prstGeom prst="rect">
            <a:avLst/>
          </a:prstGeom>
          <a:noFill/>
          <a:ln/>
        </p:spPr>
        <p:txBody>
          <a:bodyPr wrap="square" lIns="0" tIns="0" rIns="0" bIns="0" rtlCol="0" anchor="t"/>
          <a:lstStyle/>
          <a:p>
            <a:pPr indent="0" marL="0">
              <a:buNone/>
            </a:pPr>
            <a:r>
              <a:rPr lang="en-US" sz="1400" dirty="0">
                <a:solidFill>
                  <a:schemeClr val="accent5"/>
                </a:solidFill>
              </a:rPr>
              <a:t>Build understanding</a:t>
            </a:r>
            <a:endParaRPr lang="en-US" sz="1400" dirty="0"/>
          </a:p>
        </p:txBody>
      </p:sp>
      <p:sp>
        <p:nvSpPr>
          <p:cNvPr id="20" name="5E circle"/>
          <p:cNvSpPr/>
          <p:nvPr/>
        </p:nvSpPr>
        <p:spPr>
          <a:xfrm>
            <a:off x="7397496" y="2423160"/>
            <a:ext cx="640080" cy="640080"/>
          </a:xfrm>
          <a:prstGeom prst="ellipse">
            <a:avLst/>
          </a:prstGeom>
          <a:solidFill>
            <a:srgbClr val="1F8A84"/>
          </a:solidFill>
          <a:ln w="12700">
            <a:solidFill>
              <a:srgbClr val="1F8A84"/>
            </a:solidFill>
            <a:prstDash val="solid"/>
          </a:ln>
        </p:spPr>
      </p:sp>
      <p:sp>
        <p:nvSpPr>
          <p:cNvPr id="21" name="Text 19"/>
          <p:cNvSpPr txBox="1"/>
          <p:nvPr/>
        </p:nvSpPr>
        <p:spPr>
          <a:xfrm>
            <a:off x="7397496" y="24231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2" name="link"/>
          <p:cNvSpPr/>
          <p:nvPr/>
        </p:nvSpPr>
        <p:spPr>
          <a:xfrm>
            <a:off x="8129016" y="2743200"/>
            <a:ext cx="1307592" cy="0"/>
          </a:xfrm>
          <a:prstGeom prst="line">
            <a:avLst/>
          </a:prstGeom>
          <a:noFill/>
          <a:ln w="25400">
            <a:solidFill>
              <a:srgbClr val="1F8A84"/>
            </a:solidFill>
            <a:prstDash val="dash"/>
          </a:ln>
        </p:spPr>
      </p:sp>
      <p:sp>
        <p:nvSpPr>
          <p:cNvPr id="23" name="Text 21"/>
          <p:cNvSpPr txBox="1"/>
          <p:nvPr/>
        </p:nvSpPr>
        <p:spPr>
          <a:xfrm>
            <a:off x="7306056" y="3200400"/>
            <a:ext cx="2011680" cy="320040"/>
          </a:xfrm>
          <a:prstGeom prst="rect">
            <a:avLst/>
          </a:prstGeom>
          <a:noFill/>
          <a:ln/>
        </p:spPr>
        <p:txBody>
          <a:bodyPr wrap="square" lIns="0" tIns="0" rIns="0" bIns="0" rtlCol="0" anchor="t"/>
          <a:lstStyle/>
          <a:p>
            <a:pPr indent="0" marL="0">
              <a:buNone/>
            </a:pPr>
            <a:r>
              <a:rPr lang="en-US" sz="1800" b="1" dirty="0">
                <a:solidFill>
                  <a:schemeClr val="tx1"/>
                </a:solidFill>
              </a:rPr>
              <a:t>Elaborate</a:t>
            </a:r>
            <a:endParaRPr lang="en-US" sz="1800" dirty="0"/>
          </a:p>
        </p:txBody>
      </p:sp>
      <p:sp>
        <p:nvSpPr>
          <p:cNvPr id="24" name="Text 22"/>
          <p:cNvSpPr txBox="1"/>
          <p:nvPr/>
        </p:nvSpPr>
        <p:spPr>
          <a:xfrm>
            <a:off x="7306056" y="3547872"/>
            <a:ext cx="2011680" cy="320040"/>
          </a:xfrm>
          <a:prstGeom prst="rect">
            <a:avLst/>
          </a:prstGeom>
          <a:noFill/>
          <a:ln/>
        </p:spPr>
        <p:txBody>
          <a:bodyPr wrap="square" lIns="0" tIns="0" rIns="0" bIns="0" rtlCol="0" anchor="t"/>
          <a:lstStyle/>
          <a:p>
            <a:pPr indent="0" marL="0">
              <a:buNone/>
            </a:pPr>
            <a:r>
              <a:rPr lang="en-US" sz="1400" dirty="0">
                <a:solidFill>
                  <a:schemeClr val="accent5"/>
                </a:solidFill>
              </a:rPr>
              <a:t>Go deeper</a:t>
            </a:r>
            <a:endParaRPr lang="en-US" sz="1400" dirty="0"/>
          </a:p>
        </p:txBody>
      </p:sp>
      <p:sp>
        <p:nvSpPr>
          <p:cNvPr id="25" name="5E circle"/>
          <p:cNvSpPr/>
          <p:nvPr/>
        </p:nvSpPr>
        <p:spPr>
          <a:xfrm>
            <a:off x="9619488" y="2423160"/>
            <a:ext cx="640080" cy="640080"/>
          </a:xfrm>
          <a:prstGeom prst="ellipse">
            <a:avLst/>
          </a:prstGeom>
          <a:solidFill>
            <a:srgbClr val="1F8A84"/>
          </a:solidFill>
          <a:ln w="12700">
            <a:solidFill>
              <a:srgbClr val="1F8A84"/>
            </a:solidFill>
            <a:prstDash val="solid"/>
          </a:ln>
        </p:spPr>
      </p:sp>
      <p:sp>
        <p:nvSpPr>
          <p:cNvPr id="26" name="Text 24"/>
          <p:cNvSpPr txBox="1"/>
          <p:nvPr/>
        </p:nvSpPr>
        <p:spPr>
          <a:xfrm>
            <a:off x="9619488" y="242316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7" name="Text 25"/>
          <p:cNvSpPr txBox="1"/>
          <p:nvPr/>
        </p:nvSpPr>
        <p:spPr>
          <a:xfrm>
            <a:off x="9528048" y="3200400"/>
            <a:ext cx="2011680" cy="320040"/>
          </a:xfrm>
          <a:prstGeom prst="rect">
            <a:avLst/>
          </a:prstGeom>
          <a:noFill/>
          <a:ln/>
        </p:spPr>
        <p:txBody>
          <a:bodyPr wrap="square" lIns="0" tIns="0" rIns="0" bIns="0" rtlCol="0" anchor="t"/>
          <a:lstStyle/>
          <a:p>
            <a:pPr indent="0" marL="0">
              <a:buNone/>
            </a:pPr>
            <a:r>
              <a:rPr lang="en-US" sz="1800" b="1" dirty="0">
                <a:solidFill>
                  <a:schemeClr val="tx1"/>
                </a:solidFill>
              </a:rPr>
              <a:t>Evaluate</a:t>
            </a:r>
            <a:endParaRPr lang="en-US" sz="1800" dirty="0"/>
          </a:p>
        </p:txBody>
      </p:sp>
      <p:sp>
        <p:nvSpPr>
          <p:cNvPr id="28" name="Text 26"/>
          <p:cNvSpPr txBox="1"/>
          <p:nvPr/>
        </p:nvSpPr>
        <p:spPr>
          <a:xfrm>
            <a:off x="9528048" y="3547872"/>
            <a:ext cx="2011680" cy="320040"/>
          </a:xfrm>
          <a:prstGeom prst="rect">
            <a:avLst/>
          </a:prstGeom>
          <a:noFill/>
          <a:ln/>
        </p:spPr>
        <p:txBody>
          <a:bodyPr wrap="square" lIns="0" tIns="0" rIns="0" bIns="0" rtlCol="0" anchor="t"/>
          <a:lstStyle/>
          <a:p>
            <a:pPr indent="0" marL="0">
              <a:buNone/>
            </a:pPr>
            <a:r>
              <a:rPr lang="en-US" sz="1400" dirty="0">
                <a:solidFill>
                  <a:schemeClr val="accent5"/>
                </a:solidFill>
              </a:rPr>
              <a:t>Check what was learned</a:t>
            </a:r>
            <a:endParaRPr lang="en-US" sz="1400" dirty="0"/>
          </a:p>
        </p:txBody>
      </p:sp>
      <p:sp>
        <p:nvSpPr>
          <p:cNvPr id="29" name="card"/>
          <p:cNvSpPr/>
          <p:nvPr/>
        </p:nvSpPr>
        <p:spPr>
          <a:xfrm>
            <a:off x="640080" y="4206240"/>
            <a:ext cx="1737360" cy="1874520"/>
          </a:xfrm>
          <a:prstGeom prst="roundRect">
            <a:avLst>
              <a:gd name="adj" fmla="val 6316"/>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30" name="icon circle"/>
          <p:cNvSpPr/>
          <p:nvPr/>
        </p:nvSpPr>
        <p:spPr>
          <a:xfrm>
            <a:off x="822960" y="4434840"/>
            <a:ext cx="548640" cy="548640"/>
          </a:xfrm>
          <a:prstGeom prst="ellipse">
            <a:avLst/>
          </a:prstGeom>
          <a:solidFill>
            <a:srgbClr val="1F8A84"/>
          </a:solidFill>
          <a:ln w="12700">
            <a:solidFill>
              <a:srgbClr val="1F8A84"/>
            </a:solidFill>
            <a:prstDash val="solid"/>
          </a:ln>
        </p:spPr>
      </p:sp>
      <p:pic>
        <p:nvPicPr>
          <p:cNvPr id="31" name="icon" descr="preencoded.png">    </p:cNvPr>
          <p:cNvPicPr>
            <a:picLocks noChangeAspect="1"/>
          </p:cNvPicPr>
          <p:nvPr/>
        </p:nvPicPr>
        <p:blipFill>
          <a:blip r:embed="rId1"/>
          <a:stretch>
            <a:fillRect/>
          </a:stretch>
        </p:blipFill>
        <p:spPr>
          <a:xfrm>
            <a:off x="943661" y="4555541"/>
            <a:ext cx="307238" cy="307238"/>
          </a:xfrm>
          <a:prstGeom prst="rect">
            <a:avLst/>
          </a:prstGeom>
        </p:spPr>
      </p:pic>
      <p:sp>
        <p:nvSpPr>
          <p:cNvPr id="32" name="Text 29"/>
          <p:cNvSpPr txBox="1"/>
          <p:nvPr/>
        </p:nvSpPr>
        <p:spPr>
          <a:xfrm>
            <a:off x="822960" y="5138928"/>
            <a:ext cx="1417320" cy="868680"/>
          </a:xfrm>
          <a:prstGeom prst="rect">
            <a:avLst/>
          </a:prstGeom>
          <a:noFill/>
          <a:ln/>
        </p:spPr>
        <p:txBody>
          <a:bodyPr wrap="square" lIns="0" tIns="0" rIns="0" bIns="0" rtlCol="0" anchor="t"/>
          <a:lstStyle/>
          <a:p>
            <a:pPr indent="0" marL="0">
              <a:buNone/>
            </a:pPr>
            <a:r>
              <a:rPr lang="en-US" sz="1300" b="1" dirty="0">
                <a:solidFill>
                  <a:schemeClr val="tx1"/>
                </a:solidFill>
              </a:rPr>
              <a:t>Check-your-understanding questions</a:t>
            </a:r>
            <a:endParaRPr lang="en-US" sz="1300" dirty="0"/>
          </a:p>
        </p:txBody>
      </p:sp>
      <p:sp>
        <p:nvSpPr>
          <p:cNvPr id="33" name="card"/>
          <p:cNvSpPr/>
          <p:nvPr/>
        </p:nvSpPr>
        <p:spPr>
          <a:xfrm>
            <a:off x="2492654" y="4206240"/>
            <a:ext cx="1737360" cy="1874520"/>
          </a:xfrm>
          <a:prstGeom prst="roundRect">
            <a:avLst>
              <a:gd name="adj" fmla="val 6316"/>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34" name="icon circle"/>
          <p:cNvSpPr/>
          <p:nvPr/>
        </p:nvSpPr>
        <p:spPr>
          <a:xfrm>
            <a:off x="2675534" y="4434840"/>
            <a:ext cx="548640" cy="548640"/>
          </a:xfrm>
          <a:prstGeom prst="ellipse">
            <a:avLst/>
          </a:prstGeom>
          <a:solidFill>
            <a:srgbClr val="1F8A84"/>
          </a:solidFill>
          <a:ln w="12700">
            <a:solidFill>
              <a:srgbClr val="1F8A84"/>
            </a:solidFill>
            <a:prstDash val="solid"/>
          </a:ln>
        </p:spPr>
      </p:sp>
      <p:pic>
        <p:nvPicPr>
          <p:cNvPr id="35" name="icon" descr="preencoded.png">    </p:cNvPr>
          <p:cNvPicPr>
            <a:picLocks noChangeAspect="1"/>
          </p:cNvPicPr>
          <p:nvPr/>
        </p:nvPicPr>
        <p:blipFill>
          <a:blip r:embed="rId2"/>
          <a:stretch>
            <a:fillRect/>
          </a:stretch>
        </p:blipFill>
        <p:spPr>
          <a:xfrm>
            <a:off x="2796235" y="4555541"/>
            <a:ext cx="307238" cy="307238"/>
          </a:xfrm>
          <a:prstGeom prst="rect">
            <a:avLst/>
          </a:prstGeom>
        </p:spPr>
      </p:pic>
      <p:sp>
        <p:nvSpPr>
          <p:cNvPr id="36" name="Text 32"/>
          <p:cNvSpPr txBox="1"/>
          <p:nvPr/>
        </p:nvSpPr>
        <p:spPr>
          <a:xfrm>
            <a:off x="2675534" y="5138928"/>
            <a:ext cx="1417320" cy="868680"/>
          </a:xfrm>
          <a:prstGeom prst="rect">
            <a:avLst/>
          </a:prstGeom>
          <a:noFill/>
          <a:ln/>
        </p:spPr>
        <p:txBody>
          <a:bodyPr wrap="square" lIns="0" tIns="0" rIns="0" bIns="0" rtlCol="0" anchor="t"/>
          <a:lstStyle/>
          <a:p>
            <a:pPr indent="0" marL="0">
              <a:buNone/>
            </a:pPr>
            <a:r>
              <a:rPr lang="en-US" sz="1300" b="1" dirty="0">
                <a:solidFill>
                  <a:schemeClr val="tx1"/>
                </a:solidFill>
              </a:rPr>
              <a:t>Student progress through each lesson</a:t>
            </a:r>
            <a:endParaRPr lang="en-US" sz="1300" dirty="0"/>
          </a:p>
        </p:txBody>
      </p:sp>
      <p:sp>
        <p:nvSpPr>
          <p:cNvPr id="37" name="card"/>
          <p:cNvSpPr/>
          <p:nvPr/>
        </p:nvSpPr>
        <p:spPr>
          <a:xfrm>
            <a:off x="4345229" y="4206240"/>
            <a:ext cx="1737360" cy="1874520"/>
          </a:xfrm>
          <a:prstGeom prst="roundRect">
            <a:avLst>
              <a:gd name="adj" fmla="val 6316"/>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38" name="icon circle"/>
          <p:cNvSpPr/>
          <p:nvPr/>
        </p:nvSpPr>
        <p:spPr>
          <a:xfrm>
            <a:off x="4528109" y="4434840"/>
            <a:ext cx="548640" cy="548640"/>
          </a:xfrm>
          <a:prstGeom prst="ellipse">
            <a:avLst/>
          </a:prstGeom>
          <a:solidFill>
            <a:srgbClr val="1F8A84"/>
          </a:solidFill>
          <a:ln w="12700">
            <a:solidFill>
              <a:srgbClr val="1F8A84"/>
            </a:solidFill>
            <a:prstDash val="solid"/>
          </a:ln>
        </p:spPr>
      </p:sp>
      <p:pic>
        <p:nvPicPr>
          <p:cNvPr id="39" name="icon" descr="preencoded.png">    </p:cNvPr>
          <p:cNvPicPr>
            <a:picLocks noChangeAspect="1"/>
          </p:cNvPicPr>
          <p:nvPr/>
        </p:nvPicPr>
        <p:blipFill>
          <a:blip r:embed="rId3"/>
          <a:stretch>
            <a:fillRect/>
          </a:stretch>
        </p:blipFill>
        <p:spPr>
          <a:xfrm>
            <a:off x="4648810" y="4555541"/>
            <a:ext cx="307238" cy="307238"/>
          </a:xfrm>
          <a:prstGeom prst="rect">
            <a:avLst/>
          </a:prstGeom>
        </p:spPr>
      </p:pic>
      <p:sp>
        <p:nvSpPr>
          <p:cNvPr id="40" name="Text 35"/>
          <p:cNvSpPr txBox="1"/>
          <p:nvPr/>
        </p:nvSpPr>
        <p:spPr>
          <a:xfrm>
            <a:off x="4528109" y="5138928"/>
            <a:ext cx="1417320" cy="868680"/>
          </a:xfrm>
          <a:prstGeom prst="rect">
            <a:avLst/>
          </a:prstGeom>
          <a:noFill/>
          <a:ln/>
        </p:spPr>
        <p:txBody>
          <a:bodyPr wrap="square" lIns="0" tIns="0" rIns="0" bIns="0" rtlCol="0" anchor="t"/>
          <a:lstStyle/>
          <a:p>
            <a:pPr indent="0" marL="0">
              <a:buNone/>
            </a:pPr>
            <a:r>
              <a:rPr lang="en-US" sz="1300" b="1" dirty="0">
                <a:solidFill>
                  <a:schemeClr val="tx1"/>
                </a:solidFill>
              </a:rPr>
              <a:t>Topic coverage for teachers and HODs</a:t>
            </a:r>
            <a:endParaRPr lang="en-US" sz="1300" dirty="0"/>
          </a:p>
        </p:txBody>
      </p:sp>
      <p:sp>
        <p:nvSpPr>
          <p:cNvPr id="41" name="card"/>
          <p:cNvSpPr/>
          <p:nvPr/>
        </p:nvSpPr>
        <p:spPr>
          <a:xfrm>
            <a:off x="6197803" y="4206240"/>
            <a:ext cx="1737360" cy="1874520"/>
          </a:xfrm>
          <a:prstGeom prst="roundRect">
            <a:avLst>
              <a:gd name="adj" fmla="val 6316"/>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42" name="icon circle"/>
          <p:cNvSpPr/>
          <p:nvPr/>
        </p:nvSpPr>
        <p:spPr>
          <a:xfrm>
            <a:off x="6380683" y="4434840"/>
            <a:ext cx="548640" cy="548640"/>
          </a:xfrm>
          <a:prstGeom prst="ellipse">
            <a:avLst/>
          </a:prstGeom>
          <a:solidFill>
            <a:srgbClr val="1F8A84"/>
          </a:solidFill>
          <a:ln w="12700">
            <a:solidFill>
              <a:srgbClr val="1F8A84"/>
            </a:solidFill>
            <a:prstDash val="solid"/>
          </a:ln>
        </p:spPr>
      </p:sp>
      <p:pic>
        <p:nvPicPr>
          <p:cNvPr id="43" name="icon" descr="preencoded.png">    </p:cNvPr>
          <p:cNvPicPr>
            <a:picLocks noChangeAspect="1"/>
          </p:cNvPicPr>
          <p:nvPr/>
        </p:nvPicPr>
        <p:blipFill>
          <a:blip r:embed="rId4"/>
          <a:stretch>
            <a:fillRect/>
          </a:stretch>
        </p:blipFill>
        <p:spPr>
          <a:xfrm>
            <a:off x="6501384" y="4555541"/>
            <a:ext cx="307238" cy="307238"/>
          </a:xfrm>
          <a:prstGeom prst="rect">
            <a:avLst/>
          </a:prstGeom>
        </p:spPr>
      </p:pic>
      <p:sp>
        <p:nvSpPr>
          <p:cNvPr id="44" name="Text 38"/>
          <p:cNvSpPr txBox="1"/>
          <p:nvPr/>
        </p:nvSpPr>
        <p:spPr>
          <a:xfrm>
            <a:off x="6380683" y="5138928"/>
            <a:ext cx="1417320" cy="868680"/>
          </a:xfrm>
          <a:prstGeom prst="rect">
            <a:avLst/>
          </a:prstGeom>
          <a:noFill/>
          <a:ln/>
        </p:spPr>
        <p:txBody>
          <a:bodyPr wrap="square" lIns="0" tIns="0" rIns="0" bIns="0" rtlCol="0" anchor="t"/>
          <a:lstStyle/>
          <a:p>
            <a:pPr indent="0" marL="0">
              <a:buNone/>
            </a:pPr>
            <a:r>
              <a:rPr lang="en-US" sz="1300" b="1" dirty="0">
                <a:solidFill>
                  <a:schemeClr val="tx1"/>
                </a:solidFill>
              </a:rPr>
              <a:t>Catch-up for students who were absent</a:t>
            </a:r>
            <a:endParaRPr lang="en-US" sz="1300" dirty="0"/>
          </a:p>
        </p:txBody>
      </p:sp>
      <p:sp>
        <p:nvSpPr>
          <p:cNvPr id="45" name="card"/>
          <p:cNvSpPr/>
          <p:nvPr/>
        </p:nvSpPr>
        <p:spPr>
          <a:xfrm>
            <a:off x="8050378" y="4206240"/>
            <a:ext cx="1737360" cy="1874520"/>
          </a:xfrm>
          <a:prstGeom prst="roundRect">
            <a:avLst>
              <a:gd name="adj" fmla="val 6316"/>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46" name="icon circle"/>
          <p:cNvSpPr/>
          <p:nvPr/>
        </p:nvSpPr>
        <p:spPr>
          <a:xfrm>
            <a:off x="8233258" y="4434840"/>
            <a:ext cx="548640" cy="548640"/>
          </a:xfrm>
          <a:prstGeom prst="ellipse">
            <a:avLst/>
          </a:prstGeom>
          <a:solidFill>
            <a:srgbClr val="1F8A84"/>
          </a:solidFill>
          <a:ln w="12700">
            <a:solidFill>
              <a:srgbClr val="1F8A84"/>
            </a:solidFill>
            <a:prstDash val="solid"/>
          </a:ln>
        </p:spPr>
      </p:sp>
      <p:pic>
        <p:nvPicPr>
          <p:cNvPr id="47" name="icon" descr="preencoded.png">    </p:cNvPr>
          <p:cNvPicPr>
            <a:picLocks noChangeAspect="1"/>
          </p:cNvPicPr>
          <p:nvPr/>
        </p:nvPicPr>
        <p:blipFill>
          <a:blip r:embed="rId5"/>
          <a:stretch>
            <a:fillRect/>
          </a:stretch>
        </p:blipFill>
        <p:spPr>
          <a:xfrm>
            <a:off x="8353958" y="4555541"/>
            <a:ext cx="307238" cy="307238"/>
          </a:xfrm>
          <a:prstGeom prst="rect">
            <a:avLst/>
          </a:prstGeom>
        </p:spPr>
      </p:pic>
      <p:sp>
        <p:nvSpPr>
          <p:cNvPr id="48" name="Text 41"/>
          <p:cNvSpPr txBox="1"/>
          <p:nvPr/>
        </p:nvSpPr>
        <p:spPr>
          <a:xfrm>
            <a:off x="8233258" y="5138928"/>
            <a:ext cx="1417320" cy="868680"/>
          </a:xfrm>
          <a:prstGeom prst="rect">
            <a:avLst/>
          </a:prstGeom>
          <a:noFill/>
          <a:ln/>
        </p:spPr>
        <p:txBody>
          <a:bodyPr wrap="square" lIns="0" tIns="0" rIns="0" bIns="0" rtlCol="0" anchor="t"/>
          <a:lstStyle/>
          <a:p>
            <a:pPr indent="0" marL="0">
              <a:buNone/>
            </a:pPr>
            <a:r>
              <a:rPr lang="en-US" sz="1300" b="1" dirty="0">
                <a:solidFill>
                  <a:schemeClr val="tx1"/>
                </a:solidFill>
              </a:rPr>
              <a:t>A Library to read and listen to</a:t>
            </a:r>
            <a:endParaRPr lang="en-US" sz="1300" dirty="0"/>
          </a:p>
        </p:txBody>
      </p:sp>
      <p:sp>
        <p:nvSpPr>
          <p:cNvPr id="49" name="card"/>
          <p:cNvSpPr/>
          <p:nvPr/>
        </p:nvSpPr>
        <p:spPr>
          <a:xfrm>
            <a:off x="9902952" y="4206240"/>
            <a:ext cx="1737360" cy="1874520"/>
          </a:xfrm>
          <a:prstGeom prst="roundRect">
            <a:avLst>
              <a:gd name="adj" fmla="val 6316"/>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50" name="icon circle"/>
          <p:cNvSpPr/>
          <p:nvPr/>
        </p:nvSpPr>
        <p:spPr>
          <a:xfrm>
            <a:off x="10085832" y="4434840"/>
            <a:ext cx="548640" cy="548640"/>
          </a:xfrm>
          <a:prstGeom prst="ellipse">
            <a:avLst/>
          </a:prstGeom>
          <a:solidFill>
            <a:srgbClr val="1F8A84"/>
          </a:solidFill>
          <a:ln w="12700">
            <a:solidFill>
              <a:srgbClr val="1F8A84"/>
            </a:solidFill>
            <a:prstDash val="solid"/>
          </a:ln>
        </p:spPr>
      </p:sp>
      <p:pic>
        <p:nvPicPr>
          <p:cNvPr id="51" name="icon" descr="preencoded.png">    </p:cNvPr>
          <p:cNvPicPr>
            <a:picLocks noChangeAspect="1"/>
          </p:cNvPicPr>
          <p:nvPr/>
        </p:nvPicPr>
        <p:blipFill>
          <a:blip r:embed="rId6"/>
          <a:stretch>
            <a:fillRect/>
          </a:stretch>
        </p:blipFill>
        <p:spPr>
          <a:xfrm>
            <a:off x="10206533" y="4555541"/>
            <a:ext cx="307238" cy="307238"/>
          </a:xfrm>
          <a:prstGeom prst="rect">
            <a:avLst/>
          </a:prstGeom>
        </p:spPr>
      </p:pic>
      <p:sp>
        <p:nvSpPr>
          <p:cNvPr id="52" name="Text 44"/>
          <p:cNvSpPr txBox="1"/>
          <p:nvPr/>
        </p:nvSpPr>
        <p:spPr>
          <a:xfrm>
            <a:off x="10085832" y="5138928"/>
            <a:ext cx="1417320" cy="868680"/>
          </a:xfrm>
          <a:prstGeom prst="rect">
            <a:avLst/>
          </a:prstGeom>
          <a:noFill/>
          <a:ln/>
        </p:spPr>
        <p:txBody>
          <a:bodyPr wrap="square" lIns="0" tIns="0" rIns="0" bIns="0" rtlCol="0" anchor="t"/>
          <a:lstStyle/>
          <a:p>
            <a:pPr indent="0" marL="0">
              <a:buNone/>
            </a:pPr>
            <a:r>
              <a:rPr lang="en-US" sz="1300" b="1" dirty="0">
                <a:solidFill>
                  <a:schemeClr val="tx1"/>
                </a:solidFill>
              </a:rPr>
              <a:t>Optional AI tutor, with adult oversight</a:t>
            </a:r>
            <a:endParaRPr lang="en-US" sz="13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rgbClr val="EC924A"/>
                </a:solidFill>
              </a:rPr>
              <a:t>PART 1   |   THE STRATEGY</a:t>
            </a:r>
            <a:endParaRPr lang="en-US" sz="1100" dirty="0"/>
          </a:p>
        </p:txBody>
      </p:sp>
      <p:sp>
        <p:nvSpPr>
          <p:cNvPr id="3" name="Text 0"/>
          <p:cNvSpPr/>
          <p:nvPr>
            <p:ph idx="100" type="title" hasCustomPrompt="1"/>
          </p:nvPr>
        </p:nvSpPr>
        <p:spPr>
          <a:xfrm>
            <a:off x="640080" y="548640"/>
            <a:ext cx="10908792" cy="1005840"/>
          </a:xfrm>
          <a:prstGeom prst="rect">
            <a:avLst/>
          </a:prstGeom>
          <a:noFill/>
          <a:ln/>
        </p:spPr>
        <p:txBody>
          <a:bodyPr wrap="square" lIns="0" tIns="0" rIns="0" bIns="0" rtlCol="0" anchor="t"/>
          <a:lstStyle/>
          <a:p>
            <a:pPr algn="l" indent="0" marL="0">
              <a:buNone/>
            </a:pPr>
            <a:r>
              <a:rPr lang="en-US" sz="3400" b="1" dirty="0">
                <a:solidFill>
                  <a:schemeClr val="bg1"/>
                </a:solidFill>
              </a:rPr>
              <a:t>When a student misses three days</a:t>
            </a:r>
            <a:endParaRPr lang="en-US" sz="3400" dirty="0"/>
          </a:p>
        </p:txBody>
      </p:sp>
      <p:pic>
        <p:nvPicPr>
          <p:cNvPr id="4" name="student photo" descr="A student catching up on a lesson at home">    </p:cNvPr>
          <p:cNvPicPr>
            <a:picLocks noChangeAspect="1"/>
          </p:cNvPicPr>
          <p:nvPr/>
        </p:nvPicPr>
        <p:blipFill>
          <a:blip r:embed="rId2"/>
          <a:srcRect l="0" r="0" t="0" b="0"/>
          <a:stretch/>
        </p:blipFill>
        <p:spPr>
          <a:xfrm>
            <a:off x="640080" y="1783080"/>
            <a:ext cx="4572000" cy="4297680"/>
          </a:xfrm>
          <a:prstGeom prst="rect">
            <a:avLst/>
          </a:prstGeom>
        </p:spPr>
      </p:pic>
      <p:sp>
        <p:nvSpPr>
          <p:cNvPr id="5" name="timeline dot"/>
          <p:cNvSpPr/>
          <p:nvPr/>
        </p:nvSpPr>
        <p:spPr>
          <a:xfrm>
            <a:off x="5669280" y="1801368"/>
            <a:ext cx="420624" cy="420624"/>
          </a:xfrm>
          <a:prstGeom prst="ellipse">
            <a:avLst/>
          </a:prstGeom>
          <a:solidFill>
            <a:srgbClr val="3DB5AB"/>
          </a:solidFill>
          <a:ln w="12700">
            <a:solidFill>
              <a:srgbClr val="3DB5AB"/>
            </a:solidFill>
            <a:prstDash val="solid"/>
          </a:ln>
        </p:spPr>
      </p:sp>
      <p:sp>
        <p:nvSpPr>
          <p:cNvPr id="6" name="timeline"/>
          <p:cNvSpPr/>
          <p:nvPr/>
        </p:nvSpPr>
        <p:spPr>
          <a:xfrm>
            <a:off x="5879592" y="2240280"/>
            <a:ext cx="0" cy="621792"/>
          </a:xfrm>
          <a:prstGeom prst="line">
            <a:avLst/>
          </a:prstGeom>
          <a:noFill/>
          <a:ln w="25400">
            <a:solidFill>
              <a:srgbClr val="3A2E22"/>
            </a:solidFill>
            <a:prstDash val="solid"/>
          </a:ln>
        </p:spPr>
      </p:sp>
      <p:sp>
        <p:nvSpPr>
          <p:cNvPr id="7" name="Text 4"/>
          <p:cNvSpPr txBox="1"/>
          <p:nvPr/>
        </p:nvSpPr>
        <p:spPr>
          <a:xfrm>
            <a:off x="6355080" y="1783080"/>
            <a:ext cx="5120640" cy="320040"/>
          </a:xfrm>
          <a:prstGeom prst="rect">
            <a:avLst/>
          </a:prstGeom>
          <a:noFill/>
          <a:ln/>
        </p:spPr>
        <p:txBody>
          <a:bodyPr wrap="square" lIns="0" tIns="0" rIns="0" bIns="0" rtlCol="0" anchor="t"/>
          <a:lstStyle/>
          <a:p>
            <a:pPr indent="0" marL="0">
              <a:buNone/>
            </a:pPr>
            <a:r>
              <a:rPr lang="en-US" sz="1900" b="1" dirty="0">
                <a:solidFill>
                  <a:schemeClr val="bg1"/>
                </a:solidFill>
              </a:rPr>
              <a:t>Mon to Wed</a:t>
            </a:r>
            <a:endParaRPr lang="en-US" sz="1900" dirty="0"/>
          </a:p>
        </p:txBody>
      </p:sp>
      <p:sp>
        <p:nvSpPr>
          <p:cNvPr id="8" name="Text 5"/>
          <p:cNvSpPr txBox="1"/>
          <p:nvPr/>
        </p:nvSpPr>
        <p:spPr>
          <a:xfrm>
            <a:off x="6355080" y="2148840"/>
            <a:ext cx="5120640" cy="548640"/>
          </a:xfrm>
          <a:prstGeom prst="rect">
            <a:avLst/>
          </a:prstGeom>
          <a:noFill/>
          <a:ln/>
        </p:spPr>
        <p:txBody>
          <a:bodyPr wrap="square" lIns="0" tIns="0" rIns="0" bIns="0" rtlCol="0" anchor="t"/>
          <a:lstStyle/>
          <a:p>
            <a:pPr indent="0" marL="0">
              <a:buNone/>
            </a:pPr>
            <a:r>
              <a:rPr lang="en-US" sz="1500" dirty="0">
                <a:solidFill>
                  <a:srgbClr val="BFB09C"/>
                </a:solidFill>
              </a:rPr>
              <a:t>The student is away. The class moves on.</a:t>
            </a:r>
            <a:endParaRPr lang="en-US" sz="1500" dirty="0"/>
          </a:p>
        </p:txBody>
      </p:sp>
      <p:sp>
        <p:nvSpPr>
          <p:cNvPr id="9" name="timeline dot"/>
          <p:cNvSpPr/>
          <p:nvPr/>
        </p:nvSpPr>
        <p:spPr>
          <a:xfrm>
            <a:off x="5669280" y="2880360"/>
            <a:ext cx="420624" cy="420624"/>
          </a:xfrm>
          <a:prstGeom prst="ellipse">
            <a:avLst/>
          </a:prstGeom>
          <a:solidFill>
            <a:srgbClr val="3DB5AB"/>
          </a:solidFill>
          <a:ln w="12700">
            <a:solidFill>
              <a:srgbClr val="3DB5AB"/>
            </a:solidFill>
            <a:prstDash val="solid"/>
          </a:ln>
        </p:spPr>
      </p:sp>
      <p:sp>
        <p:nvSpPr>
          <p:cNvPr id="10" name="timeline"/>
          <p:cNvSpPr/>
          <p:nvPr/>
        </p:nvSpPr>
        <p:spPr>
          <a:xfrm>
            <a:off x="5879592" y="3319272"/>
            <a:ext cx="0" cy="621792"/>
          </a:xfrm>
          <a:prstGeom prst="line">
            <a:avLst/>
          </a:prstGeom>
          <a:noFill/>
          <a:ln w="25400">
            <a:solidFill>
              <a:srgbClr val="3A2E22"/>
            </a:solidFill>
            <a:prstDash val="solid"/>
          </a:ln>
        </p:spPr>
      </p:sp>
      <p:sp>
        <p:nvSpPr>
          <p:cNvPr id="11" name="Text 8"/>
          <p:cNvSpPr txBox="1"/>
          <p:nvPr/>
        </p:nvSpPr>
        <p:spPr>
          <a:xfrm>
            <a:off x="6355080" y="2862072"/>
            <a:ext cx="5120640" cy="320040"/>
          </a:xfrm>
          <a:prstGeom prst="rect">
            <a:avLst/>
          </a:prstGeom>
          <a:noFill/>
          <a:ln/>
        </p:spPr>
        <p:txBody>
          <a:bodyPr wrap="square" lIns="0" tIns="0" rIns="0" bIns="0" rtlCol="0" anchor="t"/>
          <a:lstStyle/>
          <a:p>
            <a:pPr indent="0" marL="0">
              <a:buNone/>
            </a:pPr>
            <a:r>
              <a:rPr lang="en-US" sz="1900" b="1" dirty="0">
                <a:solidFill>
                  <a:schemeClr val="bg1"/>
                </a:solidFill>
              </a:rPr>
              <a:t>The lesson is waiting</a:t>
            </a:r>
            <a:endParaRPr lang="en-US" sz="1900" dirty="0"/>
          </a:p>
        </p:txBody>
      </p:sp>
      <p:sp>
        <p:nvSpPr>
          <p:cNvPr id="12" name="Text 9"/>
          <p:cNvSpPr txBox="1"/>
          <p:nvPr/>
        </p:nvSpPr>
        <p:spPr>
          <a:xfrm>
            <a:off x="6355080" y="3227832"/>
            <a:ext cx="5120640" cy="548640"/>
          </a:xfrm>
          <a:prstGeom prst="rect">
            <a:avLst/>
          </a:prstGeom>
          <a:noFill/>
          <a:ln/>
        </p:spPr>
        <p:txBody>
          <a:bodyPr wrap="square" lIns="0" tIns="0" rIns="0" bIns="0" rtlCol="0" anchor="t"/>
          <a:lstStyle/>
          <a:p>
            <a:pPr indent="0" marL="0">
              <a:buNone/>
            </a:pPr>
            <a:r>
              <a:rPr lang="en-US" sz="1500" dirty="0">
                <a:solidFill>
                  <a:srgbClr val="BFB09C"/>
                </a:solidFill>
              </a:rPr>
              <a:t>The teacher assigned it with the day it was taught.</a:t>
            </a:r>
            <a:endParaRPr lang="en-US" sz="1500" dirty="0"/>
          </a:p>
        </p:txBody>
      </p:sp>
      <p:sp>
        <p:nvSpPr>
          <p:cNvPr id="13" name="timeline dot"/>
          <p:cNvSpPr/>
          <p:nvPr/>
        </p:nvSpPr>
        <p:spPr>
          <a:xfrm>
            <a:off x="5669280" y="3959352"/>
            <a:ext cx="420624" cy="420624"/>
          </a:xfrm>
          <a:prstGeom prst="ellipse">
            <a:avLst/>
          </a:prstGeom>
          <a:solidFill>
            <a:srgbClr val="3DB5AB"/>
          </a:solidFill>
          <a:ln w="12700">
            <a:solidFill>
              <a:srgbClr val="3DB5AB"/>
            </a:solidFill>
            <a:prstDash val="solid"/>
          </a:ln>
        </p:spPr>
      </p:sp>
      <p:sp>
        <p:nvSpPr>
          <p:cNvPr id="14" name="timeline"/>
          <p:cNvSpPr/>
          <p:nvPr/>
        </p:nvSpPr>
        <p:spPr>
          <a:xfrm>
            <a:off x="5879592" y="4398264"/>
            <a:ext cx="0" cy="621792"/>
          </a:xfrm>
          <a:prstGeom prst="line">
            <a:avLst/>
          </a:prstGeom>
          <a:noFill/>
          <a:ln w="25400">
            <a:solidFill>
              <a:srgbClr val="3A2E22"/>
            </a:solidFill>
            <a:prstDash val="solid"/>
          </a:ln>
        </p:spPr>
      </p:sp>
      <p:sp>
        <p:nvSpPr>
          <p:cNvPr id="15" name="Text 12"/>
          <p:cNvSpPr txBox="1"/>
          <p:nvPr/>
        </p:nvSpPr>
        <p:spPr>
          <a:xfrm>
            <a:off x="6355080" y="3941064"/>
            <a:ext cx="5120640" cy="320040"/>
          </a:xfrm>
          <a:prstGeom prst="rect">
            <a:avLst/>
          </a:prstGeom>
          <a:noFill/>
          <a:ln/>
        </p:spPr>
        <p:txBody>
          <a:bodyPr wrap="square" lIns="0" tIns="0" rIns="0" bIns="0" rtlCol="0" anchor="t"/>
          <a:lstStyle/>
          <a:p>
            <a:pPr indent="0" marL="0">
              <a:buNone/>
            </a:pPr>
            <a:r>
              <a:rPr lang="en-US" sz="1900" b="1" dirty="0">
                <a:solidFill>
                  <a:schemeClr val="bg1"/>
                </a:solidFill>
              </a:rPr>
              <a:t>A path back in</a:t>
            </a:r>
            <a:endParaRPr lang="en-US" sz="1900" dirty="0"/>
          </a:p>
        </p:txBody>
      </p:sp>
      <p:sp>
        <p:nvSpPr>
          <p:cNvPr id="16" name="Text 13"/>
          <p:cNvSpPr txBox="1"/>
          <p:nvPr/>
        </p:nvSpPr>
        <p:spPr>
          <a:xfrm>
            <a:off x="6355080" y="4306824"/>
            <a:ext cx="5120640" cy="548640"/>
          </a:xfrm>
          <a:prstGeom prst="rect">
            <a:avLst/>
          </a:prstGeom>
          <a:noFill/>
          <a:ln/>
        </p:spPr>
        <p:txBody>
          <a:bodyPr wrap="square" lIns="0" tIns="0" rIns="0" bIns="0" rtlCol="0" anchor="t"/>
          <a:lstStyle/>
          <a:p>
            <a:pPr indent="0" marL="0">
              <a:buNone/>
            </a:pPr>
            <a:r>
              <a:rPr lang="en-US" sz="1500" dirty="0">
                <a:solidFill>
                  <a:srgbClr val="BFB09C"/>
                </a:solidFill>
              </a:rPr>
              <a:t>Steps, check questions and progress, at their own pace.</a:t>
            </a:r>
            <a:endParaRPr lang="en-US" sz="1500" dirty="0"/>
          </a:p>
        </p:txBody>
      </p:sp>
      <p:sp>
        <p:nvSpPr>
          <p:cNvPr id="17" name="timeline dot"/>
          <p:cNvSpPr/>
          <p:nvPr/>
        </p:nvSpPr>
        <p:spPr>
          <a:xfrm>
            <a:off x="5669280" y="5038344"/>
            <a:ext cx="420624" cy="420624"/>
          </a:xfrm>
          <a:prstGeom prst="ellipse">
            <a:avLst/>
          </a:prstGeom>
          <a:solidFill>
            <a:srgbClr val="3DB5AB"/>
          </a:solidFill>
          <a:ln w="12700">
            <a:solidFill>
              <a:srgbClr val="3DB5AB"/>
            </a:solidFill>
            <a:prstDash val="solid"/>
          </a:ln>
        </p:spPr>
      </p:sp>
      <p:sp>
        <p:nvSpPr>
          <p:cNvPr id="18" name="Text 15"/>
          <p:cNvSpPr txBox="1"/>
          <p:nvPr/>
        </p:nvSpPr>
        <p:spPr>
          <a:xfrm>
            <a:off x="6355080" y="5020056"/>
            <a:ext cx="5120640" cy="320040"/>
          </a:xfrm>
          <a:prstGeom prst="rect">
            <a:avLst/>
          </a:prstGeom>
          <a:noFill/>
          <a:ln/>
        </p:spPr>
        <p:txBody>
          <a:bodyPr wrap="square" lIns="0" tIns="0" rIns="0" bIns="0" rtlCol="0" anchor="t"/>
          <a:lstStyle/>
          <a:p>
            <a:pPr indent="0" marL="0">
              <a:buNone/>
            </a:pPr>
            <a:r>
              <a:rPr lang="en-US" sz="1900" b="1" dirty="0">
                <a:solidFill>
                  <a:schemeClr val="bg1"/>
                </a:solidFill>
              </a:rPr>
              <a:t>The teacher can see it</a:t>
            </a:r>
            <a:endParaRPr lang="en-US" sz="1900" dirty="0"/>
          </a:p>
        </p:txBody>
      </p:sp>
      <p:sp>
        <p:nvSpPr>
          <p:cNvPr id="19" name="Text 16"/>
          <p:cNvSpPr txBox="1"/>
          <p:nvPr/>
        </p:nvSpPr>
        <p:spPr>
          <a:xfrm>
            <a:off x="6355080" y="5385816"/>
            <a:ext cx="5120640" cy="548640"/>
          </a:xfrm>
          <a:prstGeom prst="rect">
            <a:avLst/>
          </a:prstGeom>
          <a:noFill/>
          <a:ln/>
        </p:spPr>
        <p:txBody>
          <a:bodyPr wrap="square" lIns="0" tIns="0" rIns="0" bIns="0" rtlCol="0" anchor="t"/>
          <a:lstStyle/>
          <a:p>
            <a:pPr indent="0" marL="0">
              <a:buNone/>
            </a:pPr>
            <a:r>
              <a:rPr lang="en-US" sz="1500" dirty="0">
                <a:solidFill>
                  <a:srgbClr val="BFB09C"/>
                </a:solidFill>
              </a:rPr>
              <a:t>Who has caught up, and where they got stuck.</a:t>
            </a:r>
            <a:endParaRPr lang="en-US" sz="1500" dirty="0"/>
          </a:p>
        </p:txBody>
      </p:sp>
      <p:sp>
        <p:nvSpPr>
          <p:cNvPr id="20" name="Text 17"/>
          <p:cNvSpPr txBox="1"/>
          <p:nvPr/>
        </p:nvSpPr>
        <p:spPr>
          <a:xfrm>
            <a:off x="5669280" y="5897880"/>
            <a:ext cx="5852160" cy="411480"/>
          </a:xfrm>
          <a:prstGeom prst="rect">
            <a:avLst/>
          </a:prstGeom>
          <a:noFill/>
          <a:ln/>
        </p:spPr>
        <p:txBody>
          <a:bodyPr wrap="square" lIns="0" tIns="0" rIns="0" bIns="0" rtlCol="0" anchor="t">
            <a:normAutofit/>
          </a:bodyPr>
          <a:lstStyle/>
          <a:p>
            <a:pPr indent="0" marL="0">
              <a:buNone/>
            </a:pPr>
            <a:r>
              <a:rPr lang="en-US" sz="1500" b="1" dirty="0">
                <a:solidFill>
                  <a:srgbClr val="3DB5AB"/>
                </a:solidFill>
              </a:rPr>
              <a:t>Designed so that missing class does not mean missing the learning.</a:t>
            </a:r>
            <a:endParaRPr lang="en-US" sz="15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chemeClr val="accent1"/>
                </a:solidFill>
              </a:rPr>
              <a:t>PART 1   |   THE STRATEGY</a:t>
            </a:r>
            <a:endParaRPr lang="en-US" sz="1100" dirty="0"/>
          </a:p>
        </p:txBody>
      </p:sp>
      <p:sp>
        <p:nvSpPr>
          <p:cNvPr id="3" name="Text 0"/>
          <p:cNvSpPr/>
          <p:nvPr>
            <p:ph idx="100" type="title" hasCustomPrompt="1"/>
          </p:nvPr>
        </p:nvSpPr>
        <p:spPr>
          <a:xfrm>
            <a:off x="640080" y="548640"/>
            <a:ext cx="10908792" cy="1005840"/>
          </a:xfrm>
          <a:prstGeom prst="rect">
            <a:avLst/>
          </a:prstGeom>
          <a:noFill/>
          <a:ln/>
        </p:spPr>
        <p:txBody>
          <a:bodyPr wrap="square" lIns="0" tIns="0" rIns="0" bIns="0" rtlCol="0" anchor="t"/>
          <a:lstStyle/>
          <a:p>
            <a:pPr algn="l" indent="0" marL="0">
              <a:buNone/>
            </a:pPr>
            <a:r>
              <a:rPr lang="en-US" sz="3400" b="1" dirty="0">
                <a:solidFill>
                  <a:schemeClr val="tx1"/>
                </a:solidFill>
              </a:rPr>
              <a:t>The Library: read it, listen to it</a:t>
            </a:r>
            <a:endParaRPr lang="en-US" sz="3400" dirty="0"/>
          </a:p>
        </p:txBody>
      </p:sp>
      <p:sp>
        <p:nvSpPr>
          <p:cNvPr id="4" name="Text 2"/>
          <p:cNvSpPr txBox="1"/>
          <p:nvPr/>
        </p:nvSpPr>
        <p:spPr>
          <a:xfrm>
            <a:off x="640080" y="1600200"/>
            <a:ext cx="10881360" cy="411480"/>
          </a:xfrm>
          <a:prstGeom prst="rect">
            <a:avLst/>
          </a:prstGeom>
          <a:noFill/>
          <a:ln/>
        </p:spPr>
        <p:txBody>
          <a:bodyPr wrap="square" lIns="0" tIns="0" rIns="0" bIns="0" rtlCol="0" anchor="t"/>
          <a:lstStyle/>
          <a:p>
            <a:pPr indent="0" marL="0">
              <a:buNone/>
            </a:pPr>
            <a:r>
              <a:rPr lang="en-US" sz="1800" b="1" i="1" dirty="0">
                <a:solidFill>
                  <a:schemeClr val="accent2"/>
                </a:solidFill>
              </a:rPr>
              <a:t>Books for the curriculum and books for the joy of reading, in the same place as the lessons.</a:t>
            </a:r>
            <a:endParaRPr lang="en-US" sz="1800" dirty="0"/>
          </a:p>
        </p:txBody>
      </p:sp>
      <p:sp>
        <p:nvSpPr>
          <p:cNvPr id="5" name="Library shelf screen frame"/>
          <p:cNvSpPr/>
          <p:nvPr/>
        </p:nvSpPr>
        <p:spPr>
          <a:xfrm>
            <a:off x="640080" y="2139696"/>
            <a:ext cx="5596128" cy="3538728"/>
          </a:xfrm>
          <a:prstGeom prst="roundRect">
            <a:avLst>
              <a:gd name="adj" fmla="val 2067"/>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pic>
        <p:nvPicPr>
          <p:cNvPr id="6" name="Library shelf screen" descr="Library shelf screen">    </p:cNvPr>
          <p:cNvPicPr>
            <a:picLocks noChangeAspect="1"/>
          </p:cNvPicPr>
          <p:nvPr/>
        </p:nvPicPr>
        <p:blipFill>
          <a:blip r:embed="rId1"/>
          <a:stretch>
            <a:fillRect/>
          </a:stretch>
        </p:blipFill>
        <p:spPr>
          <a:xfrm>
            <a:off x="694944" y="2194560"/>
            <a:ext cx="5486400" cy="3429000"/>
          </a:xfrm>
          <a:prstGeom prst="rect">
            <a:avLst/>
          </a:prstGeom>
        </p:spPr>
      </p:pic>
      <p:sp>
        <p:nvSpPr>
          <p:cNvPr id="7" name="Reader screen frame"/>
          <p:cNvSpPr/>
          <p:nvPr/>
        </p:nvSpPr>
        <p:spPr>
          <a:xfrm>
            <a:off x="3099816" y="3922776"/>
            <a:ext cx="3493008" cy="2224278"/>
          </a:xfrm>
          <a:prstGeom prst="roundRect">
            <a:avLst>
              <a:gd name="adj" fmla="val 3289"/>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pic>
        <p:nvPicPr>
          <p:cNvPr id="8" name="Reader screen" descr="Reader screen">    </p:cNvPr>
          <p:cNvPicPr>
            <a:picLocks noChangeAspect="1"/>
          </p:cNvPicPr>
          <p:nvPr/>
        </p:nvPicPr>
        <p:blipFill>
          <a:blip r:embed="rId2"/>
          <a:stretch>
            <a:fillRect/>
          </a:stretch>
        </p:blipFill>
        <p:spPr>
          <a:xfrm>
            <a:off x="3154680" y="3977640"/>
            <a:ext cx="3383280" cy="2114550"/>
          </a:xfrm>
          <a:prstGeom prst="rect">
            <a:avLst/>
          </a:prstGeom>
        </p:spPr>
      </p:pic>
      <p:sp>
        <p:nvSpPr>
          <p:cNvPr id="9" name="chip"/>
          <p:cNvSpPr/>
          <p:nvPr/>
        </p:nvSpPr>
        <p:spPr>
          <a:xfrm>
            <a:off x="694944" y="5961888"/>
            <a:ext cx="1920240" cy="256032"/>
          </a:xfrm>
          <a:prstGeom prst="roundRect">
            <a:avLst>
              <a:gd name="adj" fmla="val 50000"/>
            </a:avLst>
          </a:prstGeom>
          <a:solidFill>
            <a:srgbClr val="F6EDE0"/>
          </a:solidFill>
          <a:ln w="12700">
            <a:solidFill>
              <a:srgbClr val="F6EDE0"/>
            </a:solidFill>
            <a:prstDash val="solid"/>
          </a:ln>
        </p:spPr>
      </p:sp>
      <p:sp>
        <p:nvSpPr>
          <p:cNvPr id="10" name="Text 6"/>
          <p:cNvSpPr txBox="1"/>
          <p:nvPr/>
        </p:nvSpPr>
        <p:spPr>
          <a:xfrm>
            <a:off x="694944" y="5961888"/>
            <a:ext cx="1920240" cy="256032"/>
          </a:xfrm>
          <a:prstGeom prst="rect">
            <a:avLst/>
          </a:prstGeom>
          <a:noFill/>
          <a:ln/>
        </p:spPr>
        <p:txBody>
          <a:bodyPr wrap="square" lIns="0" tIns="0" rIns="0" bIns="0" rtlCol="0" anchor="ctr"/>
          <a:lstStyle/>
          <a:p>
            <a:pPr algn="ctr" indent="0" marL="0">
              <a:buNone/>
            </a:pPr>
            <a:r>
              <a:rPr lang="en-US" sz="900" b="1" dirty="0">
                <a:solidFill>
                  <a:schemeClr val="accent5"/>
                </a:solidFill>
              </a:rPr>
              <a:t>ILLUSTRATIVE SCREENS</a:t>
            </a:r>
            <a:endParaRPr lang="en-US" sz="900" dirty="0"/>
          </a:p>
        </p:txBody>
      </p:sp>
      <p:sp>
        <p:nvSpPr>
          <p:cNvPr id="11" name="icon circle"/>
          <p:cNvSpPr/>
          <p:nvPr/>
        </p:nvSpPr>
        <p:spPr>
          <a:xfrm>
            <a:off x="6903720" y="2231136"/>
            <a:ext cx="502920" cy="502920"/>
          </a:xfrm>
          <a:prstGeom prst="ellipse">
            <a:avLst/>
          </a:prstGeom>
          <a:solidFill>
            <a:srgbClr val="1F8A84"/>
          </a:solidFill>
          <a:ln w="12700">
            <a:solidFill>
              <a:srgbClr val="1F8A84"/>
            </a:solidFill>
            <a:prstDash val="solid"/>
          </a:ln>
        </p:spPr>
      </p:sp>
      <p:pic>
        <p:nvPicPr>
          <p:cNvPr id="12" name="icon" descr="preencoded.png">    </p:cNvPr>
          <p:cNvPicPr>
            <a:picLocks noChangeAspect="1"/>
          </p:cNvPicPr>
          <p:nvPr/>
        </p:nvPicPr>
        <p:blipFill>
          <a:blip r:embed="rId3"/>
          <a:stretch>
            <a:fillRect/>
          </a:stretch>
        </p:blipFill>
        <p:spPr>
          <a:xfrm>
            <a:off x="7014362" y="2341778"/>
            <a:ext cx="281635" cy="281635"/>
          </a:xfrm>
          <a:prstGeom prst="rect">
            <a:avLst/>
          </a:prstGeom>
        </p:spPr>
      </p:pic>
      <p:sp>
        <p:nvSpPr>
          <p:cNvPr id="13" name="Text 8"/>
          <p:cNvSpPr txBox="1"/>
          <p:nvPr/>
        </p:nvSpPr>
        <p:spPr>
          <a:xfrm>
            <a:off x="7589520" y="2194560"/>
            <a:ext cx="3931920" cy="274320"/>
          </a:xfrm>
          <a:prstGeom prst="rect">
            <a:avLst/>
          </a:prstGeom>
          <a:noFill/>
          <a:ln/>
        </p:spPr>
        <p:txBody>
          <a:bodyPr wrap="square" lIns="0" tIns="0" rIns="0" bIns="0" rtlCol="0" anchor="t"/>
          <a:lstStyle/>
          <a:p>
            <a:pPr indent="0" marL="0">
              <a:buNone/>
            </a:pPr>
            <a:r>
              <a:rPr lang="en-US" sz="1600" b="1" dirty="0">
                <a:solidFill>
                  <a:schemeClr val="tx1"/>
                </a:solidFill>
              </a:rPr>
              <a:t>Read or listen</a:t>
            </a:r>
            <a:endParaRPr lang="en-US" sz="1600" dirty="0"/>
          </a:p>
        </p:txBody>
      </p:sp>
      <p:sp>
        <p:nvSpPr>
          <p:cNvPr id="14" name="Text 9"/>
          <p:cNvSpPr txBox="1"/>
          <p:nvPr/>
        </p:nvSpPr>
        <p:spPr>
          <a:xfrm>
            <a:off x="7589520" y="2487168"/>
            <a:ext cx="3931920" cy="566928"/>
          </a:xfrm>
          <a:prstGeom prst="rect">
            <a:avLst/>
          </a:prstGeom>
          <a:noFill/>
          <a:ln/>
        </p:spPr>
        <p:txBody>
          <a:bodyPr wrap="square" lIns="0" tIns="0" rIns="0" bIns="0" rtlCol="0" anchor="t"/>
          <a:lstStyle/>
          <a:p>
            <a:pPr indent="0" marL="0">
              <a:buNone/>
            </a:pPr>
            <a:r>
              <a:rPr lang="en-US" sz="1250" dirty="0">
                <a:solidFill>
                  <a:schemeClr val="accent5"/>
                </a:solidFill>
              </a:rPr>
              <a:t>Page-by-page reading with bookmarks and notes, and audio that remembers where you stopped.</a:t>
            </a:r>
            <a:endParaRPr lang="en-US" sz="1250" dirty="0"/>
          </a:p>
        </p:txBody>
      </p:sp>
      <p:sp>
        <p:nvSpPr>
          <p:cNvPr id="15" name="icon circle"/>
          <p:cNvSpPr/>
          <p:nvPr/>
        </p:nvSpPr>
        <p:spPr>
          <a:xfrm>
            <a:off x="6903720" y="3163824"/>
            <a:ext cx="502920" cy="502920"/>
          </a:xfrm>
          <a:prstGeom prst="ellipse">
            <a:avLst/>
          </a:prstGeom>
          <a:solidFill>
            <a:srgbClr val="1F8A84"/>
          </a:solidFill>
          <a:ln w="12700">
            <a:solidFill>
              <a:srgbClr val="1F8A84"/>
            </a:solidFill>
            <a:prstDash val="solid"/>
          </a:ln>
        </p:spPr>
      </p:sp>
      <p:pic>
        <p:nvPicPr>
          <p:cNvPr id="16" name="icon" descr="preencoded.png">    </p:cNvPr>
          <p:cNvPicPr>
            <a:picLocks noChangeAspect="1"/>
          </p:cNvPicPr>
          <p:nvPr/>
        </p:nvPicPr>
        <p:blipFill>
          <a:blip r:embed="rId4"/>
          <a:stretch>
            <a:fillRect/>
          </a:stretch>
        </p:blipFill>
        <p:spPr>
          <a:xfrm>
            <a:off x="7014362" y="3274466"/>
            <a:ext cx="281635" cy="281635"/>
          </a:xfrm>
          <a:prstGeom prst="rect">
            <a:avLst/>
          </a:prstGeom>
        </p:spPr>
      </p:pic>
      <p:sp>
        <p:nvSpPr>
          <p:cNvPr id="17" name="Text 11"/>
          <p:cNvSpPr txBox="1"/>
          <p:nvPr/>
        </p:nvSpPr>
        <p:spPr>
          <a:xfrm>
            <a:off x="7589520" y="3127248"/>
            <a:ext cx="3931920" cy="274320"/>
          </a:xfrm>
          <a:prstGeom prst="rect">
            <a:avLst/>
          </a:prstGeom>
          <a:noFill/>
          <a:ln/>
        </p:spPr>
        <p:txBody>
          <a:bodyPr wrap="square" lIns="0" tIns="0" rIns="0" bIns="0" rtlCol="0" anchor="t"/>
          <a:lstStyle/>
          <a:p>
            <a:pPr indent="0" marL="0">
              <a:buNone/>
            </a:pPr>
            <a:r>
              <a:rPr lang="en-US" sz="1600" b="1" dirty="0">
                <a:solidFill>
                  <a:schemeClr val="tx1"/>
                </a:solidFill>
              </a:rPr>
              <a:t>Two shelves</a:t>
            </a:r>
            <a:endParaRPr lang="en-US" sz="1600" dirty="0"/>
          </a:p>
        </p:txBody>
      </p:sp>
      <p:sp>
        <p:nvSpPr>
          <p:cNvPr id="18" name="Text 12"/>
          <p:cNvSpPr txBox="1"/>
          <p:nvPr/>
        </p:nvSpPr>
        <p:spPr>
          <a:xfrm>
            <a:off x="7589520" y="3419856"/>
            <a:ext cx="3931920" cy="566928"/>
          </a:xfrm>
          <a:prstGeom prst="rect">
            <a:avLst/>
          </a:prstGeom>
          <a:noFill/>
          <a:ln/>
        </p:spPr>
        <p:txBody>
          <a:bodyPr wrap="square" lIns="0" tIns="0" rIns="0" bIns="0" rtlCol="0" anchor="t"/>
          <a:lstStyle/>
          <a:p>
            <a:pPr indent="0" marL="0">
              <a:buNone/>
            </a:pPr>
            <a:r>
              <a:rPr lang="en-US" sz="1250" dirty="0">
                <a:solidFill>
                  <a:schemeClr val="accent5"/>
                </a:solidFill>
              </a:rPr>
              <a:t>Curriculum titles such as the set Shakespeare plays, and a read-for-fun shelf.</a:t>
            </a:r>
            <a:endParaRPr lang="en-US" sz="1250" dirty="0"/>
          </a:p>
        </p:txBody>
      </p:sp>
      <p:sp>
        <p:nvSpPr>
          <p:cNvPr id="19" name="icon circle"/>
          <p:cNvSpPr/>
          <p:nvPr/>
        </p:nvSpPr>
        <p:spPr>
          <a:xfrm>
            <a:off x="6903720" y="4096512"/>
            <a:ext cx="502920" cy="502920"/>
          </a:xfrm>
          <a:prstGeom prst="ellipse">
            <a:avLst/>
          </a:prstGeom>
          <a:solidFill>
            <a:srgbClr val="1F8A84"/>
          </a:solidFill>
          <a:ln w="12700">
            <a:solidFill>
              <a:srgbClr val="1F8A84"/>
            </a:solidFill>
            <a:prstDash val="solid"/>
          </a:ln>
        </p:spPr>
      </p:sp>
      <p:pic>
        <p:nvPicPr>
          <p:cNvPr id="20" name="icon" descr="preencoded.png">    </p:cNvPr>
          <p:cNvPicPr>
            <a:picLocks noChangeAspect="1"/>
          </p:cNvPicPr>
          <p:nvPr/>
        </p:nvPicPr>
        <p:blipFill>
          <a:blip r:embed="rId5"/>
          <a:stretch>
            <a:fillRect/>
          </a:stretch>
        </p:blipFill>
        <p:spPr>
          <a:xfrm>
            <a:off x="7014362" y="4207154"/>
            <a:ext cx="281635" cy="281635"/>
          </a:xfrm>
          <a:prstGeom prst="rect">
            <a:avLst/>
          </a:prstGeom>
        </p:spPr>
      </p:pic>
      <p:sp>
        <p:nvSpPr>
          <p:cNvPr id="21" name="Text 14"/>
          <p:cNvSpPr txBox="1"/>
          <p:nvPr/>
        </p:nvSpPr>
        <p:spPr>
          <a:xfrm>
            <a:off x="7589520" y="4059936"/>
            <a:ext cx="3931920" cy="274320"/>
          </a:xfrm>
          <a:prstGeom prst="rect">
            <a:avLst/>
          </a:prstGeom>
          <a:noFill/>
          <a:ln/>
        </p:spPr>
        <p:txBody>
          <a:bodyPr wrap="square" lIns="0" tIns="0" rIns="0" bIns="0" rtlCol="0" anchor="t"/>
          <a:lstStyle/>
          <a:p>
            <a:pPr indent="0" marL="0">
              <a:buNone/>
            </a:pPr>
            <a:r>
              <a:rPr lang="en-US" sz="1600" b="1" dirty="0">
                <a:solidFill>
                  <a:schemeClr val="tx1"/>
                </a:solidFill>
              </a:rPr>
              <a:t>Teachers assign reading</a:t>
            </a:r>
            <a:endParaRPr lang="en-US" sz="1600" dirty="0"/>
          </a:p>
        </p:txBody>
      </p:sp>
      <p:sp>
        <p:nvSpPr>
          <p:cNvPr id="22" name="Text 15"/>
          <p:cNvSpPr txBox="1"/>
          <p:nvPr/>
        </p:nvSpPr>
        <p:spPr>
          <a:xfrm>
            <a:off x="7589520" y="4352544"/>
            <a:ext cx="3931920" cy="566928"/>
          </a:xfrm>
          <a:prstGeom prst="rect">
            <a:avLst/>
          </a:prstGeom>
          <a:noFill/>
          <a:ln/>
        </p:spPr>
        <p:txBody>
          <a:bodyPr wrap="square" lIns="0" tIns="0" rIns="0" bIns="0" rtlCol="0" anchor="t"/>
          <a:lstStyle/>
          <a:p>
            <a:pPr indent="0" marL="0">
              <a:buNone/>
            </a:pPr>
            <a:r>
              <a:rPr lang="en-US" sz="1250" dirty="0">
                <a:solidFill>
                  <a:schemeClr val="accent5"/>
                </a:solidFill>
              </a:rPr>
              <a:t>Pick a book, a class and a due date. The teacher sees who has read it.</a:t>
            </a:r>
            <a:endParaRPr lang="en-US" sz="1250" dirty="0"/>
          </a:p>
        </p:txBody>
      </p:sp>
      <p:sp>
        <p:nvSpPr>
          <p:cNvPr id="23" name="icon circle"/>
          <p:cNvSpPr/>
          <p:nvPr/>
        </p:nvSpPr>
        <p:spPr>
          <a:xfrm>
            <a:off x="6903720" y="5029200"/>
            <a:ext cx="502920" cy="502920"/>
          </a:xfrm>
          <a:prstGeom prst="ellipse">
            <a:avLst/>
          </a:prstGeom>
          <a:solidFill>
            <a:srgbClr val="1F8A84"/>
          </a:solidFill>
          <a:ln w="12700">
            <a:solidFill>
              <a:srgbClr val="1F8A84"/>
            </a:solidFill>
            <a:prstDash val="solid"/>
          </a:ln>
        </p:spPr>
      </p:sp>
      <p:pic>
        <p:nvPicPr>
          <p:cNvPr id="24" name="icon" descr="preencoded.png">    </p:cNvPr>
          <p:cNvPicPr>
            <a:picLocks noChangeAspect="1"/>
          </p:cNvPicPr>
          <p:nvPr/>
        </p:nvPicPr>
        <p:blipFill>
          <a:blip r:embed="rId6"/>
          <a:stretch>
            <a:fillRect/>
          </a:stretch>
        </p:blipFill>
        <p:spPr>
          <a:xfrm>
            <a:off x="7014362" y="5139842"/>
            <a:ext cx="281635" cy="281635"/>
          </a:xfrm>
          <a:prstGeom prst="rect">
            <a:avLst/>
          </a:prstGeom>
        </p:spPr>
      </p:pic>
      <p:sp>
        <p:nvSpPr>
          <p:cNvPr id="25" name="Text 17"/>
          <p:cNvSpPr txBox="1"/>
          <p:nvPr/>
        </p:nvSpPr>
        <p:spPr>
          <a:xfrm>
            <a:off x="7589520" y="4992624"/>
            <a:ext cx="3931920" cy="274320"/>
          </a:xfrm>
          <a:prstGeom prst="rect">
            <a:avLst/>
          </a:prstGeom>
          <a:noFill/>
          <a:ln/>
        </p:spPr>
        <p:txBody>
          <a:bodyPr wrap="square" lIns="0" tIns="0" rIns="0" bIns="0" rtlCol="0" anchor="t"/>
          <a:lstStyle/>
          <a:p>
            <a:pPr indent="0" marL="0">
              <a:buNone/>
            </a:pPr>
            <a:r>
              <a:rPr lang="en-US" sz="1600" b="1" dirty="0">
                <a:solidFill>
                  <a:schemeClr val="tx1"/>
                </a:solidFill>
              </a:rPr>
              <a:t>The school stays in control</a:t>
            </a:r>
            <a:endParaRPr lang="en-US" sz="1600" dirty="0"/>
          </a:p>
        </p:txBody>
      </p:sp>
      <p:sp>
        <p:nvSpPr>
          <p:cNvPr id="26" name="Text 18"/>
          <p:cNvSpPr txBox="1"/>
          <p:nvPr/>
        </p:nvSpPr>
        <p:spPr>
          <a:xfrm>
            <a:off x="7589520" y="5285232"/>
            <a:ext cx="3931920" cy="566928"/>
          </a:xfrm>
          <a:prstGeom prst="rect">
            <a:avLst/>
          </a:prstGeom>
          <a:noFill/>
          <a:ln/>
        </p:spPr>
        <p:txBody>
          <a:bodyPr wrap="square" lIns="0" tIns="0" rIns="0" bIns="0" rtlCol="0" anchor="t"/>
          <a:lstStyle/>
          <a:p>
            <a:pPr indent="0" marL="0">
              <a:buNone/>
            </a:pPr>
            <a:r>
              <a:rPr lang="en-US" sz="1250" dirty="0">
                <a:solidFill>
                  <a:schemeClr val="accent5"/>
                </a:solidFill>
              </a:rPr>
              <a:t>Switch the Library on, choose shelves and forms, hide any title.</a:t>
            </a:r>
            <a:endParaRPr lang="en-US" sz="1250" dirty="0"/>
          </a:p>
        </p:txBody>
      </p:sp>
      <p:sp>
        <p:nvSpPr>
          <p:cNvPr id="27" name="sourcing"/>
          <p:cNvSpPr/>
          <p:nvPr/>
        </p:nvSpPr>
        <p:spPr>
          <a:xfrm>
            <a:off x="6903720" y="5870448"/>
            <a:ext cx="4645152" cy="438912"/>
          </a:xfrm>
          <a:prstGeom prst="roundRect">
            <a:avLst>
              <a:gd name="adj" fmla="val 20833"/>
            </a:avLst>
          </a:prstGeom>
          <a:solidFill>
            <a:srgbClr val="1E1208"/>
          </a:solidFill>
          <a:ln w="12700">
            <a:solidFill>
              <a:srgbClr val="1E1208"/>
            </a:solidFill>
            <a:prstDash val="solid"/>
          </a:ln>
        </p:spPr>
      </p:sp>
      <p:sp>
        <p:nvSpPr>
          <p:cNvPr id="28" name="Text 20"/>
          <p:cNvSpPr txBox="1"/>
          <p:nvPr/>
        </p:nvSpPr>
        <p:spPr>
          <a:xfrm>
            <a:off x="7040880" y="5870448"/>
            <a:ext cx="4389120" cy="438912"/>
          </a:xfrm>
          <a:prstGeom prst="rect">
            <a:avLst/>
          </a:prstGeom>
          <a:noFill/>
          <a:ln/>
        </p:spPr>
        <p:txBody>
          <a:bodyPr wrap="square" lIns="0" tIns="0" rIns="0" bIns="0" rtlCol="0" anchor="ctr">
            <a:normAutofit/>
          </a:bodyPr>
          <a:lstStyle/>
          <a:p>
            <a:pPr indent="0" marL="0">
              <a:buNone/>
            </a:pPr>
            <a:r>
              <a:rPr lang="en-US" sz="1150" b="1" dirty="0">
                <a:solidFill>
                  <a:schemeClr val="bg1"/>
                </a:solidFill>
              </a:rPr>
              <a:t>Every title is chosen and cleared by Smart Assess Ja. Public domain or openly licensed.</a:t>
            </a:r>
            <a:endParaRPr lang="en-US" sz="115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rgbClr val="EC924A"/>
                </a:solidFill>
              </a:rPr>
              <a:t>PART 1   |   THE STRATEGY</a:t>
            </a:r>
            <a:endParaRPr lang="en-US" sz="1100" dirty="0"/>
          </a:p>
        </p:txBody>
      </p:sp>
      <p:sp>
        <p:nvSpPr>
          <p:cNvPr id="3" name="Text 0"/>
          <p:cNvSpPr/>
          <p:nvPr>
            <p:ph idx="100" type="title" hasCustomPrompt="1"/>
          </p:nvPr>
        </p:nvSpPr>
        <p:spPr>
          <a:xfrm>
            <a:off x="640080" y="548640"/>
            <a:ext cx="10908792" cy="1005840"/>
          </a:xfrm>
          <a:prstGeom prst="rect">
            <a:avLst/>
          </a:prstGeom>
          <a:noFill/>
          <a:ln/>
        </p:spPr>
        <p:txBody>
          <a:bodyPr wrap="square" lIns="0" tIns="0" rIns="0" bIns="0" rtlCol="0" anchor="t"/>
          <a:lstStyle/>
          <a:p>
            <a:pPr algn="l" indent="0" marL="0">
              <a:buNone/>
            </a:pPr>
            <a:r>
              <a:rPr lang="en-US" sz="3400" b="1" dirty="0">
                <a:solidFill>
                  <a:schemeClr val="bg1"/>
                </a:solidFill>
              </a:rPr>
              <a:t>Smart Play: engage and reinforce learning</a:t>
            </a:r>
            <a:endParaRPr lang="en-US" sz="3400" dirty="0"/>
          </a:p>
        </p:txBody>
      </p:sp>
      <p:sp>
        <p:nvSpPr>
          <p:cNvPr id="4" name="chip"/>
          <p:cNvSpPr/>
          <p:nvPr/>
        </p:nvSpPr>
        <p:spPr>
          <a:xfrm>
            <a:off x="9692640" y="164592"/>
            <a:ext cx="1828800" cy="347472"/>
          </a:xfrm>
          <a:prstGeom prst="roundRect">
            <a:avLst>
              <a:gd name="adj" fmla="val 50000"/>
            </a:avLst>
          </a:prstGeom>
          <a:solidFill>
            <a:srgbClr val="F2C230"/>
          </a:solidFill>
          <a:ln w="12700">
            <a:solidFill>
              <a:srgbClr val="F2C230"/>
            </a:solidFill>
            <a:prstDash val="solid"/>
          </a:ln>
        </p:spPr>
      </p:sp>
      <p:sp>
        <p:nvSpPr>
          <p:cNvPr id="5" name="Text 3"/>
          <p:cNvSpPr txBox="1"/>
          <p:nvPr/>
        </p:nvSpPr>
        <p:spPr>
          <a:xfrm>
            <a:off x="9692640" y="164592"/>
            <a:ext cx="1828800" cy="347472"/>
          </a:xfrm>
          <a:prstGeom prst="rect">
            <a:avLst/>
          </a:prstGeom>
          <a:noFill/>
          <a:ln/>
        </p:spPr>
        <p:txBody>
          <a:bodyPr wrap="square" lIns="0" tIns="0" rIns="0" bIns="0" rtlCol="0" anchor="ctr"/>
          <a:lstStyle/>
          <a:p>
            <a:pPr algn="ctr" indent="0" marL="0">
              <a:buNone/>
            </a:pPr>
            <a:r>
              <a:rPr lang="en-US" sz="1300" b="1" dirty="0">
                <a:solidFill>
                  <a:srgbClr val="14100C"/>
                </a:solidFill>
              </a:rPr>
              <a:t>Coming soon</a:t>
            </a:r>
            <a:endParaRPr lang="en-US" sz="1300" dirty="0"/>
          </a:p>
        </p:txBody>
      </p:sp>
      <p:sp>
        <p:nvSpPr>
          <p:cNvPr id="6" name="card"/>
          <p:cNvSpPr/>
          <p:nvPr/>
        </p:nvSpPr>
        <p:spPr>
          <a:xfrm>
            <a:off x="640080" y="1783080"/>
            <a:ext cx="3429000" cy="3520440"/>
          </a:xfrm>
          <a:prstGeom prst="roundRect">
            <a:avLst>
              <a:gd name="adj" fmla="val 3200"/>
            </a:avLst>
          </a:prstGeom>
          <a:solidFill>
            <a:srgbClr val="1E1710"/>
          </a:solidFill>
          <a:ln w="12700">
            <a:solidFill>
              <a:srgbClr val="3A2E22"/>
            </a:solidFill>
            <a:prstDash val="solid"/>
          </a:ln>
        </p:spPr>
      </p:sp>
      <p:sp>
        <p:nvSpPr>
          <p:cNvPr id="7" name="card"/>
          <p:cNvSpPr/>
          <p:nvPr/>
        </p:nvSpPr>
        <p:spPr>
          <a:xfrm>
            <a:off x="4389120" y="1783080"/>
            <a:ext cx="3429000" cy="3520440"/>
          </a:xfrm>
          <a:prstGeom prst="roundRect">
            <a:avLst>
              <a:gd name="adj" fmla="val 3200"/>
            </a:avLst>
          </a:prstGeom>
          <a:solidFill>
            <a:srgbClr val="1E1710"/>
          </a:solidFill>
          <a:ln w="12700">
            <a:solidFill>
              <a:srgbClr val="3A2E22"/>
            </a:solidFill>
            <a:prstDash val="solid"/>
          </a:ln>
        </p:spPr>
      </p:sp>
      <p:sp>
        <p:nvSpPr>
          <p:cNvPr id="8" name="card"/>
          <p:cNvSpPr/>
          <p:nvPr/>
        </p:nvSpPr>
        <p:spPr>
          <a:xfrm>
            <a:off x="8138160" y="1783080"/>
            <a:ext cx="3429000" cy="3520440"/>
          </a:xfrm>
          <a:prstGeom prst="roundRect">
            <a:avLst>
              <a:gd name="adj" fmla="val 3200"/>
            </a:avLst>
          </a:prstGeom>
          <a:solidFill>
            <a:srgbClr val="1E1710"/>
          </a:solidFill>
          <a:ln w="12700">
            <a:solidFill>
              <a:srgbClr val="3A2E22"/>
            </a:solidFill>
            <a:prstDash val="solid"/>
          </a:ln>
        </p:spPr>
      </p:sp>
      <p:sp>
        <p:nvSpPr>
          <p:cNvPr id="9" name="Text 7"/>
          <p:cNvSpPr txBox="1"/>
          <p:nvPr/>
        </p:nvSpPr>
        <p:spPr>
          <a:xfrm>
            <a:off x="914400" y="2011680"/>
            <a:ext cx="2743200" cy="320040"/>
          </a:xfrm>
          <a:prstGeom prst="rect">
            <a:avLst/>
          </a:prstGeom>
          <a:noFill/>
          <a:ln/>
        </p:spPr>
        <p:txBody>
          <a:bodyPr wrap="square" lIns="0" tIns="0" rIns="0" bIns="0" rtlCol="0" anchor="t"/>
          <a:lstStyle/>
          <a:p>
            <a:pPr indent="0" marL="0">
              <a:buNone/>
            </a:pPr>
            <a:r>
              <a:rPr lang="en-US" sz="1700" b="1" dirty="0">
                <a:solidFill>
                  <a:schemeClr val="bg1"/>
                </a:solidFill>
              </a:rPr>
              <a:t>Topic Mastery</a:t>
            </a:r>
            <a:endParaRPr lang="en-US" sz="1700" dirty="0"/>
          </a:p>
        </p:txBody>
      </p:sp>
      <p:sp>
        <p:nvSpPr>
          <p:cNvPr id="10" name="Text 8"/>
          <p:cNvSpPr txBox="1"/>
          <p:nvPr/>
        </p:nvSpPr>
        <p:spPr>
          <a:xfrm>
            <a:off x="914400" y="2350008"/>
            <a:ext cx="2743200" cy="274320"/>
          </a:xfrm>
          <a:prstGeom prst="rect">
            <a:avLst/>
          </a:prstGeom>
          <a:noFill/>
          <a:ln/>
        </p:spPr>
        <p:txBody>
          <a:bodyPr wrap="square" lIns="0" tIns="0" rIns="0" bIns="0" rtlCol="0" anchor="t"/>
          <a:lstStyle/>
          <a:p>
            <a:pPr indent="0" marL="0">
              <a:buNone/>
            </a:pPr>
            <a:r>
              <a:rPr lang="en-US" sz="1300" dirty="0">
                <a:solidFill>
                  <a:srgbClr val="BFB09C"/>
                </a:solidFill>
              </a:rPr>
              <a:t>Fractions</a:t>
            </a:r>
            <a:endParaRPr lang="en-US" sz="1300" dirty="0"/>
          </a:p>
        </p:txBody>
      </p:sp>
      <p:graphicFrame>
        <p:nvGraphicFramePr>
          <p:cNvPr id="11" name="mastery ring" descr=""/>
          <p:cNvGraphicFramePr/>
          <p:nvPr/>
        </p:nvGraphicFramePr>
        <p:xfrm>
          <a:off x="1280160" y="2697480"/>
          <a:ext cx="2148840" cy="1828800"/>
        </p:xfrm>
        <a:graphic xmlns:a="http://schemas.openxmlformats.org/drawingml/2006/main">
          <a:graphicData uri="http://schemas.openxmlformats.org/drawingml/2006/chart">
            <c:chart xmlns:c="http://schemas.openxmlformats.org/drawingml/2006/chart" r:id="rId2"/>
          </a:graphicData>
        </a:graphic>
      </p:graphicFrame>
      <p:sp>
        <p:nvSpPr>
          <p:cNvPr id="12" name="Text 9"/>
          <p:cNvSpPr txBox="1"/>
          <p:nvPr/>
        </p:nvSpPr>
        <p:spPr>
          <a:xfrm>
            <a:off x="1280160" y="3355848"/>
            <a:ext cx="2148840" cy="457200"/>
          </a:xfrm>
          <a:prstGeom prst="rect">
            <a:avLst/>
          </a:prstGeom>
          <a:noFill/>
          <a:ln/>
        </p:spPr>
        <p:txBody>
          <a:bodyPr wrap="square" lIns="0" tIns="0" rIns="0" bIns="0" rtlCol="0" anchor="t"/>
          <a:lstStyle/>
          <a:p>
            <a:pPr algn="ctr" indent="0" marL="0">
              <a:buNone/>
            </a:pPr>
            <a:r>
              <a:rPr lang="en-US" sz="2600" b="1" dirty="0">
                <a:solidFill>
                  <a:schemeClr val="bg1"/>
                </a:solidFill>
              </a:rPr>
              <a:t>72%</a:t>
            </a:r>
            <a:endParaRPr lang="en-US" sz="2600" dirty="0"/>
          </a:p>
        </p:txBody>
      </p:sp>
      <p:sp>
        <p:nvSpPr>
          <p:cNvPr id="13" name="Text 10"/>
          <p:cNvSpPr txBox="1"/>
          <p:nvPr/>
        </p:nvSpPr>
        <p:spPr>
          <a:xfrm>
            <a:off x="1280160" y="3794760"/>
            <a:ext cx="2148840" cy="274320"/>
          </a:xfrm>
          <a:prstGeom prst="rect">
            <a:avLst/>
          </a:prstGeom>
          <a:noFill/>
          <a:ln/>
        </p:spPr>
        <p:txBody>
          <a:bodyPr wrap="square" lIns="0" tIns="0" rIns="0" bIns="0" rtlCol="0" anchor="t"/>
          <a:lstStyle/>
          <a:p>
            <a:pPr algn="ctr" indent="0" marL="0">
              <a:buNone/>
            </a:pPr>
            <a:r>
              <a:rPr lang="en-US" sz="1200" dirty="0">
                <a:solidFill>
                  <a:srgbClr val="BFB09C"/>
                </a:solidFill>
              </a:rPr>
              <a:t>mastery</a:t>
            </a:r>
            <a:endParaRPr lang="en-US" sz="1200" dirty="0"/>
          </a:p>
        </p:txBody>
      </p:sp>
      <p:sp>
        <p:nvSpPr>
          <p:cNvPr id="14" name="chip"/>
          <p:cNvSpPr/>
          <p:nvPr/>
        </p:nvSpPr>
        <p:spPr>
          <a:xfrm>
            <a:off x="914400" y="4709160"/>
            <a:ext cx="1463040" cy="329184"/>
          </a:xfrm>
          <a:prstGeom prst="roundRect">
            <a:avLst>
              <a:gd name="adj" fmla="val 50000"/>
            </a:avLst>
          </a:prstGeom>
          <a:solidFill>
            <a:srgbClr val="3A2E22"/>
          </a:solidFill>
          <a:ln w="12700">
            <a:solidFill>
              <a:srgbClr val="3A2E22"/>
            </a:solidFill>
            <a:prstDash val="solid"/>
          </a:ln>
        </p:spPr>
      </p:sp>
      <p:sp>
        <p:nvSpPr>
          <p:cNvPr id="15" name="Text 12"/>
          <p:cNvSpPr txBox="1"/>
          <p:nvPr/>
        </p:nvSpPr>
        <p:spPr>
          <a:xfrm>
            <a:off x="914400" y="4709160"/>
            <a:ext cx="1463040" cy="329184"/>
          </a:xfrm>
          <a:prstGeom prst="rect">
            <a:avLst/>
          </a:prstGeom>
          <a:noFill/>
          <a:ln/>
        </p:spPr>
        <p:txBody>
          <a:bodyPr wrap="square" lIns="0" tIns="0" rIns="0" bIns="0" rtlCol="0" anchor="ctr"/>
          <a:lstStyle/>
          <a:p>
            <a:pPr algn="ctr" indent="0" marL="0">
              <a:buNone/>
            </a:pPr>
            <a:r>
              <a:rPr lang="en-US" sz="1100" b="1" dirty="0">
                <a:solidFill>
                  <a:srgbClr val="F2C230"/>
                </a:solidFill>
              </a:rPr>
              <a:t>7 day streak</a:t>
            </a:r>
            <a:endParaRPr lang="en-US" sz="1100" dirty="0"/>
          </a:p>
        </p:txBody>
      </p:sp>
      <p:sp>
        <p:nvSpPr>
          <p:cNvPr id="16" name="chip"/>
          <p:cNvSpPr/>
          <p:nvPr/>
        </p:nvSpPr>
        <p:spPr>
          <a:xfrm>
            <a:off x="2514600" y="4709160"/>
            <a:ext cx="1188720" cy="329184"/>
          </a:xfrm>
          <a:prstGeom prst="roundRect">
            <a:avLst>
              <a:gd name="adj" fmla="val 50000"/>
            </a:avLst>
          </a:prstGeom>
          <a:solidFill>
            <a:srgbClr val="3A2E22"/>
          </a:solidFill>
          <a:ln w="12700">
            <a:solidFill>
              <a:srgbClr val="3A2E22"/>
            </a:solidFill>
            <a:prstDash val="solid"/>
          </a:ln>
        </p:spPr>
      </p:sp>
      <p:sp>
        <p:nvSpPr>
          <p:cNvPr id="17" name="Text 14"/>
          <p:cNvSpPr txBox="1"/>
          <p:nvPr/>
        </p:nvSpPr>
        <p:spPr>
          <a:xfrm>
            <a:off x="2514600" y="4709160"/>
            <a:ext cx="1188720" cy="329184"/>
          </a:xfrm>
          <a:prstGeom prst="rect">
            <a:avLst/>
          </a:prstGeom>
          <a:noFill/>
          <a:ln/>
        </p:spPr>
        <p:txBody>
          <a:bodyPr wrap="square" lIns="0" tIns="0" rIns="0" bIns="0" rtlCol="0" anchor="ctr"/>
          <a:lstStyle/>
          <a:p>
            <a:pPr algn="ctr" indent="0" marL="0">
              <a:buNone/>
            </a:pPr>
            <a:r>
              <a:rPr lang="en-US" sz="1100" b="1" dirty="0">
                <a:solidFill>
                  <a:srgbClr val="F2C230"/>
                </a:solidFill>
              </a:rPr>
              <a:t>+120 XP</a:t>
            </a:r>
            <a:endParaRPr lang="en-US" sz="1100" dirty="0"/>
          </a:p>
        </p:txBody>
      </p:sp>
      <p:sp>
        <p:nvSpPr>
          <p:cNvPr id="18" name="Text 15"/>
          <p:cNvSpPr txBox="1"/>
          <p:nvPr/>
        </p:nvSpPr>
        <p:spPr>
          <a:xfrm>
            <a:off x="4663440" y="2011680"/>
            <a:ext cx="2743200" cy="320040"/>
          </a:xfrm>
          <a:prstGeom prst="rect">
            <a:avLst/>
          </a:prstGeom>
          <a:noFill/>
          <a:ln/>
        </p:spPr>
        <p:txBody>
          <a:bodyPr wrap="square" lIns="0" tIns="0" rIns="0" bIns="0" rtlCol="0" anchor="t"/>
          <a:lstStyle/>
          <a:p>
            <a:pPr indent="0" marL="0">
              <a:buNone/>
            </a:pPr>
            <a:r>
              <a:rPr lang="en-US" sz="1700" b="1" dirty="0">
                <a:solidFill>
                  <a:schemeClr val="bg1"/>
                </a:solidFill>
              </a:rPr>
              <a:t>Math Duels</a:t>
            </a:r>
            <a:endParaRPr lang="en-US" sz="1700" dirty="0"/>
          </a:p>
        </p:txBody>
      </p:sp>
      <p:sp>
        <p:nvSpPr>
          <p:cNvPr id="19" name="Text 16"/>
          <p:cNvSpPr txBox="1"/>
          <p:nvPr/>
        </p:nvSpPr>
        <p:spPr>
          <a:xfrm>
            <a:off x="4663440" y="2350008"/>
            <a:ext cx="2926080" cy="274320"/>
          </a:xfrm>
          <a:prstGeom prst="rect">
            <a:avLst/>
          </a:prstGeom>
          <a:noFill/>
          <a:ln/>
        </p:spPr>
        <p:txBody>
          <a:bodyPr wrap="square" lIns="0" tIns="0" rIns="0" bIns="0" rtlCol="0" anchor="t"/>
          <a:lstStyle/>
          <a:p>
            <a:pPr indent="0" marL="0">
              <a:buNone/>
            </a:pPr>
            <a:r>
              <a:rPr lang="en-US" sz="1300" dirty="0">
                <a:solidFill>
                  <a:srgbClr val="BFB09C"/>
                </a:solidFill>
              </a:rPr>
              <a:t>Same questions, compare scores</a:t>
            </a:r>
            <a:endParaRPr lang="en-US" sz="1300" dirty="0"/>
          </a:p>
        </p:txBody>
      </p:sp>
      <p:sp>
        <p:nvSpPr>
          <p:cNvPr id="20" name="player"/>
          <p:cNvSpPr/>
          <p:nvPr/>
        </p:nvSpPr>
        <p:spPr>
          <a:xfrm>
            <a:off x="4663440" y="2743200"/>
            <a:ext cx="1417320" cy="566928"/>
          </a:xfrm>
          <a:prstGeom prst="roundRect">
            <a:avLst>
              <a:gd name="adj" fmla="val 16129"/>
            </a:avLst>
          </a:prstGeom>
          <a:solidFill>
            <a:srgbClr val="2A2018"/>
          </a:solidFill>
          <a:ln w="12700">
            <a:solidFill>
              <a:srgbClr val="F2C230"/>
            </a:solidFill>
            <a:prstDash val="solid"/>
          </a:ln>
        </p:spPr>
      </p:sp>
      <p:sp>
        <p:nvSpPr>
          <p:cNvPr id="21" name="Text 18"/>
          <p:cNvSpPr txBox="1"/>
          <p:nvPr/>
        </p:nvSpPr>
        <p:spPr>
          <a:xfrm>
            <a:off x="4773168" y="2807208"/>
            <a:ext cx="868680" cy="438912"/>
          </a:xfrm>
          <a:prstGeom prst="rect">
            <a:avLst/>
          </a:prstGeom>
          <a:noFill/>
          <a:ln/>
        </p:spPr>
        <p:txBody>
          <a:bodyPr wrap="square" lIns="0" tIns="0" rIns="0" bIns="0" rtlCol="0" anchor="ctr"/>
          <a:lstStyle/>
          <a:p>
            <a:pPr indent="0" marL="0">
              <a:buNone/>
            </a:pPr>
            <a:r>
              <a:rPr lang="en-US" sz="1200" dirty="0">
                <a:solidFill>
                  <a:schemeClr val="bg1"/>
                </a:solidFill>
              </a:rPr>
              <a:t>You</a:t>
            </a:r>
            <a:endParaRPr lang="en-US" sz="1200" dirty="0"/>
          </a:p>
        </p:txBody>
      </p:sp>
      <p:sp>
        <p:nvSpPr>
          <p:cNvPr id="22" name="Text 19"/>
          <p:cNvSpPr txBox="1"/>
          <p:nvPr/>
        </p:nvSpPr>
        <p:spPr>
          <a:xfrm>
            <a:off x="5577840" y="2807208"/>
            <a:ext cx="411480" cy="438912"/>
          </a:xfrm>
          <a:prstGeom prst="rect">
            <a:avLst/>
          </a:prstGeom>
          <a:noFill/>
          <a:ln/>
        </p:spPr>
        <p:txBody>
          <a:bodyPr wrap="square" lIns="0" tIns="0" rIns="0" bIns="0" rtlCol="0" anchor="ctr"/>
          <a:lstStyle/>
          <a:p>
            <a:pPr algn="r" indent="0" marL="0">
              <a:buNone/>
            </a:pPr>
            <a:r>
              <a:rPr lang="en-US" sz="2000" b="1" dirty="0">
                <a:solidFill>
                  <a:srgbClr val="F2C230"/>
                </a:solidFill>
              </a:rPr>
              <a:t>8</a:t>
            </a:r>
            <a:endParaRPr lang="en-US" sz="2000" dirty="0"/>
          </a:p>
        </p:txBody>
      </p:sp>
      <p:sp>
        <p:nvSpPr>
          <p:cNvPr id="23" name="player"/>
          <p:cNvSpPr/>
          <p:nvPr/>
        </p:nvSpPr>
        <p:spPr>
          <a:xfrm>
            <a:off x="6217920" y="2743200"/>
            <a:ext cx="1417320" cy="566928"/>
          </a:xfrm>
          <a:prstGeom prst="roundRect">
            <a:avLst>
              <a:gd name="adj" fmla="val 16129"/>
            </a:avLst>
          </a:prstGeom>
          <a:solidFill>
            <a:srgbClr val="2A2018"/>
          </a:solidFill>
          <a:ln w="12700">
            <a:solidFill>
              <a:srgbClr val="EC924A"/>
            </a:solidFill>
            <a:prstDash val="solid"/>
          </a:ln>
        </p:spPr>
      </p:sp>
      <p:sp>
        <p:nvSpPr>
          <p:cNvPr id="24" name="Text 21"/>
          <p:cNvSpPr txBox="1"/>
          <p:nvPr/>
        </p:nvSpPr>
        <p:spPr>
          <a:xfrm>
            <a:off x="6327648" y="2807208"/>
            <a:ext cx="868680" cy="438912"/>
          </a:xfrm>
          <a:prstGeom prst="rect">
            <a:avLst/>
          </a:prstGeom>
          <a:noFill/>
          <a:ln/>
        </p:spPr>
        <p:txBody>
          <a:bodyPr wrap="square" lIns="0" tIns="0" rIns="0" bIns="0" rtlCol="0" anchor="ctr"/>
          <a:lstStyle/>
          <a:p>
            <a:pPr indent="0" marL="0">
              <a:buNone/>
            </a:pPr>
            <a:r>
              <a:rPr lang="en-US" sz="1200" dirty="0">
                <a:solidFill>
                  <a:schemeClr val="bg1"/>
                </a:solidFill>
              </a:rPr>
              <a:t>Classmate</a:t>
            </a:r>
            <a:endParaRPr lang="en-US" sz="1200" dirty="0"/>
          </a:p>
        </p:txBody>
      </p:sp>
      <p:sp>
        <p:nvSpPr>
          <p:cNvPr id="25" name="Text 22"/>
          <p:cNvSpPr txBox="1"/>
          <p:nvPr/>
        </p:nvSpPr>
        <p:spPr>
          <a:xfrm>
            <a:off x="7132320" y="2807208"/>
            <a:ext cx="411480" cy="438912"/>
          </a:xfrm>
          <a:prstGeom prst="rect">
            <a:avLst/>
          </a:prstGeom>
          <a:noFill/>
          <a:ln/>
        </p:spPr>
        <p:txBody>
          <a:bodyPr wrap="square" lIns="0" tIns="0" rIns="0" bIns="0" rtlCol="0" anchor="ctr"/>
          <a:lstStyle/>
          <a:p>
            <a:pPr algn="r" indent="0" marL="0">
              <a:buNone/>
            </a:pPr>
            <a:r>
              <a:rPr lang="en-US" sz="2000" b="1" dirty="0">
                <a:solidFill>
                  <a:srgbClr val="EC924A"/>
                </a:solidFill>
              </a:rPr>
              <a:t>6</a:t>
            </a:r>
            <a:endParaRPr lang="en-US" sz="2000" dirty="0"/>
          </a:p>
        </p:txBody>
      </p:sp>
      <p:sp>
        <p:nvSpPr>
          <p:cNvPr id="26" name="question"/>
          <p:cNvSpPr/>
          <p:nvPr/>
        </p:nvSpPr>
        <p:spPr>
          <a:xfrm>
            <a:off x="4663440" y="3474720"/>
            <a:ext cx="2880360" cy="594360"/>
          </a:xfrm>
          <a:prstGeom prst="roundRect">
            <a:avLst>
              <a:gd name="adj" fmla="val 15385"/>
            </a:avLst>
          </a:prstGeom>
          <a:solidFill>
            <a:srgbClr val="2A2018"/>
          </a:solidFill>
          <a:ln w="12700">
            <a:solidFill>
              <a:srgbClr val="3A2E22"/>
            </a:solidFill>
            <a:prstDash val="solid"/>
          </a:ln>
        </p:spPr>
      </p:sp>
      <p:sp>
        <p:nvSpPr>
          <p:cNvPr id="27" name="Text 24"/>
          <p:cNvSpPr txBox="1"/>
          <p:nvPr/>
        </p:nvSpPr>
        <p:spPr>
          <a:xfrm>
            <a:off x="4663440" y="3474720"/>
            <a:ext cx="2880360" cy="594360"/>
          </a:xfrm>
          <a:prstGeom prst="rect">
            <a:avLst/>
          </a:prstGeom>
          <a:noFill/>
          <a:ln/>
        </p:spPr>
        <p:txBody>
          <a:bodyPr wrap="square" lIns="0" tIns="0" rIns="0" bIns="0" rtlCol="0" anchor="ctr"/>
          <a:lstStyle/>
          <a:p>
            <a:pPr algn="ctr" indent="0" marL="0">
              <a:buNone/>
            </a:pPr>
            <a:r>
              <a:rPr lang="en-US" sz="2200" b="1" dirty="0">
                <a:solidFill>
                  <a:schemeClr val="bg1"/>
                </a:solidFill>
              </a:rPr>
              <a:t>7 × 8 = ?</a:t>
            </a:r>
            <a:endParaRPr lang="en-US" sz="2200" dirty="0"/>
          </a:p>
        </p:txBody>
      </p:sp>
      <p:sp>
        <p:nvSpPr>
          <p:cNvPr id="28" name="answer"/>
          <p:cNvSpPr/>
          <p:nvPr/>
        </p:nvSpPr>
        <p:spPr>
          <a:xfrm>
            <a:off x="4663440" y="4251960"/>
            <a:ext cx="1417320" cy="411480"/>
          </a:xfrm>
          <a:prstGeom prst="roundRect">
            <a:avLst>
              <a:gd name="adj" fmla="val 22222"/>
            </a:avLst>
          </a:prstGeom>
          <a:solidFill>
            <a:srgbClr val="2A2018"/>
          </a:solidFill>
          <a:ln w="12700">
            <a:solidFill>
              <a:srgbClr val="3A2E22"/>
            </a:solidFill>
            <a:prstDash val="solid"/>
          </a:ln>
        </p:spPr>
      </p:sp>
      <p:sp>
        <p:nvSpPr>
          <p:cNvPr id="29" name="Text 26"/>
          <p:cNvSpPr txBox="1"/>
          <p:nvPr/>
        </p:nvSpPr>
        <p:spPr>
          <a:xfrm>
            <a:off x="4663440" y="4251960"/>
            <a:ext cx="1417320" cy="411480"/>
          </a:xfrm>
          <a:prstGeom prst="rect">
            <a:avLst/>
          </a:prstGeom>
          <a:noFill/>
          <a:ln/>
        </p:spPr>
        <p:txBody>
          <a:bodyPr wrap="square" lIns="0" tIns="0" rIns="0" bIns="0" rtlCol="0" anchor="ctr"/>
          <a:lstStyle/>
          <a:p>
            <a:pPr algn="ctr" indent="0" marL="0">
              <a:buNone/>
            </a:pPr>
            <a:r>
              <a:rPr lang="en-US" sz="1500" b="1" dirty="0">
                <a:solidFill>
                  <a:schemeClr val="bg1"/>
                </a:solidFill>
              </a:rPr>
              <a:t>54</a:t>
            </a:r>
            <a:endParaRPr lang="en-US" sz="1500" dirty="0"/>
          </a:p>
        </p:txBody>
      </p:sp>
      <p:sp>
        <p:nvSpPr>
          <p:cNvPr id="30" name="answer"/>
          <p:cNvSpPr/>
          <p:nvPr/>
        </p:nvSpPr>
        <p:spPr>
          <a:xfrm>
            <a:off x="6126480" y="4251960"/>
            <a:ext cx="1417320" cy="411480"/>
          </a:xfrm>
          <a:prstGeom prst="roundRect">
            <a:avLst>
              <a:gd name="adj" fmla="val 22222"/>
            </a:avLst>
          </a:prstGeom>
          <a:solidFill>
            <a:srgbClr val="F2C230"/>
          </a:solidFill>
          <a:ln w="12700">
            <a:solidFill>
              <a:srgbClr val="F2C230"/>
            </a:solidFill>
            <a:prstDash val="solid"/>
          </a:ln>
        </p:spPr>
      </p:sp>
      <p:sp>
        <p:nvSpPr>
          <p:cNvPr id="31" name="Text 28"/>
          <p:cNvSpPr txBox="1"/>
          <p:nvPr/>
        </p:nvSpPr>
        <p:spPr>
          <a:xfrm>
            <a:off x="6126480" y="4251960"/>
            <a:ext cx="1417320" cy="411480"/>
          </a:xfrm>
          <a:prstGeom prst="rect">
            <a:avLst/>
          </a:prstGeom>
          <a:noFill/>
          <a:ln/>
        </p:spPr>
        <p:txBody>
          <a:bodyPr wrap="square" lIns="0" tIns="0" rIns="0" bIns="0" rtlCol="0" anchor="ctr"/>
          <a:lstStyle/>
          <a:p>
            <a:pPr algn="ctr" indent="0" marL="0">
              <a:buNone/>
            </a:pPr>
            <a:r>
              <a:rPr lang="en-US" sz="1500" b="1" dirty="0">
                <a:solidFill>
                  <a:srgbClr val="14100C"/>
                </a:solidFill>
              </a:rPr>
              <a:t>56</a:t>
            </a:r>
            <a:endParaRPr lang="en-US" sz="1500" dirty="0"/>
          </a:p>
        </p:txBody>
      </p:sp>
      <p:sp>
        <p:nvSpPr>
          <p:cNvPr id="32" name="answer"/>
          <p:cNvSpPr/>
          <p:nvPr/>
        </p:nvSpPr>
        <p:spPr>
          <a:xfrm>
            <a:off x="4663440" y="4754880"/>
            <a:ext cx="1417320" cy="411480"/>
          </a:xfrm>
          <a:prstGeom prst="roundRect">
            <a:avLst>
              <a:gd name="adj" fmla="val 22222"/>
            </a:avLst>
          </a:prstGeom>
          <a:solidFill>
            <a:srgbClr val="2A2018"/>
          </a:solidFill>
          <a:ln w="12700">
            <a:solidFill>
              <a:srgbClr val="3A2E22"/>
            </a:solidFill>
            <a:prstDash val="solid"/>
          </a:ln>
        </p:spPr>
      </p:sp>
      <p:sp>
        <p:nvSpPr>
          <p:cNvPr id="33" name="Text 30"/>
          <p:cNvSpPr txBox="1"/>
          <p:nvPr/>
        </p:nvSpPr>
        <p:spPr>
          <a:xfrm>
            <a:off x="4663440" y="4754880"/>
            <a:ext cx="1417320" cy="411480"/>
          </a:xfrm>
          <a:prstGeom prst="rect">
            <a:avLst/>
          </a:prstGeom>
          <a:noFill/>
          <a:ln/>
        </p:spPr>
        <p:txBody>
          <a:bodyPr wrap="square" lIns="0" tIns="0" rIns="0" bIns="0" rtlCol="0" anchor="ctr"/>
          <a:lstStyle/>
          <a:p>
            <a:pPr algn="ctr" indent="0" marL="0">
              <a:buNone/>
            </a:pPr>
            <a:r>
              <a:rPr lang="en-US" sz="1500" b="1" dirty="0">
                <a:solidFill>
                  <a:schemeClr val="bg1"/>
                </a:solidFill>
              </a:rPr>
              <a:t>63</a:t>
            </a:r>
            <a:endParaRPr lang="en-US" sz="1500" dirty="0"/>
          </a:p>
        </p:txBody>
      </p:sp>
      <p:sp>
        <p:nvSpPr>
          <p:cNvPr id="34" name="answer"/>
          <p:cNvSpPr/>
          <p:nvPr/>
        </p:nvSpPr>
        <p:spPr>
          <a:xfrm>
            <a:off x="6126480" y="4754880"/>
            <a:ext cx="1417320" cy="411480"/>
          </a:xfrm>
          <a:prstGeom prst="roundRect">
            <a:avLst>
              <a:gd name="adj" fmla="val 22222"/>
            </a:avLst>
          </a:prstGeom>
          <a:solidFill>
            <a:srgbClr val="2A2018"/>
          </a:solidFill>
          <a:ln w="12700">
            <a:solidFill>
              <a:srgbClr val="3A2E22"/>
            </a:solidFill>
            <a:prstDash val="solid"/>
          </a:ln>
        </p:spPr>
      </p:sp>
      <p:sp>
        <p:nvSpPr>
          <p:cNvPr id="35" name="Text 32"/>
          <p:cNvSpPr txBox="1"/>
          <p:nvPr/>
        </p:nvSpPr>
        <p:spPr>
          <a:xfrm>
            <a:off x="6126480" y="4754880"/>
            <a:ext cx="1417320" cy="411480"/>
          </a:xfrm>
          <a:prstGeom prst="rect">
            <a:avLst/>
          </a:prstGeom>
          <a:noFill/>
          <a:ln/>
        </p:spPr>
        <p:txBody>
          <a:bodyPr wrap="square" lIns="0" tIns="0" rIns="0" bIns="0" rtlCol="0" anchor="ctr"/>
          <a:lstStyle/>
          <a:p>
            <a:pPr algn="ctr" indent="0" marL="0">
              <a:buNone/>
            </a:pPr>
            <a:r>
              <a:rPr lang="en-US" sz="1500" b="1" dirty="0">
                <a:solidFill>
                  <a:schemeClr val="bg1"/>
                </a:solidFill>
              </a:rPr>
              <a:t>48</a:t>
            </a:r>
            <a:endParaRPr lang="en-US" sz="1500" dirty="0"/>
          </a:p>
        </p:txBody>
      </p:sp>
      <p:sp>
        <p:nvSpPr>
          <p:cNvPr id="36" name="Text 33"/>
          <p:cNvSpPr txBox="1"/>
          <p:nvPr/>
        </p:nvSpPr>
        <p:spPr>
          <a:xfrm>
            <a:off x="8412480" y="2011680"/>
            <a:ext cx="2743200" cy="320040"/>
          </a:xfrm>
          <a:prstGeom prst="rect">
            <a:avLst/>
          </a:prstGeom>
          <a:noFill/>
          <a:ln/>
        </p:spPr>
        <p:txBody>
          <a:bodyPr wrap="square" lIns="0" tIns="0" rIns="0" bIns="0" rtlCol="0" anchor="t"/>
          <a:lstStyle/>
          <a:p>
            <a:pPr indent="0" marL="0">
              <a:buNone/>
            </a:pPr>
            <a:r>
              <a:rPr lang="en-US" sz="1700" b="1" dirty="0">
                <a:solidFill>
                  <a:schemeClr val="bg1"/>
                </a:solidFill>
              </a:rPr>
              <a:t>Live Quiz</a:t>
            </a:r>
            <a:endParaRPr lang="en-US" sz="1700" dirty="0"/>
          </a:p>
        </p:txBody>
      </p:sp>
      <p:sp>
        <p:nvSpPr>
          <p:cNvPr id="37" name="Text 34"/>
          <p:cNvSpPr txBox="1"/>
          <p:nvPr/>
        </p:nvSpPr>
        <p:spPr>
          <a:xfrm>
            <a:off x="8412480" y="2350008"/>
            <a:ext cx="3017520" cy="274320"/>
          </a:xfrm>
          <a:prstGeom prst="rect">
            <a:avLst/>
          </a:prstGeom>
          <a:noFill/>
          <a:ln/>
        </p:spPr>
        <p:txBody>
          <a:bodyPr wrap="square" lIns="0" tIns="0" rIns="0" bIns="0" rtlCol="0" anchor="t"/>
          <a:lstStyle/>
          <a:p>
            <a:pPr indent="0" marL="0">
              <a:buNone/>
            </a:pPr>
            <a:r>
              <a:rPr lang="en-US" sz="1300" dirty="0">
                <a:solidFill>
                  <a:srgbClr val="BFB09C"/>
                </a:solidFill>
              </a:rPr>
              <a:t>On the projector, answered on devices</a:t>
            </a:r>
            <a:endParaRPr lang="en-US" sz="1300" dirty="0"/>
          </a:p>
        </p:txBody>
      </p:sp>
      <p:sp>
        <p:nvSpPr>
          <p:cNvPr id="38" name="chip"/>
          <p:cNvSpPr/>
          <p:nvPr/>
        </p:nvSpPr>
        <p:spPr>
          <a:xfrm>
            <a:off x="8412480" y="2743200"/>
            <a:ext cx="1828800" cy="329184"/>
          </a:xfrm>
          <a:prstGeom prst="roundRect">
            <a:avLst>
              <a:gd name="adj" fmla="val 50000"/>
            </a:avLst>
          </a:prstGeom>
          <a:solidFill>
            <a:srgbClr val="F2C230"/>
          </a:solidFill>
          <a:ln w="12700">
            <a:solidFill>
              <a:srgbClr val="F2C230"/>
            </a:solidFill>
            <a:prstDash val="solid"/>
          </a:ln>
        </p:spPr>
      </p:sp>
      <p:sp>
        <p:nvSpPr>
          <p:cNvPr id="39" name="Text 36"/>
          <p:cNvSpPr txBox="1"/>
          <p:nvPr/>
        </p:nvSpPr>
        <p:spPr>
          <a:xfrm>
            <a:off x="8412480" y="2743200"/>
            <a:ext cx="1828800" cy="329184"/>
          </a:xfrm>
          <a:prstGeom prst="rect">
            <a:avLst/>
          </a:prstGeom>
          <a:noFill/>
          <a:ln/>
        </p:spPr>
        <p:txBody>
          <a:bodyPr wrap="square" lIns="0" tIns="0" rIns="0" bIns="0" rtlCol="0" anchor="ctr"/>
          <a:lstStyle/>
          <a:p>
            <a:pPr algn="ctr" indent="0" marL="0">
              <a:buNone/>
            </a:pPr>
            <a:r>
              <a:rPr lang="en-US" sz="1200" b="1" dirty="0">
                <a:solidFill>
                  <a:srgbClr val="14100C"/>
                </a:solidFill>
              </a:rPr>
              <a:t>Join code  4 8 2 1</a:t>
            </a:r>
            <a:endParaRPr lang="en-US" sz="1200" dirty="0"/>
          </a:p>
        </p:txBody>
      </p:sp>
      <p:sp>
        <p:nvSpPr>
          <p:cNvPr id="40" name="Text 37"/>
          <p:cNvSpPr txBox="1"/>
          <p:nvPr/>
        </p:nvSpPr>
        <p:spPr>
          <a:xfrm>
            <a:off x="10378440" y="2743200"/>
            <a:ext cx="914400" cy="329184"/>
          </a:xfrm>
          <a:prstGeom prst="rect">
            <a:avLst/>
          </a:prstGeom>
          <a:noFill/>
          <a:ln/>
        </p:spPr>
        <p:txBody>
          <a:bodyPr wrap="square" lIns="0" tIns="0" rIns="0" bIns="0" rtlCol="0" anchor="ctr"/>
          <a:lstStyle/>
          <a:p>
            <a:pPr indent="0" marL="0">
              <a:buNone/>
            </a:pPr>
            <a:r>
              <a:rPr lang="en-US" sz="1200" dirty="0">
                <a:solidFill>
                  <a:srgbClr val="BFB09C"/>
                </a:solidFill>
              </a:rPr>
              <a:t>24 joined</a:t>
            </a:r>
            <a:endParaRPr lang="en-US" sz="1200" dirty="0"/>
          </a:p>
        </p:txBody>
      </p:sp>
      <p:sp>
        <p:nvSpPr>
          <p:cNvPr id="41" name="Text 38"/>
          <p:cNvSpPr txBox="1"/>
          <p:nvPr/>
        </p:nvSpPr>
        <p:spPr>
          <a:xfrm>
            <a:off x="8412480" y="3246120"/>
            <a:ext cx="2926080" cy="365760"/>
          </a:xfrm>
          <a:prstGeom prst="rect">
            <a:avLst/>
          </a:prstGeom>
          <a:noFill/>
          <a:ln/>
        </p:spPr>
        <p:txBody>
          <a:bodyPr wrap="square" lIns="0" tIns="0" rIns="0" bIns="0" rtlCol="0" anchor="t"/>
          <a:lstStyle/>
          <a:p>
            <a:pPr indent="0" marL="0">
              <a:buNone/>
            </a:pPr>
            <a:r>
              <a:rPr lang="en-US" sz="1500" b="1" dirty="0">
                <a:solidFill>
                  <a:schemeClr val="bg1"/>
                </a:solidFill>
              </a:rPr>
              <a:t>Which fraction equals 1/2?</a:t>
            </a:r>
            <a:endParaRPr lang="en-US" sz="1500" dirty="0"/>
          </a:p>
        </p:txBody>
      </p:sp>
      <p:sp>
        <p:nvSpPr>
          <p:cNvPr id="42" name="answer tile"/>
          <p:cNvSpPr/>
          <p:nvPr/>
        </p:nvSpPr>
        <p:spPr>
          <a:xfrm>
            <a:off x="8412480" y="3749040"/>
            <a:ext cx="1417320" cy="566928"/>
          </a:xfrm>
          <a:prstGeom prst="roundRect">
            <a:avLst>
              <a:gd name="adj" fmla="val 16129"/>
            </a:avLst>
          </a:prstGeom>
          <a:solidFill>
            <a:srgbClr val="D4762A"/>
          </a:solidFill>
          <a:ln w="12700">
            <a:solidFill>
              <a:srgbClr val="D4762A"/>
            </a:solidFill>
            <a:prstDash val="solid"/>
          </a:ln>
        </p:spPr>
      </p:sp>
      <p:sp>
        <p:nvSpPr>
          <p:cNvPr id="43" name="Text 40"/>
          <p:cNvSpPr txBox="1"/>
          <p:nvPr/>
        </p:nvSpPr>
        <p:spPr>
          <a:xfrm>
            <a:off x="8412480" y="3749040"/>
            <a:ext cx="1417320" cy="566928"/>
          </a:xfrm>
          <a:prstGeom prst="rect">
            <a:avLst/>
          </a:prstGeom>
          <a:noFill/>
          <a:ln/>
        </p:spPr>
        <p:txBody>
          <a:bodyPr wrap="square" lIns="0" tIns="0" rIns="0" bIns="0" rtlCol="0" anchor="ctr"/>
          <a:lstStyle/>
          <a:p>
            <a:pPr algn="ctr" indent="0" marL="0">
              <a:buNone/>
            </a:pPr>
            <a:r>
              <a:rPr lang="en-US" sz="1800" b="1" dirty="0">
                <a:solidFill>
                  <a:schemeClr val="bg1"/>
                </a:solidFill>
              </a:rPr>
              <a:t>2/4</a:t>
            </a:r>
            <a:endParaRPr lang="en-US" sz="1800" dirty="0"/>
          </a:p>
        </p:txBody>
      </p:sp>
      <p:sp>
        <p:nvSpPr>
          <p:cNvPr id="44" name="answer tile"/>
          <p:cNvSpPr/>
          <p:nvPr/>
        </p:nvSpPr>
        <p:spPr>
          <a:xfrm>
            <a:off x="9875520" y="3749040"/>
            <a:ext cx="1417320" cy="566928"/>
          </a:xfrm>
          <a:prstGeom prst="roundRect">
            <a:avLst>
              <a:gd name="adj" fmla="val 16129"/>
            </a:avLst>
          </a:prstGeom>
          <a:solidFill>
            <a:srgbClr val="1F8A84"/>
          </a:solidFill>
          <a:ln w="12700">
            <a:solidFill>
              <a:srgbClr val="1F8A84"/>
            </a:solidFill>
            <a:prstDash val="solid"/>
          </a:ln>
        </p:spPr>
      </p:sp>
      <p:sp>
        <p:nvSpPr>
          <p:cNvPr id="45" name="Text 42"/>
          <p:cNvSpPr txBox="1"/>
          <p:nvPr/>
        </p:nvSpPr>
        <p:spPr>
          <a:xfrm>
            <a:off x="9875520" y="3749040"/>
            <a:ext cx="1417320" cy="566928"/>
          </a:xfrm>
          <a:prstGeom prst="rect">
            <a:avLst/>
          </a:prstGeom>
          <a:noFill/>
          <a:ln/>
        </p:spPr>
        <p:txBody>
          <a:bodyPr wrap="square" lIns="0" tIns="0" rIns="0" bIns="0" rtlCol="0" anchor="ctr"/>
          <a:lstStyle/>
          <a:p>
            <a:pPr algn="ctr" indent="0" marL="0">
              <a:buNone/>
            </a:pPr>
            <a:r>
              <a:rPr lang="en-US" sz="1800" b="1" dirty="0">
                <a:solidFill>
                  <a:schemeClr val="bg1"/>
                </a:solidFill>
              </a:rPr>
              <a:t>3/5</a:t>
            </a:r>
            <a:endParaRPr lang="en-US" sz="1800" dirty="0"/>
          </a:p>
        </p:txBody>
      </p:sp>
      <p:sp>
        <p:nvSpPr>
          <p:cNvPr id="46" name="answer tile"/>
          <p:cNvSpPr/>
          <p:nvPr/>
        </p:nvSpPr>
        <p:spPr>
          <a:xfrm>
            <a:off x="8412480" y="4407408"/>
            <a:ext cx="1417320" cy="566928"/>
          </a:xfrm>
          <a:prstGeom prst="roundRect">
            <a:avLst>
              <a:gd name="adj" fmla="val 16129"/>
            </a:avLst>
          </a:prstGeom>
          <a:solidFill>
            <a:srgbClr val="B58A00"/>
          </a:solidFill>
          <a:ln w="12700">
            <a:solidFill>
              <a:srgbClr val="B58A00"/>
            </a:solidFill>
            <a:prstDash val="solid"/>
          </a:ln>
        </p:spPr>
      </p:sp>
      <p:sp>
        <p:nvSpPr>
          <p:cNvPr id="47" name="Text 44"/>
          <p:cNvSpPr txBox="1"/>
          <p:nvPr/>
        </p:nvSpPr>
        <p:spPr>
          <a:xfrm>
            <a:off x="8412480" y="4407408"/>
            <a:ext cx="1417320" cy="566928"/>
          </a:xfrm>
          <a:prstGeom prst="rect">
            <a:avLst/>
          </a:prstGeom>
          <a:noFill/>
          <a:ln/>
        </p:spPr>
        <p:txBody>
          <a:bodyPr wrap="square" lIns="0" tIns="0" rIns="0" bIns="0" rtlCol="0" anchor="ctr"/>
          <a:lstStyle/>
          <a:p>
            <a:pPr algn="ctr" indent="0" marL="0">
              <a:buNone/>
            </a:pPr>
            <a:r>
              <a:rPr lang="en-US" sz="1800" b="1" dirty="0">
                <a:solidFill>
                  <a:schemeClr val="bg1"/>
                </a:solidFill>
              </a:rPr>
              <a:t>2/3</a:t>
            </a:r>
            <a:endParaRPr lang="en-US" sz="1800" dirty="0"/>
          </a:p>
        </p:txBody>
      </p:sp>
      <p:sp>
        <p:nvSpPr>
          <p:cNvPr id="48" name="answer tile"/>
          <p:cNvSpPr/>
          <p:nvPr/>
        </p:nvSpPr>
        <p:spPr>
          <a:xfrm>
            <a:off x="9875520" y="4407408"/>
            <a:ext cx="1417320" cy="566928"/>
          </a:xfrm>
          <a:prstGeom prst="roundRect">
            <a:avLst>
              <a:gd name="adj" fmla="val 16129"/>
            </a:avLst>
          </a:prstGeom>
          <a:solidFill>
            <a:srgbClr val="6B4F35"/>
          </a:solidFill>
          <a:ln w="12700">
            <a:solidFill>
              <a:srgbClr val="6B4F35"/>
            </a:solidFill>
            <a:prstDash val="solid"/>
          </a:ln>
        </p:spPr>
      </p:sp>
      <p:sp>
        <p:nvSpPr>
          <p:cNvPr id="49" name="Text 46"/>
          <p:cNvSpPr txBox="1"/>
          <p:nvPr/>
        </p:nvSpPr>
        <p:spPr>
          <a:xfrm>
            <a:off x="9875520" y="4407408"/>
            <a:ext cx="1417320" cy="566928"/>
          </a:xfrm>
          <a:prstGeom prst="rect">
            <a:avLst/>
          </a:prstGeom>
          <a:noFill/>
          <a:ln/>
        </p:spPr>
        <p:txBody>
          <a:bodyPr wrap="square" lIns="0" tIns="0" rIns="0" bIns="0" rtlCol="0" anchor="ctr"/>
          <a:lstStyle/>
          <a:p>
            <a:pPr algn="ctr" indent="0" marL="0">
              <a:buNone/>
            </a:pPr>
            <a:r>
              <a:rPr lang="en-US" sz="1800" b="1" dirty="0">
                <a:solidFill>
                  <a:schemeClr val="bg1"/>
                </a:solidFill>
              </a:rPr>
              <a:t>1/3</a:t>
            </a:r>
            <a:endParaRPr lang="en-US" sz="1800" dirty="0"/>
          </a:p>
        </p:txBody>
      </p:sp>
      <p:sp>
        <p:nvSpPr>
          <p:cNvPr id="50" name="Text 47"/>
          <p:cNvSpPr txBox="1"/>
          <p:nvPr/>
        </p:nvSpPr>
        <p:spPr>
          <a:xfrm>
            <a:off x="731520" y="5440680"/>
            <a:ext cx="3246120" cy="548640"/>
          </a:xfrm>
          <a:prstGeom prst="rect">
            <a:avLst/>
          </a:prstGeom>
          <a:noFill/>
          <a:ln/>
        </p:spPr>
        <p:txBody>
          <a:bodyPr wrap="square" lIns="0" tIns="0" rIns="0" bIns="0" rtlCol="0" anchor="t"/>
          <a:lstStyle/>
          <a:p>
            <a:pPr indent="0" marL="0">
              <a:buNone/>
            </a:pPr>
            <a:r>
              <a:rPr lang="en-US" sz="1400" dirty="0">
                <a:solidFill>
                  <a:schemeClr val="bg1"/>
                </a:solidFill>
              </a:rPr>
              <a:t>Practise one topic at a time and watch mastery grow.</a:t>
            </a:r>
            <a:endParaRPr lang="en-US" sz="1400" dirty="0"/>
          </a:p>
        </p:txBody>
      </p:sp>
      <p:sp>
        <p:nvSpPr>
          <p:cNvPr id="51" name="Text 48"/>
          <p:cNvSpPr txBox="1"/>
          <p:nvPr/>
        </p:nvSpPr>
        <p:spPr>
          <a:xfrm>
            <a:off x="4480560" y="5440680"/>
            <a:ext cx="3246120" cy="548640"/>
          </a:xfrm>
          <a:prstGeom prst="rect">
            <a:avLst/>
          </a:prstGeom>
          <a:noFill/>
          <a:ln/>
        </p:spPr>
        <p:txBody>
          <a:bodyPr wrap="square" lIns="0" tIns="0" rIns="0" bIns="0" rtlCol="0" anchor="t"/>
          <a:lstStyle/>
          <a:p>
            <a:pPr indent="0" marL="0">
              <a:buNone/>
            </a:pPr>
            <a:r>
              <a:rPr lang="en-US" sz="1400" dirty="0">
                <a:solidFill>
                  <a:schemeClr val="bg1"/>
                </a:solidFill>
              </a:rPr>
              <a:t>Challenge a student in your grade to the same questions.</a:t>
            </a:r>
            <a:endParaRPr lang="en-US" sz="1400" dirty="0"/>
          </a:p>
        </p:txBody>
      </p:sp>
      <p:sp>
        <p:nvSpPr>
          <p:cNvPr id="52" name="Text 49"/>
          <p:cNvSpPr txBox="1"/>
          <p:nvPr/>
        </p:nvSpPr>
        <p:spPr>
          <a:xfrm>
            <a:off x="8229600" y="5440680"/>
            <a:ext cx="3246120" cy="548640"/>
          </a:xfrm>
          <a:prstGeom prst="rect">
            <a:avLst/>
          </a:prstGeom>
          <a:noFill/>
          <a:ln/>
        </p:spPr>
        <p:txBody>
          <a:bodyPr wrap="square" lIns="0" tIns="0" rIns="0" bIns="0" rtlCol="0" anchor="t"/>
          <a:lstStyle/>
          <a:p>
            <a:pPr indent="0" marL="0">
              <a:buNone/>
            </a:pPr>
            <a:r>
              <a:rPr lang="en-US" sz="1400" dirty="0">
                <a:solidFill>
                  <a:schemeClr val="bg1"/>
                </a:solidFill>
              </a:rPr>
              <a:t>Enter the code on the teacher's screen and race the class.</a:t>
            </a:r>
            <a:endParaRPr lang="en-US" sz="1400" dirty="0"/>
          </a:p>
        </p:txBody>
      </p:sp>
      <p:sp>
        <p:nvSpPr>
          <p:cNvPr id="53" name="Text 50"/>
          <p:cNvSpPr txBox="1"/>
          <p:nvPr/>
        </p:nvSpPr>
        <p:spPr>
          <a:xfrm>
            <a:off x="640080" y="6080760"/>
            <a:ext cx="10881360" cy="274320"/>
          </a:xfrm>
          <a:prstGeom prst="rect">
            <a:avLst/>
          </a:prstGeom>
          <a:noFill/>
          <a:ln/>
        </p:spPr>
        <p:txBody>
          <a:bodyPr wrap="square" lIns="0" tIns="0" rIns="0" bIns="0" rtlCol="0" anchor="t"/>
          <a:lstStyle/>
          <a:p>
            <a:pPr indent="0" marL="0">
              <a:buNone/>
            </a:pPr>
            <a:r>
              <a:rPr lang="en-US" sz="1100" dirty="0">
                <a:solidFill>
                  <a:srgbClr val="BFB09C"/>
                </a:solidFill>
              </a:rPr>
              <a:t>Illustrative mock-ups of planned Smart Play screens. Practice and reinforcement, not a replacement for formal assessment.</a:t>
            </a:r>
            <a:endParaRPr lang="en-US" sz="11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rgbClr val="EC924A"/>
                </a:solidFill>
              </a:rPr>
              <a:t>PART 1   |   THE STRATEGY</a:t>
            </a:r>
            <a:endParaRPr lang="en-US" sz="1100" dirty="0"/>
          </a:p>
        </p:txBody>
      </p:sp>
      <p:sp>
        <p:nvSpPr>
          <p:cNvPr id="3" name="Text 0"/>
          <p:cNvSpPr/>
          <p:nvPr>
            <p:ph idx="100" type="title" hasCustomPrompt="1"/>
          </p:nvPr>
        </p:nvSpPr>
        <p:spPr>
          <a:xfrm>
            <a:off x="640080" y="548640"/>
            <a:ext cx="10908792" cy="1005840"/>
          </a:xfrm>
          <a:prstGeom prst="rect">
            <a:avLst/>
          </a:prstGeom>
          <a:noFill/>
          <a:ln/>
        </p:spPr>
        <p:txBody>
          <a:bodyPr wrap="square" lIns="0" tIns="0" rIns="0" bIns="0" rtlCol="0" anchor="t"/>
          <a:lstStyle/>
          <a:p>
            <a:pPr algn="l" indent="0" marL="0">
              <a:buNone/>
            </a:pPr>
            <a:r>
              <a:rPr lang="en-US" sz="3400" b="1" dirty="0">
                <a:solidFill>
                  <a:schemeClr val="bg1"/>
                </a:solidFill>
              </a:rPr>
              <a:t>Assess, learn, practice, improve, assess again</a:t>
            </a:r>
            <a:endParaRPr lang="en-US" sz="3400" dirty="0"/>
          </a:p>
        </p:txBody>
      </p:sp>
      <p:sp>
        <p:nvSpPr>
          <p:cNvPr id="4" name="loop ring"/>
          <p:cNvSpPr/>
          <p:nvPr/>
        </p:nvSpPr>
        <p:spPr>
          <a:xfrm>
            <a:off x="2240280" y="2331720"/>
            <a:ext cx="3383280" cy="3383280"/>
          </a:xfrm>
          <a:prstGeom prst="ellipse">
            <a:avLst/>
          </a:prstGeom>
          <a:solidFill>
            <a:srgbClr val="000000">
              <a:alpha val="0"/>
            </a:srgbClr>
          </a:solidFill>
          <a:ln w="25400">
            <a:solidFill>
              <a:srgbClr val="3A2E22"/>
            </a:solidFill>
            <a:prstDash val="dash"/>
          </a:ln>
        </p:spPr>
      </p:sp>
      <p:sp>
        <p:nvSpPr>
          <p:cNvPr id="5" name="loop node"/>
          <p:cNvSpPr/>
          <p:nvPr/>
        </p:nvSpPr>
        <p:spPr>
          <a:xfrm>
            <a:off x="3675888" y="2075688"/>
            <a:ext cx="512064" cy="512064"/>
          </a:xfrm>
          <a:prstGeom prst="ellipse">
            <a:avLst/>
          </a:prstGeom>
          <a:solidFill>
            <a:srgbClr val="EC924A"/>
          </a:solidFill>
          <a:ln w="38100">
            <a:solidFill>
              <a:srgbClr val="14100C"/>
            </a:solidFill>
            <a:prstDash val="solid"/>
          </a:ln>
        </p:spPr>
      </p:sp>
      <p:sp>
        <p:nvSpPr>
          <p:cNvPr id="6" name="Text 4"/>
          <p:cNvSpPr txBox="1"/>
          <p:nvPr/>
        </p:nvSpPr>
        <p:spPr>
          <a:xfrm>
            <a:off x="2926080" y="1645920"/>
            <a:ext cx="2011680" cy="310896"/>
          </a:xfrm>
          <a:prstGeom prst="rect">
            <a:avLst/>
          </a:prstGeom>
          <a:noFill/>
          <a:ln/>
        </p:spPr>
        <p:txBody>
          <a:bodyPr wrap="square" lIns="0" tIns="0" rIns="0" bIns="0" rtlCol="0" anchor="t"/>
          <a:lstStyle/>
          <a:p>
            <a:pPr algn="ctr" indent="0" marL="0">
              <a:buNone/>
            </a:pPr>
            <a:r>
              <a:rPr lang="en-US" sz="1700" b="1" dirty="0">
                <a:solidFill>
                  <a:schemeClr val="bg1"/>
                </a:solidFill>
              </a:rPr>
              <a:t>Assess</a:t>
            </a:r>
            <a:endParaRPr lang="en-US" sz="1700" dirty="0"/>
          </a:p>
        </p:txBody>
      </p:sp>
      <p:sp>
        <p:nvSpPr>
          <p:cNvPr id="7" name="loop node"/>
          <p:cNvSpPr/>
          <p:nvPr/>
        </p:nvSpPr>
        <p:spPr>
          <a:xfrm>
            <a:off x="5284733" y="3244582"/>
            <a:ext cx="512064" cy="512064"/>
          </a:xfrm>
          <a:prstGeom prst="ellipse">
            <a:avLst/>
          </a:prstGeom>
          <a:solidFill>
            <a:srgbClr val="3DB5AB"/>
          </a:solidFill>
          <a:ln w="38100">
            <a:solidFill>
              <a:srgbClr val="14100C"/>
            </a:solidFill>
            <a:prstDash val="solid"/>
          </a:ln>
        </p:spPr>
      </p:sp>
      <p:sp>
        <p:nvSpPr>
          <p:cNvPr id="8" name="Text 6"/>
          <p:cNvSpPr txBox="1"/>
          <p:nvPr/>
        </p:nvSpPr>
        <p:spPr>
          <a:xfrm>
            <a:off x="5924813" y="3345166"/>
            <a:ext cx="2011680" cy="310896"/>
          </a:xfrm>
          <a:prstGeom prst="rect">
            <a:avLst/>
          </a:prstGeom>
          <a:noFill/>
          <a:ln/>
        </p:spPr>
        <p:txBody>
          <a:bodyPr wrap="square" lIns="0" tIns="0" rIns="0" bIns="0" rtlCol="0" anchor="t"/>
          <a:lstStyle/>
          <a:p>
            <a:pPr algn="l" indent="0" marL="0">
              <a:buNone/>
            </a:pPr>
            <a:r>
              <a:rPr lang="en-US" sz="1700" b="1" dirty="0">
                <a:solidFill>
                  <a:schemeClr val="bg1"/>
                </a:solidFill>
              </a:rPr>
              <a:t>Learn</a:t>
            </a:r>
            <a:endParaRPr lang="en-US" sz="1700" dirty="0"/>
          </a:p>
        </p:txBody>
      </p:sp>
      <p:sp>
        <p:nvSpPr>
          <p:cNvPr id="9" name="loop node"/>
          <p:cNvSpPr/>
          <p:nvPr/>
        </p:nvSpPr>
        <p:spPr>
          <a:xfrm>
            <a:off x="4670209" y="5135894"/>
            <a:ext cx="512064" cy="512064"/>
          </a:xfrm>
          <a:prstGeom prst="ellipse">
            <a:avLst/>
          </a:prstGeom>
          <a:solidFill>
            <a:srgbClr val="F2C230"/>
          </a:solidFill>
          <a:ln w="38100">
            <a:solidFill>
              <a:srgbClr val="14100C"/>
            </a:solidFill>
            <a:prstDash val="solid"/>
          </a:ln>
        </p:spPr>
      </p:sp>
      <p:sp>
        <p:nvSpPr>
          <p:cNvPr id="10" name="Text 8"/>
          <p:cNvSpPr txBox="1"/>
          <p:nvPr/>
        </p:nvSpPr>
        <p:spPr>
          <a:xfrm>
            <a:off x="5310289" y="5236478"/>
            <a:ext cx="2011680" cy="310896"/>
          </a:xfrm>
          <a:prstGeom prst="rect">
            <a:avLst/>
          </a:prstGeom>
          <a:noFill/>
          <a:ln/>
        </p:spPr>
        <p:txBody>
          <a:bodyPr wrap="square" lIns="0" tIns="0" rIns="0" bIns="0" rtlCol="0" anchor="t"/>
          <a:lstStyle/>
          <a:p>
            <a:pPr algn="l" indent="0" marL="0">
              <a:buNone/>
            </a:pPr>
            <a:r>
              <a:rPr lang="en-US" sz="1700" b="1" dirty="0">
                <a:solidFill>
                  <a:schemeClr val="bg1"/>
                </a:solidFill>
              </a:rPr>
              <a:t>Practice</a:t>
            </a:r>
            <a:endParaRPr lang="en-US" sz="1700" dirty="0"/>
          </a:p>
        </p:txBody>
      </p:sp>
      <p:sp>
        <p:nvSpPr>
          <p:cNvPr id="11" name="loop node"/>
          <p:cNvSpPr/>
          <p:nvPr/>
        </p:nvSpPr>
        <p:spPr>
          <a:xfrm>
            <a:off x="2681567" y="5135894"/>
            <a:ext cx="512064" cy="512064"/>
          </a:xfrm>
          <a:prstGeom prst="ellipse">
            <a:avLst/>
          </a:prstGeom>
          <a:solidFill>
            <a:srgbClr val="F6EDE0"/>
          </a:solidFill>
          <a:ln w="38100">
            <a:solidFill>
              <a:srgbClr val="14100C"/>
            </a:solidFill>
            <a:prstDash val="solid"/>
          </a:ln>
        </p:spPr>
      </p:sp>
      <p:sp>
        <p:nvSpPr>
          <p:cNvPr id="12" name="Text 10"/>
          <p:cNvSpPr txBox="1"/>
          <p:nvPr/>
        </p:nvSpPr>
        <p:spPr>
          <a:xfrm>
            <a:off x="541871" y="5236478"/>
            <a:ext cx="2011680" cy="310896"/>
          </a:xfrm>
          <a:prstGeom prst="rect">
            <a:avLst/>
          </a:prstGeom>
          <a:noFill/>
          <a:ln/>
        </p:spPr>
        <p:txBody>
          <a:bodyPr wrap="square" lIns="0" tIns="0" rIns="0" bIns="0" rtlCol="0" anchor="t"/>
          <a:lstStyle/>
          <a:p>
            <a:pPr algn="r" indent="0" marL="0">
              <a:buNone/>
            </a:pPr>
            <a:r>
              <a:rPr lang="en-US" sz="1700" b="1" dirty="0">
                <a:solidFill>
                  <a:schemeClr val="bg1"/>
                </a:solidFill>
              </a:rPr>
              <a:t>Improve</a:t>
            </a:r>
            <a:endParaRPr lang="en-US" sz="1700" dirty="0"/>
          </a:p>
        </p:txBody>
      </p:sp>
      <p:sp>
        <p:nvSpPr>
          <p:cNvPr id="13" name="loop node"/>
          <p:cNvSpPr/>
          <p:nvPr/>
        </p:nvSpPr>
        <p:spPr>
          <a:xfrm>
            <a:off x="2067043" y="3244582"/>
            <a:ext cx="512064" cy="512064"/>
          </a:xfrm>
          <a:prstGeom prst="ellipse">
            <a:avLst/>
          </a:prstGeom>
          <a:solidFill>
            <a:srgbClr val="EC924A"/>
          </a:solidFill>
          <a:ln w="38100">
            <a:solidFill>
              <a:srgbClr val="14100C"/>
            </a:solidFill>
            <a:prstDash val="solid"/>
          </a:ln>
        </p:spPr>
      </p:sp>
      <p:sp>
        <p:nvSpPr>
          <p:cNvPr id="14" name="Text 12"/>
          <p:cNvSpPr txBox="1"/>
          <p:nvPr/>
        </p:nvSpPr>
        <p:spPr>
          <a:xfrm>
            <a:off x="-72653" y="3345166"/>
            <a:ext cx="2011680" cy="310896"/>
          </a:xfrm>
          <a:prstGeom prst="rect">
            <a:avLst/>
          </a:prstGeom>
          <a:noFill/>
          <a:ln/>
        </p:spPr>
        <p:txBody>
          <a:bodyPr wrap="square" lIns="0" tIns="0" rIns="0" bIns="0" rtlCol="0" anchor="t"/>
          <a:lstStyle/>
          <a:p>
            <a:pPr algn="r" indent="0" marL="0">
              <a:buNone/>
            </a:pPr>
            <a:r>
              <a:rPr lang="en-US" sz="1700" b="1" dirty="0">
                <a:solidFill>
                  <a:schemeClr val="bg1"/>
                </a:solidFill>
              </a:rPr>
              <a:t>Assess again</a:t>
            </a:r>
            <a:endParaRPr lang="en-US" sz="1700" dirty="0"/>
          </a:p>
        </p:txBody>
      </p:sp>
      <p:sp>
        <p:nvSpPr>
          <p:cNvPr id="15" name="Text 13"/>
          <p:cNvSpPr txBox="1"/>
          <p:nvPr/>
        </p:nvSpPr>
        <p:spPr>
          <a:xfrm>
            <a:off x="3017520" y="3566160"/>
            <a:ext cx="1828800" cy="914400"/>
          </a:xfrm>
          <a:prstGeom prst="rect">
            <a:avLst/>
          </a:prstGeom>
          <a:noFill/>
          <a:ln/>
        </p:spPr>
        <p:txBody>
          <a:bodyPr wrap="square" lIns="0" tIns="0" rIns="0" bIns="0" rtlCol="0" anchor="ctr"/>
          <a:lstStyle/>
          <a:p>
            <a:pPr algn="ctr" indent="0" marL="0">
              <a:buNone/>
            </a:pPr>
            <a:r>
              <a:rPr lang="en-US" sz="1700" b="1" dirty="0">
                <a:solidFill>
                  <a:srgbClr val="EC924A"/>
                </a:solidFill>
              </a:rPr>
              <a:t>One view</a:t>
            </a:r>
            <a:endParaRPr lang="en-US" sz="1700" dirty="0"/>
          </a:p>
          <a:p>
            <a:pPr algn="ctr" indent="0" marL="0">
              <a:buNone/>
            </a:pPr>
            <a:r>
              <a:rPr lang="en-US" sz="1700" b="1" dirty="0">
                <a:solidFill>
                  <a:srgbClr val="EC924A"/>
                </a:solidFill>
              </a:rPr>
              <a:t>of learning</a:t>
            </a:r>
            <a:endParaRPr lang="en-US" sz="1700" dirty="0"/>
          </a:p>
        </p:txBody>
      </p:sp>
      <p:sp>
        <p:nvSpPr>
          <p:cNvPr id="16" name="Text 14"/>
          <p:cNvSpPr txBox="1"/>
          <p:nvPr/>
        </p:nvSpPr>
        <p:spPr>
          <a:xfrm>
            <a:off x="7315200" y="1783080"/>
            <a:ext cx="4206240" cy="365760"/>
          </a:xfrm>
          <a:prstGeom prst="rect">
            <a:avLst/>
          </a:prstGeom>
          <a:noFill/>
          <a:ln/>
        </p:spPr>
        <p:txBody>
          <a:bodyPr wrap="square" lIns="0" tIns="0" rIns="0" bIns="0" rtlCol="0" anchor="t"/>
          <a:lstStyle/>
          <a:p>
            <a:pPr indent="0" marL="0">
              <a:buNone/>
            </a:pPr>
            <a:r>
              <a:rPr lang="en-US" sz="1600" b="1" dirty="0">
                <a:solidFill>
                  <a:srgbClr val="BFB09C"/>
                </a:solidFill>
              </a:rPr>
              <a:t>Information flows to the right people</a:t>
            </a:r>
            <a:endParaRPr lang="en-US" sz="1600" dirty="0"/>
          </a:p>
        </p:txBody>
      </p:sp>
      <p:sp>
        <p:nvSpPr>
          <p:cNvPr id="17" name="tier Student"/>
          <p:cNvSpPr/>
          <p:nvPr/>
        </p:nvSpPr>
        <p:spPr>
          <a:xfrm>
            <a:off x="7315200" y="4892040"/>
            <a:ext cx="4206240" cy="658368"/>
          </a:xfrm>
          <a:prstGeom prst="roundRect">
            <a:avLst>
              <a:gd name="adj" fmla="val 16667"/>
            </a:avLst>
          </a:prstGeom>
          <a:solidFill>
            <a:srgbClr val="3A2E22"/>
          </a:solidFill>
          <a:ln w="12700">
            <a:solidFill>
              <a:srgbClr val="3A2E22"/>
            </a:solidFill>
            <a:prstDash val="solid"/>
          </a:ln>
        </p:spPr>
      </p:sp>
      <p:sp>
        <p:nvSpPr>
          <p:cNvPr id="18" name="Text 16"/>
          <p:cNvSpPr txBox="1"/>
          <p:nvPr/>
        </p:nvSpPr>
        <p:spPr>
          <a:xfrm>
            <a:off x="7589520" y="4892040"/>
            <a:ext cx="3657600" cy="658368"/>
          </a:xfrm>
          <a:prstGeom prst="rect">
            <a:avLst/>
          </a:prstGeom>
          <a:noFill/>
          <a:ln/>
        </p:spPr>
        <p:txBody>
          <a:bodyPr wrap="square" lIns="0" tIns="0" rIns="0" bIns="0" rtlCol="0" anchor="ctr"/>
          <a:lstStyle/>
          <a:p>
            <a:pPr indent="0" marL="0">
              <a:buNone/>
            </a:pPr>
            <a:r>
              <a:rPr lang="en-US" sz="1800" b="1" dirty="0">
                <a:solidFill>
                  <a:srgbClr val="F6EDE0"/>
                </a:solidFill>
              </a:rPr>
              <a:t>Student</a:t>
            </a:r>
            <a:endParaRPr lang="en-US" sz="1800" dirty="0"/>
          </a:p>
        </p:txBody>
      </p:sp>
      <p:sp>
        <p:nvSpPr>
          <p:cNvPr id="19" name="arrow"/>
          <p:cNvSpPr/>
          <p:nvPr/>
        </p:nvSpPr>
        <p:spPr>
          <a:xfrm flipV="1">
            <a:off x="9418320" y="4663440"/>
            <a:ext cx="0" cy="182880"/>
          </a:xfrm>
          <a:prstGeom prst="line">
            <a:avLst/>
          </a:prstGeom>
          <a:noFill/>
          <a:ln w="25400">
            <a:solidFill>
              <a:srgbClr val="BFB09C"/>
            </a:solidFill>
            <a:prstDash val="solid"/>
            <a:tailEnd type="triangle"/>
          </a:ln>
        </p:spPr>
      </p:sp>
      <p:sp>
        <p:nvSpPr>
          <p:cNvPr id="20" name="tier Teacher"/>
          <p:cNvSpPr/>
          <p:nvPr/>
        </p:nvSpPr>
        <p:spPr>
          <a:xfrm>
            <a:off x="7315200" y="3977640"/>
            <a:ext cx="4206240" cy="658368"/>
          </a:xfrm>
          <a:prstGeom prst="roundRect">
            <a:avLst>
              <a:gd name="adj" fmla="val 16667"/>
            </a:avLst>
          </a:prstGeom>
          <a:solidFill>
            <a:srgbClr val="3A2E22"/>
          </a:solidFill>
          <a:ln w="12700">
            <a:solidFill>
              <a:srgbClr val="3A2E22"/>
            </a:solidFill>
            <a:prstDash val="solid"/>
          </a:ln>
        </p:spPr>
      </p:sp>
      <p:sp>
        <p:nvSpPr>
          <p:cNvPr id="21" name="Text 19"/>
          <p:cNvSpPr txBox="1"/>
          <p:nvPr/>
        </p:nvSpPr>
        <p:spPr>
          <a:xfrm>
            <a:off x="7589520" y="3977640"/>
            <a:ext cx="3657600" cy="658368"/>
          </a:xfrm>
          <a:prstGeom prst="rect">
            <a:avLst/>
          </a:prstGeom>
          <a:noFill/>
          <a:ln/>
        </p:spPr>
        <p:txBody>
          <a:bodyPr wrap="square" lIns="0" tIns="0" rIns="0" bIns="0" rtlCol="0" anchor="ctr"/>
          <a:lstStyle/>
          <a:p>
            <a:pPr indent="0" marL="0">
              <a:buNone/>
            </a:pPr>
            <a:r>
              <a:rPr lang="en-US" sz="1800" b="1" dirty="0">
                <a:solidFill>
                  <a:srgbClr val="F6EDE0"/>
                </a:solidFill>
              </a:rPr>
              <a:t>Teacher</a:t>
            </a:r>
            <a:endParaRPr lang="en-US" sz="1800" dirty="0"/>
          </a:p>
        </p:txBody>
      </p:sp>
      <p:sp>
        <p:nvSpPr>
          <p:cNvPr id="22" name="arrow"/>
          <p:cNvSpPr/>
          <p:nvPr/>
        </p:nvSpPr>
        <p:spPr>
          <a:xfrm flipV="1">
            <a:off x="9418320" y="3749040"/>
            <a:ext cx="0" cy="182880"/>
          </a:xfrm>
          <a:prstGeom prst="line">
            <a:avLst/>
          </a:prstGeom>
          <a:noFill/>
          <a:ln w="25400">
            <a:solidFill>
              <a:srgbClr val="BFB09C"/>
            </a:solidFill>
            <a:prstDash val="solid"/>
            <a:tailEnd type="triangle"/>
          </a:ln>
        </p:spPr>
      </p:sp>
      <p:sp>
        <p:nvSpPr>
          <p:cNvPr id="23" name="tier Head of department"/>
          <p:cNvSpPr/>
          <p:nvPr/>
        </p:nvSpPr>
        <p:spPr>
          <a:xfrm>
            <a:off x="7315200" y="3063240"/>
            <a:ext cx="4206240" cy="658368"/>
          </a:xfrm>
          <a:prstGeom prst="roundRect">
            <a:avLst>
              <a:gd name="adj" fmla="val 16667"/>
            </a:avLst>
          </a:prstGeom>
          <a:solidFill>
            <a:srgbClr val="3A2E22"/>
          </a:solidFill>
          <a:ln w="12700">
            <a:solidFill>
              <a:srgbClr val="3A2E22"/>
            </a:solidFill>
            <a:prstDash val="solid"/>
          </a:ln>
        </p:spPr>
      </p:sp>
      <p:sp>
        <p:nvSpPr>
          <p:cNvPr id="24" name="Text 22"/>
          <p:cNvSpPr txBox="1"/>
          <p:nvPr/>
        </p:nvSpPr>
        <p:spPr>
          <a:xfrm>
            <a:off x="7589520" y="3063240"/>
            <a:ext cx="3657600" cy="658368"/>
          </a:xfrm>
          <a:prstGeom prst="rect">
            <a:avLst/>
          </a:prstGeom>
          <a:noFill/>
          <a:ln/>
        </p:spPr>
        <p:txBody>
          <a:bodyPr wrap="square" lIns="0" tIns="0" rIns="0" bIns="0" rtlCol="0" anchor="ctr"/>
          <a:lstStyle/>
          <a:p>
            <a:pPr indent="0" marL="0">
              <a:buNone/>
            </a:pPr>
            <a:r>
              <a:rPr lang="en-US" sz="1800" b="1" dirty="0">
                <a:solidFill>
                  <a:srgbClr val="F6EDE0"/>
                </a:solidFill>
              </a:rPr>
              <a:t>Head of department</a:t>
            </a:r>
            <a:endParaRPr lang="en-US" sz="1800" dirty="0"/>
          </a:p>
        </p:txBody>
      </p:sp>
      <p:sp>
        <p:nvSpPr>
          <p:cNvPr id="25" name="arrow"/>
          <p:cNvSpPr/>
          <p:nvPr/>
        </p:nvSpPr>
        <p:spPr>
          <a:xfrm flipV="1">
            <a:off x="9418320" y="2834640"/>
            <a:ext cx="0" cy="182880"/>
          </a:xfrm>
          <a:prstGeom prst="line">
            <a:avLst/>
          </a:prstGeom>
          <a:noFill/>
          <a:ln w="25400">
            <a:solidFill>
              <a:srgbClr val="BFB09C"/>
            </a:solidFill>
            <a:prstDash val="solid"/>
            <a:tailEnd type="triangle"/>
          </a:ln>
        </p:spPr>
      </p:sp>
      <p:sp>
        <p:nvSpPr>
          <p:cNvPr id="26" name="tier School leadership"/>
          <p:cNvSpPr/>
          <p:nvPr/>
        </p:nvSpPr>
        <p:spPr>
          <a:xfrm>
            <a:off x="7315200" y="2148840"/>
            <a:ext cx="4206240" cy="658368"/>
          </a:xfrm>
          <a:prstGeom prst="roundRect">
            <a:avLst>
              <a:gd name="adj" fmla="val 16667"/>
            </a:avLst>
          </a:prstGeom>
          <a:solidFill>
            <a:srgbClr val="D4762A"/>
          </a:solidFill>
          <a:ln w="12700">
            <a:solidFill>
              <a:srgbClr val="D4762A"/>
            </a:solidFill>
            <a:prstDash val="solid"/>
          </a:ln>
        </p:spPr>
      </p:sp>
      <p:sp>
        <p:nvSpPr>
          <p:cNvPr id="27" name="Text 25"/>
          <p:cNvSpPr txBox="1"/>
          <p:nvPr/>
        </p:nvSpPr>
        <p:spPr>
          <a:xfrm>
            <a:off x="7589520" y="2148840"/>
            <a:ext cx="3657600" cy="658368"/>
          </a:xfrm>
          <a:prstGeom prst="rect">
            <a:avLst/>
          </a:prstGeom>
          <a:noFill/>
          <a:ln/>
        </p:spPr>
        <p:txBody>
          <a:bodyPr wrap="square" lIns="0" tIns="0" rIns="0" bIns="0" rtlCol="0" anchor="ctr"/>
          <a:lstStyle/>
          <a:p>
            <a:pPr indent="0" marL="0">
              <a:buNone/>
            </a:pPr>
            <a:r>
              <a:rPr lang="en-US" sz="1800" b="1" dirty="0">
                <a:solidFill>
                  <a:srgbClr val="FFFFFF"/>
                </a:solidFill>
              </a:rPr>
              <a:t>School leadership</a:t>
            </a:r>
            <a:endParaRPr lang="en-US" sz="18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chemeClr val="accent1"/>
                </a:solidFill>
              </a:rPr>
              <a:t>PART 1   |   THE STRATEGY</a:t>
            </a:r>
            <a:endParaRPr lang="en-US" sz="1100" dirty="0"/>
          </a:p>
        </p:txBody>
      </p:sp>
      <p:sp>
        <p:nvSpPr>
          <p:cNvPr id="3" name="Text 0"/>
          <p:cNvSpPr/>
          <p:nvPr>
            <p:ph idx="100" type="title" hasCustomPrompt="1"/>
          </p:nvPr>
        </p:nvSpPr>
        <p:spPr>
          <a:xfrm>
            <a:off x="640080" y="548640"/>
            <a:ext cx="10908792" cy="1005840"/>
          </a:xfrm>
          <a:prstGeom prst="rect">
            <a:avLst/>
          </a:prstGeom>
          <a:noFill/>
          <a:ln/>
        </p:spPr>
        <p:txBody>
          <a:bodyPr wrap="square" lIns="0" tIns="0" rIns="0" bIns="0" rtlCol="0" anchor="t"/>
          <a:lstStyle/>
          <a:p>
            <a:pPr algn="l" indent="0" marL="0">
              <a:buNone/>
            </a:pPr>
            <a:r>
              <a:rPr lang="en-US" sz="3400" b="1" dirty="0">
                <a:solidFill>
                  <a:schemeClr val="tx1"/>
                </a:solidFill>
              </a:rPr>
              <a:t>Teachers see classrooms. HODs see departments. Leaders see the school</a:t>
            </a:r>
            <a:endParaRPr lang="en-US" sz="3400" dirty="0"/>
          </a:p>
        </p:txBody>
      </p:sp>
      <p:sp>
        <p:nvSpPr>
          <p:cNvPr id="4" name="card"/>
          <p:cNvSpPr/>
          <p:nvPr/>
        </p:nvSpPr>
        <p:spPr>
          <a:xfrm>
            <a:off x="640080" y="1783080"/>
            <a:ext cx="3520440" cy="4343400"/>
          </a:xfrm>
          <a:prstGeom prst="roundRect">
            <a:avLst>
              <a:gd name="adj" fmla="val 3117"/>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5" name="icon circle"/>
          <p:cNvSpPr/>
          <p:nvPr/>
        </p:nvSpPr>
        <p:spPr>
          <a:xfrm>
            <a:off x="914400" y="2057400"/>
            <a:ext cx="640080" cy="640080"/>
          </a:xfrm>
          <a:prstGeom prst="ellipse">
            <a:avLst/>
          </a:prstGeom>
          <a:solidFill>
            <a:srgbClr val="D4762A"/>
          </a:solidFill>
          <a:ln w="12700">
            <a:solidFill>
              <a:srgbClr val="D4762A"/>
            </a:solidFill>
            <a:prstDash val="solid"/>
          </a:ln>
        </p:spPr>
      </p:sp>
      <p:pic>
        <p:nvPicPr>
          <p:cNvPr id="6" name="icon" descr="preencoded.png">    </p:cNvPr>
          <p:cNvPicPr>
            <a:picLocks noChangeAspect="1"/>
          </p:cNvPicPr>
          <p:nvPr/>
        </p:nvPicPr>
        <p:blipFill>
          <a:blip r:embed="rId1"/>
          <a:stretch>
            <a:fillRect/>
          </a:stretch>
        </p:blipFill>
        <p:spPr>
          <a:xfrm>
            <a:off x="1055218" y="2198218"/>
            <a:ext cx="358445" cy="358445"/>
          </a:xfrm>
          <a:prstGeom prst="rect">
            <a:avLst/>
          </a:prstGeom>
        </p:spPr>
      </p:pic>
      <p:sp>
        <p:nvSpPr>
          <p:cNvPr id="7" name="Text 4"/>
          <p:cNvSpPr txBox="1"/>
          <p:nvPr/>
        </p:nvSpPr>
        <p:spPr>
          <a:xfrm>
            <a:off x="1691640" y="2057400"/>
            <a:ext cx="2286000" cy="640080"/>
          </a:xfrm>
          <a:prstGeom prst="rect">
            <a:avLst/>
          </a:prstGeom>
          <a:noFill/>
          <a:ln/>
        </p:spPr>
        <p:txBody>
          <a:bodyPr wrap="square" lIns="0" tIns="0" rIns="0" bIns="0" rtlCol="0" anchor="ctr"/>
          <a:lstStyle/>
          <a:p>
            <a:pPr indent="0" marL="0">
              <a:buNone/>
            </a:pPr>
            <a:r>
              <a:rPr lang="en-US" sz="1800" b="1" dirty="0">
                <a:solidFill>
                  <a:schemeClr val="tx1"/>
                </a:solidFill>
              </a:rPr>
              <a:t>Teachers</a:t>
            </a:r>
            <a:endParaRPr lang="en-US" sz="1800" dirty="0"/>
          </a:p>
        </p:txBody>
      </p:sp>
      <p:sp>
        <p:nvSpPr>
          <p:cNvPr id="8" name="Text 5"/>
          <p:cNvSpPr txBox="1"/>
          <p:nvPr/>
        </p:nvSpPr>
        <p:spPr>
          <a:xfrm>
            <a:off x="914400" y="3017520"/>
            <a:ext cx="3017520" cy="301752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1"/>
                </a:solidFill>
              </a:rPr>
              <a:t>Tests, tasks and the question bank</a:t>
            </a:r>
            <a:endParaRPr lang="en-US" sz="1600" dirty="0"/>
          </a:p>
          <a:p>
            <a:pPr marL="342900" indent="-342900">
              <a:spcAft>
                <a:spcPts val="1400"/>
              </a:spcAft>
              <a:buSzPct val="100000"/>
              <a:buChar char="•"/>
            </a:pPr>
            <a:r>
              <a:rPr lang="en-US" sz="1600" dirty="0">
                <a:solidFill>
                  <a:schemeClr val="tx1"/>
                </a:solidFill>
              </a:rPr>
              <a:t>Lesson plans and Smart Learning lessons</a:t>
            </a:r>
            <a:endParaRPr lang="en-US" sz="1600" dirty="0"/>
          </a:p>
          <a:p>
            <a:pPr marL="342900" indent="-342900">
              <a:spcAft>
                <a:spcPts val="1400"/>
              </a:spcAft>
              <a:buSzPct val="100000"/>
              <a:buChar char="•"/>
            </a:pPr>
            <a:r>
              <a:rPr lang="en-US" sz="1600" dirty="0">
                <a:solidFill>
                  <a:schemeClr val="tx1"/>
                </a:solidFill>
              </a:rPr>
              <a:t>Marking and results</a:t>
            </a:r>
            <a:endParaRPr lang="en-US" sz="1600" dirty="0"/>
          </a:p>
          <a:p>
            <a:pPr marL="342900" indent="-342900">
              <a:spcAft>
                <a:spcPts val="1400"/>
              </a:spcAft>
              <a:buSzPct val="100000"/>
              <a:buChar char="•"/>
            </a:pPr>
            <a:r>
              <a:rPr lang="en-US" sz="1600" dirty="0">
                <a:solidFill>
                  <a:schemeClr val="tx1"/>
                </a:solidFill>
              </a:rPr>
              <a:t>Attendance for their classes</a:t>
            </a:r>
            <a:endParaRPr lang="en-US" sz="1600" dirty="0"/>
          </a:p>
          <a:p>
            <a:pPr marL="342900" indent="-342900">
              <a:spcAft>
                <a:spcPts val="1400"/>
              </a:spcAft>
              <a:buSzPct val="100000"/>
              <a:buChar char="•"/>
            </a:pPr>
            <a:r>
              <a:rPr lang="en-US" sz="1600" dirty="0">
                <a:solidFill>
                  <a:schemeClr val="tx1"/>
                </a:solidFill>
              </a:rPr>
              <a:t>Report an absence and see cover</a:t>
            </a:r>
            <a:endParaRPr lang="en-US" sz="1600" dirty="0"/>
          </a:p>
        </p:txBody>
      </p:sp>
      <p:sp>
        <p:nvSpPr>
          <p:cNvPr id="9" name="card"/>
          <p:cNvSpPr/>
          <p:nvPr/>
        </p:nvSpPr>
        <p:spPr>
          <a:xfrm>
            <a:off x="4352544" y="1783080"/>
            <a:ext cx="3520440" cy="4343400"/>
          </a:xfrm>
          <a:prstGeom prst="roundRect">
            <a:avLst>
              <a:gd name="adj" fmla="val 3117"/>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10" name="icon circle"/>
          <p:cNvSpPr/>
          <p:nvPr/>
        </p:nvSpPr>
        <p:spPr>
          <a:xfrm>
            <a:off x="4626864" y="2057400"/>
            <a:ext cx="640080" cy="640080"/>
          </a:xfrm>
          <a:prstGeom prst="ellipse">
            <a:avLst/>
          </a:prstGeom>
          <a:solidFill>
            <a:srgbClr val="1F8A84"/>
          </a:solidFill>
          <a:ln w="12700">
            <a:solidFill>
              <a:srgbClr val="1F8A84"/>
            </a:solidFill>
            <a:prstDash val="solid"/>
          </a:ln>
        </p:spPr>
      </p:sp>
      <p:pic>
        <p:nvPicPr>
          <p:cNvPr id="11" name="icon" descr="preencoded.png">    </p:cNvPr>
          <p:cNvPicPr>
            <a:picLocks noChangeAspect="1"/>
          </p:cNvPicPr>
          <p:nvPr/>
        </p:nvPicPr>
        <p:blipFill>
          <a:blip r:embed="rId2"/>
          <a:stretch>
            <a:fillRect/>
          </a:stretch>
        </p:blipFill>
        <p:spPr>
          <a:xfrm>
            <a:off x="4767682" y="2198218"/>
            <a:ext cx="358445" cy="358445"/>
          </a:xfrm>
          <a:prstGeom prst="rect">
            <a:avLst/>
          </a:prstGeom>
        </p:spPr>
      </p:pic>
      <p:sp>
        <p:nvSpPr>
          <p:cNvPr id="12" name="Text 8"/>
          <p:cNvSpPr txBox="1"/>
          <p:nvPr/>
        </p:nvSpPr>
        <p:spPr>
          <a:xfrm>
            <a:off x="5404104" y="2057400"/>
            <a:ext cx="2286000" cy="640080"/>
          </a:xfrm>
          <a:prstGeom prst="rect">
            <a:avLst/>
          </a:prstGeom>
          <a:noFill/>
          <a:ln/>
        </p:spPr>
        <p:txBody>
          <a:bodyPr wrap="square" lIns="0" tIns="0" rIns="0" bIns="0" rtlCol="0" anchor="ctr"/>
          <a:lstStyle/>
          <a:p>
            <a:pPr indent="0" marL="0">
              <a:buNone/>
            </a:pPr>
            <a:r>
              <a:rPr lang="en-US" sz="1800" b="1" dirty="0">
                <a:solidFill>
                  <a:schemeClr val="tx1"/>
                </a:solidFill>
              </a:rPr>
              <a:t>Heads of department</a:t>
            </a:r>
            <a:endParaRPr lang="en-US" sz="1800" dirty="0"/>
          </a:p>
        </p:txBody>
      </p:sp>
      <p:sp>
        <p:nvSpPr>
          <p:cNvPr id="13" name="Text 9"/>
          <p:cNvSpPr txBox="1"/>
          <p:nvPr/>
        </p:nvSpPr>
        <p:spPr>
          <a:xfrm>
            <a:off x="4626864" y="3017520"/>
            <a:ext cx="3017520" cy="301752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1"/>
                </a:solidFill>
              </a:rPr>
              <a:t>Classrooms and teachers in the department</a:t>
            </a:r>
            <a:endParaRPr lang="en-US" sz="1600" dirty="0"/>
          </a:p>
          <a:p>
            <a:pPr marL="342900" indent="-342900">
              <a:spcAft>
                <a:spcPts val="1400"/>
              </a:spcAft>
              <a:buSzPct val="100000"/>
              <a:buChar char="•"/>
            </a:pPr>
            <a:r>
              <a:rPr lang="en-US" sz="1600" dirty="0">
                <a:solidFill>
                  <a:schemeClr val="tx1"/>
                </a:solidFill>
              </a:rPr>
              <a:t>Analytics and flagged sessions</a:t>
            </a:r>
            <a:endParaRPr lang="en-US" sz="1600" dirty="0"/>
          </a:p>
          <a:p>
            <a:pPr marL="342900" indent="-342900">
              <a:spcAft>
                <a:spcPts val="1400"/>
              </a:spcAft>
              <a:buSzPct val="100000"/>
              <a:buChar char="•"/>
            </a:pPr>
            <a:r>
              <a:rPr lang="en-US" sz="1600" dirty="0">
                <a:solidFill>
                  <a:schemeClr val="tx1"/>
                </a:solidFill>
              </a:rPr>
              <a:t>Final exams and report cards</a:t>
            </a:r>
            <a:endParaRPr lang="en-US" sz="1600" dirty="0"/>
          </a:p>
          <a:p>
            <a:pPr marL="342900" indent="-342900">
              <a:spcAft>
                <a:spcPts val="1400"/>
              </a:spcAft>
              <a:buSzPct val="100000"/>
              <a:buChar char="•"/>
            </a:pPr>
            <a:r>
              <a:rPr lang="en-US" sz="1600" dirty="0">
                <a:solidFill>
                  <a:schemeClr val="tx1"/>
                </a:solidFill>
              </a:rPr>
              <a:t>Department attendance and topics</a:t>
            </a:r>
            <a:endParaRPr lang="en-US" sz="1600" dirty="0"/>
          </a:p>
          <a:p>
            <a:pPr marL="342900" indent="-342900">
              <a:spcAft>
                <a:spcPts val="1400"/>
              </a:spcAft>
              <a:buSzPct val="100000"/>
              <a:buChar char="•"/>
            </a:pPr>
            <a:r>
              <a:rPr lang="en-US" sz="1600" dirty="0">
                <a:solidFill>
                  <a:schemeClr val="tx1"/>
                </a:solidFill>
              </a:rPr>
              <a:t>Arrange cover for absent teachers</a:t>
            </a:r>
            <a:endParaRPr lang="en-US" sz="1600" dirty="0"/>
          </a:p>
        </p:txBody>
      </p:sp>
      <p:sp>
        <p:nvSpPr>
          <p:cNvPr id="14" name="card"/>
          <p:cNvSpPr/>
          <p:nvPr/>
        </p:nvSpPr>
        <p:spPr>
          <a:xfrm>
            <a:off x="8065008" y="1783080"/>
            <a:ext cx="3520440" cy="4343400"/>
          </a:xfrm>
          <a:prstGeom prst="roundRect">
            <a:avLst>
              <a:gd name="adj" fmla="val 3117"/>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15" name="icon circle"/>
          <p:cNvSpPr/>
          <p:nvPr/>
        </p:nvSpPr>
        <p:spPr>
          <a:xfrm>
            <a:off x="8339328" y="2057400"/>
            <a:ext cx="640080" cy="640080"/>
          </a:xfrm>
          <a:prstGeom prst="ellipse">
            <a:avLst/>
          </a:prstGeom>
          <a:solidFill>
            <a:srgbClr val="A85A18"/>
          </a:solidFill>
          <a:ln w="12700">
            <a:solidFill>
              <a:srgbClr val="A85A18"/>
            </a:solidFill>
            <a:prstDash val="solid"/>
          </a:ln>
        </p:spPr>
      </p:sp>
      <p:pic>
        <p:nvPicPr>
          <p:cNvPr id="16" name="icon" descr="preencoded.png">    </p:cNvPr>
          <p:cNvPicPr>
            <a:picLocks noChangeAspect="1"/>
          </p:cNvPicPr>
          <p:nvPr/>
        </p:nvPicPr>
        <p:blipFill>
          <a:blip r:embed="rId3"/>
          <a:stretch>
            <a:fillRect/>
          </a:stretch>
        </p:blipFill>
        <p:spPr>
          <a:xfrm>
            <a:off x="8480146" y="2198218"/>
            <a:ext cx="358445" cy="358445"/>
          </a:xfrm>
          <a:prstGeom prst="rect">
            <a:avLst/>
          </a:prstGeom>
        </p:spPr>
      </p:pic>
      <p:sp>
        <p:nvSpPr>
          <p:cNvPr id="17" name="Text 12"/>
          <p:cNvSpPr txBox="1"/>
          <p:nvPr/>
        </p:nvSpPr>
        <p:spPr>
          <a:xfrm>
            <a:off x="9116568" y="2057400"/>
            <a:ext cx="2286000" cy="640080"/>
          </a:xfrm>
          <a:prstGeom prst="rect">
            <a:avLst/>
          </a:prstGeom>
          <a:noFill/>
          <a:ln/>
        </p:spPr>
        <p:txBody>
          <a:bodyPr wrap="square" lIns="0" tIns="0" rIns="0" bIns="0" rtlCol="0" anchor="ctr"/>
          <a:lstStyle/>
          <a:p>
            <a:pPr indent="0" marL="0">
              <a:buNone/>
            </a:pPr>
            <a:r>
              <a:rPr lang="en-US" sz="1800" b="1" dirty="0">
                <a:solidFill>
                  <a:schemeClr val="tx1"/>
                </a:solidFill>
              </a:rPr>
              <a:t>Principal and administrators</a:t>
            </a:r>
            <a:endParaRPr lang="en-US" sz="1800" dirty="0"/>
          </a:p>
        </p:txBody>
      </p:sp>
      <p:sp>
        <p:nvSpPr>
          <p:cNvPr id="18" name="Text 13"/>
          <p:cNvSpPr txBox="1"/>
          <p:nvPr/>
        </p:nvSpPr>
        <p:spPr>
          <a:xfrm>
            <a:off x="8339328" y="3017520"/>
            <a:ext cx="3017520" cy="301752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1"/>
                </a:solidFill>
              </a:rPr>
              <a:t>Staff, students and timetable</a:t>
            </a:r>
            <a:endParaRPr lang="en-US" sz="1600" dirty="0"/>
          </a:p>
          <a:p>
            <a:pPr marL="342900" indent="-342900">
              <a:spcAft>
                <a:spcPts val="1400"/>
              </a:spcAft>
              <a:buSzPct val="100000"/>
              <a:buChar char="•"/>
            </a:pPr>
            <a:r>
              <a:rPr lang="en-US" sz="1600" dirty="0">
                <a:solidFill>
                  <a:schemeClr val="tx1"/>
                </a:solidFill>
              </a:rPr>
              <a:t>Attendance and alerts across the school</a:t>
            </a:r>
            <a:endParaRPr lang="en-US" sz="1600" dirty="0"/>
          </a:p>
          <a:p>
            <a:pPr marL="342900" indent="-342900">
              <a:spcAft>
                <a:spcPts val="1400"/>
              </a:spcAft>
              <a:buSzPct val="100000"/>
              <a:buChar char="•"/>
            </a:pPr>
            <a:r>
              <a:rPr lang="en-US" sz="1600" dirty="0">
                <a:solidFill>
                  <a:schemeClr val="tx1"/>
                </a:solidFill>
              </a:rPr>
              <a:t>Integrity and AI tutor oversight</a:t>
            </a:r>
            <a:endParaRPr lang="en-US" sz="1600" dirty="0"/>
          </a:p>
          <a:p>
            <a:pPr marL="342900" indent="-342900">
              <a:spcAft>
                <a:spcPts val="1400"/>
              </a:spcAft>
              <a:buSzPct val="100000"/>
              <a:buChar char="•"/>
            </a:pPr>
            <a:r>
              <a:rPr lang="en-US" sz="1600" dirty="0">
                <a:solidFill>
                  <a:schemeClr val="tx1"/>
                </a:solidFill>
              </a:rPr>
              <a:t>Messages across staff</a:t>
            </a:r>
            <a:endParaRPr lang="en-US" sz="1600" dirty="0"/>
          </a:p>
          <a:p>
            <a:pPr marL="342900" indent="-342900">
              <a:spcAft>
                <a:spcPts val="1400"/>
              </a:spcAft>
              <a:buSzPct val="100000"/>
              <a:buChar char="•"/>
            </a:pPr>
            <a:r>
              <a:rPr lang="en-US" sz="1600" dirty="0">
                <a:solidFill>
                  <a:schemeClr val="tx1"/>
                </a:solidFill>
              </a:rPr>
              <a:t>School setup and settings</a:t>
            </a:r>
            <a:endParaRPr lang="en-US" sz="16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chemeClr val="accent1"/>
                </a:solidFill>
              </a:rPr>
              <a:t>PART 1   |   THE STRATEGY</a:t>
            </a:r>
            <a:endParaRPr lang="en-US" sz="1100" dirty="0"/>
          </a:p>
        </p:txBody>
      </p:sp>
      <p:sp>
        <p:nvSpPr>
          <p:cNvPr id="3" name="Text 0"/>
          <p:cNvSpPr/>
          <p:nvPr>
            <p:ph idx="100" type="title" hasCustomPrompt="1"/>
          </p:nvPr>
        </p:nvSpPr>
        <p:spPr>
          <a:xfrm>
            <a:off x="640080" y="548640"/>
            <a:ext cx="10908792" cy="1005840"/>
          </a:xfrm>
          <a:prstGeom prst="rect">
            <a:avLst/>
          </a:prstGeom>
          <a:noFill/>
          <a:ln/>
        </p:spPr>
        <p:txBody>
          <a:bodyPr wrap="square" lIns="0" tIns="0" rIns="0" bIns="0" rtlCol="0" anchor="t"/>
          <a:lstStyle/>
          <a:p>
            <a:pPr algn="l" indent="0" marL="0">
              <a:buNone/>
            </a:pPr>
            <a:r>
              <a:rPr lang="en-US" sz="3400" b="1" dirty="0">
                <a:solidFill>
                  <a:schemeClr val="tx1"/>
                </a:solidFill>
              </a:rPr>
              <a:t>Trust, data and AI with a person in charge</a:t>
            </a:r>
            <a:endParaRPr lang="en-US" sz="3400" dirty="0"/>
          </a:p>
        </p:txBody>
      </p:sp>
      <p:sp>
        <p:nvSpPr>
          <p:cNvPr id="4" name="card"/>
          <p:cNvSpPr/>
          <p:nvPr/>
        </p:nvSpPr>
        <p:spPr>
          <a:xfrm>
            <a:off x="640080" y="1783080"/>
            <a:ext cx="5376672" cy="4343400"/>
          </a:xfrm>
          <a:prstGeom prst="roundRect">
            <a:avLst>
              <a:gd name="adj" fmla="val 2526"/>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5" name="icon circle"/>
          <p:cNvSpPr/>
          <p:nvPr/>
        </p:nvSpPr>
        <p:spPr>
          <a:xfrm>
            <a:off x="914400" y="2057400"/>
            <a:ext cx="640080" cy="640080"/>
          </a:xfrm>
          <a:prstGeom prst="ellipse">
            <a:avLst/>
          </a:prstGeom>
          <a:solidFill>
            <a:srgbClr val="1F8A84"/>
          </a:solidFill>
          <a:ln w="12700">
            <a:solidFill>
              <a:srgbClr val="1F8A84"/>
            </a:solidFill>
            <a:prstDash val="solid"/>
          </a:ln>
        </p:spPr>
      </p:sp>
      <p:pic>
        <p:nvPicPr>
          <p:cNvPr id="6" name="icon" descr="preencoded.png">    </p:cNvPr>
          <p:cNvPicPr>
            <a:picLocks noChangeAspect="1"/>
          </p:cNvPicPr>
          <p:nvPr/>
        </p:nvPicPr>
        <p:blipFill>
          <a:blip r:embed="rId1"/>
          <a:stretch>
            <a:fillRect/>
          </a:stretch>
        </p:blipFill>
        <p:spPr>
          <a:xfrm>
            <a:off x="1055218" y="2198218"/>
            <a:ext cx="358445" cy="358445"/>
          </a:xfrm>
          <a:prstGeom prst="rect">
            <a:avLst/>
          </a:prstGeom>
        </p:spPr>
      </p:pic>
      <p:sp>
        <p:nvSpPr>
          <p:cNvPr id="7" name="Text 4"/>
          <p:cNvSpPr txBox="1"/>
          <p:nvPr/>
        </p:nvSpPr>
        <p:spPr>
          <a:xfrm>
            <a:off x="1737360" y="2057400"/>
            <a:ext cx="3931920" cy="640080"/>
          </a:xfrm>
          <a:prstGeom prst="rect">
            <a:avLst/>
          </a:prstGeom>
          <a:noFill/>
          <a:ln/>
        </p:spPr>
        <p:txBody>
          <a:bodyPr wrap="square" lIns="0" tIns="0" rIns="0" bIns="0" rtlCol="0" anchor="ctr"/>
          <a:lstStyle/>
          <a:p>
            <a:pPr indent="0" marL="0">
              <a:buNone/>
            </a:pPr>
            <a:r>
              <a:rPr lang="en-US" sz="2200" b="1" dirty="0">
                <a:solidFill>
                  <a:schemeClr val="tx1"/>
                </a:solidFill>
              </a:rPr>
              <a:t>Your data</a:t>
            </a:r>
            <a:endParaRPr lang="en-US" sz="2200" dirty="0"/>
          </a:p>
        </p:txBody>
      </p:sp>
      <p:sp>
        <p:nvSpPr>
          <p:cNvPr id="8" name="Text 5"/>
          <p:cNvSpPr txBox="1"/>
          <p:nvPr/>
        </p:nvSpPr>
        <p:spPr>
          <a:xfrm>
            <a:off x="914400" y="3017520"/>
            <a:ext cx="4846320" cy="2926080"/>
          </a:xfrm>
          <a:prstGeom prst="rect">
            <a:avLst/>
          </a:prstGeom>
          <a:noFill/>
          <a:ln/>
        </p:spPr>
        <p:txBody>
          <a:bodyPr wrap="square" lIns="0" tIns="0" rIns="0" bIns="0" rtlCol="0" anchor="t"/>
          <a:lstStyle/>
          <a:p>
            <a:pPr marL="342900" indent="-342900">
              <a:spcAft>
                <a:spcPts val="1800"/>
              </a:spcAft>
              <a:buSzPct val="100000"/>
              <a:buChar char="•"/>
            </a:pPr>
            <a:r>
              <a:rPr lang="en-US" sz="1700" dirty="0">
                <a:solidFill>
                  <a:schemeClr val="tx1"/>
                </a:solidFill>
              </a:rPr>
              <a:t>Each school's data lives in its own separate environment</a:t>
            </a:r>
            <a:endParaRPr lang="en-US" sz="1700" dirty="0"/>
          </a:p>
          <a:p>
            <a:pPr marL="342900" indent="-342900">
              <a:spcAft>
                <a:spcPts val="1800"/>
              </a:spcAft>
              <a:buSzPct val="100000"/>
              <a:buChar char="•"/>
            </a:pPr>
            <a:r>
              <a:rPr lang="en-US" sz="1700" dirty="0">
                <a:solidFill>
                  <a:schemeClr val="tx1"/>
                </a:solidFill>
              </a:rPr>
              <a:t>Access rules are enforced by the database itself</a:t>
            </a:r>
            <a:endParaRPr lang="en-US" sz="1700" dirty="0"/>
          </a:p>
          <a:p>
            <a:pPr marL="342900" indent="-342900">
              <a:spcAft>
                <a:spcPts val="1800"/>
              </a:spcAft>
              <a:buSzPct val="100000"/>
              <a:buChar char="•"/>
            </a:pPr>
            <a:r>
              <a:rPr lang="en-US" sz="1700" dirty="0">
                <a:solidFill>
                  <a:schemeClr val="tx1"/>
                </a:solidFill>
              </a:rPr>
              <a:t>Two-factor sign-in is required for all staff</a:t>
            </a:r>
            <a:endParaRPr lang="en-US" sz="1700" dirty="0"/>
          </a:p>
          <a:p>
            <a:pPr marL="342900" indent="-342900">
              <a:spcAft>
                <a:spcPts val="1800"/>
              </a:spcAft>
              <a:buSzPct val="100000"/>
              <a:buChar char="•"/>
            </a:pPr>
            <a:r>
              <a:rPr lang="en-US" sz="1700" dirty="0">
                <a:solidFill>
                  <a:schemeClr val="tx1"/>
                </a:solidFill>
              </a:rPr>
              <a:t>Handled in line with Jamaica's Data Protection Act</a:t>
            </a:r>
            <a:endParaRPr lang="en-US" sz="1700" dirty="0"/>
          </a:p>
        </p:txBody>
      </p:sp>
      <p:sp>
        <p:nvSpPr>
          <p:cNvPr id="9" name="card"/>
          <p:cNvSpPr/>
          <p:nvPr/>
        </p:nvSpPr>
        <p:spPr>
          <a:xfrm>
            <a:off x="6172200" y="1783080"/>
            <a:ext cx="5376672" cy="4343400"/>
          </a:xfrm>
          <a:prstGeom prst="roundRect">
            <a:avLst>
              <a:gd name="adj" fmla="val 2526"/>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10" name="icon circle"/>
          <p:cNvSpPr/>
          <p:nvPr/>
        </p:nvSpPr>
        <p:spPr>
          <a:xfrm>
            <a:off x="6446520" y="2057400"/>
            <a:ext cx="640080" cy="640080"/>
          </a:xfrm>
          <a:prstGeom prst="ellipse">
            <a:avLst/>
          </a:prstGeom>
          <a:solidFill>
            <a:srgbClr val="D4762A"/>
          </a:solidFill>
          <a:ln w="12700">
            <a:solidFill>
              <a:srgbClr val="D4762A"/>
            </a:solidFill>
            <a:prstDash val="solid"/>
          </a:ln>
        </p:spPr>
      </p:sp>
      <p:pic>
        <p:nvPicPr>
          <p:cNvPr id="11" name="icon" descr="preencoded.png">    </p:cNvPr>
          <p:cNvPicPr>
            <a:picLocks noChangeAspect="1"/>
          </p:cNvPicPr>
          <p:nvPr/>
        </p:nvPicPr>
        <p:blipFill>
          <a:blip r:embed="rId2"/>
          <a:stretch>
            <a:fillRect/>
          </a:stretch>
        </p:blipFill>
        <p:spPr>
          <a:xfrm>
            <a:off x="6587338" y="2198218"/>
            <a:ext cx="358445" cy="358445"/>
          </a:xfrm>
          <a:prstGeom prst="rect">
            <a:avLst/>
          </a:prstGeom>
        </p:spPr>
      </p:pic>
      <p:sp>
        <p:nvSpPr>
          <p:cNvPr id="12" name="Text 8"/>
          <p:cNvSpPr txBox="1"/>
          <p:nvPr/>
        </p:nvSpPr>
        <p:spPr>
          <a:xfrm>
            <a:off x="7269480" y="2057400"/>
            <a:ext cx="4023360" cy="640080"/>
          </a:xfrm>
          <a:prstGeom prst="rect">
            <a:avLst/>
          </a:prstGeom>
          <a:noFill/>
          <a:ln/>
        </p:spPr>
        <p:txBody>
          <a:bodyPr wrap="square" lIns="0" tIns="0" rIns="0" bIns="0" rtlCol="0" anchor="ctr"/>
          <a:lstStyle/>
          <a:p>
            <a:pPr indent="0" marL="0">
              <a:buNone/>
            </a:pPr>
            <a:r>
              <a:rPr lang="en-US" sz="2200" b="1" dirty="0">
                <a:solidFill>
                  <a:schemeClr val="tx1"/>
                </a:solidFill>
              </a:rPr>
              <a:t>AI on a short leash</a:t>
            </a:r>
            <a:endParaRPr lang="en-US" sz="2200" dirty="0"/>
          </a:p>
        </p:txBody>
      </p:sp>
      <p:sp>
        <p:nvSpPr>
          <p:cNvPr id="13" name="Text 9"/>
          <p:cNvSpPr txBox="1"/>
          <p:nvPr/>
        </p:nvSpPr>
        <p:spPr>
          <a:xfrm>
            <a:off x="6446520" y="3017520"/>
            <a:ext cx="4846320" cy="2926080"/>
          </a:xfrm>
          <a:prstGeom prst="rect">
            <a:avLst/>
          </a:prstGeom>
          <a:noFill/>
          <a:ln/>
        </p:spPr>
        <p:txBody>
          <a:bodyPr wrap="square" lIns="0" tIns="0" rIns="0" bIns="0" rtlCol="0" anchor="t"/>
          <a:lstStyle/>
          <a:p>
            <a:pPr marL="342900" indent="-342900">
              <a:spcAft>
                <a:spcPts val="1800"/>
              </a:spcAft>
              <a:buSzPct val="100000"/>
              <a:buChar char="•"/>
            </a:pPr>
            <a:r>
              <a:rPr lang="en-US" sz="1700" dirty="0">
                <a:solidFill>
                  <a:schemeClr val="tx1"/>
                </a:solidFill>
              </a:rPr>
              <a:t>AI helps a teacher write: polish a question, import from a PDF, draft a lesson plan</a:t>
            </a:r>
            <a:endParaRPr lang="en-US" sz="1700" dirty="0"/>
          </a:p>
          <a:p>
            <a:pPr marL="342900" indent="-342900">
              <a:spcAft>
                <a:spcPts val="1800"/>
              </a:spcAft>
              <a:buSzPct val="100000"/>
              <a:buChar char="•"/>
            </a:pPr>
            <a:r>
              <a:rPr lang="en-US" sz="1700" dirty="0">
                <a:solidFill>
                  <a:schemeClr val="tx1"/>
                </a:solidFill>
              </a:rPr>
              <a:t>AI never grades a student</a:t>
            </a:r>
            <a:endParaRPr lang="en-US" sz="1700" dirty="0"/>
          </a:p>
          <a:p>
            <a:pPr marL="342900" indent="-342900">
              <a:spcAft>
                <a:spcPts val="1800"/>
              </a:spcAft>
              <a:buSzPct val="100000"/>
              <a:buChar char="•"/>
            </a:pPr>
            <a:r>
              <a:rPr lang="en-US" sz="1700" dirty="0">
                <a:solidFill>
                  <a:schemeClr val="tx1"/>
                </a:solidFill>
              </a:rPr>
              <a:t>Every suggestion is reviewed by a person before it is used</a:t>
            </a:r>
            <a:endParaRPr lang="en-US" sz="1700" dirty="0"/>
          </a:p>
          <a:p>
            <a:pPr marL="342900" indent="-342900">
              <a:spcAft>
                <a:spcPts val="1800"/>
              </a:spcAft>
              <a:buSzPct val="100000"/>
              <a:buChar char="•"/>
            </a:pPr>
            <a:r>
              <a:rPr lang="en-US" sz="1700" dirty="0">
                <a:solidFill>
                  <a:schemeClr val="tx1"/>
                </a:solidFill>
              </a:rPr>
              <a:t>The optional AI tutor stays inside a lesson, with adult review of flagged conversations</a:t>
            </a:r>
            <a:endParaRPr lang="en-US" sz="17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chemeClr val="accent1"/>
                </a:solidFill>
              </a:rPr>
              <a:t>PART 1   |   THE STRATEGY</a:t>
            </a:r>
            <a:endParaRPr lang="en-US" sz="1100" dirty="0"/>
          </a:p>
        </p:txBody>
      </p:sp>
      <p:sp>
        <p:nvSpPr>
          <p:cNvPr id="3" name="Text 0"/>
          <p:cNvSpPr/>
          <p:nvPr>
            <p:ph idx="100" type="title" hasCustomPrompt="1"/>
          </p:nvPr>
        </p:nvSpPr>
        <p:spPr>
          <a:xfrm>
            <a:off x="640080" y="548640"/>
            <a:ext cx="10908792" cy="1005840"/>
          </a:xfrm>
          <a:prstGeom prst="rect">
            <a:avLst/>
          </a:prstGeom>
          <a:noFill/>
          <a:ln/>
        </p:spPr>
        <p:txBody>
          <a:bodyPr wrap="square" lIns="0" tIns="0" rIns="0" bIns="0" rtlCol="0" anchor="t"/>
          <a:lstStyle/>
          <a:p>
            <a:pPr algn="l" indent="0" marL="0">
              <a:buNone/>
            </a:pPr>
            <a:r>
              <a:rPr lang="en-US" sz="3400" b="1" dirty="0">
                <a:solidFill>
                  <a:schemeClr val="tx1"/>
                </a:solidFill>
              </a:rPr>
              <a:t>A pathway we can shape together</a:t>
            </a:r>
            <a:endParaRPr lang="en-US" sz="3400" dirty="0"/>
          </a:p>
        </p:txBody>
      </p:sp>
      <p:sp>
        <p:nvSpPr>
          <p:cNvPr id="4" name="pathway step"/>
          <p:cNvSpPr/>
          <p:nvPr/>
        </p:nvSpPr>
        <p:spPr>
          <a:xfrm>
            <a:off x="640080" y="1783080"/>
            <a:ext cx="2057400" cy="2194560"/>
          </a:xfrm>
          <a:prstGeom prst="roundRect">
            <a:avLst>
              <a:gd name="adj" fmla="val 5333"/>
            </a:avLst>
          </a:prstGeom>
          <a:solidFill>
            <a:srgbClr val="D4762A"/>
          </a:solidFill>
          <a:ln w="12700">
            <a:solidFill>
              <a:srgbClr val="D4762A"/>
            </a:solidFill>
            <a:prstDash val="solid"/>
          </a:ln>
          <a:effectLst>
            <a:outerShdw sx="100000" sy="100000" kx="0" ky="0" algn="bl" rotWithShape="0" blurRad="127000" dist="25400" dir="5400000">
              <a:srgbClr val="000000">
                <a:alpha val="10000"/>
              </a:srgbClr>
            </a:outerShdw>
          </a:effectLst>
        </p:spPr>
      </p:sp>
      <p:sp>
        <p:nvSpPr>
          <p:cNvPr id="5" name="Text 3"/>
          <p:cNvSpPr txBox="1"/>
          <p:nvPr/>
        </p:nvSpPr>
        <p:spPr>
          <a:xfrm>
            <a:off x="868680" y="1965960"/>
            <a:ext cx="457200" cy="457200"/>
          </a:xfrm>
          <a:prstGeom prst="rect">
            <a:avLst/>
          </a:prstGeom>
          <a:noFill/>
          <a:ln/>
        </p:spPr>
        <p:txBody>
          <a:bodyPr wrap="square" lIns="0" tIns="0" rIns="0" bIns="0" rtlCol="0" anchor="t"/>
          <a:lstStyle/>
          <a:p>
            <a:pPr indent="0" marL="0">
              <a:buNone/>
            </a:pPr>
            <a:r>
              <a:rPr lang="en-US" sz="2800" b="1" dirty="0">
                <a:solidFill>
                  <a:srgbClr val="FFFFFF"/>
                </a:solidFill>
              </a:rPr>
              <a:t>1</a:t>
            </a:r>
            <a:endParaRPr lang="en-US" sz="2800" dirty="0"/>
          </a:p>
        </p:txBody>
      </p:sp>
      <p:sp>
        <p:nvSpPr>
          <p:cNvPr id="6" name="Text 4"/>
          <p:cNvSpPr txBox="1"/>
          <p:nvPr/>
        </p:nvSpPr>
        <p:spPr>
          <a:xfrm>
            <a:off x="868680" y="2560320"/>
            <a:ext cx="1645920" cy="365760"/>
          </a:xfrm>
          <a:prstGeom prst="rect">
            <a:avLst/>
          </a:prstGeom>
          <a:noFill/>
          <a:ln/>
        </p:spPr>
        <p:txBody>
          <a:bodyPr wrap="square" lIns="0" tIns="0" rIns="0" bIns="0" rtlCol="0" anchor="t"/>
          <a:lstStyle/>
          <a:p>
            <a:pPr indent="0" marL="0">
              <a:buNone/>
            </a:pPr>
            <a:r>
              <a:rPr lang="en-US" sz="1800" b="1" dirty="0">
                <a:solidFill>
                  <a:schemeClr val="bg1"/>
                </a:solidFill>
              </a:rPr>
              <a:t>Experience</a:t>
            </a:r>
            <a:endParaRPr lang="en-US" sz="1800" dirty="0"/>
          </a:p>
        </p:txBody>
      </p:sp>
      <p:sp>
        <p:nvSpPr>
          <p:cNvPr id="7" name="Text 5"/>
          <p:cNvSpPr txBox="1"/>
          <p:nvPr/>
        </p:nvSpPr>
        <p:spPr>
          <a:xfrm>
            <a:off x="868680" y="2971800"/>
            <a:ext cx="1645920" cy="914400"/>
          </a:xfrm>
          <a:prstGeom prst="rect">
            <a:avLst/>
          </a:prstGeom>
          <a:noFill/>
          <a:ln/>
        </p:spPr>
        <p:txBody>
          <a:bodyPr wrap="square" lIns="0" tIns="0" rIns="0" bIns="0" rtlCol="0" anchor="t"/>
          <a:lstStyle/>
          <a:p>
            <a:pPr indent="0" marL="0">
              <a:buNone/>
            </a:pPr>
            <a:r>
              <a:rPr lang="en-US" sz="1300" dirty="0">
                <a:solidFill>
                  <a:srgbClr val="FFFFFF"/>
                </a:solidFill>
              </a:rPr>
              <a:t>Today: use it hands-on and tell us what you see.</a:t>
            </a:r>
            <a:endParaRPr lang="en-US" sz="1300" dirty="0"/>
          </a:p>
        </p:txBody>
      </p:sp>
      <p:sp>
        <p:nvSpPr>
          <p:cNvPr id="8" name="arrow"/>
          <p:cNvSpPr/>
          <p:nvPr/>
        </p:nvSpPr>
        <p:spPr>
          <a:xfrm>
            <a:off x="2715768" y="2880360"/>
            <a:ext cx="128016" cy="0"/>
          </a:xfrm>
          <a:prstGeom prst="line">
            <a:avLst/>
          </a:prstGeom>
          <a:noFill/>
          <a:ln w="25400">
            <a:solidFill>
              <a:srgbClr val="D4762A"/>
            </a:solidFill>
            <a:prstDash val="solid"/>
            <a:tailEnd type="triangle"/>
          </a:ln>
        </p:spPr>
      </p:sp>
      <p:sp>
        <p:nvSpPr>
          <p:cNvPr id="9" name="pathway step"/>
          <p:cNvSpPr/>
          <p:nvPr/>
        </p:nvSpPr>
        <p:spPr>
          <a:xfrm>
            <a:off x="2862072" y="1783080"/>
            <a:ext cx="2057400" cy="2194560"/>
          </a:xfrm>
          <a:prstGeom prst="roundRect">
            <a:avLst>
              <a:gd name="adj" fmla="val 5333"/>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10" name="Text 8"/>
          <p:cNvSpPr txBox="1"/>
          <p:nvPr/>
        </p:nvSpPr>
        <p:spPr>
          <a:xfrm>
            <a:off x="3090672" y="1965960"/>
            <a:ext cx="457200" cy="457200"/>
          </a:xfrm>
          <a:prstGeom prst="rect">
            <a:avLst/>
          </a:prstGeom>
          <a:noFill/>
          <a:ln/>
        </p:spPr>
        <p:txBody>
          <a:bodyPr wrap="square" lIns="0" tIns="0" rIns="0" bIns="0" rtlCol="0" anchor="t"/>
          <a:lstStyle/>
          <a:p>
            <a:pPr indent="0" marL="0">
              <a:buNone/>
            </a:pPr>
            <a:r>
              <a:rPr lang="en-US" sz="2800" b="1" dirty="0">
                <a:solidFill>
                  <a:srgbClr val="D4762A"/>
                </a:solidFill>
              </a:rPr>
              <a:t>2</a:t>
            </a:r>
            <a:endParaRPr lang="en-US" sz="2800" dirty="0"/>
          </a:p>
        </p:txBody>
      </p:sp>
      <p:sp>
        <p:nvSpPr>
          <p:cNvPr id="11" name="Text 9"/>
          <p:cNvSpPr txBox="1"/>
          <p:nvPr/>
        </p:nvSpPr>
        <p:spPr>
          <a:xfrm>
            <a:off x="3090672" y="2560320"/>
            <a:ext cx="1645920" cy="365760"/>
          </a:xfrm>
          <a:prstGeom prst="rect">
            <a:avLst/>
          </a:prstGeom>
          <a:noFill/>
          <a:ln/>
        </p:spPr>
        <p:txBody>
          <a:bodyPr wrap="square" lIns="0" tIns="0" rIns="0" bIns="0" rtlCol="0" anchor="t"/>
          <a:lstStyle/>
          <a:p>
            <a:pPr indent="0" marL="0">
              <a:buNone/>
            </a:pPr>
            <a:r>
              <a:rPr lang="en-US" sz="1800" b="1" dirty="0">
                <a:solidFill>
                  <a:schemeClr val="tx1"/>
                </a:solidFill>
              </a:rPr>
              <a:t>Choose a start</a:t>
            </a:r>
            <a:endParaRPr lang="en-US" sz="1800" dirty="0"/>
          </a:p>
        </p:txBody>
      </p:sp>
      <p:sp>
        <p:nvSpPr>
          <p:cNvPr id="12" name="Text 10"/>
          <p:cNvSpPr txBox="1"/>
          <p:nvPr/>
        </p:nvSpPr>
        <p:spPr>
          <a:xfrm>
            <a:off x="3090672" y="2971800"/>
            <a:ext cx="1645920" cy="914400"/>
          </a:xfrm>
          <a:prstGeom prst="rect">
            <a:avLst/>
          </a:prstGeom>
          <a:noFill/>
          <a:ln/>
        </p:spPr>
        <p:txBody>
          <a:bodyPr wrap="square" lIns="0" tIns="0" rIns="0" bIns="0" rtlCol="0" anchor="t"/>
          <a:lstStyle/>
          <a:p>
            <a:pPr indent="0" marL="0">
              <a:buNone/>
            </a:pPr>
            <a:r>
              <a:rPr lang="en-US" sz="1300" dirty="0">
                <a:solidFill>
                  <a:schemeClr val="accent5"/>
                </a:solidFill>
              </a:rPr>
              <a:t>Pick departments, classes and assessment types.</a:t>
            </a:r>
            <a:endParaRPr lang="en-US" sz="1300" dirty="0"/>
          </a:p>
        </p:txBody>
      </p:sp>
      <p:sp>
        <p:nvSpPr>
          <p:cNvPr id="13" name="arrow"/>
          <p:cNvSpPr/>
          <p:nvPr/>
        </p:nvSpPr>
        <p:spPr>
          <a:xfrm>
            <a:off x="4937760" y="2880360"/>
            <a:ext cx="128016" cy="0"/>
          </a:xfrm>
          <a:prstGeom prst="line">
            <a:avLst/>
          </a:prstGeom>
          <a:noFill/>
          <a:ln w="25400">
            <a:solidFill>
              <a:srgbClr val="D4762A"/>
            </a:solidFill>
            <a:prstDash val="solid"/>
            <a:tailEnd type="triangle"/>
          </a:ln>
        </p:spPr>
      </p:sp>
      <p:sp>
        <p:nvSpPr>
          <p:cNvPr id="14" name="pathway step"/>
          <p:cNvSpPr/>
          <p:nvPr/>
        </p:nvSpPr>
        <p:spPr>
          <a:xfrm>
            <a:off x="5084064" y="1783080"/>
            <a:ext cx="2057400" cy="2194560"/>
          </a:xfrm>
          <a:prstGeom prst="roundRect">
            <a:avLst>
              <a:gd name="adj" fmla="val 5333"/>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15" name="Text 13"/>
          <p:cNvSpPr txBox="1"/>
          <p:nvPr/>
        </p:nvSpPr>
        <p:spPr>
          <a:xfrm>
            <a:off x="5312664" y="1965960"/>
            <a:ext cx="457200" cy="457200"/>
          </a:xfrm>
          <a:prstGeom prst="rect">
            <a:avLst/>
          </a:prstGeom>
          <a:noFill/>
          <a:ln/>
        </p:spPr>
        <p:txBody>
          <a:bodyPr wrap="square" lIns="0" tIns="0" rIns="0" bIns="0" rtlCol="0" anchor="t"/>
          <a:lstStyle/>
          <a:p>
            <a:pPr indent="0" marL="0">
              <a:buNone/>
            </a:pPr>
            <a:r>
              <a:rPr lang="en-US" sz="2800" b="1" dirty="0">
                <a:solidFill>
                  <a:srgbClr val="D4762A"/>
                </a:solidFill>
              </a:rPr>
              <a:t>3</a:t>
            </a:r>
            <a:endParaRPr lang="en-US" sz="2800" dirty="0"/>
          </a:p>
        </p:txBody>
      </p:sp>
      <p:sp>
        <p:nvSpPr>
          <p:cNvPr id="16" name="Text 14"/>
          <p:cNvSpPr txBox="1"/>
          <p:nvPr/>
        </p:nvSpPr>
        <p:spPr>
          <a:xfrm>
            <a:off x="5312664" y="2560320"/>
            <a:ext cx="1645920" cy="365760"/>
          </a:xfrm>
          <a:prstGeom prst="rect">
            <a:avLst/>
          </a:prstGeom>
          <a:noFill/>
          <a:ln/>
        </p:spPr>
        <p:txBody>
          <a:bodyPr wrap="square" lIns="0" tIns="0" rIns="0" bIns="0" rtlCol="0" anchor="t"/>
          <a:lstStyle/>
          <a:p>
            <a:pPr indent="0" marL="0">
              <a:buNone/>
            </a:pPr>
            <a:r>
              <a:rPr lang="en-US" sz="1800" b="1" dirty="0">
                <a:solidFill>
                  <a:schemeClr val="tx1"/>
                </a:solidFill>
              </a:rPr>
              <a:t>Pilot</a:t>
            </a:r>
            <a:endParaRPr lang="en-US" sz="1800" dirty="0"/>
          </a:p>
        </p:txBody>
      </p:sp>
      <p:sp>
        <p:nvSpPr>
          <p:cNvPr id="17" name="Text 15"/>
          <p:cNvSpPr txBox="1"/>
          <p:nvPr/>
        </p:nvSpPr>
        <p:spPr>
          <a:xfrm>
            <a:off x="5312664" y="2971800"/>
            <a:ext cx="1645920" cy="914400"/>
          </a:xfrm>
          <a:prstGeom prst="rect">
            <a:avLst/>
          </a:prstGeom>
          <a:noFill/>
          <a:ln/>
        </p:spPr>
        <p:txBody>
          <a:bodyPr wrap="square" lIns="0" tIns="0" rIns="0" bIns="0" rtlCol="0" anchor="t"/>
          <a:lstStyle/>
          <a:p>
            <a:pPr indent="0" marL="0">
              <a:buNone/>
            </a:pPr>
            <a:r>
              <a:rPr lang="en-US" sz="1300" dirty="0">
                <a:solidFill>
                  <a:schemeClr val="accent5"/>
                </a:solidFill>
              </a:rPr>
              <a:t>Run it for a defined period with real classes.</a:t>
            </a:r>
            <a:endParaRPr lang="en-US" sz="1300" dirty="0"/>
          </a:p>
        </p:txBody>
      </p:sp>
      <p:sp>
        <p:nvSpPr>
          <p:cNvPr id="18" name="arrow"/>
          <p:cNvSpPr/>
          <p:nvPr/>
        </p:nvSpPr>
        <p:spPr>
          <a:xfrm>
            <a:off x="7159752" y="2880360"/>
            <a:ext cx="128016" cy="0"/>
          </a:xfrm>
          <a:prstGeom prst="line">
            <a:avLst/>
          </a:prstGeom>
          <a:noFill/>
          <a:ln w="25400">
            <a:solidFill>
              <a:srgbClr val="D4762A"/>
            </a:solidFill>
            <a:prstDash val="solid"/>
            <a:tailEnd type="triangle"/>
          </a:ln>
        </p:spPr>
      </p:sp>
      <p:sp>
        <p:nvSpPr>
          <p:cNvPr id="19" name="pathway step"/>
          <p:cNvSpPr/>
          <p:nvPr/>
        </p:nvSpPr>
        <p:spPr>
          <a:xfrm>
            <a:off x="7306056" y="1783080"/>
            <a:ext cx="2057400" cy="2194560"/>
          </a:xfrm>
          <a:prstGeom prst="roundRect">
            <a:avLst>
              <a:gd name="adj" fmla="val 5333"/>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20" name="Text 18"/>
          <p:cNvSpPr txBox="1"/>
          <p:nvPr/>
        </p:nvSpPr>
        <p:spPr>
          <a:xfrm>
            <a:off x="7534656" y="1965960"/>
            <a:ext cx="457200" cy="457200"/>
          </a:xfrm>
          <a:prstGeom prst="rect">
            <a:avLst/>
          </a:prstGeom>
          <a:noFill/>
          <a:ln/>
        </p:spPr>
        <p:txBody>
          <a:bodyPr wrap="square" lIns="0" tIns="0" rIns="0" bIns="0" rtlCol="0" anchor="t"/>
          <a:lstStyle/>
          <a:p>
            <a:pPr indent="0" marL="0">
              <a:buNone/>
            </a:pPr>
            <a:r>
              <a:rPr lang="en-US" sz="2800" b="1" dirty="0">
                <a:solidFill>
                  <a:srgbClr val="D4762A"/>
                </a:solidFill>
              </a:rPr>
              <a:t>4</a:t>
            </a:r>
            <a:endParaRPr lang="en-US" sz="2800" dirty="0"/>
          </a:p>
        </p:txBody>
      </p:sp>
      <p:sp>
        <p:nvSpPr>
          <p:cNvPr id="21" name="Text 19"/>
          <p:cNvSpPr txBox="1"/>
          <p:nvPr/>
        </p:nvSpPr>
        <p:spPr>
          <a:xfrm>
            <a:off x="7534656" y="2560320"/>
            <a:ext cx="1645920" cy="365760"/>
          </a:xfrm>
          <a:prstGeom prst="rect">
            <a:avLst/>
          </a:prstGeom>
          <a:noFill/>
          <a:ln/>
        </p:spPr>
        <p:txBody>
          <a:bodyPr wrap="square" lIns="0" tIns="0" rIns="0" bIns="0" rtlCol="0" anchor="t"/>
          <a:lstStyle/>
          <a:p>
            <a:pPr indent="0" marL="0">
              <a:buNone/>
            </a:pPr>
            <a:r>
              <a:rPr lang="en-US" sz="1800" b="1" dirty="0">
                <a:solidFill>
                  <a:schemeClr val="tx1"/>
                </a:solidFill>
              </a:rPr>
              <a:t>Review</a:t>
            </a:r>
            <a:endParaRPr lang="en-US" sz="1800" dirty="0"/>
          </a:p>
        </p:txBody>
      </p:sp>
      <p:sp>
        <p:nvSpPr>
          <p:cNvPr id="22" name="Text 20"/>
          <p:cNvSpPr txBox="1"/>
          <p:nvPr/>
        </p:nvSpPr>
        <p:spPr>
          <a:xfrm>
            <a:off x="7534656" y="2971800"/>
            <a:ext cx="1645920" cy="914400"/>
          </a:xfrm>
          <a:prstGeom prst="rect">
            <a:avLst/>
          </a:prstGeom>
          <a:noFill/>
          <a:ln/>
        </p:spPr>
        <p:txBody>
          <a:bodyPr wrap="square" lIns="0" tIns="0" rIns="0" bIns="0" rtlCol="0" anchor="t"/>
          <a:lstStyle/>
          <a:p>
            <a:pPr indent="0" marL="0">
              <a:buNone/>
            </a:pPr>
            <a:r>
              <a:rPr lang="en-US" sz="1300" dirty="0">
                <a:solidFill>
                  <a:schemeClr val="accent5"/>
                </a:solidFill>
              </a:rPr>
              <a:t>Look at the evidence together.</a:t>
            </a:r>
            <a:endParaRPr lang="en-US" sz="1300" dirty="0"/>
          </a:p>
        </p:txBody>
      </p:sp>
      <p:sp>
        <p:nvSpPr>
          <p:cNvPr id="23" name="arrow"/>
          <p:cNvSpPr/>
          <p:nvPr/>
        </p:nvSpPr>
        <p:spPr>
          <a:xfrm>
            <a:off x="9381744" y="2880360"/>
            <a:ext cx="128016" cy="0"/>
          </a:xfrm>
          <a:prstGeom prst="line">
            <a:avLst/>
          </a:prstGeom>
          <a:noFill/>
          <a:ln w="25400">
            <a:solidFill>
              <a:srgbClr val="D4762A"/>
            </a:solidFill>
            <a:prstDash val="solid"/>
            <a:tailEnd type="triangle"/>
          </a:ln>
        </p:spPr>
      </p:sp>
      <p:sp>
        <p:nvSpPr>
          <p:cNvPr id="24" name="pathway step"/>
          <p:cNvSpPr/>
          <p:nvPr/>
        </p:nvSpPr>
        <p:spPr>
          <a:xfrm>
            <a:off x="9528048" y="1783080"/>
            <a:ext cx="2057400" cy="2194560"/>
          </a:xfrm>
          <a:prstGeom prst="roundRect">
            <a:avLst>
              <a:gd name="adj" fmla="val 5333"/>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25" name="Text 23"/>
          <p:cNvSpPr txBox="1"/>
          <p:nvPr/>
        </p:nvSpPr>
        <p:spPr>
          <a:xfrm>
            <a:off x="9756648" y="1965960"/>
            <a:ext cx="457200" cy="457200"/>
          </a:xfrm>
          <a:prstGeom prst="rect">
            <a:avLst/>
          </a:prstGeom>
          <a:noFill/>
          <a:ln/>
        </p:spPr>
        <p:txBody>
          <a:bodyPr wrap="square" lIns="0" tIns="0" rIns="0" bIns="0" rtlCol="0" anchor="t"/>
          <a:lstStyle/>
          <a:p>
            <a:pPr indent="0" marL="0">
              <a:buNone/>
            </a:pPr>
            <a:r>
              <a:rPr lang="en-US" sz="2800" b="1" dirty="0">
                <a:solidFill>
                  <a:srgbClr val="D4762A"/>
                </a:solidFill>
              </a:rPr>
              <a:t>5</a:t>
            </a:r>
            <a:endParaRPr lang="en-US" sz="2800" dirty="0"/>
          </a:p>
        </p:txBody>
      </p:sp>
      <p:sp>
        <p:nvSpPr>
          <p:cNvPr id="26" name="Text 24"/>
          <p:cNvSpPr txBox="1"/>
          <p:nvPr/>
        </p:nvSpPr>
        <p:spPr>
          <a:xfrm>
            <a:off x="9756648" y="2560320"/>
            <a:ext cx="1645920" cy="365760"/>
          </a:xfrm>
          <a:prstGeom prst="rect">
            <a:avLst/>
          </a:prstGeom>
          <a:noFill/>
          <a:ln/>
        </p:spPr>
        <p:txBody>
          <a:bodyPr wrap="square" lIns="0" tIns="0" rIns="0" bIns="0" rtlCol="0" anchor="t"/>
          <a:lstStyle/>
          <a:p>
            <a:pPr indent="0" marL="0">
              <a:buNone/>
            </a:pPr>
            <a:r>
              <a:rPr lang="en-US" sz="1800" b="1" dirty="0">
                <a:solidFill>
                  <a:schemeClr val="tx1"/>
                </a:solidFill>
              </a:rPr>
              <a:t>Expand</a:t>
            </a:r>
            <a:endParaRPr lang="en-US" sz="1800" dirty="0"/>
          </a:p>
        </p:txBody>
      </p:sp>
      <p:sp>
        <p:nvSpPr>
          <p:cNvPr id="27" name="Text 25"/>
          <p:cNvSpPr txBox="1"/>
          <p:nvPr/>
        </p:nvSpPr>
        <p:spPr>
          <a:xfrm>
            <a:off x="9756648" y="2971800"/>
            <a:ext cx="1645920" cy="914400"/>
          </a:xfrm>
          <a:prstGeom prst="rect">
            <a:avLst/>
          </a:prstGeom>
          <a:noFill/>
          <a:ln/>
        </p:spPr>
        <p:txBody>
          <a:bodyPr wrap="square" lIns="0" tIns="0" rIns="0" bIns="0" rtlCol="0" anchor="t"/>
          <a:lstStyle/>
          <a:p>
            <a:pPr indent="0" marL="0">
              <a:buNone/>
            </a:pPr>
            <a:r>
              <a:rPr lang="en-US" sz="1300" dirty="0">
                <a:solidFill>
                  <a:schemeClr val="accent5"/>
                </a:solidFill>
              </a:rPr>
              <a:t>Decide how and when to widen it.</a:t>
            </a:r>
            <a:endParaRPr lang="en-US" sz="1300" dirty="0"/>
          </a:p>
        </p:txBody>
      </p:sp>
      <p:sp>
        <p:nvSpPr>
          <p:cNvPr id="28" name="Text 26"/>
          <p:cNvSpPr txBox="1"/>
          <p:nvPr/>
        </p:nvSpPr>
        <p:spPr>
          <a:xfrm>
            <a:off x="640080" y="4343400"/>
            <a:ext cx="7315200" cy="365760"/>
          </a:xfrm>
          <a:prstGeom prst="rect">
            <a:avLst/>
          </a:prstGeom>
          <a:noFill/>
          <a:ln/>
        </p:spPr>
        <p:txBody>
          <a:bodyPr wrap="square" lIns="0" tIns="0" rIns="0" bIns="0" rtlCol="0" anchor="t"/>
          <a:lstStyle/>
          <a:p>
            <a:pPr indent="0" marL="0">
              <a:buNone/>
            </a:pPr>
            <a:r>
              <a:rPr lang="en-US" sz="1800" b="1" dirty="0">
                <a:solidFill>
                  <a:schemeClr val="tx1"/>
                </a:solidFill>
              </a:rPr>
              <a:t>How we would measure success</a:t>
            </a:r>
            <a:endParaRPr lang="en-US" sz="1800" dirty="0"/>
          </a:p>
        </p:txBody>
      </p:sp>
      <p:sp>
        <p:nvSpPr>
          <p:cNvPr id="29" name="measure"/>
          <p:cNvSpPr/>
          <p:nvPr/>
        </p:nvSpPr>
        <p:spPr>
          <a:xfrm>
            <a:off x="640080" y="4846320"/>
            <a:ext cx="2057400" cy="1097280"/>
          </a:xfrm>
          <a:prstGeom prst="roundRect">
            <a:avLst>
              <a:gd name="adj" fmla="val 8333"/>
            </a:avLst>
          </a:prstGeom>
          <a:solidFill>
            <a:srgbClr val="FAE8D4"/>
          </a:solidFill>
          <a:ln w="12700">
            <a:solidFill>
              <a:srgbClr val="FAE8D4"/>
            </a:solidFill>
            <a:prstDash val="solid"/>
          </a:ln>
        </p:spPr>
      </p:sp>
      <p:sp>
        <p:nvSpPr>
          <p:cNvPr id="30" name="Text 28"/>
          <p:cNvSpPr txBox="1"/>
          <p:nvPr/>
        </p:nvSpPr>
        <p:spPr>
          <a:xfrm>
            <a:off x="822960" y="4937760"/>
            <a:ext cx="1691640" cy="914400"/>
          </a:xfrm>
          <a:prstGeom prst="rect">
            <a:avLst/>
          </a:prstGeom>
          <a:noFill/>
          <a:ln/>
        </p:spPr>
        <p:txBody>
          <a:bodyPr wrap="square" lIns="0" tIns="0" rIns="0" bIns="0" rtlCol="0" anchor="ctr"/>
          <a:lstStyle/>
          <a:p>
            <a:pPr indent="0" marL="0">
              <a:buNone/>
            </a:pPr>
            <a:r>
              <a:rPr lang="en-US" sz="1300" b="1" dirty="0">
                <a:solidFill>
                  <a:srgbClr val="A85A18"/>
                </a:solidFill>
              </a:rPr>
              <a:t>Teacher hours saved preparing and marking</a:t>
            </a:r>
            <a:endParaRPr lang="en-US" sz="1300" dirty="0"/>
          </a:p>
        </p:txBody>
      </p:sp>
      <p:sp>
        <p:nvSpPr>
          <p:cNvPr id="31" name="measure"/>
          <p:cNvSpPr/>
          <p:nvPr/>
        </p:nvSpPr>
        <p:spPr>
          <a:xfrm>
            <a:off x="2862072" y="4846320"/>
            <a:ext cx="2057400" cy="1097280"/>
          </a:xfrm>
          <a:prstGeom prst="roundRect">
            <a:avLst>
              <a:gd name="adj" fmla="val 8333"/>
            </a:avLst>
          </a:prstGeom>
          <a:solidFill>
            <a:srgbClr val="FAE8D4"/>
          </a:solidFill>
          <a:ln w="12700">
            <a:solidFill>
              <a:srgbClr val="FAE8D4"/>
            </a:solidFill>
            <a:prstDash val="solid"/>
          </a:ln>
        </p:spPr>
      </p:sp>
      <p:sp>
        <p:nvSpPr>
          <p:cNvPr id="32" name="Text 30"/>
          <p:cNvSpPr txBox="1"/>
          <p:nvPr/>
        </p:nvSpPr>
        <p:spPr>
          <a:xfrm>
            <a:off x="3044952" y="4937760"/>
            <a:ext cx="1691640" cy="914400"/>
          </a:xfrm>
          <a:prstGeom prst="rect">
            <a:avLst/>
          </a:prstGeom>
          <a:noFill/>
          <a:ln/>
        </p:spPr>
        <p:txBody>
          <a:bodyPr wrap="square" lIns="0" tIns="0" rIns="0" bIns="0" rtlCol="0" anchor="ctr"/>
          <a:lstStyle/>
          <a:p>
            <a:pPr indent="0" marL="0">
              <a:buNone/>
            </a:pPr>
            <a:r>
              <a:rPr lang="en-US" sz="1300" b="1" dirty="0">
                <a:solidFill>
                  <a:srgbClr val="A85A18"/>
                </a:solidFill>
              </a:rPr>
              <a:t>Paper no longer printed and copied</a:t>
            </a:r>
            <a:endParaRPr lang="en-US" sz="1300" dirty="0"/>
          </a:p>
        </p:txBody>
      </p:sp>
      <p:sp>
        <p:nvSpPr>
          <p:cNvPr id="33" name="measure"/>
          <p:cNvSpPr/>
          <p:nvPr/>
        </p:nvSpPr>
        <p:spPr>
          <a:xfrm>
            <a:off x="5084064" y="4846320"/>
            <a:ext cx="2057400" cy="1097280"/>
          </a:xfrm>
          <a:prstGeom prst="roundRect">
            <a:avLst>
              <a:gd name="adj" fmla="val 8333"/>
            </a:avLst>
          </a:prstGeom>
          <a:solidFill>
            <a:srgbClr val="FAE8D4"/>
          </a:solidFill>
          <a:ln w="12700">
            <a:solidFill>
              <a:srgbClr val="FAE8D4"/>
            </a:solidFill>
            <a:prstDash val="solid"/>
          </a:ln>
        </p:spPr>
      </p:sp>
      <p:sp>
        <p:nvSpPr>
          <p:cNvPr id="34" name="Text 32"/>
          <p:cNvSpPr txBox="1"/>
          <p:nvPr/>
        </p:nvSpPr>
        <p:spPr>
          <a:xfrm>
            <a:off x="5266944" y="4937760"/>
            <a:ext cx="1691640" cy="914400"/>
          </a:xfrm>
          <a:prstGeom prst="rect">
            <a:avLst/>
          </a:prstGeom>
          <a:noFill/>
          <a:ln/>
        </p:spPr>
        <p:txBody>
          <a:bodyPr wrap="square" lIns="0" tIns="0" rIns="0" bIns="0" rtlCol="0" anchor="ctr"/>
          <a:lstStyle/>
          <a:p>
            <a:pPr indent="0" marL="0">
              <a:buNone/>
            </a:pPr>
            <a:r>
              <a:rPr lang="en-US" sz="1300" b="1" dirty="0">
                <a:solidFill>
                  <a:srgbClr val="A85A18"/>
                </a:solidFill>
              </a:rPr>
              <a:t>Time from exam to usable results</a:t>
            </a:r>
            <a:endParaRPr lang="en-US" sz="1300" dirty="0"/>
          </a:p>
        </p:txBody>
      </p:sp>
      <p:sp>
        <p:nvSpPr>
          <p:cNvPr id="35" name="measure"/>
          <p:cNvSpPr/>
          <p:nvPr/>
        </p:nvSpPr>
        <p:spPr>
          <a:xfrm>
            <a:off x="7306056" y="4846320"/>
            <a:ext cx="2057400" cy="1097280"/>
          </a:xfrm>
          <a:prstGeom prst="roundRect">
            <a:avLst>
              <a:gd name="adj" fmla="val 8333"/>
            </a:avLst>
          </a:prstGeom>
          <a:solidFill>
            <a:srgbClr val="FAE8D4"/>
          </a:solidFill>
          <a:ln w="12700">
            <a:solidFill>
              <a:srgbClr val="FAE8D4"/>
            </a:solidFill>
            <a:prstDash val="solid"/>
          </a:ln>
        </p:spPr>
      </p:sp>
      <p:sp>
        <p:nvSpPr>
          <p:cNvPr id="36" name="Text 34"/>
          <p:cNvSpPr txBox="1"/>
          <p:nvPr/>
        </p:nvSpPr>
        <p:spPr>
          <a:xfrm>
            <a:off x="7488936" y="4937760"/>
            <a:ext cx="1691640" cy="914400"/>
          </a:xfrm>
          <a:prstGeom prst="rect">
            <a:avLst/>
          </a:prstGeom>
          <a:noFill/>
          <a:ln/>
        </p:spPr>
        <p:txBody>
          <a:bodyPr wrap="square" lIns="0" tIns="0" rIns="0" bIns="0" rtlCol="0" anchor="ctr"/>
          <a:lstStyle/>
          <a:p>
            <a:pPr indent="0" marL="0">
              <a:buNone/>
            </a:pPr>
            <a:r>
              <a:rPr lang="en-US" sz="1300" b="1" dirty="0">
                <a:solidFill>
                  <a:srgbClr val="A85A18"/>
                </a:solidFill>
              </a:rPr>
              <a:t>Learning gaps found and acted on</a:t>
            </a:r>
            <a:endParaRPr lang="en-US" sz="1300" dirty="0"/>
          </a:p>
        </p:txBody>
      </p:sp>
      <p:sp>
        <p:nvSpPr>
          <p:cNvPr id="37" name="measure"/>
          <p:cNvSpPr/>
          <p:nvPr/>
        </p:nvSpPr>
        <p:spPr>
          <a:xfrm>
            <a:off x="9528048" y="4846320"/>
            <a:ext cx="2057400" cy="1097280"/>
          </a:xfrm>
          <a:prstGeom prst="roundRect">
            <a:avLst>
              <a:gd name="adj" fmla="val 8333"/>
            </a:avLst>
          </a:prstGeom>
          <a:solidFill>
            <a:srgbClr val="FAE8D4"/>
          </a:solidFill>
          <a:ln w="12700">
            <a:solidFill>
              <a:srgbClr val="FAE8D4"/>
            </a:solidFill>
            <a:prstDash val="solid"/>
          </a:ln>
        </p:spPr>
      </p:sp>
      <p:sp>
        <p:nvSpPr>
          <p:cNvPr id="38" name="Text 36"/>
          <p:cNvSpPr txBox="1"/>
          <p:nvPr/>
        </p:nvSpPr>
        <p:spPr>
          <a:xfrm>
            <a:off x="9710928" y="4937760"/>
            <a:ext cx="1691640" cy="914400"/>
          </a:xfrm>
          <a:prstGeom prst="rect">
            <a:avLst/>
          </a:prstGeom>
          <a:noFill/>
          <a:ln/>
        </p:spPr>
        <p:txBody>
          <a:bodyPr wrap="square" lIns="0" tIns="0" rIns="0" bIns="0" rtlCol="0" anchor="ctr"/>
          <a:lstStyle/>
          <a:p>
            <a:pPr indent="0" marL="0">
              <a:buNone/>
            </a:pPr>
            <a:r>
              <a:rPr lang="en-US" sz="1300" b="1" dirty="0">
                <a:solidFill>
                  <a:srgbClr val="A85A18"/>
                </a:solidFill>
              </a:rPr>
              <a:t>Teacher and student feedback</a:t>
            </a:r>
            <a:endParaRPr lang="en-US" sz="1300" dirty="0"/>
          </a:p>
        </p:txBody>
      </p:sp>
      <p:sp>
        <p:nvSpPr>
          <p:cNvPr id="39" name="Text 37"/>
          <p:cNvSpPr txBox="1"/>
          <p:nvPr/>
        </p:nvSpPr>
        <p:spPr>
          <a:xfrm>
            <a:off x="640080" y="6080760"/>
            <a:ext cx="10881360" cy="274320"/>
          </a:xfrm>
          <a:prstGeom prst="rect">
            <a:avLst/>
          </a:prstGeom>
          <a:noFill/>
          <a:ln/>
        </p:spPr>
        <p:txBody>
          <a:bodyPr wrap="square" lIns="0" tIns="0" rIns="0" bIns="0" rtlCol="0" anchor="t"/>
          <a:lstStyle/>
          <a:p>
            <a:pPr indent="0" marL="0">
              <a:buNone/>
            </a:pPr>
            <a:r>
              <a:rPr lang="en-US" sz="1200" i="1" dirty="0">
                <a:solidFill>
                  <a:schemeClr val="accent5"/>
                </a:solidFill>
              </a:rPr>
              <a:t>Scope, timing and measures are decided with you. This is a starting proposal.</a:t>
            </a:r>
            <a:endParaRPr lang="en-US" sz="12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0" y="2103120"/>
            <a:ext cx="12188952" cy="1097280"/>
          </a:xfrm>
          <a:prstGeom prst="rect">
            <a:avLst/>
          </a:prstGeom>
          <a:noFill/>
          <a:ln/>
        </p:spPr>
        <p:txBody>
          <a:bodyPr wrap="square" lIns="0" tIns="0" rIns="0" bIns="0" rtlCol="0" anchor="t"/>
          <a:lstStyle/>
          <a:p>
            <a:pPr algn="ctr" indent="0" marL="0">
              <a:buNone/>
            </a:pPr>
            <a:r>
              <a:rPr lang="en-US" sz="6000" b="1" dirty="0">
                <a:solidFill>
                  <a:schemeClr val="bg1"/>
                </a:solidFill>
              </a:rPr>
              <a:t>Now, experience it.</a:t>
            </a:r>
            <a:endParaRPr lang="en-US" sz="6000" dirty="0"/>
          </a:p>
        </p:txBody>
      </p:sp>
      <p:sp>
        <p:nvSpPr>
          <p:cNvPr id="3" name="Text 1"/>
          <p:cNvSpPr txBox="1"/>
          <p:nvPr/>
        </p:nvSpPr>
        <p:spPr>
          <a:xfrm>
            <a:off x="0" y="3474720"/>
            <a:ext cx="12188952" cy="548640"/>
          </a:xfrm>
          <a:prstGeom prst="rect">
            <a:avLst/>
          </a:prstGeom>
          <a:noFill/>
          <a:ln/>
        </p:spPr>
        <p:txBody>
          <a:bodyPr wrap="square" lIns="0" tIns="0" rIns="0" bIns="0" rtlCol="0" anchor="t"/>
          <a:lstStyle/>
          <a:p>
            <a:pPr algn="ctr" indent="0" marL="0">
              <a:buNone/>
            </a:pPr>
            <a:r>
              <a:rPr lang="en-US" sz="2600" dirty="0">
                <a:solidFill>
                  <a:srgbClr val="EC924A"/>
                </a:solidFill>
              </a:rPr>
              <a:t>Teacher.   Student.   Leadership.</a:t>
            </a:r>
            <a:endParaRPr lang="en-US" sz="2600" dirty="0"/>
          </a:p>
        </p:txBody>
      </p:sp>
      <p:sp>
        <p:nvSpPr>
          <p:cNvPr id="4" name="product circle"/>
          <p:cNvSpPr/>
          <p:nvPr/>
        </p:nvSpPr>
        <p:spPr>
          <a:xfrm>
            <a:off x="5138928" y="4572000"/>
            <a:ext cx="1051560" cy="1051560"/>
          </a:xfrm>
          <a:prstGeom prst="ellipse">
            <a:avLst/>
          </a:prstGeom>
          <a:solidFill>
            <a:srgbClr val="D4762A">
              <a:alpha val="82000"/>
            </a:srgbClr>
          </a:solidFill>
          <a:ln w="12700">
            <a:solidFill>
              <a:srgbClr val="D4762A"/>
            </a:solidFill>
            <a:prstDash val="solid"/>
          </a:ln>
        </p:spPr>
      </p:sp>
      <p:sp>
        <p:nvSpPr>
          <p:cNvPr id="5" name="product circle"/>
          <p:cNvSpPr/>
          <p:nvPr/>
        </p:nvSpPr>
        <p:spPr>
          <a:xfrm>
            <a:off x="5790895" y="4572000"/>
            <a:ext cx="1051560" cy="1051560"/>
          </a:xfrm>
          <a:prstGeom prst="ellipse">
            <a:avLst/>
          </a:prstGeom>
          <a:solidFill>
            <a:srgbClr val="1F8A84">
              <a:alpha val="82000"/>
            </a:srgbClr>
          </a:solidFill>
          <a:ln w="12700">
            <a:solidFill>
              <a:srgbClr val="1F8A84"/>
            </a:solidFill>
            <a:prstDash val="solid"/>
          </a:ln>
        </p:spPr>
      </p:sp>
      <p:sp>
        <p:nvSpPr>
          <p:cNvPr id="6" name="product circle"/>
          <p:cNvSpPr/>
          <p:nvPr/>
        </p:nvSpPr>
        <p:spPr>
          <a:xfrm>
            <a:off x="6442862" y="4572000"/>
            <a:ext cx="1051560" cy="1051560"/>
          </a:xfrm>
          <a:prstGeom prst="ellipse">
            <a:avLst/>
          </a:prstGeom>
          <a:solidFill>
            <a:srgbClr val="F2C230">
              <a:alpha val="82000"/>
            </a:srgbClr>
          </a:solidFill>
          <a:ln w="12700">
            <a:solidFill>
              <a:srgbClr val="F2C230"/>
            </a:solidFill>
            <a:prstDash val="solid"/>
          </a:ln>
        </p:spPr>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chemeClr val="accent1"/>
                </a:solidFill>
              </a:rPr>
              <a:t>PART 2   |   HANDS-ON SESSION</a:t>
            </a:r>
            <a:endParaRPr lang="en-US" sz="1100" dirty="0"/>
          </a:p>
        </p:txBody>
      </p:sp>
      <p:sp>
        <p:nvSpPr>
          <p:cNvPr id="3" name="Text 0"/>
          <p:cNvSpPr/>
          <p:nvPr>
            <p:ph idx="100" type="title" hasCustomPrompt="1"/>
          </p:nvPr>
        </p:nvSpPr>
        <p:spPr>
          <a:xfrm>
            <a:off x="640080" y="548640"/>
            <a:ext cx="10908792" cy="1005840"/>
          </a:xfrm>
          <a:prstGeom prst="rect">
            <a:avLst/>
          </a:prstGeom>
          <a:noFill/>
          <a:ln/>
        </p:spPr>
        <p:txBody>
          <a:bodyPr wrap="square" lIns="0" tIns="0" rIns="0" bIns="0" rtlCol="0" anchor="t"/>
          <a:lstStyle/>
          <a:p>
            <a:pPr algn="l" indent="0" marL="0">
              <a:buNone/>
            </a:pPr>
            <a:r>
              <a:rPr lang="en-US" sz="3400" b="1" dirty="0">
                <a:solidFill>
                  <a:schemeClr val="tx1"/>
                </a:solidFill>
              </a:rPr>
              <a:t>The hands-on session: about 40 minutes</a:t>
            </a:r>
            <a:endParaRPr lang="en-US" sz="3400" dirty="0"/>
          </a:p>
        </p:txBody>
      </p:sp>
      <p:sp>
        <p:nvSpPr>
          <p:cNvPr id="4" name="phase Orientation"/>
          <p:cNvSpPr/>
          <p:nvPr/>
        </p:nvSpPr>
        <p:spPr>
          <a:xfrm>
            <a:off x="640080" y="2011680"/>
            <a:ext cx="781583" cy="1005840"/>
          </a:xfrm>
          <a:prstGeom prst="rect">
            <a:avLst/>
          </a:prstGeom>
          <a:solidFill>
            <a:srgbClr val="1E1208"/>
          </a:solidFill>
          <a:ln w="12700">
            <a:solidFill>
              <a:srgbClr val="1E1208"/>
            </a:solidFill>
            <a:prstDash val="solid"/>
          </a:ln>
        </p:spPr>
      </p:sp>
      <p:sp>
        <p:nvSpPr>
          <p:cNvPr id="5" name="Text 3"/>
          <p:cNvSpPr txBox="1"/>
          <p:nvPr/>
        </p:nvSpPr>
        <p:spPr>
          <a:xfrm>
            <a:off x="731520" y="2084832"/>
            <a:ext cx="598703" cy="457200"/>
          </a:xfrm>
          <a:prstGeom prst="rect">
            <a:avLst/>
          </a:prstGeom>
          <a:noFill/>
          <a:ln/>
        </p:spPr>
        <p:txBody>
          <a:bodyPr wrap="square" lIns="0" tIns="0" rIns="0" bIns="0" rtlCol="0" anchor="t"/>
          <a:lstStyle/>
          <a:p>
            <a:pPr indent="0" marL="0">
              <a:buNone/>
            </a:pPr>
            <a:r>
              <a:rPr lang="en-US" sz="2400" b="1" dirty="0">
                <a:solidFill>
                  <a:srgbClr val="FFFFFF"/>
                </a:solidFill>
              </a:rPr>
              <a:t>3</a:t>
            </a:r>
            <a:endParaRPr lang="en-US" sz="2400" dirty="0"/>
          </a:p>
        </p:txBody>
      </p:sp>
      <p:sp>
        <p:nvSpPr>
          <p:cNvPr id="6" name="Text 4"/>
          <p:cNvSpPr txBox="1"/>
          <p:nvPr/>
        </p:nvSpPr>
        <p:spPr>
          <a:xfrm>
            <a:off x="731520" y="2542032"/>
            <a:ext cx="598703" cy="274320"/>
          </a:xfrm>
          <a:prstGeom prst="rect">
            <a:avLst/>
          </a:prstGeom>
          <a:noFill/>
          <a:ln/>
        </p:spPr>
        <p:txBody>
          <a:bodyPr wrap="square" lIns="0" tIns="0" rIns="0" bIns="0" rtlCol="0" anchor="t"/>
          <a:lstStyle/>
          <a:p>
            <a:pPr indent="0" marL="0">
              <a:buNone/>
            </a:pPr>
            <a:r>
              <a:rPr lang="en-US" sz="1200" dirty="0">
                <a:solidFill>
                  <a:srgbClr val="FFFFFF"/>
                </a:solidFill>
              </a:rPr>
              <a:t>min</a:t>
            </a:r>
            <a:endParaRPr lang="en-US" sz="1200" dirty="0"/>
          </a:p>
        </p:txBody>
      </p:sp>
      <p:sp>
        <p:nvSpPr>
          <p:cNvPr id="7" name="Text 5"/>
          <p:cNvSpPr txBox="1"/>
          <p:nvPr/>
        </p:nvSpPr>
        <p:spPr>
          <a:xfrm>
            <a:off x="685800" y="3108960"/>
            <a:ext cx="365760" cy="274320"/>
          </a:xfrm>
          <a:prstGeom prst="rect">
            <a:avLst/>
          </a:prstGeom>
          <a:noFill/>
          <a:ln/>
        </p:spPr>
        <p:txBody>
          <a:bodyPr wrap="square" lIns="0" tIns="0" rIns="0" bIns="0" rtlCol="0" anchor="t"/>
          <a:lstStyle/>
          <a:p>
            <a:pPr indent="0" marL="0">
              <a:buNone/>
            </a:pPr>
            <a:r>
              <a:rPr lang="en-US" sz="1200" b="1" dirty="0">
                <a:solidFill>
                  <a:schemeClr val="accent5"/>
                </a:solidFill>
              </a:rPr>
              <a:t>1</a:t>
            </a:r>
            <a:endParaRPr lang="en-US" sz="1200" dirty="0"/>
          </a:p>
        </p:txBody>
      </p:sp>
      <p:sp>
        <p:nvSpPr>
          <p:cNvPr id="8" name="Text 6"/>
          <p:cNvSpPr txBox="1"/>
          <p:nvPr/>
        </p:nvSpPr>
        <p:spPr>
          <a:xfrm>
            <a:off x="685800" y="3383280"/>
            <a:ext cx="726719" cy="548640"/>
          </a:xfrm>
          <a:prstGeom prst="rect">
            <a:avLst/>
          </a:prstGeom>
          <a:noFill/>
          <a:ln/>
        </p:spPr>
        <p:txBody>
          <a:bodyPr wrap="square" lIns="0" tIns="0" rIns="0" bIns="0" rtlCol="0" anchor="t"/>
          <a:lstStyle/>
          <a:p>
            <a:pPr indent="0" marL="0">
              <a:buNone/>
            </a:pPr>
            <a:r>
              <a:rPr lang="en-US" sz="1100" b="1" dirty="0">
                <a:solidFill>
                  <a:schemeClr val="tx1"/>
                </a:solidFill>
              </a:rPr>
              <a:t>Orientation</a:t>
            </a:r>
            <a:endParaRPr lang="en-US" sz="1100" dirty="0"/>
          </a:p>
        </p:txBody>
      </p:sp>
      <p:sp>
        <p:nvSpPr>
          <p:cNvPr id="9" name="phase Teacher"/>
          <p:cNvSpPr/>
          <p:nvPr/>
        </p:nvSpPr>
        <p:spPr>
          <a:xfrm>
            <a:off x="1458239" y="2011680"/>
            <a:ext cx="2690622" cy="1005840"/>
          </a:xfrm>
          <a:prstGeom prst="rect">
            <a:avLst/>
          </a:prstGeom>
          <a:solidFill>
            <a:srgbClr val="D4762A"/>
          </a:solidFill>
          <a:ln w="12700">
            <a:solidFill>
              <a:srgbClr val="D4762A"/>
            </a:solidFill>
            <a:prstDash val="solid"/>
          </a:ln>
        </p:spPr>
      </p:sp>
      <p:sp>
        <p:nvSpPr>
          <p:cNvPr id="10" name="Text 8"/>
          <p:cNvSpPr txBox="1"/>
          <p:nvPr/>
        </p:nvSpPr>
        <p:spPr>
          <a:xfrm>
            <a:off x="1549679" y="2084832"/>
            <a:ext cx="2507742" cy="457200"/>
          </a:xfrm>
          <a:prstGeom prst="rect">
            <a:avLst/>
          </a:prstGeom>
          <a:noFill/>
          <a:ln/>
        </p:spPr>
        <p:txBody>
          <a:bodyPr wrap="square" lIns="0" tIns="0" rIns="0" bIns="0" rtlCol="0" anchor="t"/>
          <a:lstStyle/>
          <a:p>
            <a:pPr indent="0" marL="0">
              <a:buNone/>
            </a:pPr>
            <a:r>
              <a:rPr lang="en-US" sz="2400" b="1" dirty="0">
                <a:solidFill>
                  <a:srgbClr val="FFFFFF"/>
                </a:solidFill>
              </a:rPr>
              <a:t>10</a:t>
            </a:r>
            <a:endParaRPr lang="en-US" sz="2400" dirty="0"/>
          </a:p>
        </p:txBody>
      </p:sp>
      <p:sp>
        <p:nvSpPr>
          <p:cNvPr id="11" name="Text 9"/>
          <p:cNvSpPr txBox="1"/>
          <p:nvPr/>
        </p:nvSpPr>
        <p:spPr>
          <a:xfrm>
            <a:off x="1549679" y="2542032"/>
            <a:ext cx="2507742" cy="274320"/>
          </a:xfrm>
          <a:prstGeom prst="rect">
            <a:avLst/>
          </a:prstGeom>
          <a:noFill/>
          <a:ln/>
        </p:spPr>
        <p:txBody>
          <a:bodyPr wrap="square" lIns="0" tIns="0" rIns="0" bIns="0" rtlCol="0" anchor="t"/>
          <a:lstStyle/>
          <a:p>
            <a:pPr indent="0" marL="0">
              <a:buNone/>
            </a:pPr>
            <a:r>
              <a:rPr lang="en-US" sz="1200" dirty="0">
                <a:solidFill>
                  <a:srgbClr val="FFFFFF"/>
                </a:solidFill>
              </a:rPr>
              <a:t>min</a:t>
            </a:r>
            <a:endParaRPr lang="en-US" sz="1200" dirty="0"/>
          </a:p>
        </p:txBody>
      </p:sp>
      <p:sp>
        <p:nvSpPr>
          <p:cNvPr id="12" name="Text 10"/>
          <p:cNvSpPr txBox="1"/>
          <p:nvPr/>
        </p:nvSpPr>
        <p:spPr>
          <a:xfrm>
            <a:off x="1503959" y="3108960"/>
            <a:ext cx="365760" cy="274320"/>
          </a:xfrm>
          <a:prstGeom prst="rect">
            <a:avLst/>
          </a:prstGeom>
          <a:noFill/>
          <a:ln/>
        </p:spPr>
        <p:txBody>
          <a:bodyPr wrap="square" lIns="0" tIns="0" rIns="0" bIns="0" rtlCol="0" anchor="t"/>
          <a:lstStyle/>
          <a:p>
            <a:pPr indent="0" marL="0">
              <a:buNone/>
            </a:pPr>
            <a:r>
              <a:rPr lang="en-US" sz="1200" b="1" dirty="0">
                <a:solidFill>
                  <a:schemeClr val="accent5"/>
                </a:solidFill>
              </a:rPr>
              <a:t>2</a:t>
            </a:r>
            <a:endParaRPr lang="en-US" sz="1200" dirty="0"/>
          </a:p>
        </p:txBody>
      </p:sp>
      <p:sp>
        <p:nvSpPr>
          <p:cNvPr id="13" name="Text 11"/>
          <p:cNvSpPr txBox="1"/>
          <p:nvPr/>
        </p:nvSpPr>
        <p:spPr>
          <a:xfrm>
            <a:off x="1503959" y="3383280"/>
            <a:ext cx="2635758" cy="548640"/>
          </a:xfrm>
          <a:prstGeom prst="rect">
            <a:avLst/>
          </a:prstGeom>
          <a:noFill/>
          <a:ln/>
        </p:spPr>
        <p:txBody>
          <a:bodyPr wrap="square" lIns="0" tIns="0" rIns="0" bIns="0" rtlCol="0" anchor="t"/>
          <a:lstStyle/>
          <a:p>
            <a:pPr indent="0" marL="0">
              <a:buNone/>
            </a:pPr>
            <a:r>
              <a:rPr lang="en-US" sz="1300" b="1" dirty="0">
                <a:solidFill>
                  <a:schemeClr val="tx1"/>
                </a:solidFill>
              </a:rPr>
              <a:t>Teacher</a:t>
            </a:r>
            <a:endParaRPr lang="en-US" sz="1300" dirty="0"/>
          </a:p>
        </p:txBody>
      </p:sp>
      <p:sp>
        <p:nvSpPr>
          <p:cNvPr id="14" name="phase Student"/>
          <p:cNvSpPr/>
          <p:nvPr/>
        </p:nvSpPr>
        <p:spPr>
          <a:xfrm>
            <a:off x="4185437" y="2011680"/>
            <a:ext cx="1872463" cy="1005840"/>
          </a:xfrm>
          <a:prstGeom prst="rect">
            <a:avLst/>
          </a:prstGeom>
          <a:solidFill>
            <a:srgbClr val="1F8A84"/>
          </a:solidFill>
          <a:ln w="12700">
            <a:solidFill>
              <a:srgbClr val="1F8A84"/>
            </a:solidFill>
            <a:prstDash val="solid"/>
          </a:ln>
        </p:spPr>
      </p:sp>
      <p:sp>
        <p:nvSpPr>
          <p:cNvPr id="15" name="Text 13"/>
          <p:cNvSpPr txBox="1"/>
          <p:nvPr/>
        </p:nvSpPr>
        <p:spPr>
          <a:xfrm>
            <a:off x="4276877" y="2084832"/>
            <a:ext cx="1689583" cy="457200"/>
          </a:xfrm>
          <a:prstGeom prst="rect">
            <a:avLst/>
          </a:prstGeom>
          <a:noFill/>
          <a:ln/>
        </p:spPr>
        <p:txBody>
          <a:bodyPr wrap="square" lIns="0" tIns="0" rIns="0" bIns="0" rtlCol="0" anchor="t"/>
          <a:lstStyle/>
          <a:p>
            <a:pPr indent="0" marL="0">
              <a:buNone/>
            </a:pPr>
            <a:r>
              <a:rPr lang="en-US" sz="2400" b="1" dirty="0">
                <a:solidFill>
                  <a:srgbClr val="FFFFFF"/>
                </a:solidFill>
              </a:rPr>
              <a:t>7</a:t>
            </a:r>
            <a:endParaRPr lang="en-US" sz="2400" dirty="0"/>
          </a:p>
        </p:txBody>
      </p:sp>
      <p:sp>
        <p:nvSpPr>
          <p:cNvPr id="16" name="Text 14"/>
          <p:cNvSpPr txBox="1"/>
          <p:nvPr/>
        </p:nvSpPr>
        <p:spPr>
          <a:xfrm>
            <a:off x="4276877" y="2542032"/>
            <a:ext cx="1689583" cy="274320"/>
          </a:xfrm>
          <a:prstGeom prst="rect">
            <a:avLst/>
          </a:prstGeom>
          <a:noFill/>
          <a:ln/>
        </p:spPr>
        <p:txBody>
          <a:bodyPr wrap="square" lIns="0" tIns="0" rIns="0" bIns="0" rtlCol="0" anchor="t"/>
          <a:lstStyle/>
          <a:p>
            <a:pPr indent="0" marL="0">
              <a:buNone/>
            </a:pPr>
            <a:r>
              <a:rPr lang="en-US" sz="1200" dirty="0">
                <a:solidFill>
                  <a:srgbClr val="FFFFFF"/>
                </a:solidFill>
              </a:rPr>
              <a:t>min</a:t>
            </a:r>
            <a:endParaRPr lang="en-US" sz="1200" dirty="0"/>
          </a:p>
        </p:txBody>
      </p:sp>
      <p:sp>
        <p:nvSpPr>
          <p:cNvPr id="17" name="Text 15"/>
          <p:cNvSpPr txBox="1"/>
          <p:nvPr/>
        </p:nvSpPr>
        <p:spPr>
          <a:xfrm>
            <a:off x="4231157" y="3108960"/>
            <a:ext cx="365760" cy="274320"/>
          </a:xfrm>
          <a:prstGeom prst="rect">
            <a:avLst/>
          </a:prstGeom>
          <a:noFill/>
          <a:ln/>
        </p:spPr>
        <p:txBody>
          <a:bodyPr wrap="square" lIns="0" tIns="0" rIns="0" bIns="0" rtlCol="0" anchor="t"/>
          <a:lstStyle/>
          <a:p>
            <a:pPr indent="0" marL="0">
              <a:buNone/>
            </a:pPr>
            <a:r>
              <a:rPr lang="en-US" sz="1200" b="1" dirty="0">
                <a:solidFill>
                  <a:schemeClr val="accent5"/>
                </a:solidFill>
              </a:rPr>
              <a:t>3</a:t>
            </a:r>
            <a:endParaRPr lang="en-US" sz="1200" dirty="0"/>
          </a:p>
        </p:txBody>
      </p:sp>
      <p:sp>
        <p:nvSpPr>
          <p:cNvPr id="18" name="Text 16"/>
          <p:cNvSpPr txBox="1"/>
          <p:nvPr/>
        </p:nvSpPr>
        <p:spPr>
          <a:xfrm>
            <a:off x="4231157" y="3383280"/>
            <a:ext cx="1817599" cy="548640"/>
          </a:xfrm>
          <a:prstGeom prst="rect">
            <a:avLst/>
          </a:prstGeom>
          <a:noFill/>
          <a:ln/>
        </p:spPr>
        <p:txBody>
          <a:bodyPr wrap="square" lIns="0" tIns="0" rIns="0" bIns="0" rtlCol="0" anchor="t"/>
          <a:lstStyle/>
          <a:p>
            <a:pPr indent="0" marL="0">
              <a:buNone/>
            </a:pPr>
            <a:r>
              <a:rPr lang="en-US" sz="1300" b="1" dirty="0">
                <a:solidFill>
                  <a:schemeClr val="tx1"/>
                </a:solidFill>
              </a:rPr>
              <a:t>Student</a:t>
            </a:r>
            <a:endParaRPr lang="en-US" sz="1300" dirty="0"/>
          </a:p>
        </p:txBody>
      </p:sp>
      <p:sp>
        <p:nvSpPr>
          <p:cNvPr id="19" name="phase Results"/>
          <p:cNvSpPr/>
          <p:nvPr/>
        </p:nvSpPr>
        <p:spPr>
          <a:xfrm>
            <a:off x="6094476" y="2011680"/>
            <a:ext cx="1327023" cy="1005840"/>
          </a:xfrm>
          <a:prstGeom prst="rect">
            <a:avLst/>
          </a:prstGeom>
          <a:solidFill>
            <a:srgbClr val="A85A18"/>
          </a:solidFill>
          <a:ln w="12700">
            <a:solidFill>
              <a:srgbClr val="A85A18"/>
            </a:solidFill>
            <a:prstDash val="solid"/>
          </a:ln>
        </p:spPr>
      </p:sp>
      <p:sp>
        <p:nvSpPr>
          <p:cNvPr id="20" name="Text 18"/>
          <p:cNvSpPr txBox="1"/>
          <p:nvPr/>
        </p:nvSpPr>
        <p:spPr>
          <a:xfrm>
            <a:off x="6185916" y="2084832"/>
            <a:ext cx="1144143" cy="457200"/>
          </a:xfrm>
          <a:prstGeom prst="rect">
            <a:avLst/>
          </a:prstGeom>
          <a:noFill/>
          <a:ln/>
        </p:spPr>
        <p:txBody>
          <a:bodyPr wrap="square" lIns="0" tIns="0" rIns="0" bIns="0" rtlCol="0" anchor="t"/>
          <a:lstStyle/>
          <a:p>
            <a:pPr indent="0" marL="0">
              <a:buNone/>
            </a:pPr>
            <a:r>
              <a:rPr lang="en-US" sz="2400" b="1" dirty="0">
                <a:solidFill>
                  <a:srgbClr val="FFFFFF"/>
                </a:solidFill>
              </a:rPr>
              <a:t>5</a:t>
            </a:r>
            <a:endParaRPr lang="en-US" sz="2400" dirty="0"/>
          </a:p>
        </p:txBody>
      </p:sp>
      <p:sp>
        <p:nvSpPr>
          <p:cNvPr id="21" name="Text 19"/>
          <p:cNvSpPr txBox="1"/>
          <p:nvPr/>
        </p:nvSpPr>
        <p:spPr>
          <a:xfrm>
            <a:off x="6185916" y="2542032"/>
            <a:ext cx="1144143" cy="274320"/>
          </a:xfrm>
          <a:prstGeom prst="rect">
            <a:avLst/>
          </a:prstGeom>
          <a:noFill/>
          <a:ln/>
        </p:spPr>
        <p:txBody>
          <a:bodyPr wrap="square" lIns="0" tIns="0" rIns="0" bIns="0" rtlCol="0" anchor="t"/>
          <a:lstStyle/>
          <a:p>
            <a:pPr indent="0" marL="0">
              <a:buNone/>
            </a:pPr>
            <a:r>
              <a:rPr lang="en-US" sz="1200" dirty="0">
                <a:solidFill>
                  <a:srgbClr val="FFFFFF"/>
                </a:solidFill>
              </a:rPr>
              <a:t>min</a:t>
            </a:r>
            <a:endParaRPr lang="en-US" sz="1200" dirty="0"/>
          </a:p>
        </p:txBody>
      </p:sp>
      <p:sp>
        <p:nvSpPr>
          <p:cNvPr id="22" name="Text 20"/>
          <p:cNvSpPr txBox="1"/>
          <p:nvPr/>
        </p:nvSpPr>
        <p:spPr>
          <a:xfrm>
            <a:off x="6140196" y="3108960"/>
            <a:ext cx="365760" cy="274320"/>
          </a:xfrm>
          <a:prstGeom prst="rect">
            <a:avLst/>
          </a:prstGeom>
          <a:noFill/>
          <a:ln/>
        </p:spPr>
        <p:txBody>
          <a:bodyPr wrap="square" lIns="0" tIns="0" rIns="0" bIns="0" rtlCol="0" anchor="t"/>
          <a:lstStyle/>
          <a:p>
            <a:pPr indent="0" marL="0">
              <a:buNone/>
            </a:pPr>
            <a:r>
              <a:rPr lang="en-US" sz="1200" b="1" dirty="0">
                <a:solidFill>
                  <a:schemeClr val="accent5"/>
                </a:solidFill>
              </a:rPr>
              <a:t>4</a:t>
            </a:r>
            <a:endParaRPr lang="en-US" sz="1200" dirty="0"/>
          </a:p>
        </p:txBody>
      </p:sp>
      <p:sp>
        <p:nvSpPr>
          <p:cNvPr id="23" name="Text 21"/>
          <p:cNvSpPr txBox="1"/>
          <p:nvPr/>
        </p:nvSpPr>
        <p:spPr>
          <a:xfrm>
            <a:off x="6140196" y="3383280"/>
            <a:ext cx="1272159" cy="548640"/>
          </a:xfrm>
          <a:prstGeom prst="rect">
            <a:avLst/>
          </a:prstGeom>
          <a:noFill/>
          <a:ln/>
        </p:spPr>
        <p:txBody>
          <a:bodyPr wrap="square" lIns="0" tIns="0" rIns="0" bIns="0" rtlCol="0" anchor="t"/>
          <a:lstStyle/>
          <a:p>
            <a:pPr indent="0" marL="0">
              <a:buNone/>
            </a:pPr>
            <a:r>
              <a:rPr lang="en-US" sz="1300" b="1" dirty="0">
                <a:solidFill>
                  <a:schemeClr val="tx1"/>
                </a:solidFill>
              </a:rPr>
              <a:t>Results</a:t>
            </a:r>
            <a:endParaRPr lang="en-US" sz="1300" dirty="0"/>
          </a:p>
        </p:txBody>
      </p:sp>
      <p:sp>
        <p:nvSpPr>
          <p:cNvPr id="24" name="phase Smart Learning"/>
          <p:cNvSpPr/>
          <p:nvPr/>
        </p:nvSpPr>
        <p:spPr>
          <a:xfrm>
            <a:off x="7458075" y="2011680"/>
            <a:ext cx="1327023" cy="1005840"/>
          </a:xfrm>
          <a:prstGeom prst="rect">
            <a:avLst/>
          </a:prstGeom>
          <a:solidFill>
            <a:srgbClr val="1F8A84"/>
          </a:solidFill>
          <a:ln w="12700">
            <a:solidFill>
              <a:srgbClr val="1F8A84"/>
            </a:solidFill>
            <a:prstDash val="solid"/>
          </a:ln>
        </p:spPr>
      </p:sp>
      <p:sp>
        <p:nvSpPr>
          <p:cNvPr id="25" name="Text 23"/>
          <p:cNvSpPr txBox="1"/>
          <p:nvPr/>
        </p:nvSpPr>
        <p:spPr>
          <a:xfrm>
            <a:off x="7549515" y="2084832"/>
            <a:ext cx="1144143" cy="457200"/>
          </a:xfrm>
          <a:prstGeom prst="rect">
            <a:avLst/>
          </a:prstGeom>
          <a:noFill/>
          <a:ln/>
        </p:spPr>
        <p:txBody>
          <a:bodyPr wrap="square" lIns="0" tIns="0" rIns="0" bIns="0" rtlCol="0" anchor="t"/>
          <a:lstStyle/>
          <a:p>
            <a:pPr indent="0" marL="0">
              <a:buNone/>
            </a:pPr>
            <a:r>
              <a:rPr lang="en-US" sz="2400" b="1" dirty="0">
                <a:solidFill>
                  <a:srgbClr val="FFFFFF"/>
                </a:solidFill>
              </a:rPr>
              <a:t>5</a:t>
            </a:r>
            <a:endParaRPr lang="en-US" sz="2400" dirty="0"/>
          </a:p>
        </p:txBody>
      </p:sp>
      <p:sp>
        <p:nvSpPr>
          <p:cNvPr id="26" name="Text 24"/>
          <p:cNvSpPr txBox="1"/>
          <p:nvPr/>
        </p:nvSpPr>
        <p:spPr>
          <a:xfrm>
            <a:off x="7549515" y="2542032"/>
            <a:ext cx="1144143" cy="274320"/>
          </a:xfrm>
          <a:prstGeom prst="rect">
            <a:avLst/>
          </a:prstGeom>
          <a:noFill/>
          <a:ln/>
        </p:spPr>
        <p:txBody>
          <a:bodyPr wrap="square" lIns="0" tIns="0" rIns="0" bIns="0" rtlCol="0" anchor="t"/>
          <a:lstStyle/>
          <a:p>
            <a:pPr indent="0" marL="0">
              <a:buNone/>
            </a:pPr>
            <a:r>
              <a:rPr lang="en-US" sz="1200" dirty="0">
                <a:solidFill>
                  <a:srgbClr val="FFFFFF"/>
                </a:solidFill>
              </a:rPr>
              <a:t>min</a:t>
            </a:r>
            <a:endParaRPr lang="en-US" sz="1200" dirty="0"/>
          </a:p>
        </p:txBody>
      </p:sp>
      <p:sp>
        <p:nvSpPr>
          <p:cNvPr id="27" name="Text 25"/>
          <p:cNvSpPr txBox="1"/>
          <p:nvPr/>
        </p:nvSpPr>
        <p:spPr>
          <a:xfrm>
            <a:off x="7503795" y="3108960"/>
            <a:ext cx="365760" cy="274320"/>
          </a:xfrm>
          <a:prstGeom prst="rect">
            <a:avLst/>
          </a:prstGeom>
          <a:noFill/>
          <a:ln/>
        </p:spPr>
        <p:txBody>
          <a:bodyPr wrap="square" lIns="0" tIns="0" rIns="0" bIns="0" rtlCol="0" anchor="t"/>
          <a:lstStyle/>
          <a:p>
            <a:pPr indent="0" marL="0">
              <a:buNone/>
            </a:pPr>
            <a:r>
              <a:rPr lang="en-US" sz="1200" b="1" dirty="0">
                <a:solidFill>
                  <a:schemeClr val="accent5"/>
                </a:solidFill>
              </a:rPr>
              <a:t>5</a:t>
            </a:r>
            <a:endParaRPr lang="en-US" sz="1200" dirty="0"/>
          </a:p>
        </p:txBody>
      </p:sp>
      <p:sp>
        <p:nvSpPr>
          <p:cNvPr id="28" name="Text 26"/>
          <p:cNvSpPr txBox="1"/>
          <p:nvPr/>
        </p:nvSpPr>
        <p:spPr>
          <a:xfrm>
            <a:off x="7503795" y="3383280"/>
            <a:ext cx="1272159" cy="548640"/>
          </a:xfrm>
          <a:prstGeom prst="rect">
            <a:avLst/>
          </a:prstGeom>
          <a:noFill/>
          <a:ln/>
        </p:spPr>
        <p:txBody>
          <a:bodyPr wrap="square" lIns="0" tIns="0" rIns="0" bIns="0" rtlCol="0" anchor="t"/>
          <a:lstStyle/>
          <a:p>
            <a:pPr indent="0" marL="0">
              <a:buNone/>
            </a:pPr>
            <a:r>
              <a:rPr lang="en-US" sz="1300" b="1" dirty="0">
                <a:solidFill>
                  <a:schemeClr val="tx1"/>
                </a:solidFill>
              </a:rPr>
              <a:t>Smart Learning</a:t>
            </a:r>
            <a:endParaRPr lang="en-US" sz="1300" dirty="0"/>
          </a:p>
        </p:txBody>
      </p:sp>
      <p:sp>
        <p:nvSpPr>
          <p:cNvPr id="29" name="phase Smart Play"/>
          <p:cNvSpPr/>
          <p:nvPr/>
        </p:nvSpPr>
        <p:spPr>
          <a:xfrm>
            <a:off x="8821674" y="2011680"/>
            <a:ext cx="1327023" cy="1005840"/>
          </a:xfrm>
          <a:prstGeom prst="rect">
            <a:avLst/>
          </a:prstGeom>
          <a:solidFill>
            <a:srgbClr val="B58A00"/>
          </a:solidFill>
          <a:ln w="12700">
            <a:solidFill>
              <a:srgbClr val="B58A00"/>
            </a:solidFill>
            <a:prstDash val="solid"/>
          </a:ln>
        </p:spPr>
      </p:sp>
      <p:sp>
        <p:nvSpPr>
          <p:cNvPr id="30" name="Text 28"/>
          <p:cNvSpPr txBox="1"/>
          <p:nvPr/>
        </p:nvSpPr>
        <p:spPr>
          <a:xfrm>
            <a:off x="8913114" y="2084832"/>
            <a:ext cx="1144143" cy="457200"/>
          </a:xfrm>
          <a:prstGeom prst="rect">
            <a:avLst/>
          </a:prstGeom>
          <a:noFill/>
          <a:ln/>
        </p:spPr>
        <p:txBody>
          <a:bodyPr wrap="square" lIns="0" tIns="0" rIns="0" bIns="0" rtlCol="0" anchor="t"/>
          <a:lstStyle/>
          <a:p>
            <a:pPr indent="0" marL="0">
              <a:buNone/>
            </a:pPr>
            <a:r>
              <a:rPr lang="en-US" sz="2400" b="1" dirty="0">
                <a:solidFill>
                  <a:srgbClr val="FFFFFF"/>
                </a:solidFill>
              </a:rPr>
              <a:t>5</a:t>
            </a:r>
            <a:endParaRPr lang="en-US" sz="2400" dirty="0"/>
          </a:p>
        </p:txBody>
      </p:sp>
      <p:sp>
        <p:nvSpPr>
          <p:cNvPr id="31" name="Text 29"/>
          <p:cNvSpPr txBox="1"/>
          <p:nvPr/>
        </p:nvSpPr>
        <p:spPr>
          <a:xfrm>
            <a:off x="8913114" y="2542032"/>
            <a:ext cx="1144143" cy="274320"/>
          </a:xfrm>
          <a:prstGeom prst="rect">
            <a:avLst/>
          </a:prstGeom>
          <a:noFill/>
          <a:ln/>
        </p:spPr>
        <p:txBody>
          <a:bodyPr wrap="square" lIns="0" tIns="0" rIns="0" bIns="0" rtlCol="0" anchor="t"/>
          <a:lstStyle/>
          <a:p>
            <a:pPr indent="0" marL="0">
              <a:buNone/>
            </a:pPr>
            <a:r>
              <a:rPr lang="en-US" sz="1200" dirty="0">
                <a:solidFill>
                  <a:srgbClr val="FFFFFF"/>
                </a:solidFill>
              </a:rPr>
              <a:t>min</a:t>
            </a:r>
            <a:endParaRPr lang="en-US" sz="1200" dirty="0"/>
          </a:p>
        </p:txBody>
      </p:sp>
      <p:sp>
        <p:nvSpPr>
          <p:cNvPr id="32" name="Text 30"/>
          <p:cNvSpPr txBox="1"/>
          <p:nvPr/>
        </p:nvSpPr>
        <p:spPr>
          <a:xfrm>
            <a:off x="8867394" y="3108960"/>
            <a:ext cx="365760" cy="274320"/>
          </a:xfrm>
          <a:prstGeom prst="rect">
            <a:avLst/>
          </a:prstGeom>
          <a:noFill/>
          <a:ln/>
        </p:spPr>
        <p:txBody>
          <a:bodyPr wrap="square" lIns="0" tIns="0" rIns="0" bIns="0" rtlCol="0" anchor="t"/>
          <a:lstStyle/>
          <a:p>
            <a:pPr indent="0" marL="0">
              <a:buNone/>
            </a:pPr>
            <a:r>
              <a:rPr lang="en-US" sz="1200" b="1" dirty="0">
                <a:solidFill>
                  <a:schemeClr val="accent5"/>
                </a:solidFill>
              </a:rPr>
              <a:t>6</a:t>
            </a:r>
            <a:endParaRPr lang="en-US" sz="1200" dirty="0"/>
          </a:p>
        </p:txBody>
      </p:sp>
      <p:sp>
        <p:nvSpPr>
          <p:cNvPr id="33" name="Text 31"/>
          <p:cNvSpPr txBox="1"/>
          <p:nvPr/>
        </p:nvSpPr>
        <p:spPr>
          <a:xfrm>
            <a:off x="8867394" y="3383280"/>
            <a:ext cx="1272159" cy="548640"/>
          </a:xfrm>
          <a:prstGeom prst="rect">
            <a:avLst/>
          </a:prstGeom>
          <a:noFill/>
          <a:ln/>
        </p:spPr>
        <p:txBody>
          <a:bodyPr wrap="square" lIns="0" tIns="0" rIns="0" bIns="0" rtlCol="0" anchor="t"/>
          <a:lstStyle/>
          <a:p>
            <a:pPr indent="0" marL="0">
              <a:buNone/>
            </a:pPr>
            <a:r>
              <a:rPr lang="en-US" sz="1300" b="1" dirty="0">
                <a:solidFill>
                  <a:schemeClr val="tx1"/>
                </a:solidFill>
              </a:rPr>
              <a:t>Smart Play</a:t>
            </a:r>
            <a:endParaRPr lang="en-US" sz="1300" dirty="0"/>
          </a:p>
        </p:txBody>
      </p:sp>
      <p:sp>
        <p:nvSpPr>
          <p:cNvPr id="34" name="phase Leadership"/>
          <p:cNvSpPr/>
          <p:nvPr/>
        </p:nvSpPr>
        <p:spPr>
          <a:xfrm>
            <a:off x="10185273" y="2011680"/>
            <a:ext cx="1327023" cy="1005840"/>
          </a:xfrm>
          <a:prstGeom prst="rect">
            <a:avLst/>
          </a:prstGeom>
          <a:solidFill>
            <a:srgbClr val="6B4F35"/>
          </a:solidFill>
          <a:ln w="12700">
            <a:solidFill>
              <a:srgbClr val="6B4F35"/>
            </a:solidFill>
            <a:prstDash val="solid"/>
          </a:ln>
        </p:spPr>
      </p:sp>
      <p:sp>
        <p:nvSpPr>
          <p:cNvPr id="35" name="Text 33"/>
          <p:cNvSpPr txBox="1"/>
          <p:nvPr/>
        </p:nvSpPr>
        <p:spPr>
          <a:xfrm>
            <a:off x="10276713" y="2084832"/>
            <a:ext cx="1144143" cy="457200"/>
          </a:xfrm>
          <a:prstGeom prst="rect">
            <a:avLst/>
          </a:prstGeom>
          <a:noFill/>
          <a:ln/>
        </p:spPr>
        <p:txBody>
          <a:bodyPr wrap="square" lIns="0" tIns="0" rIns="0" bIns="0" rtlCol="0" anchor="t"/>
          <a:lstStyle/>
          <a:p>
            <a:pPr indent="0" marL="0">
              <a:buNone/>
            </a:pPr>
            <a:r>
              <a:rPr lang="en-US" sz="2400" b="1" dirty="0">
                <a:solidFill>
                  <a:srgbClr val="FFFFFF"/>
                </a:solidFill>
              </a:rPr>
              <a:t>5</a:t>
            </a:r>
            <a:endParaRPr lang="en-US" sz="2400" dirty="0"/>
          </a:p>
        </p:txBody>
      </p:sp>
      <p:sp>
        <p:nvSpPr>
          <p:cNvPr id="36" name="Text 34"/>
          <p:cNvSpPr txBox="1"/>
          <p:nvPr/>
        </p:nvSpPr>
        <p:spPr>
          <a:xfrm>
            <a:off x="10276713" y="2542032"/>
            <a:ext cx="1144143" cy="274320"/>
          </a:xfrm>
          <a:prstGeom prst="rect">
            <a:avLst/>
          </a:prstGeom>
          <a:noFill/>
          <a:ln/>
        </p:spPr>
        <p:txBody>
          <a:bodyPr wrap="square" lIns="0" tIns="0" rIns="0" bIns="0" rtlCol="0" anchor="t"/>
          <a:lstStyle/>
          <a:p>
            <a:pPr indent="0" marL="0">
              <a:buNone/>
            </a:pPr>
            <a:r>
              <a:rPr lang="en-US" sz="1200" dirty="0">
                <a:solidFill>
                  <a:srgbClr val="FFFFFF"/>
                </a:solidFill>
              </a:rPr>
              <a:t>min</a:t>
            </a:r>
            <a:endParaRPr lang="en-US" sz="1200" dirty="0"/>
          </a:p>
        </p:txBody>
      </p:sp>
      <p:sp>
        <p:nvSpPr>
          <p:cNvPr id="37" name="Text 35"/>
          <p:cNvSpPr txBox="1"/>
          <p:nvPr/>
        </p:nvSpPr>
        <p:spPr>
          <a:xfrm>
            <a:off x="10230993" y="3108960"/>
            <a:ext cx="365760" cy="274320"/>
          </a:xfrm>
          <a:prstGeom prst="rect">
            <a:avLst/>
          </a:prstGeom>
          <a:noFill/>
          <a:ln/>
        </p:spPr>
        <p:txBody>
          <a:bodyPr wrap="square" lIns="0" tIns="0" rIns="0" bIns="0" rtlCol="0" anchor="t"/>
          <a:lstStyle/>
          <a:p>
            <a:pPr indent="0" marL="0">
              <a:buNone/>
            </a:pPr>
            <a:r>
              <a:rPr lang="en-US" sz="1200" b="1" dirty="0">
                <a:solidFill>
                  <a:schemeClr val="accent5"/>
                </a:solidFill>
              </a:rPr>
              <a:t>7</a:t>
            </a:r>
            <a:endParaRPr lang="en-US" sz="1200" dirty="0"/>
          </a:p>
        </p:txBody>
      </p:sp>
      <p:sp>
        <p:nvSpPr>
          <p:cNvPr id="38" name="Text 36"/>
          <p:cNvSpPr txBox="1"/>
          <p:nvPr/>
        </p:nvSpPr>
        <p:spPr>
          <a:xfrm>
            <a:off x="10230993" y="3383280"/>
            <a:ext cx="1272159" cy="548640"/>
          </a:xfrm>
          <a:prstGeom prst="rect">
            <a:avLst/>
          </a:prstGeom>
          <a:noFill/>
          <a:ln/>
        </p:spPr>
        <p:txBody>
          <a:bodyPr wrap="square" lIns="0" tIns="0" rIns="0" bIns="0" rtlCol="0" anchor="t"/>
          <a:lstStyle/>
          <a:p>
            <a:pPr indent="0" marL="0">
              <a:buNone/>
            </a:pPr>
            <a:r>
              <a:rPr lang="en-US" sz="1300" b="1" dirty="0">
                <a:solidFill>
                  <a:schemeClr val="tx1"/>
                </a:solidFill>
              </a:rPr>
              <a:t>Leadership</a:t>
            </a:r>
            <a:endParaRPr lang="en-US" sz="1300" dirty="0"/>
          </a:p>
        </p:txBody>
      </p:sp>
      <p:sp>
        <p:nvSpPr>
          <p:cNvPr id="39" name="card"/>
          <p:cNvSpPr/>
          <p:nvPr/>
        </p:nvSpPr>
        <p:spPr>
          <a:xfrm>
            <a:off x="640080" y="4343400"/>
            <a:ext cx="5376672" cy="1737360"/>
          </a:xfrm>
          <a:prstGeom prst="roundRect">
            <a:avLst>
              <a:gd name="adj" fmla="val 6316"/>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40" name="icon circle"/>
          <p:cNvSpPr/>
          <p:nvPr/>
        </p:nvSpPr>
        <p:spPr>
          <a:xfrm>
            <a:off x="914400" y="4572000"/>
            <a:ext cx="548640" cy="548640"/>
          </a:xfrm>
          <a:prstGeom prst="ellipse">
            <a:avLst/>
          </a:prstGeom>
          <a:solidFill>
            <a:srgbClr val="1F8A84"/>
          </a:solidFill>
          <a:ln w="12700">
            <a:solidFill>
              <a:srgbClr val="1F8A84"/>
            </a:solidFill>
            <a:prstDash val="solid"/>
          </a:ln>
        </p:spPr>
      </p:sp>
      <p:pic>
        <p:nvPicPr>
          <p:cNvPr id="41" name="icon" descr="preencoded.png">    </p:cNvPr>
          <p:cNvPicPr>
            <a:picLocks noChangeAspect="1"/>
          </p:cNvPicPr>
          <p:nvPr/>
        </p:nvPicPr>
        <p:blipFill>
          <a:blip r:embed="rId1"/>
          <a:stretch>
            <a:fillRect/>
          </a:stretch>
        </p:blipFill>
        <p:spPr>
          <a:xfrm>
            <a:off x="1035101" y="4692701"/>
            <a:ext cx="307238" cy="307238"/>
          </a:xfrm>
          <a:prstGeom prst="rect">
            <a:avLst/>
          </a:prstGeom>
        </p:spPr>
      </p:pic>
      <p:sp>
        <p:nvSpPr>
          <p:cNvPr id="42" name="Text 39"/>
          <p:cNvSpPr txBox="1"/>
          <p:nvPr/>
        </p:nvSpPr>
        <p:spPr>
          <a:xfrm>
            <a:off x="1645920" y="4572000"/>
            <a:ext cx="4114800" cy="365760"/>
          </a:xfrm>
          <a:prstGeom prst="rect">
            <a:avLst/>
          </a:prstGeom>
          <a:noFill/>
          <a:ln/>
        </p:spPr>
        <p:txBody>
          <a:bodyPr wrap="square" lIns="0" tIns="0" rIns="0" bIns="0" rtlCol="0" anchor="t"/>
          <a:lstStyle/>
          <a:p>
            <a:pPr indent="0" marL="0">
              <a:buNone/>
            </a:pPr>
            <a:r>
              <a:rPr lang="en-US" sz="1800" b="1" dirty="0">
                <a:solidFill>
                  <a:schemeClr val="tx1"/>
                </a:solidFill>
              </a:rPr>
              <a:t>Then: explore on your own</a:t>
            </a:r>
            <a:endParaRPr lang="en-US" sz="1800" dirty="0"/>
          </a:p>
        </p:txBody>
      </p:sp>
      <p:sp>
        <p:nvSpPr>
          <p:cNvPr id="43" name="Text 40"/>
          <p:cNvSpPr txBox="1"/>
          <p:nvPr/>
        </p:nvSpPr>
        <p:spPr>
          <a:xfrm>
            <a:off x="1645920" y="4983480"/>
            <a:ext cx="4114800" cy="822960"/>
          </a:xfrm>
          <a:prstGeom prst="rect">
            <a:avLst/>
          </a:prstGeom>
          <a:noFill/>
          <a:ln/>
        </p:spPr>
        <p:txBody>
          <a:bodyPr wrap="square" lIns="0" tIns="0" rIns="0" bIns="0" rtlCol="0" anchor="t"/>
          <a:lstStyle/>
          <a:p>
            <a:pPr indent="0" marL="0">
              <a:buNone/>
            </a:pPr>
            <a:r>
              <a:rPr lang="en-US" sz="1400" dirty="0">
                <a:solidFill>
                  <a:schemeClr val="accent5"/>
                </a:solidFill>
              </a:rPr>
              <a:t>10 minutes to try the challenge sheet for your role.</a:t>
            </a:r>
            <a:endParaRPr lang="en-US" sz="1400" dirty="0"/>
          </a:p>
        </p:txBody>
      </p:sp>
      <p:sp>
        <p:nvSpPr>
          <p:cNvPr id="44" name="card"/>
          <p:cNvSpPr/>
          <p:nvPr/>
        </p:nvSpPr>
        <p:spPr>
          <a:xfrm>
            <a:off x="6172200" y="4343400"/>
            <a:ext cx="5376672" cy="1737360"/>
          </a:xfrm>
          <a:prstGeom prst="roundRect">
            <a:avLst>
              <a:gd name="adj" fmla="val 6316"/>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45" name="icon circle"/>
          <p:cNvSpPr/>
          <p:nvPr/>
        </p:nvSpPr>
        <p:spPr>
          <a:xfrm>
            <a:off x="6446520" y="4572000"/>
            <a:ext cx="548640" cy="548640"/>
          </a:xfrm>
          <a:prstGeom prst="ellipse">
            <a:avLst/>
          </a:prstGeom>
          <a:solidFill>
            <a:srgbClr val="D4762A"/>
          </a:solidFill>
          <a:ln w="12700">
            <a:solidFill>
              <a:srgbClr val="D4762A"/>
            </a:solidFill>
            <a:prstDash val="solid"/>
          </a:ln>
        </p:spPr>
      </p:sp>
      <p:pic>
        <p:nvPicPr>
          <p:cNvPr id="46" name="icon" descr="preencoded.png">    </p:cNvPr>
          <p:cNvPicPr>
            <a:picLocks noChangeAspect="1"/>
          </p:cNvPicPr>
          <p:nvPr/>
        </p:nvPicPr>
        <p:blipFill>
          <a:blip r:embed="rId2"/>
          <a:stretch>
            <a:fillRect/>
          </a:stretch>
        </p:blipFill>
        <p:spPr>
          <a:xfrm>
            <a:off x="6567221" y="4692701"/>
            <a:ext cx="307238" cy="307238"/>
          </a:xfrm>
          <a:prstGeom prst="rect">
            <a:avLst/>
          </a:prstGeom>
        </p:spPr>
      </p:pic>
      <p:sp>
        <p:nvSpPr>
          <p:cNvPr id="47" name="Text 43"/>
          <p:cNvSpPr txBox="1"/>
          <p:nvPr/>
        </p:nvSpPr>
        <p:spPr>
          <a:xfrm>
            <a:off x="7178040" y="4572000"/>
            <a:ext cx="4114800" cy="365760"/>
          </a:xfrm>
          <a:prstGeom prst="rect">
            <a:avLst/>
          </a:prstGeom>
          <a:noFill/>
          <a:ln/>
        </p:spPr>
        <p:txBody>
          <a:bodyPr wrap="square" lIns="0" tIns="0" rIns="0" bIns="0" rtlCol="0" anchor="t"/>
          <a:lstStyle/>
          <a:p>
            <a:pPr indent="0" marL="0">
              <a:buNone/>
            </a:pPr>
            <a:r>
              <a:rPr lang="en-US" sz="1800" b="1" dirty="0">
                <a:solidFill>
                  <a:schemeClr val="tx1"/>
                </a:solidFill>
              </a:rPr>
              <a:t>And finally: decide together</a:t>
            </a:r>
            <a:endParaRPr lang="en-US" sz="1800" dirty="0"/>
          </a:p>
        </p:txBody>
      </p:sp>
      <p:sp>
        <p:nvSpPr>
          <p:cNvPr id="48" name="Text 44"/>
          <p:cNvSpPr txBox="1"/>
          <p:nvPr/>
        </p:nvSpPr>
        <p:spPr>
          <a:xfrm>
            <a:off x="7178040" y="4983480"/>
            <a:ext cx="4114800" cy="822960"/>
          </a:xfrm>
          <a:prstGeom prst="rect">
            <a:avLst/>
          </a:prstGeom>
          <a:noFill/>
          <a:ln/>
        </p:spPr>
        <p:txBody>
          <a:bodyPr wrap="square" lIns="0" tIns="0" rIns="0" bIns="0" rtlCol="0" anchor="t"/>
          <a:lstStyle/>
          <a:p>
            <a:pPr indent="0" marL="0">
              <a:buNone/>
            </a:pPr>
            <a:r>
              <a:rPr lang="en-US" sz="1400" dirty="0">
                <a:solidFill>
                  <a:schemeClr val="accent5"/>
                </a:solidFill>
              </a:rPr>
              <a:t>What would need to be true, and where would you start?</a:t>
            </a:r>
            <a:endParaRPr lang="en-US" sz="14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rgbClr val="EC924A"/>
                </a:solidFill>
              </a:rPr>
              <a:t>PHASE 1   |   ORIENTATION   |   3 MIN</a:t>
            </a:r>
            <a:endParaRPr lang="en-US" sz="1100" dirty="0"/>
          </a:p>
        </p:txBody>
      </p:sp>
      <p:sp>
        <p:nvSpPr>
          <p:cNvPr id="3" name="Text 1"/>
          <p:cNvSpPr txBox="1"/>
          <p:nvPr/>
        </p:nvSpPr>
        <p:spPr>
          <a:xfrm>
            <a:off x="640080" y="731520"/>
            <a:ext cx="10881360" cy="1188720"/>
          </a:xfrm>
          <a:prstGeom prst="rect">
            <a:avLst/>
          </a:prstGeom>
          <a:noFill/>
          <a:ln/>
        </p:spPr>
        <p:txBody>
          <a:bodyPr wrap="square" lIns="0" tIns="0" rIns="0" bIns="0" rtlCol="0" anchor="t"/>
          <a:lstStyle/>
          <a:p>
            <a:pPr indent="0" marL="0">
              <a:buNone/>
            </a:pPr>
            <a:r>
              <a:rPr lang="en-US" sz="3800" b="1" dirty="0">
                <a:solidFill>
                  <a:schemeClr val="bg1"/>
                </a:solidFill>
              </a:rPr>
              <a:t>Everyone will experience Smart Assess from a different perspective</a:t>
            </a:r>
            <a:endParaRPr lang="en-US" sz="3800" dirty="0"/>
          </a:p>
        </p:txBody>
      </p:sp>
      <p:sp>
        <p:nvSpPr>
          <p:cNvPr id="4" name="card"/>
          <p:cNvSpPr/>
          <p:nvPr/>
        </p:nvSpPr>
        <p:spPr>
          <a:xfrm>
            <a:off x="640080" y="2468880"/>
            <a:ext cx="3429000" cy="2514600"/>
          </a:xfrm>
          <a:prstGeom prst="roundRect">
            <a:avLst>
              <a:gd name="adj" fmla="val 4364"/>
            </a:avLst>
          </a:prstGeom>
          <a:solidFill>
            <a:srgbClr val="1E1710"/>
          </a:solidFill>
          <a:ln w="12700">
            <a:solidFill>
              <a:srgbClr val="3A2E22"/>
            </a:solidFill>
            <a:prstDash val="solid"/>
          </a:ln>
        </p:spPr>
      </p:sp>
      <p:sp>
        <p:nvSpPr>
          <p:cNvPr id="5" name="icon circle"/>
          <p:cNvSpPr/>
          <p:nvPr/>
        </p:nvSpPr>
        <p:spPr>
          <a:xfrm>
            <a:off x="960120" y="2743200"/>
            <a:ext cx="822960" cy="822960"/>
          </a:xfrm>
          <a:prstGeom prst="ellipse">
            <a:avLst/>
          </a:prstGeom>
          <a:solidFill>
            <a:srgbClr val="D4762A"/>
          </a:solidFill>
          <a:ln w="12700">
            <a:solidFill>
              <a:srgbClr val="D4762A"/>
            </a:solidFill>
            <a:prstDash val="solid"/>
          </a:ln>
        </p:spPr>
      </p:sp>
      <p:pic>
        <p:nvPicPr>
          <p:cNvPr id="6" name="icon" descr="preencoded.png">    </p:cNvPr>
          <p:cNvPicPr>
            <a:picLocks noChangeAspect="1"/>
          </p:cNvPicPr>
          <p:nvPr/>
        </p:nvPicPr>
        <p:blipFill>
          <a:blip r:embed="rId2"/>
          <a:stretch>
            <a:fillRect/>
          </a:stretch>
        </p:blipFill>
        <p:spPr>
          <a:xfrm>
            <a:off x="1141171" y="2924251"/>
            <a:ext cx="460858" cy="460858"/>
          </a:xfrm>
          <a:prstGeom prst="rect">
            <a:avLst/>
          </a:prstGeom>
        </p:spPr>
      </p:pic>
      <p:sp>
        <p:nvSpPr>
          <p:cNvPr id="7" name="Text 4"/>
          <p:cNvSpPr txBox="1"/>
          <p:nvPr/>
        </p:nvSpPr>
        <p:spPr>
          <a:xfrm>
            <a:off x="960120" y="3749040"/>
            <a:ext cx="2834640" cy="411480"/>
          </a:xfrm>
          <a:prstGeom prst="rect">
            <a:avLst/>
          </a:prstGeom>
          <a:noFill/>
          <a:ln/>
        </p:spPr>
        <p:txBody>
          <a:bodyPr wrap="square" lIns="0" tIns="0" rIns="0" bIns="0" rtlCol="0" anchor="t"/>
          <a:lstStyle/>
          <a:p>
            <a:pPr indent="0" marL="0">
              <a:buNone/>
            </a:pPr>
            <a:r>
              <a:rPr lang="en-US" sz="2400" b="1" dirty="0">
                <a:solidFill>
                  <a:schemeClr val="bg1"/>
                </a:solidFill>
              </a:rPr>
              <a:t>Teacher</a:t>
            </a:r>
            <a:endParaRPr lang="en-US" sz="2400" dirty="0"/>
          </a:p>
        </p:txBody>
      </p:sp>
      <p:sp>
        <p:nvSpPr>
          <p:cNvPr id="8" name="Text 5"/>
          <p:cNvSpPr txBox="1"/>
          <p:nvPr/>
        </p:nvSpPr>
        <p:spPr>
          <a:xfrm>
            <a:off x="960120" y="4206240"/>
            <a:ext cx="2834640" cy="640080"/>
          </a:xfrm>
          <a:prstGeom prst="rect">
            <a:avLst/>
          </a:prstGeom>
          <a:noFill/>
          <a:ln/>
        </p:spPr>
        <p:txBody>
          <a:bodyPr wrap="square" lIns="0" tIns="0" rIns="0" bIns="0" rtlCol="0" anchor="t"/>
          <a:lstStyle/>
          <a:p>
            <a:pPr indent="0" marL="0">
              <a:buNone/>
            </a:pPr>
            <a:r>
              <a:rPr lang="en-US" sz="1400" dirty="0">
                <a:solidFill>
                  <a:srgbClr val="BFB09C"/>
                </a:solidFill>
              </a:rPr>
              <a:t>Create, assign, mark</a:t>
            </a:r>
            <a:endParaRPr lang="en-US" sz="1400" dirty="0"/>
          </a:p>
        </p:txBody>
      </p:sp>
      <p:sp>
        <p:nvSpPr>
          <p:cNvPr id="9" name="card"/>
          <p:cNvSpPr/>
          <p:nvPr/>
        </p:nvSpPr>
        <p:spPr>
          <a:xfrm>
            <a:off x="4389120" y="2468880"/>
            <a:ext cx="3429000" cy="2514600"/>
          </a:xfrm>
          <a:prstGeom prst="roundRect">
            <a:avLst>
              <a:gd name="adj" fmla="val 4364"/>
            </a:avLst>
          </a:prstGeom>
          <a:solidFill>
            <a:srgbClr val="1E1710"/>
          </a:solidFill>
          <a:ln w="12700">
            <a:solidFill>
              <a:srgbClr val="3A2E22"/>
            </a:solidFill>
            <a:prstDash val="solid"/>
          </a:ln>
        </p:spPr>
      </p:sp>
      <p:sp>
        <p:nvSpPr>
          <p:cNvPr id="10" name="icon circle"/>
          <p:cNvSpPr/>
          <p:nvPr/>
        </p:nvSpPr>
        <p:spPr>
          <a:xfrm>
            <a:off x="4709160" y="2743200"/>
            <a:ext cx="822960" cy="822960"/>
          </a:xfrm>
          <a:prstGeom prst="ellipse">
            <a:avLst/>
          </a:prstGeom>
          <a:solidFill>
            <a:srgbClr val="1F8A84"/>
          </a:solidFill>
          <a:ln w="12700">
            <a:solidFill>
              <a:srgbClr val="1F8A84"/>
            </a:solidFill>
            <a:prstDash val="solid"/>
          </a:ln>
        </p:spPr>
      </p:sp>
      <p:pic>
        <p:nvPicPr>
          <p:cNvPr id="11" name="icon" descr="preencoded.png">    </p:cNvPr>
          <p:cNvPicPr>
            <a:picLocks noChangeAspect="1"/>
          </p:cNvPicPr>
          <p:nvPr/>
        </p:nvPicPr>
        <p:blipFill>
          <a:blip r:embed="rId3"/>
          <a:stretch>
            <a:fillRect/>
          </a:stretch>
        </p:blipFill>
        <p:spPr>
          <a:xfrm>
            <a:off x="4890211" y="2924251"/>
            <a:ext cx="460858" cy="460858"/>
          </a:xfrm>
          <a:prstGeom prst="rect">
            <a:avLst/>
          </a:prstGeom>
        </p:spPr>
      </p:pic>
      <p:sp>
        <p:nvSpPr>
          <p:cNvPr id="12" name="Text 8"/>
          <p:cNvSpPr txBox="1"/>
          <p:nvPr/>
        </p:nvSpPr>
        <p:spPr>
          <a:xfrm>
            <a:off x="4709160" y="3749040"/>
            <a:ext cx="2834640" cy="411480"/>
          </a:xfrm>
          <a:prstGeom prst="rect">
            <a:avLst/>
          </a:prstGeom>
          <a:noFill/>
          <a:ln/>
        </p:spPr>
        <p:txBody>
          <a:bodyPr wrap="square" lIns="0" tIns="0" rIns="0" bIns="0" rtlCol="0" anchor="t"/>
          <a:lstStyle/>
          <a:p>
            <a:pPr indent="0" marL="0">
              <a:buNone/>
            </a:pPr>
            <a:r>
              <a:rPr lang="en-US" sz="2400" b="1" dirty="0">
                <a:solidFill>
                  <a:schemeClr val="bg1"/>
                </a:solidFill>
              </a:rPr>
              <a:t>Student</a:t>
            </a:r>
            <a:endParaRPr lang="en-US" sz="2400" dirty="0"/>
          </a:p>
        </p:txBody>
      </p:sp>
      <p:sp>
        <p:nvSpPr>
          <p:cNvPr id="13" name="Text 9"/>
          <p:cNvSpPr txBox="1"/>
          <p:nvPr/>
        </p:nvSpPr>
        <p:spPr>
          <a:xfrm>
            <a:off x="4709160" y="4206240"/>
            <a:ext cx="2834640" cy="640080"/>
          </a:xfrm>
          <a:prstGeom prst="rect">
            <a:avLst/>
          </a:prstGeom>
          <a:noFill/>
          <a:ln/>
        </p:spPr>
        <p:txBody>
          <a:bodyPr wrap="square" lIns="0" tIns="0" rIns="0" bIns="0" rtlCol="0" anchor="t"/>
          <a:lstStyle/>
          <a:p>
            <a:pPr indent="0" marL="0">
              <a:buNone/>
            </a:pPr>
            <a:r>
              <a:rPr lang="en-US" sz="1400" dirty="0">
                <a:solidFill>
                  <a:srgbClr val="BFB09C"/>
                </a:solidFill>
              </a:rPr>
              <a:t>Take it, submit it, see progress</a:t>
            </a:r>
            <a:endParaRPr lang="en-US" sz="1400" dirty="0"/>
          </a:p>
        </p:txBody>
      </p:sp>
      <p:sp>
        <p:nvSpPr>
          <p:cNvPr id="14" name="card"/>
          <p:cNvSpPr/>
          <p:nvPr/>
        </p:nvSpPr>
        <p:spPr>
          <a:xfrm>
            <a:off x="8138160" y="2468880"/>
            <a:ext cx="3429000" cy="2514600"/>
          </a:xfrm>
          <a:prstGeom prst="roundRect">
            <a:avLst>
              <a:gd name="adj" fmla="val 4364"/>
            </a:avLst>
          </a:prstGeom>
          <a:solidFill>
            <a:srgbClr val="1E1710"/>
          </a:solidFill>
          <a:ln w="12700">
            <a:solidFill>
              <a:srgbClr val="3A2E22"/>
            </a:solidFill>
            <a:prstDash val="solid"/>
          </a:ln>
        </p:spPr>
      </p:sp>
      <p:sp>
        <p:nvSpPr>
          <p:cNvPr id="15" name="icon circle"/>
          <p:cNvSpPr/>
          <p:nvPr/>
        </p:nvSpPr>
        <p:spPr>
          <a:xfrm>
            <a:off x="8458200" y="2743200"/>
            <a:ext cx="822960" cy="822960"/>
          </a:xfrm>
          <a:prstGeom prst="ellipse">
            <a:avLst/>
          </a:prstGeom>
          <a:solidFill>
            <a:srgbClr val="F2C230"/>
          </a:solidFill>
          <a:ln w="12700">
            <a:solidFill>
              <a:srgbClr val="F2C230"/>
            </a:solidFill>
            <a:prstDash val="solid"/>
          </a:ln>
        </p:spPr>
      </p:sp>
      <p:pic>
        <p:nvPicPr>
          <p:cNvPr id="16" name="icon" descr="preencoded.png">    </p:cNvPr>
          <p:cNvPicPr>
            <a:picLocks noChangeAspect="1"/>
          </p:cNvPicPr>
          <p:nvPr/>
        </p:nvPicPr>
        <p:blipFill>
          <a:blip r:embed="rId4"/>
          <a:stretch>
            <a:fillRect/>
          </a:stretch>
        </p:blipFill>
        <p:spPr>
          <a:xfrm>
            <a:off x="8639251" y="2924251"/>
            <a:ext cx="460858" cy="460858"/>
          </a:xfrm>
          <a:prstGeom prst="rect">
            <a:avLst/>
          </a:prstGeom>
        </p:spPr>
      </p:pic>
      <p:sp>
        <p:nvSpPr>
          <p:cNvPr id="17" name="Text 12"/>
          <p:cNvSpPr txBox="1"/>
          <p:nvPr/>
        </p:nvSpPr>
        <p:spPr>
          <a:xfrm>
            <a:off x="8458200" y="3749040"/>
            <a:ext cx="2834640" cy="411480"/>
          </a:xfrm>
          <a:prstGeom prst="rect">
            <a:avLst/>
          </a:prstGeom>
          <a:noFill/>
          <a:ln/>
        </p:spPr>
        <p:txBody>
          <a:bodyPr wrap="square" lIns="0" tIns="0" rIns="0" bIns="0" rtlCol="0" anchor="t"/>
          <a:lstStyle/>
          <a:p>
            <a:pPr indent="0" marL="0">
              <a:buNone/>
            </a:pPr>
            <a:r>
              <a:rPr lang="en-US" sz="2400" b="1" dirty="0">
                <a:solidFill>
                  <a:schemeClr val="bg1"/>
                </a:solidFill>
              </a:rPr>
              <a:t>Leadership</a:t>
            </a:r>
            <a:endParaRPr lang="en-US" sz="2400" dirty="0"/>
          </a:p>
        </p:txBody>
      </p:sp>
      <p:sp>
        <p:nvSpPr>
          <p:cNvPr id="18" name="Text 13"/>
          <p:cNvSpPr txBox="1"/>
          <p:nvPr/>
        </p:nvSpPr>
        <p:spPr>
          <a:xfrm>
            <a:off x="8458200" y="4206240"/>
            <a:ext cx="2834640" cy="640080"/>
          </a:xfrm>
          <a:prstGeom prst="rect">
            <a:avLst/>
          </a:prstGeom>
          <a:noFill/>
          <a:ln/>
        </p:spPr>
        <p:txBody>
          <a:bodyPr wrap="square" lIns="0" tIns="0" rIns="0" bIns="0" rtlCol="0" anchor="t"/>
          <a:lstStyle/>
          <a:p>
            <a:pPr indent="0" marL="0">
              <a:buNone/>
            </a:pPr>
            <a:r>
              <a:rPr lang="en-US" sz="1400" dirty="0">
                <a:solidFill>
                  <a:srgbClr val="BFB09C"/>
                </a:solidFill>
              </a:rPr>
              <a:t>See across classes and departments</a:t>
            </a:r>
            <a:endParaRPr lang="en-US" sz="1400" dirty="0"/>
          </a:p>
        </p:txBody>
      </p:sp>
      <p:sp>
        <p:nvSpPr>
          <p:cNvPr id="19" name="Text 14"/>
          <p:cNvSpPr txBox="1"/>
          <p:nvPr/>
        </p:nvSpPr>
        <p:spPr>
          <a:xfrm>
            <a:off x="640080" y="5440680"/>
            <a:ext cx="10881360" cy="457200"/>
          </a:xfrm>
          <a:prstGeom prst="rect">
            <a:avLst/>
          </a:prstGeom>
          <a:noFill/>
          <a:ln/>
        </p:spPr>
        <p:txBody>
          <a:bodyPr wrap="square" lIns="0" tIns="0" rIns="0" bIns="0" rtlCol="0" anchor="t"/>
          <a:lstStyle/>
          <a:p>
            <a:pPr indent="0" marL="0">
              <a:buNone/>
            </a:pPr>
            <a:r>
              <a:rPr lang="en-US" sz="2200" b="1" dirty="0">
                <a:solidFill>
                  <a:srgbClr val="EC924A"/>
                </a:solidFill>
              </a:rPr>
              <a:t>The ecosystem connects these experiences.</a:t>
            </a:r>
            <a:endParaRPr lang="en-US" sz="22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chemeClr val="accent1"/>
                </a:solidFill>
              </a:rPr>
              <a:t>PHASE 2   |   TEACHER   |   10 MIN</a:t>
            </a:r>
            <a:endParaRPr lang="en-US" sz="1100" dirty="0"/>
          </a:p>
        </p:txBody>
      </p:sp>
      <p:sp>
        <p:nvSpPr>
          <p:cNvPr id="3" name="Text 0"/>
          <p:cNvSpPr/>
          <p:nvPr>
            <p:ph idx="100" type="title" hasCustomPrompt="1"/>
          </p:nvPr>
        </p:nvSpPr>
        <p:spPr>
          <a:xfrm>
            <a:off x="640080" y="548640"/>
            <a:ext cx="10908792" cy="1005840"/>
          </a:xfrm>
          <a:prstGeom prst="rect">
            <a:avLst/>
          </a:prstGeom>
          <a:noFill/>
          <a:ln/>
        </p:spPr>
        <p:txBody>
          <a:bodyPr wrap="square" lIns="0" tIns="0" rIns="0" bIns="0" rtlCol="0" anchor="t"/>
          <a:lstStyle/>
          <a:p>
            <a:pPr algn="l" indent="0" marL="0">
              <a:buNone/>
            </a:pPr>
            <a:r>
              <a:rPr lang="en-US" sz="3400" b="1" dirty="0">
                <a:solidFill>
                  <a:schemeClr val="tx1"/>
                </a:solidFill>
              </a:rPr>
              <a:t>Teacher experience: ten things to find</a:t>
            </a:r>
            <a:endParaRPr lang="en-US" sz="3400" dirty="0"/>
          </a:p>
        </p:txBody>
      </p:sp>
      <p:sp>
        <p:nvSpPr>
          <p:cNvPr id="4" name="step number"/>
          <p:cNvSpPr/>
          <p:nvPr/>
        </p:nvSpPr>
        <p:spPr>
          <a:xfrm>
            <a:off x="640080" y="1783080"/>
            <a:ext cx="457200" cy="457200"/>
          </a:xfrm>
          <a:prstGeom prst="ellipse">
            <a:avLst/>
          </a:prstGeom>
          <a:solidFill>
            <a:srgbClr val="D4762A"/>
          </a:solidFill>
          <a:ln w="12700">
            <a:solidFill>
              <a:srgbClr val="D4762A"/>
            </a:solidFill>
            <a:prstDash val="solid"/>
          </a:ln>
        </p:spPr>
      </p:sp>
      <p:sp>
        <p:nvSpPr>
          <p:cNvPr id="5" name="Text 3"/>
          <p:cNvSpPr txBox="1"/>
          <p:nvPr/>
        </p:nvSpPr>
        <p:spPr>
          <a:xfrm>
            <a:off x="640080" y="17830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1234440" y="1783080"/>
            <a:ext cx="2651760" cy="457200"/>
          </a:xfrm>
          <a:prstGeom prst="rect">
            <a:avLst/>
          </a:prstGeom>
          <a:noFill/>
          <a:ln/>
        </p:spPr>
        <p:txBody>
          <a:bodyPr wrap="square" lIns="0" tIns="0" rIns="0" bIns="0" rtlCol="0" anchor="ctr"/>
          <a:lstStyle/>
          <a:p>
            <a:pPr indent="0" marL="0">
              <a:buNone/>
            </a:pPr>
            <a:r>
              <a:rPr lang="en-US" sz="1500" dirty="0">
                <a:solidFill>
                  <a:schemeClr val="tx1"/>
                </a:solidFill>
              </a:rPr>
              <a:t>Log in</a:t>
            </a:r>
            <a:endParaRPr lang="en-US" sz="1500" dirty="0"/>
          </a:p>
        </p:txBody>
      </p:sp>
      <p:sp>
        <p:nvSpPr>
          <p:cNvPr id="7" name="step number"/>
          <p:cNvSpPr/>
          <p:nvPr/>
        </p:nvSpPr>
        <p:spPr>
          <a:xfrm>
            <a:off x="640080" y="2624328"/>
            <a:ext cx="457200" cy="457200"/>
          </a:xfrm>
          <a:prstGeom prst="ellipse">
            <a:avLst/>
          </a:prstGeom>
          <a:solidFill>
            <a:srgbClr val="D4762A"/>
          </a:solidFill>
          <a:ln w="12700">
            <a:solidFill>
              <a:srgbClr val="D4762A"/>
            </a:solidFill>
            <a:prstDash val="solid"/>
          </a:ln>
        </p:spPr>
      </p:sp>
      <p:sp>
        <p:nvSpPr>
          <p:cNvPr id="8" name="Text 6"/>
          <p:cNvSpPr txBox="1"/>
          <p:nvPr/>
        </p:nvSpPr>
        <p:spPr>
          <a:xfrm>
            <a:off x="640080" y="2624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Text 7"/>
          <p:cNvSpPr txBox="1"/>
          <p:nvPr/>
        </p:nvSpPr>
        <p:spPr>
          <a:xfrm>
            <a:off x="1234440" y="2624328"/>
            <a:ext cx="2651760" cy="457200"/>
          </a:xfrm>
          <a:prstGeom prst="rect">
            <a:avLst/>
          </a:prstGeom>
          <a:noFill/>
          <a:ln/>
        </p:spPr>
        <p:txBody>
          <a:bodyPr wrap="square" lIns="0" tIns="0" rIns="0" bIns="0" rtlCol="0" anchor="ctr"/>
          <a:lstStyle/>
          <a:p>
            <a:pPr indent="0" marL="0">
              <a:buNone/>
            </a:pPr>
            <a:r>
              <a:rPr lang="en-US" sz="1500" dirty="0">
                <a:solidFill>
                  <a:schemeClr val="tx1"/>
                </a:solidFill>
              </a:rPr>
              <a:t>Explore the teacher dashboard</a:t>
            </a:r>
            <a:endParaRPr lang="en-US" sz="1500" dirty="0"/>
          </a:p>
        </p:txBody>
      </p:sp>
      <p:sp>
        <p:nvSpPr>
          <p:cNvPr id="10" name="step number"/>
          <p:cNvSpPr/>
          <p:nvPr/>
        </p:nvSpPr>
        <p:spPr>
          <a:xfrm>
            <a:off x="640080" y="3465576"/>
            <a:ext cx="457200" cy="457200"/>
          </a:xfrm>
          <a:prstGeom prst="ellipse">
            <a:avLst/>
          </a:prstGeom>
          <a:solidFill>
            <a:srgbClr val="D4762A"/>
          </a:solidFill>
          <a:ln w="12700">
            <a:solidFill>
              <a:srgbClr val="D4762A"/>
            </a:solidFill>
            <a:prstDash val="solid"/>
          </a:ln>
        </p:spPr>
      </p:sp>
      <p:sp>
        <p:nvSpPr>
          <p:cNvPr id="11" name="Text 9"/>
          <p:cNvSpPr txBox="1"/>
          <p:nvPr/>
        </p:nvSpPr>
        <p:spPr>
          <a:xfrm>
            <a:off x="640080" y="346557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10"/>
          <p:cNvSpPr txBox="1"/>
          <p:nvPr/>
        </p:nvSpPr>
        <p:spPr>
          <a:xfrm>
            <a:off x="1234440" y="3465576"/>
            <a:ext cx="2651760" cy="457200"/>
          </a:xfrm>
          <a:prstGeom prst="rect">
            <a:avLst/>
          </a:prstGeom>
          <a:noFill/>
          <a:ln/>
        </p:spPr>
        <p:txBody>
          <a:bodyPr wrap="square" lIns="0" tIns="0" rIns="0" bIns="0" rtlCol="0" anchor="ctr"/>
          <a:lstStyle/>
          <a:p>
            <a:pPr indent="0" marL="0">
              <a:buNone/>
            </a:pPr>
            <a:r>
              <a:rPr lang="en-US" sz="1500" dirty="0">
                <a:solidFill>
                  <a:schemeClr val="tx1"/>
                </a:solidFill>
              </a:rPr>
              <a:t>Identify the assessment tools</a:t>
            </a:r>
            <a:endParaRPr lang="en-US" sz="1500" dirty="0"/>
          </a:p>
        </p:txBody>
      </p:sp>
      <p:sp>
        <p:nvSpPr>
          <p:cNvPr id="13" name="step number"/>
          <p:cNvSpPr/>
          <p:nvPr/>
        </p:nvSpPr>
        <p:spPr>
          <a:xfrm>
            <a:off x="640080" y="4306824"/>
            <a:ext cx="457200" cy="457200"/>
          </a:xfrm>
          <a:prstGeom prst="ellipse">
            <a:avLst/>
          </a:prstGeom>
          <a:solidFill>
            <a:srgbClr val="D4762A"/>
          </a:solidFill>
          <a:ln w="12700">
            <a:solidFill>
              <a:srgbClr val="D4762A"/>
            </a:solidFill>
            <a:prstDash val="solid"/>
          </a:ln>
        </p:spPr>
      </p:sp>
      <p:sp>
        <p:nvSpPr>
          <p:cNvPr id="14" name="Text 12"/>
          <p:cNvSpPr txBox="1"/>
          <p:nvPr/>
        </p:nvSpPr>
        <p:spPr>
          <a:xfrm>
            <a:off x="640080" y="43068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5" name="Text 13"/>
          <p:cNvSpPr txBox="1"/>
          <p:nvPr/>
        </p:nvSpPr>
        <p:spPr>
          <a:xfrm>
            <a:off x="1234440" y="4306824"/>
            <a:ext cx="2651760" cy="457200"/>
          </a:xfrm>
          <a:prstGeom prst="rect">
            <a:avLst/>
          </a:prstGeom>
          <a:noFill/>
          <a:ln/>
        </p:spPr>
        <p:txBody>
          <a:bodyPr wrap="square" lIns="0" tIns="0" rIns="0" bIns="0" rtlCol="0" anchor="ctr"/>
          <a:lstStyle/>
          <a:p>
            <a:pPr indent="0" marL="0">
              <a:buNone/>
            </a:pPr>
            <a:r>
              <a:rPr lang="en-US" sz="1500" dirty="0">
                <a:solidFill>
                  <a:schemeClr val="tx1"/>
                </a:solidFill>
              </a:rPr>
              <a:t>Explore the question bank</a:t>
            </a:r>
            <a:endParaRPr lang="en-US" sz="1500" dirty="0"/>
          </a:p>
        </p:txBody>
      </p:sp>
      <p:sp>
        <p:nvSpPr>
          <p:cNvPr id="16" name="step number"/>
          <p:cNvSpPr/>
          <p:nvPr/>
        </p:nvSpPr>
        <p:spPr>
          <a:xfrm>
            <a:off x="640080" y="5148072"/>
            <a:ext cx="457200" cy="457200"/>
          </a:xfrm>
          <a:prstGeom prst="ellipse">
            <a:avLst/>
          </a:prstGeom>
          <a:solidFill>
            <a:srgbClr val="D4762A"/>
          </a:solidFill>
          <a:ln w="12700">
            <a:solidFill>
              <a:srgbClr val="D4762A"/>
            </a:solidFill>
            <a:prstDash val="solid"/>
          </a:ln>
        </p:spPr>
      </p:sp>
      <p:sp>
        <p:nvSpPr>
          <p:cNvPr id="17" name="Text 15"/>
          <p:cNvSpPr txBox="1"/>
          <p:nvPr/>
        </p:nvSpPr>
        <p:spPr>
          <a:xfrm>
            <a:off x="640080" y="514807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8" name="Text 16"/>
          <p:cNvSpPr txBox="1"/>
          <p:nvPr/>
        </p:nvSpPr>
        <p:spPr>
          <a:xfrm>
            <a:off x="1234440" y="5148072"/>
            <a:ext cx="2651760" cy="457200"/>
          </a:xfrm>
          <a:prstGeom prst="rect">
            <a:avLst/>
          </a:prstGeom>
          <a:noFill/>
          <a:ln/>
        </p:spPr>
        <p:txBody>
          <a:bodyPr wrap="square" lIns="0" tIns="0" rIns="0" bIns="0" rtlCol="0" anchor="ctr"/>
          <a:lstStyle/>
          <a:p>
            <a:pPr indent="0" marL="0">
              <a:buNone/>
            </a:pPr>
            <a:r>
              <a:rPr lang="en-US" sz="1500" dirty="0">
                <a:solidFill>
                  <a:schemeClr val="tx1"/>
                </a:solidFill>
              </a:rPr>
              <a:t>Open or create an assessment</a:t>
            </a:r>
            <a:endParaRPr lang="en-US" sz="1500" dirty="0"/>
          </a:p>
        </p:txBody>
      </p:sp>
      <p:sp>
        <p:nvSpPr>
          <p:cNvPr id="19" name="step number"/>
          <p:cNvSpPr/>
          <p:nvPr/>
        </p:nvSpPr>
        <p:spPr>
          <a:xfrm>
            <a:off x="4069080" y="1783080"/>
            <a:ext cx="457200" cy="457200"/>
          </a:xfrm>
          <a:prstGeom prst="ellipse">
            <a:avLst/>
          </a:prstGeom>
          <a:solidFill>
            <a:srgbClr val="D4762A"/>
          </a:solidFill>
          <a:ln w="12700">
            <a:solidFill>
              <a:srgbClr val="D4762A"/>
            </a:solidFill>
            <a:prstDash val="solid"/>
          </a:ln>
        </p:spPr>
      </p:sp>
      <p:sp>
        <p:nvSpPr>
          <p:cNvPr id="20" name="Text 18"/>
          <p:cNvSpPr txBox="1"/>
          <p:nvPr/>
        </p:nvSpPr>
        <p:spPr>
          <a:xfrm>
            <a:off x="4069080" y="17830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21" name="Text 19"/>
          <p:cNvSpPr txBox="1"/>
          <p:nvPr/>
        </p:nvSpPr>
        <p:spPr>
          <a:xfrm>
            <a:off x="4663440" y="1783080"/>
            <a:ext cx="2651760" cy="457200"/>
          </a:xfrm>
          <a:prstGeom prst="rect">
            <a:avLst/>
          </a:prstGeom>
          <a:noFill/>
          <a:ln/>
        </p:spPr>
        <p:txBody>
          <a:bodyPr wrap="square" lIns="0" tIns="0" rIns="0" bIns="0" rtlCol="0" anchor="ctr"/>
          <a:lstStyle/>
          <a:p>
            <a:pPr indent="0" marL="0">
              <a:buNone/>
            </a:pPr>
            <a:r>
              <a:rPr lang="en-US" sz="1500" dirty="0">
                <a:solidFill>
                  <a:schemeClr val="tx1"/>
                </a:solidFill>
              </a:rPr>
              <a:t>Review the question types</a:t>
            </a:r>
            <a:endParaRPr lang="en-US" sz="1500" dirty="0"/>
          </a:p>
        </p:txBody>
      </p:sp>
      <p:sp>
        <p:nvSpPr>
          <p:cNvPr id="22" name="step number"/>
          <p:cNvSpPr/>
          <p:nvPr/>
        </p:nvSpPr>
        <p:spPr>
          <a:xfrm>
            <a:off x="4069080" y="2624328"/>
            <a:ext cx="457200" cy="457200"/>
          </a:xfrm>
          <a:prstGeom prst="ellipse">
            <a:avLst/>
          </a:prstGeom>
          <a:solidFill>
            <a:srgbClr val="D4762A"/>
          </a:solidFill>
          <a:ln w="12700">
            <a:solidFill>
              <a:srgbClr val="D4762A"/>
            </a:solidFill>
            <a:prstDash val="solid"/>
          </a:ln>
        </p:spPr>
      </p:sp>
      <p:sp>
        <p:nvSpPr>
          <p:cNvPr id="23" name="Text 21"/>
          <p:cNvSpPr txBox="1"/>
          <p:nvPr/>
        </p:nvSpPr>
        <p:spPr>
          <a:xfrm>
            <a:off x="4069080" y="2624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7</a:t>
            </a:r>
            <a:endParaRPr lang="en-US" sz="1500" dirty="0"/>
          </a:p>
        </p:txBody>
      </p:sp>
      <p:sp>
        <p:nvSpPr>
          <p:cNvPr id="24" name="Text 22"/>
          <p:cNvSpPr txBox="1"/>
          <p:nvPr/>
        </p:nvSpPr>
        <p:spPr>
          <a:xfrm>
            <a:off x="4663440" y="2624328"/>
            <a:ext cx="2651760" cy="457200"/>
          </a:xfrm>
          <a:prstGeom prst="rect">
            <a:avLst/>
          </a:prstGeom>
          <a:noFill/>
          <a:ln/>
        </p:spPr>
        <p:txBody>
          <a:bodyPr wrap="square" lIns="0" tIns="0" rIns="0" bIns="0" rtlCol="0" anchor="ctr"/>
          <a:lstStyle/>
          <a:p>
            <a:pPr indent="0" marL="0">
              <a:buNone/>
            </a:pPr>
            <a:r>
              <a:rPr lang="en-US" sz="1500" dirty="0">
                <a:solidFill>
                  <a:schemeClr val="tx1"/>
                </a:solidFill>
              </a:rPr>
              <a:t>Explore class assignment</a:t>
            </a:r>
            <a:endParaRPr lang="en-US" sz="1500" dirty="0"/>
          </a:p>
        </p:txBody>
      </p:sp>
      <p:sp>
        <p:nvSpPr>
          <p:cNvPr id="25" name="step number"/>
          <p:cNvSpPr/>
          <p:nvPr/>
        </p:nvSpPr>
        <p:spPr>
          <a:xfrm>
            <a:off x="4069080" y="3465576"/>
            <a:ext cx="457200" cy="457200"/>
          </a:xfrm>
          <a:prstGeom prst="ellipse">
            <a:avLst/>
          </a:prstGeom>
          <a:solidFill>
            <a:srgbClr val="D4762A"/>
          </a:solidFill>
          <a:ln w="12700">
            <a:solidFill>
              <a:srgbClr val="D4762A"/>
            </a:solidFill>
            <a:prstDash val="solid"/>
          </a:ln>
        </p:spPr>
      </p:sp>
      <p:sp>
        <p:nvSpPr>
          <p:cNvPr id="26" name="Text 24"/>
          <p:cNvSpPr txBox="1"/>
          <p:nvPr/>
        </p:nvSpPr>
        <p:spPr>
          <a:xfrm>
            <a:off x="4069080" y="346557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8</a:t>
            </a:r>
            <a:endParaRPr lang="en-US" sz="1500" dirty="0"/>
          </a:p>
        </p:txBody>
      </p:sp>
      <p:sp>
        <p:nvSpPr>
          <p:cNvPr id="27" name="Text 25"/>
          <p:cNvSpPr txBox="1"/>
          <p:nvPr/>
        </p:nvSpPr>
        <p:spPr>
          <a:xfrm>
            <a:off x="4663440" y="3465576"/>
            <a:ext cx="2651760" cy="457200"/>
          </a:xfrm>
          <a:prstGeom prst="rect">
            <a:avLst/>
          </a:prstGeom>
          <a:noFill/>
          <a:ln/>
        </p:spPr>
        <p:txBody>
          <a:bodyPr wrap="square" lIns="0" tIns="0" rIns="0" bIns="0" rtlCol="0" anchor="ctr"/>
          <a:lstStyle/>
          <a:p>
            <a:pPr indent="0" marL="0">
              <a:buNone/>
            </a:pPr>
            <a:r>
              <a:rPr lang="en-US" sz="1500" dirty="0">
                <a:solidFill>
                  <a:schemeClr val="tx1"/>
                </a:solidFill>
              </a:rPr>
              <a:t>Explore marking and results</a:t>
            </a:r>
            <a:endParaRPr lang="en-US" sz="1500" dirty="0"/>
          </a:p>
        </p:txBody>
      </p:sp>
      <p:sp>
        <p:nvSpPr>
          <p:cNvPr id="28" name="step number"/>
          <p:cNvSpPr/>
          <p:nvPr/>
        </p:nvSpPr>
        <p:spPr>
          <a:xfrm>
            <a:off x="4069080" y="4306824"/>
            <a:ext cx="457200" cy="457200"/>
          </a:xfrm>
          <a:prstGeom prst="ellipse">
            <a:avLst/>
          </a:prstGeom>
          <a:solidFill>
            <a:srgbClr val="D4762A"/>
          </a:solidFill>
          <a:ln w="12700">
            <a:solidFill>
              <a:srgbClr val="D4762A"/>
            </a:solidFill>
            <a:prstDash val="solid"/>
          </a:ln>
        </p:spPr>
      </p:sp>
      <p:sp>
        <p:nvSpPr>
          <p:cNvPr id="29" name="Text 27"/>
          <p:cNvSpPr txBox="1"/>
          <p:nvPr/>
        </p:nvSpPr>
        <p:spPr>
          <a:xfrm>
            <a:off x="4069080" y="43068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9</a:t>
            </a:r>
            <a:endParaRPr lang="en-US" sz="1500" dirty="0"/>
          </a:p>
        </p:txBody>
      </p:sp>
      <p:sp>
        <p:nvSpPr>
          <p:cNvPr id="30" name="Text 28"/>
          <p:cNvSpPr txBox="1"/>
          <p:nvPr/>
        </p:nvSpPr>
        <p:spPr>
          <a:xfrm>
            <a:off x="4663440" y="4306824"/>
            <a:ext cx="2651760" cy="457200"/>
          </a:xfrm>
          <a:prstGeom prst="rect">
            <a:avLst/>
          </a:prstGeom>
          <a:noFill/>
          <a:ln/>
        </p:spPr>
        <p:txBody>
          <a:bodyPr wrap="square" lIns="0" tIns="0" rIns="0" bIns="0" rtlCol="0" anchor="ctr"/>
          <a:lstStyle/>
          <a:p>
            <a:pPr indent="0" marL="0">
              <a:buNone/>
            </a:pPr>
            <a:r>
              <a:rPr lang="en-US" sz="1500" dirty="0">
                <a:solidFill>
                  <a:schemeClr val="tx1"/>
                </a:solidFill>
              </a:rPr>
              <a:t>Explore lesson planning</a:t>
            </a:r>
            <a:endParaRPr lang="en-US" sz="1500" dirty="0"/>
          </a:p>
        </p:txBody>
      </p:sp>
      <p:sp>
        <p:nvSpPr>
          <p:cNvPr id="31" name="step number"/>
          <p:cNvSpPr/>
          <p:nvPr/>
        </p:nvSpPr>
        <p:spPr>
          <a:xfrm>
            <a:off x="4069080" y="5148072"/>
            <a:ext cx="457200" cy="457200"/>
          </a:xfrm>
          <a:prstGeom prst="ellipse">
            <a:avLst/>
          </a:prstGeom>
          <a:solidFill>
            <a:srgbClr val="D4762A"/>
          </a:solidFill>
          <a:ln w="12700">
            <a:solidFill>
              <a:srgbClr val="D4762A"/>
            </a:solidFill>
            <a:prstDash val="solid"/>
          </a:ln>
        </p:spPr>
      </p:sp>
      <p:sp>
        <p:nvSpPr>
          <p:cNvPr id="32" name="Text 30"/>
          <p:cNvSpPr txBox="1"/>
          <p:nvPr/>
        </p:nvSpPr>
        <p:spPr>
          <a:xfrm>
            <a:off x="4069080" y="514807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10</a:t>
            </a:r>
            <a:endParaRPr lang="en-US" sz="1500" dirty="0"/>
          </a:p>
        </p:txBody>
      </p:sp>
      <p:sp>
        <p:nvSpPr>
          <p:cNvPr id="33" name="Text 31"/>
          <p:cNvSpPr txBox="1"/>
          <p:nvPr/>
        </p:nvSpPr>
        <p:spPr>
          <a:xfrm>
            <a:off x="4663440" y="5148072"/>
            <a:ext cx="2651760" cy="457200"/>
          </a:xfrm>
          <a:prstGeom prst="rect">
            <a:avLst/>
          </a:prstGeom>
          <a:noFill/>
          <a:ln/>
        </p:spPr>
        <p:txBody>
          <a:bodyPr wrap="square" lIns="0" tIns="0" rIns="0" bIns="0" rtlCol="0" anchor="ctr"/>
          <a:lstStyle/>
          <a:p>
            <a:pPr indent="0" marL="0">
              <a:buNone/>
            </a:pPr>
            <a:r>
              <a:rPr lang="en-US" sz="1500" dirty="0">
                <a:solidFill>
                  <a:schemeClr val="tx1"/>
                </a:solidFill>
              </a:rPr>
              <a:t>Observe the whole workflow</a:t>
            </a:r>
            <a:endParaRPr lang="en-US" sz="1500" dirty="0"/>
          </a:p>
        </p:txBody>
      </p:sp>
      <p:sp>
        <p:nvSpPr>
          <p:cNvPr id="34" name="ask panel"/>
          <p:cNvSpPr/>
          <p:nvPr/>
        </p:nvSpPr>
        <p:spPr>
          <a:xfrm>
            <a:off x="7772400" y="1783080"/>
            <a:ext cx="3776472" cy="4160520"/>
          </a:xfrm>
          <a:prstGeom prst="roundRect">
            <a:avLst>
              <a:gd name="adj" fmla="val 3390"/>
            </a:avLst>
          </a:prstGeom>
          <a:solidFill>
            <a:srgbClr val="1E1208"/>
          </a:solidFill>
          <a:ln w="12700">
            <a:solidFill>
              <a:srgbClr val="1E1208"/>
            </a:solidFill>
            <a:prstDash val="solid"/>
          </a:ln>
        </p:spPr>
      </p:sp>
      <p:sp>
        <p:nvSpPr>
          <p:cNvPr id="35" name="Text 33"/>
          <p:cNvSpPr txBox="1"/>
          <p:nvPr/>
        </p:nvSpPr>
        <p:spPr>
          <a:xfrm>
            <a:off x="8092440" y="2103120"/>
            <a:ext cx="3200400" cy="320040"/>
          </a:xfrm>
          <a:prstGeom prst="rect">
            <a:avLst/>
          </a:prstGeom>
          <a:noFill/>
          <a:ln/>
        </p:spPr>
        <p:txBody>
          <a:bodyPr wrap="square" lIns="0" tIns="0" rIns="0" bIns="0" rtlCol="0" anchor="t"/>
          <a:lstStyle/>
          <a:p>
            <a:pPr indent="0" marL="0">
              <a:buNone/>
            </a:pPr>
            <a:r>
              <a:rPr lang="en-US" sz="1400" b="1" dirty="0">
                <a:solidFill>
                  <a:srgbClr val="EC924A"/>
                </a:solidFill>
              </a:rPr>
              <a:t>At every stage, ask:</a:t>
            </a:r>
            <a:endParaRPr lang="en-US" sz="1400" dirty="0"/>
          </a:p>
        </p:txBody>
      </p:sp>
      <p:sp>
        <p:nvSpPr>
          <p:cNvPr id="36" name="Text 34"/>
          <p:cNvSpPr txBox="1"/>
          <p:nvPr/>
        </p:nvSpPr>
        <p:spPr>
          <a:xfrm>
            <a:off x="8092440" y="2514600"/>
            <a:ext cx="3200400" cy="1554480"/>
          </a:xfrm>
          <a:prstGeom prst="rect">
            <a:avLst/>
          </a:prstGeom>
          <a:noFill/>
          <a:ln/>
        </p:spPr>
        <p:txBody>
          <a:bodyPr wrap="square" lIns="0" tIns="0" rIns="0" bIns="0" rtlCol="0" anchor="t"/>
          <a:lstStyle/>
          <a:p>
            <a:pPr indent="0" marL="0">
              <a:buNone/>
            </a:pPr>
            <a:r>
              <a:rPr lang="en-US" sz="2600" b="1" dirty="0">
                <a:solidFill>
                  <a:schemeClr val="bg1"/>
                </a:solidFill>
              </a:rPr>
              <a:t>How much time would this normally take?</a:t>
            </a:r>
            <a:endParaRPr lang="en-US" sz="2600" dirty="0"/>
          </a:p>
        </p:txBody>
      </p:sp>
      <p:sp>
        <p:nvSpPr>
          <p:cNvPr id="37" name="Text 35"/>
          <p:cNvSpPr txBox="1"/>
          <p:nvPr/>
        </p:nvSpPr>
        <p:spPr>
          <a:xfrm>
            <a:off x="8092440" y="4434840"/>
            <a:ext cx="3200400" cy="1097280"/>
          </a:xfrm>
          <a:prstGeom prst="rect">
            <a:avLst/>
          </a:prstGeom>
          <a:noFill/>
          <a:ln/>
        </p:spPr>
        <p:txBody>
          <a:bodyPr wrap="square" lIns="0" tIns="0" rIns="0" bIns="0" rtlCol="0" anchor="t"/>
          <a:lstStyle/>
          <a:p>
            <a:pPr indent="0" marL="0">
              <a:buNone/>
            </a:pPr>
            <a:r>
              <a:rPr lang="en-US" sz="1400" dirty="0">
                <a:solidFill>
                  <a:srgbClr val="BFB09C"/>
                </a:solidFill>
              </a:rPr>
              <a:t>Then compare with the paper way: write, print, copy, collect, mark.</a:t>
            </a:r>
            <a:endParaRPr lang="en-US" sz="14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chemeClr val="accent1"/>
                </a:solidFill>
              </a:rPr>
              <a:t>PHASE 3   |   STUDENT   |   7 MIN</a:t>
            </a:r>
            <a:endParaRPr lang="en-US" sz="1100" dirty="0"/>
          </a:p>
        </p:txBody>
      </p:sp>
      <p:sp>
        <p:nvSpPr>
          <p:cNvPr id="3" name="Text 0"/>
          <p:cNvSpPr/>
          <p:nvPr>
            <p:ph idx="100" type="title" hasCustomPrompt="1"/>
          </p:nvPr>
        </p:nvSpPr>
        <p:spPr>
          <a:xfrm>
            <a:off x="640080" y="548640"/>
            <a:ext cx="10908792" cy="1005840"/>
          </a:xfrm>
          <a:prstGeom prst="rect">
            <a:avLst/>
          </a:prstGeom>
          <a:noFill/>
          <a:ln/>
        </p:spPr>
        <p:txBody>
          <a:bodyPr wrap="square" lIns="0" tIns="0" rIns="0" bIns="0" rtlCol="0" anchor="t"/>
          <a:lstStyle/>
          <a:p>
            <a:pPr algn="l" indent="0" marL="0">
              <a:buNone/>
            </a:pPr>
            <a:r>
              <a:rPr lang="en-US" sz="3400" b="1" dirty="0">
                <a:solidFill>
                  <a:schemeClr val="tx1"/>
                </a:solidFill>
              </a:rPr>
              <a:t>Student experience: take it, submit it, see it</a:t>
            </a:r>
            <a:endParaRPr lang="en-US" sz="3400" dirty="0"/>
          </a:p>
        </p:txBody>
      </p:sp>
      <p:sp>
        <p:nvSpPr>
          <p:cNvPr id="4" name="step number"/>
          <p:cNvSpPr/>
          <p:nvPr/>
        </p:nvSpPr>
        <p:spPr>
          <a:xfrm>
            <a:off x="640080" y="1783080"/>
            <a:ext cx="420624" cy="420624"/>
          </a:xfrm>
          <a:prstGeom prst="ellipse">
            <a:avLst/>
          </a:prstGeom>
          <a:solidFill>
            <a:srgbClr val="1F8A84"/>
          </a:solidFill>
          <a:ln w="12700">
            <a:solidFill>
              <a:srgbClr val="1F8A84"/>
            </a:solidFill>
            <a:prstDash val="solid"/>
          </a:ln>
        </p:spPr>
      </p:sp>
      <p:sp>
        <p:nvSpPr>
          <p:cNvPr id="5" name="Text 3"/>
          <p:cNvSpPr txBox="1"/>
          <p:nvPr/>
        </p:nvSpPr>
        <p:spPr>
          <a:xfrm>
            <a:off x="640080" y="17830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234440" y="1783080"/>
            <a:ext cx="4206240" cy="420624"/>
          </a:xfrm>
          <a:prstGeom prst="rect">
            <a:avLst/>
          </a:prstGeom>
          <a:noFill/>
          <a:ln/>
        </p:spPr>
        <p:txBody>
          <a:bodyPr wrap="square" lIns="0" tIns="0" rIns="0" bIns="0" rtlCol="0" anchor="ctr"/>
          <a:lstStyle/>
          <a:p>
            <a:pPr indent="0" marL="0">
              <a:buNone/>
            </a:pPr>
            <a:r>
              <a:rPr lang="en-US" sz="1600" dirty="0">
                <a:solidFill>
                  <a:schemeClr val="tx1"/>
                </a:solidFill>
              </a:rPr>
              <a:t>Log in</a:t>
            </a:r>
            <a:endParaRPr lang="en-US" sz="1600" dirty="0"/>
          </a:p>
        </p:txBody>
      </p:sp>
      <p:sp>
        <p:nvSpPr>
          <p:cNvPr id="7" name="step number"/>
          <p:cNvSpPr/>
          <p:nvPr/>
        </p:nvSpPr>
        <p:spPr>
          <a:xfrm>
            <a:off x="640080" y="2404872"/>
            <a:ext cx="420624" cy="420624"/>
          </a:xfrm>
          <a:prstGeom prst="ellipse">
            <a:avLst/>
          </a:prstGeom>
          <a:solidFill>
            <a:srgbClr val="1F8A84"/>
          </a:solidFill>
          <a:ln w="12700">
            <a:solidFill>
              <a:srgbClr val="1F8A84"/>
            </a:solidFill>
            <a:prstDash val="solid"/>
          </a:ln>
        </p:spPr>
      </p:sp>
      <p:sp>
        <p:nvSpPr>
          <p:cNvPr id="8" name="Text 6"/>
          <p:cNvSpPr txBox="1"/>
          <p:nvPr/>
        </p:nvSpPr>
        <p:spPr>
          <a:xfrm>
            <a:off x="640080" y="24048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Text 7"/>
          <p:cNvSpPr txBox="1"/>
          <p:nvPr/>
        </p:nvSpPr>
        <p:spPr>
          <a:xfrm>
            <a:off x="1234440" y="2404872"/>
            <a:ext cx="4206240" cy="420624"/>
          </a:xfrm>
          <a:prstGeom prst="rect">
            <a:avLst/>
          </a:prstGeom>
          <a:noFill/>
          <a:ln/>
        </p:spPr>
        <p:txBody>
          <a:bodyPr wrap="square" lIns="0" tIns="0" rIns="0" bIns="0" rtlCol="0" anchor="ctr"/>
          <a:lstStyle/>
          <a:p>
            <a:pPr indent="0" marL="0">
              <a:buNone/>
            </a:pPr>
            <a:r>
              <a:rPr lang="en-US" sz="1600" dirty="0">
                <a:solidFill>
                  <a:schemeClr val="tx1"/>
                </a:solidFill>
              </a:rPr>
              <a:t>Open assigned work</a:t>
            </a:r>
            <a:endParaRPr lang="en-US" sz="1600" dirty="0"/>
          </a:p>
        </p:txBody>
      </p:sp>
      <p:sp>
        <p:nvSpPr>
          <p:cNvPr id="10" name="step number"/>
          <p:cNvSpPr/>
          <p:nvPr/>
        </p:nvSpPr>
        <p:spPr>
          <a:xfrm>
            <a:off x="640080" y="3026664"/>
            <a:ext cx="420624" cy="420624"/>
          </a:xfrm>
          <a:prstGeom prst="ellipse">
            <a:avLst/>
          </a:prstGeom>
          <a:solidFill>
            <a:srgbClr val="1F8A84"/>
          </a:solidFill>
          <a:ln w="12700">
            <a:solidFill>
              <a:srgbClr val="1F8A84"/>
            </a:solidFill>
            <a:prstDash val="solid"/>
          </a:ln>
        </p:spPr>
      </p:sp>
      <p:sp>
        <p:nvSpPr>
          <p:cNvPr id="11" name="Text 9"/>
          <p:cNvSpPr txBox="1"/>
          <p:nvPr/>
        </p:nvSpPr>
        <p:spPr>
          <a:xfrm>
            <a:off x="640080" y="30266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2" name="Text 10"/>
          <p:cNvSpPr txBox="1"/>
          <p:nvPr/>
        </p:nvSpPr>
        <p:spPr>
          <a:xfrm>
            <a:off x="1234440" y="3026664"/>
            <a:ext cx="4206240" cy="420624"/>
          </a:xfrm>
          <a:prstGeom prst="rect">
            <a:avLst/>
          </a:prstGeom>
          <a:noFill/>
          <a:ln/>
        </p:spPr>
        <p:txBody>
          <a:bodyPr wrap="square" lIns="0" tIns="0" rIns="0" bIns="0" rtlCol="0" anchor="ctr"/>
          <a:lstStyle/>
          <a:p>
            <a:pPr indent="0" marL="0">
              <a:buNone/>
            </a:pPr>
            <a:r>
              <a:rPr lang="en-US" sz="1600" dirty="0">
                <a:solidFill>
                  <a:schemeClr val="tx1"/>
                </a:solidFill>
              </a:rPr>
              <a:t>Experience the assessment</a:t>
            </a:r>
            <a:endParaRPr lang="en-US" sz="1600" dirty="0"/>
          </a:p>
        </p:txBody>
      </p:sp>
      <p:sp>
        <p:nvSpPr>
          <p:cNvPr id="13" name="step number"/>
          <p:cNvSpPr/>
          <p:nvPr/>
        </p:nvSpPr>
        <p:spPr>
          <a:xfrm>
            <a:off x="640080" y="3648456"/>
            <a:ext cx="420624" cy="420624"/>
          </a:xfrm>
          <a:prstGeom prst="ellipse">
            <a:avLst/>
          </a:prstGeom>
          <a:solidFill>
            <a:srgbClr val="1F8A84"/>
          </a:solidFill>
          <a:ln w="12700">
            <a:solidFill>
              <a:srgbClr val="1F8A84"/>
            </a:solidFill>
            <a:prstDash val="solid"/>
          </a:ln>
        </p:spPr>
      </p:sp>
      <p:sp>
        <p:nvSpPr>
          <p:cNvPr id="14" name="Text 12"/>
          <p:cNvSpPr txBox="1"/>
          <p:nvPr/>
        </p:nvSpPr>
        <p:spPr>
          <a:xfrm>
            <a:off x="640080" y="36484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5" name="Text 13"/>
          <p:cNvSpPr txBox="1"/>
          <p:nvPr/>
        </p:nvSpPr>
        <p:spPr>
          <a:xfrm>
            <a:off x="1234440" y="3648456"/>
            <a:ext cx="4206240" cy="420624"/>
          </a:xfrm>
          <a:prstGeom prst="rect">
            <a:avLst/>
          </a:prstGeom>
          <a:noFill/>
          <a:ln/>
        </p:spPr>
        <p:txBody>
          <a:bodyPr wrap="square" lIns="0" tIns="0" rIns="0" bIns="0" rtlCol="0" anchor="ctr"/>
          <a:lstStyle/>
          <a:p>
            <a:pPr indent="0" marL="0">
              <a:buNone/>
            </a:pPr>
            <a:r>
              <a:rPr lang="en-US" sz="1600" dirty="0">
                <a:solidFill>
                  <a:schemeClr val="tx1"/>
                </a:solidFill>
              </a:rPr>
              <a:t>Answer the questions</a:t>
            </a:r>
            <a:endParaRPr lang="en-US" sz="1600" dirty="0"/>
          </a:p>
        </p:txBody>
      </p:sp>
      <p:sp>
        <p:nvSpPr>
          <p:cNvPr id="16" name="step number"/>
          <p:cNvSpPr/>
          <p:nvPr/>
        </p:nvSpPr>
        <p:spPr>
          <a:xfrm>
            <a:off x="640080" y="4270248"/>
            <a:ext cx="420624" cy="420624"/>
          </a:xfrm>
          <a:prstGeom prst="ellipse">
            <a:avLst/>
          </a:prstGeom>
          <a:solidFill>
            <a:srgbClr val="1F8A84"/>
          </a:solidFill>
          <a:ln w="12700">
            <a:solidFill>
              <a:srgbClr val="1F8A84"/>
            </a:solidFill>
            <a:prstDash val="solid"/>
          </a:ln>
        </p:spPr>
      </p:sp>
      <p:sp>
        <p:nvSpPr>
          <p:cNvPr id="17" name="Text 15"/>
          <p:cNvSpPr txBox="1"/>
          <p:nvPr/>
        </p:nvSpPr>
        <p:spPr>
          <a:xfrm>
            <a:off x="640080" y="427024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8" name="Text 16"/>
          <p:cNvSpPr txBox="1"/>
          <p:nvPr/>
        </p:nvSpPr>
        <p:spPr>
          <a:xfrm>
            <a:off x="1234440" y="4270248"/>
            <a:ext cx="4206240" cy="420624"/>
          </a:xfrm>
          <a:prstGeom prst="rect">
            <a:avLst/>
          </a:prstGeom>
          <a:noFill/>
          <a:ln/>
        </p:spPr>
        <p:txBody>
          <a:bodyPr wrap="square" lIns="0" tIns="0" rIns="0" bIns="0" rtlCol="0" anchor="ctr"/>
          <a:lstStyle/>
          <a:p>
            <a:pPr indent="0" marL="0">
              <a:buNone/>
            </a:pPr>
            <a:r>
              <a:rPr lang="en-US" sz="1600" dirty="0">
                <a:solidFill>
                  <a:schemeClr val="tx1"/>
                </a:solidFill>
              </a:rPr>
              <a:t>Navigate the assessment</a:t>
            </a:r>
            <a:endParaRPr lang="en-US" sz="1600" dirty="0"/>
          </a:p>
        </p:txBody>
      </p:sp>
      <p:sp>
        <p:nvSpPr>
          <p:cNvPr id="19" name="step number"/>
          <p:cNvSpPr/>
          <p:nvPr/>
        </p:nvSpPr>
        <p:spPr>
          <a:xfrm>
            <a:off x="640080" y="4892040"/>
            <a:ext cx="420624" cy="420624"/>
          </a:xfrm>
          <a:prstGeom prst="ellipse">
            <a:avLst/>
          </a:prstGeom>
          <a:solidFill>
            <a:srgbClr val="1F8A84"/>
          </a:solidFill>
          <a:ln w="12700">
            <a:solidFill>
              <a:srgbClr val="1F8A84"/>
            </a:solidFill>
            <a:prstDash val="solid"/>
          </a:ln>
        </p:spPr>
      </p:sp>
      <p:sp>
        <p:nvSpPr>
          <p:cNvPr id="20" name="Text 18"/>
          <p:cNvSpPr txBox="1"/>
          <p:nvPr/>
        </p:nvSpPr>
        <p:spPr>
          <a:xfrm>
            <a:off x="640080" y="48920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1" name="Text 19"/>
          <p:cNvSpPr txBox="1"/>
          <p:nvPr/>
        </p:nvSpPr>
        <p:spPr>
          <a:xfrm>
            <a:off x="1234440" y="4892040"/>
            <a:ext cx="4206240" cy="420624"/>
          </a:xfrm>
          <a:prstGeom prst="rect">
            <a:avLst/>
          </a:prstGeom>
          <a:noFill/>
          <a:ln/>
        </p:spPr>
        <p:txBody>
          <a:bodyPr wrap="square" lIns="0" tIns="0" rIns="0" bIns="0" rtlCol="0" anchor="ctr"/>
          <a:lstStyle/>
          <a:p>
            <a:pPr indent="0" marL="0">
              <a:buNone/>
            </a:pPr>
            <a:r>
              <a:rPr lang="en-US" sz="1600" dirty="0">
                <a:solidFill>
                  <a:schemeClr val="tx1"/>
                </a:solidFill>
              </a:rPr>
              <a:t>Submit</a:t>
            </a:r>
            <a:endParaRPr lang="en-US" sz="1600" dirty="0"/>
          </a:p>
        </p:txBody>
      </p:sp>
      <p:sp>
        <p:nvSpPr>
          <p:cNvPr id="22" name="step number"/>
          <p:cNvSpPr/>
          <p:nvPr/>
        </p:nvSpPr>
        <p:spPr>
          <a:xfrm>
            <a:off x="640080" y="5513832"/>
            <a:ext cx="420624" cy="420624"/>
          </a:xfrm>
          <a:prstGeom prst="ellipse">
            <a:avLst/>
          </a:prstGeom>
          <a:solidFill>
            <a:srgbClr val="1F8A84"/>
          </a:solidFill>
          <a:ln w="12700">
            <a:solidFill>
              <a:srgbClr val="1F8A84"/>
            </a:solidFill>
            <a:prstDash val="solid"/>
          </a:ln>
        </p:spPr>
      </p:sp>
      <p:sp>
        <p:nvSpPr>
          <p:cNvPr id="23" name="Text 21"/>
          <p:cNvSpPr txBox="1"/>
          <p:nvPr/>
        </p:nvSpPr>
        <p:spPr>
          <a:xfrm>
            <a:off x="640080" y="55138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24" name="Text 22"/>
          <p:cNvSpPr txBox="1"/>
          <p:nvPr/>
        </p:nvSpPr>
        <p:spPr>
          <a:xfrm>
            <a:off x="1234440" y="5513832"/>
            <a:ext cx="4206240" cy="420624"/>
          </a:xfrm>
          <a:prstGeom prst="rect">
            <a:avLst/>
          </a:prstGeom>
          <a:noFill/>
          <a:ln/>
        </p:spPr>
        <p:txBody>
          <a:bodyPr wrap="square" lIns="0" tIns="0" rIns="0" bIns="0" rtlCol="0" anchor="ctr"/>
          <a:lstStyle/>
          <a:p>
            <a:pPr indent="0" marL="0">
              <a:buNone/>
            </a:pPr>
            <a:r>
              <a:rPr lang="en-US" sz="1600" dirty="0">
                <a:solidFill>
                  <a:schemeClr val="tx1"/>
                </a:solidFill>
              </a:rPr>
              <a:t>See the result or progress view</a:t>
            </a:r>
            <a:endParaRPr lang="en-US" sz="1600" dirty="0"/>
          </a:p>
        </p:txBody>
      </p:sp>
      <p:sp>
        <p:nvSpPr>
          <p:cNvPr id="25" name="key message"/>
          <p:cNvSpPr/>
          <p:nvPr/>
        </p:nvSpPr>
        <p:spPr>
          <a:xfrm>
            <a:off x="5943600" y="1783080"/>
            <a:ext cx="5605272" cy="2286000"/>
          </a:xfrm>
          <a:prstGeom prst="roundRect">
            <a:avLst>
              <a:gd name="adj" fmla="val 5600"/>
            </a:avLst>
          </a:prstGeom>
          <a:solidFill>
            <a:srgbClr val="1E1208"/>
          </a:solidFill>
          <a:ln w="12700">
            <a:solidFill>
              <a:srgbClr val="1E1208"/>
            </a:solidFill>
            <a:prstDash val="solid"/>
          </a:ln>
        </p:spPr>
      </p:sp>
      <p:sp>
        <p:nvSpPr>
          <p:cNvPr id="26" name="Text 24"/>
          <p:cNvSpPr txBox="1"/>
          <p:nvPr/>
        </p:nvSpPr>
        <p:spPr>
          <a:xfrm>
            <a:off x="6309360" y="2148840"/>
            <a:ext cx="4846320" cy="1097280"/>
          </a:xfrm>
          <a:prstGeom prst="rect">
            <a:avLst/>
          </a:prstGeom>
          <a:noFill/>
          <a:ln/>
        </p:spPr>
        <p:txBody>
          <a:bodyPr wrap="square" lIns="0" tIns="0" rIns="0" bIns="0" rtlCol="0" anchor="t"/>
          <a:lstStyle/>
          <a:p>
            <a:pPr indent="0" marL="0">
              <a:buNone/>
            </a:pPr>
            <a:r>
              <a:rPr lang="en-US" sz="2800" b="1" dirty="0">
                <a:solidFill>
                  <a:schemeClr val="bg1"/>
                </a:solidFill>
              </a:rPr>
              <a:t>Smart Assess is not simply digitizing a PDF.</a:t>
            </a:r>
            <a:endParaRPr lang="en-US" sz="2800" dirty="0"/>
          </a:p>
        </p:txBody>
      </p:sp>
      <p:sp>
        <p:nvSpPr>
          <p:cNvPr id="27" name="Text 25"/>
          <p:cNvSpPr txBox="1"/>
          <p:nvPr/>
        </p:nvSpPr>
        <p:spPr>
          <a:xfrm>
            <a:off x="6309360" y="3337560"/>
            <a:ext cx="4846320" cy="548640"/>
          </a:xfrm>
          <a:prstGeom prst="rect">
            <a:avLst/>
          </a:prstGeom>
          <a:noFill/>
          <a:ln/>
        </p:spPr>
        <p:txBody>
          <a:bodyPr wrap="square" lIns="0" tIns="0" rIns="0" bIns="0" rtlCol="0" anchor="t"/>
          <a:lstStyle/>
          <a:p>
            <a:pPr indent="0" marL="0">
              <a:buNone/>
            </a:pPr>
            <a:r>
              <a:rPr lang="en-US" sz="1600" dirty="0">
                <a:solidFill>
                  <a:srgbClr val="EC924A"/>
                </a:solidFill>
              </a:rPr>
              <a:t>It is a structured digital assessment workflow.</a:t>
            </a:r>
            <a:endParaRPr lang="en-US" sz="1600" dirty="0"/>
          </a:p>
        </p:txBody>
      </p:sp>
      <p:sp>
        <p:nvSpPr>
          <p:cNvPr id="28" name="card"/>
          <p:cNvSpPr/>
          <p:nvPr/>
        </p:nvSpPr>
        <p:spPr>
          <a:xfrm>
            <a:off x="5943600" y="4297680"/>
            <a:ext cx="2697480" cy="1737360"/>
          </a:xfrm>
          <a:prstGeom prst="roundRect">
            <a:avLst>
              <a:gd name="adj" fmla="val 6316"/>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29" name="Text 27"/>
          <p:cNvSpPr txBox="1"/>
          <p:nvPr/>
        </p:nvSpPr>
        <p:spPr>
          <a:xfrm>
            <a:off x="6172200" y="4480560"/>
            <a:ext cx="2286000" cy="320040"/>
          </a:xfrm>
          <a:prstGeom prst="rect">
            <a:avLst/>
          </a:prstGeom>
          <a:noFill/>
          <a:ln/>
        </p:spPr>
        <p:txBody>
          <a:bodyPr wrap="square" lIns="0" tIns="0" rIns="0" bIns="0" rtlCol="0" anchor="t"/>
          <a:lstStyle/>
          <a:p>
            <a:pPr indent="0" marL="0">
              <a:buNone/>
            </a:pPr>
            <a:r>
              <a:rPr lang="en-US" sz="1500" b="1" dirty="0">
                <a:solidFill>
                  <a:schemeClr val="tx1"/>
                </a:solidFill>
              </a:rPr>
              <a:t>What the teacher sees</a:t>
            </a:r>
            <a:endParaRPr lang="en-US" sz="1500" dirty="0"/>
          </a:p>
        </p:txBody>
      </p:sp>
      <p:sp>
        <p:nvSpPr>
          <p:cNvPr id="30" name="Text 28"/>
          <p:cNvSpPr txBox="1"/>
          <p:nvPr/>
        </p:nvSpPr>
        <p:spPr>
          <a:xfrm>
            <a:off x="6172200" y="4892040"/>
            <a:ext cx="2286000" cy="1005840"/>
          </a:xfrm>
          <a:prstGeom prst="rect">
            <a:avLst/>
          </a:prstGeom>
          <a:noFill/>
          <a:ln/>
        </p:spPr>
        <p:txBody>
          <a:bodyPr wrap="square" lIns="0" tIns="0" rIns="0" bIns="0" rtlCol="0" anchor="t"/>
          <a:lstStyle/>
          <a:p>
            <a:pPr indent="0" marL="0">
              <a:buNone/>
            </a:pPr>
            <a:r>
              <a:rPr lang="en-US" sz="1300" dirty="0">
                <a:solidFill>
                  <a:schemeClr val="accent5"/>
                </a:solidFill>
              </a:rPr>
              <a:t>Builds, assigns, marks and reviews results.</a:t>
            </a:r>
            <a:endParaRPr lang="en-US" sz="1300" dirty="0"/>
          </a:p>
        </p:txBody>
      </p:sp>
      <p:sp>
        <p:nvSpPr>
          <p:cNvPr id="31" name="card"/>
          <p:cNvSpPr/>
          <p:nvPr/>
        </p:nvSpPr>
        <p:spPr>
          <a:xfrm>
            <a:off x="8851392" y="4297680"/>
            <a:ext cx="2697480" cy="1737360"/>
          </a:xfrm>
          <a:prstGeom prst="roundRect">
            <a:avLst>
              <a:gd name="adj" fmla="val 6316"/>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32" name="Text 30"/>
          <p:cNvSpPr txBox="1"/>
          <p:nvPr/>
        </p:nvSpPr>
        <p:spPr>
          <a:xfrm>
            <a:off x="9079992" y="4480560"/>
            <a:ext cx="2286000" cy="320040"/>
          </a:xfrm>
          <a:prstGeom prst="rect">
            <a:avLst/>
          </a:prstGeom>
          <a:noFill/>
          <a:ln/>
        </p:spPr>
        <p:txBody>
          <a:bodyPr wrap="square" lIns="0" tIns="0" rIns="0" bIns="0" rtlCol="0" anchor="t"/>
          <a:lstStyle/>
          <a:p>
            <a:pPr indent="0" marL="0">
              <a:buNone/>
            </a:pPr>
            <a:r>
              <a:rPr lang="en-US" sz="1500" b="1" dirty="0">
                <a:solidFill>
                  <a:schemeClr val="tx1"/>
                </a:solidFill>
              </a:rPr>
              <a:t>What the student sees</a:t>
            </a:r>
            <a:endParaRPr lang="en-US" sz="1500" dirty="0"/>
          </a:p>
        </p:txBody>
      </p:sp>
      <p:sp>
        <p:nvSpPr>
          <p:cNvPr id="33" name="Text 31"/>
          <p:cNvSpPr txBox="1"/>
          <p:nvPr/>
        </p:nvSpPr>
        <p:spPr>
          <a:xfrm>
            <a:off x="9079992" y="4892040"/>
            <a:ext cx="2286000" cy="1005840"/>
          </a:xfrm>
          <a:prstGeom prst="rect">
            <a:avLst/>
          </a:prstGeom>
          <a:noFill/>
          <a:ln/>
        </p:spPr>
        <p:txBody>
          <a:bodyPr wrap="square" lIns="0" tIns="0" rIns="0" bIns="0" rtlCol="0" anchor="t"/>
          <a:lstStyle/>
          <a:p>
            <a:pPr indent="0" marL="0">
              <a:buNone/>
            </a:pPr>
            <a:r>
              <a:rPr lang="en-US" sz="1300" dirty="0">
                <a:solidFill>
                  <a:schemeClr val="accent5"/>
                </a:solidFill>
              </a:rPr>
              <a:t>Only their own work, in a focused view they can save and submit.</a:t>
            </a:r>
            <a:endParaRPr lang="en-US" sz="13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chemeClr val="accent1"/>
                </a:solidFill>
              </a:rPr>
              <a:t>PHASE 4   |   RESULTS   |   5 MIN</a:t>
            </a:r>
            <a:endParaRPr lang="en-US" sz="1100" dirty="0"/>
          </a:p>
        </p:txBody>
      </p:sp>
      <p:sp>
        <p:nvSpPr>
          <p:cNvPr id="3" name="Text 0"/>
          <p:cNvSpPr/>
          <p:nvPr>
            <p:ph idx="100" type="title" hasCustomPrompt="1"/>
          </p:nvPr>
        </p:nvSpPr>
        <p:spPr>
          <a:xfrm>
            <a:off x="640080" y="548640"/>
            <a:ext cx="10908792" cy="1005840"/>
          </a:xfrm>
          <a:prstGeom prst="rect">
            <a:avLst/>
          </a:prstGeom>
          <a:noFill/>
          <a:ln/>
        </p:spPr>
        <p:txBody>
          <a:bodyPr wrap="square" lIns="0" tIns="0" rIns="0" bIns="0" rtlCol="0" anchor="t"/>
          <a:lstStyle/>
          <a:p>
            <a:pPr algn="l" indent="0" marL="0">
              <a:buNone/>
            </a:pPr>
            <a:r>
              <a:rPr lang="en-US" sz="3400" b="1" dirty="0">
                <a:solidFill>
                  <a:schemeClr val="tx1"/>
                </a:solidFill>
              </a:rPr>
              <a:t>From assessment to performance information</a:t>
            </a:r>
            <a:endParaRPr lang="en-US" sz="3400" dirty="0"/>
          </a:p>
        </p:txBody>
      </p:sp>
      <p:sp>
        <p:nvSpPr>
          <p:cNvPr id="4" name="flow Assessment"/>
          <p:cNvSpPr/>
          <p:nvPr/>
        </p:nvSpPr>
        <p:spPr>
          <a:xfrm>
            <a:off x="640080" y="1828800"/>
            <a:ext cx="1938528" cy="1143000"/>
          </a:xfrm>
          <a:prstGeom prst="roundRect">
            <a:avLst>
              <a:gd name="adj" fmla="val 9600"/>
            </a:avLst>
          </a:prstGeom>
          <a:solidFill>
            <a:srgbClr val="D4762A"/>
          </a:solidFill>
          <a:ln w="12700">
            <a:solidFill>
              <a:srgbClr val="D4762A"/>
            </a:solidFill>
            <a:prstDash val="solid"/>
          </a:ln>
        </p:spPr>
      </p:sp>
      <p:sp>
        <p:nvSpPr>
          <p:cNvPr id="5" name="Text 3"/>
          <p:cNvSpPr txBox="1"/>
          <p:nvPr/>
        </p:nvSpPr>
        <p:spPr>
          <a:xfrm>
            <a:off x="749808" y="1828800"/>
            <a:ext cx="1719072" cy="1143000"/>
          </a:xfrm>
          <a:prstGeom prst="rect">
            <a:avLst/>
          </a:prstGeom>
          <a:noFill/>
          <a:ln/>
        </p:spPr>
        <p:txBody>
          <a:bodyPr wrap="square" lIns="0" tIns="0" rIns="0" bIns="0" rtlCol="0" anchor="ctr"/>
          <a:lstStyle/>
          <a:p>
            <a:pPr algn="ctr" indent="0" marL="0">
              <a:buNone/>
            </a:pPr>
            <a:r>
              <a:rPr lang="en-US" sz="1600" b="1" dirty="0">
                <a:solidFill>
                  <a:srgbClr val="FFFFFF"/>
                </a:solidFill>
              </a:rPr>
              <a:t>Assessment</a:t>
            </a:r>
            <a:endParaRPr lang="en-US" sz="1600" dirty="0"/>
          </a:p>
        </p:txBody>
      </p:sp>
      <p:sp>
        <p:nvSpPr>
          <p:cNvPr id="6" name="arrow"/>
          <p:cNvSpPr/>
          <p:nvPr/>
        </p:nvSpPr>
        <p:spPr>
          <a:xfrm>
            <a:off x="2606040" y="2395728"/>
            <a:ext cx="246888" cy="0"/>
          </a:xfrm>
          <a:prstGeom prst="line">
            <a:avLst/>
          </a:prstGeom>
          <a:noFill/>
          <a:ln w="25400">
            <a:solidFill>
              <a:srgbClr val="6B4F35"/>
            </a:solidFill>
            <a:prstDash val="solid"/>
            <a:tailEnd type="triangle"/>
          </a:ln>
        </p:spPr>
      </p:sp>
      <p:sp>
        <p:nvSpPr>
          <p:cNvPr id="7" name="flow Student responses"/>
          <p:cNvSpPr/>
          <p:nvPr/>
        </p:nvSpPr>
        <p:spPr>
          <a:xfrm>
            <a:off x="2880360" y="1828800"/>
            <a:ext cx="1938528" cy="1143000"/>
          </a:xfrm>
          <a:prstGeom prst="roundRect">
            <a:avLst>
              <a:gd name="adj" fmla="val 9600"/>
            </a:avLst>
          </a:prstGeom>
          <a:solidFill>
            <a:srgbClr val="D4762A"/>
          </a:solidFill>
          <a:ln w="12700">
            <a:solidFill>
              <a:srgbClr val="D4762A"/>
            </a:solidFill>
            <a:prstDash val="solid"/>
          </a:ln>
        </p:spPr>
      </p:sp>
      <p:sp>
        <p:nvSpPr>
          <p:cNvPr id="8" name="Text 6"/>
          <p:cNvSpPr txBox="1"/>
          <p:nvPr/>
        </p:nvSpPr>
        <p:spPr>
          <a:xfrm>
            <a:off x="2990088" y="1828800"/>
            <a:ext cx="1719072" cy="1143000"/>
          </a:xfrm>
          <a:prstGeom prst="rect">
            <a:avLst/>
          </a:prstGeom>
          <a:noFill/>
          <a:ln/>
        </p:spPr>
        <p:txBody>
          <a:bodyPr wrap="square" lIns="0" tIns="0" rIns="0" bIns="0" rtlCol="0" anchor="ctr"/>
          <a:lstStyle/>
          <a:p>
            <a:pPr algn="ctr" indent="0" marL="0">
              <a:buNone/>
            </a:pPr>
            <a:r>
              <a:rPr lang="en-US" sz="1600" b="1" dirty="0">
                <a:solidFill>
                  <a:srgbClr val="FFFFFF"/>
                </a:solidFill>
              </a:rPr>
              <a:t>Student responses</a:t>
            </a:r>
            <a:endParaRPr lang="en-US" sz="1600" dirty="0"/>
          </a:p>
        </p:txBody>
      </p:sp>
      <p:sp>
        <p:nvSpPr>
          <p:cNvPr id="9" name="arrow"/>
          <p:cNvSpPr/>
          <p:nvPr/>
        </p:nvSpPr>
        <p:spPr>
          <a:xfrm>
            <a:off x="4846320" y="2395728"/>
            <a:ext cx="246888" cy="0"/>
          </a:xfrm>
          <a:prstGeom prst="line">
            <a:avLst/>
          </a:prstGeom>
          <a:noFill/>
          <a:ln w="25400">
            <a:solidFill>
              <a:srgbClr val="6B4F35"/>
            </a:solidFill>
            <a:prstDash val="solid"/>
            <a:tailEnd type="triangle"/>
          </a:ln>
        </p:spPr>
      </p:sp>
      <p:sp>
        <p:nvSpPr>
          <p:cNvPr id="10" name="flow Marking"/>
          <p:cNvSpPr/>
          <p:nvPr/>
        </p:nvSpPr>
        <p:spPr>
          <a:xfrm>
            <a:off x="5120640" y="1828800"/>
            <a:ext cx="1938528" cy="1143000"/>
          </a:xfrm>
          <a:prstGeom prst="roundRect">
            <a:avLst>
              <a:gd name="adj" fmla="val 9600"/>
            </a:avLst>
          </a:prstGeom>
          <a:solidFill>
            <a:srgbClr val="D4762A"/>
          </a:solidFill>
          <a:ln w="12700">
            <a:solidFill>
              <a:srgbClr val="D4762A"/>
            </a:solidFill>
            <a:prstDash val="solid"/>
          </a:ln>
        </p:spPr>
      </p:sp>
      <p:sp>
        <p:nvSpPr>
          <p:cNvPr id="11" name="Text 9"/>
          <p:cNvSpPr txBox="1"/>
          <p:nvPr/>
        </p:nvSpPr>
        <p:spPr>
          <a:xfrm>
            <a:off x="5230368" y="1828800"/>
            <a:ext cx="1719072" cy="1143000"/>
          </a:xfrm>
          <a:prstGeom prst="rect">
            <a:avLst/>
          </a:prstGeom>
          <a:noFill/>
          <a:ln/>
        </p:spPr>
        <p:txBody>
          <a:bodyPr wrap="square" lIns="0" tIns="0" rIns="0" bIns="0" rtlCol="0" anchor="ctr"/>
          <a:lstStyle/>
          <a:p>
            <a:pPr algn="ctr" indent="0" marL="0">
              <a:buNone/>
            </a:pPr>
            <a:r>
              <a:rPr lang="en-US" sz="1600" b="1" dirty="0">
                <a:solidFill>
                  <a:srgbClr val="FFFFFF"/>
                </a:solidFill>
              </a:rPr>
              <a:t>Marking</a:t>
            </a:r>
            <a:endParaRPr lang="en-US" sz="1600" dirty="0"/>
          </a:p>
        </p:txBody>
      </p:sp>
      <p:sp>
        <p:nvSpPr>
          <p:cNvPr id="12" name="arrow"/>
          <p:cNvSpPr/>
          <p:nvPr/>
        </p:nvSpPr>
        <p:spPr>
          <a:xfrm>
            <a:off x="7086600" y="2395728"/>
            <a:ext cx="246888" cy="0"/>
          </a:xfrm>
          <a:prstGeom prst="line">
            <a:avLst/>
          </a:prstGeom>
          <a:noFill/>
          <a:ln w="25400">
            <a:solidFill>
              <a:srgbClr val="6B4F35"/>
            </a:solidFill>
            <a:prstDash val="solid"/>
            <a:tailEnd type="triangle"/>
          </a:ln>
        </p:spPr>
      </p:sp>
      <p:sp>
        <p:nvSpPr>
          <p:cNvPr id="13" name="flow Results"/>
          <p:cNvSpPr/>
          <p:nvPr/>
        </p:nvSpPr>
        <p:spPr>
          <a:xfrm>
            <a:off x="7360920" y="1828800"/>
            <a:ext cx="1938528" cy="1143000"/>
          </a:xfrm>
          <a:prstGeom prst="roundRect">
            <a:avLst>
              <a:gd name="adj" fmla="val 9600"/>
            </a:avLst>
          </a:prstGeom>
          <a:solidFill>
            <a:srgbClr val="D4762A"/>
          </a:solidFill>
          <a:ln w="12700">
            <a:solidFill>
              <a:srgbClr val="D4762A"/>
            </a:solidFill>
            <a:prstDash val="solid"/>
          </a:ln>
        </p:spPr>
      </p:sp>
      <p:sp>
        <p:nvSpPr>
          <p:cNvPr id="14" name="Text 12"/>
          <p:cNvSpPr txBox="1"/>
          <p:nvPr/>
        </p:nvSpPr>
        <p:spPr>
          <a:xfrm>
            <a:off x="7470648" y="1828800"/>
            <a:ext cx="1719072" cy="1143000"/>
          </a:xfrm>
          <a:prstGeom prst="rect">
            <a:avLst/>
          </a:prstGeom>
          <a:noFill/>
          <a:ln/>
        </p:spPr>
        <p:txBody>
          <a:bodyPr wrap="square" lIns="0" tIns="0" rIns="0" bIns="0" rtlCol="0" anchor="ctr"/>
          <a:lstStyle/>
          <a:p>
            <a:pPr algn="ctr" indent="0" marL="0">
              <a:buNone/>
            </a:pPr>
            <a:r>
              <a:rPr lang="en-US" sz="1600" b="1" dirty="0">
                <a:solidFill>
                  <a:srgbClr val="FFFFFF"/>
                </a:solidFill>
              </a:rPr>
              <a:t>Results</a:t>
            </a:r>
            <a:endParaRPr lang="en-US" sz="1600" dirty="0"/>
          </a:p>
        </p:txBody>
      </p:sp>
      <p:sp>
        <p:nvSpPr>
          <p:cNvPr id="15" name="arrow"/>
          <p:cNvSpPr/>
          <p:nvPr/>
        </p:nvSpPr>
        <p:spPr>
          <a:xfrm>
            <a:off x="9326880" y="2395728"/>
            <a:ext cx="246888" cy="0"/>
          </a:xfrm>
          <a:prstGeom prst="line">
            <a:avLst/>
          </a:prstGeom>
          <a:noFill/>
          <a:ln w="25400">
            <a:solidFill>
              <a:srgbClr val="6B4F35"/>
            </a:solidFill>
            <a:prstDash val="solid"/>
            <a:tailEnd type="triangle"/>
          </a:ln>
        </p:spPr>
      </p:sp>
      <p:sp>
        <p:nvSpPr>
          <p:cNvPr id="16" name="flow Performance information"/>
          <p:cNvSpPr/>
          <p:nvPr/>
        </p:nvSpPr>
        <p:spPr>
          <a:xfrm>
            <a:off x="9601200" y="1828800"/>
            <a:ext cx="1938528" cy="1143000"/>
          </a:xfrm>
          <a:prstGeom prst="roundRect">
            <a:avLst>
              <a:gd name="adj" fmla="val 9600"/>
            </a:avLst>
          </a:prstGeom>
          <a:solidFill>
            <a:srgbClr val="1F8A84"/>
          </a:solidFill>
          <a:ln w="12700">
            <a:solidFill>
              <a:srgbClr val="1F8A84"/>
            </a:solidFill>
            <a:prstDash val="solid"/>
          </a:ln>
        </p:spPr>
      </p:sp>
      <p:sp>
        <p:nvSpPr>
          <p:cNvPr id="17" name="Text 15"/>
          <p:cNvSpPr txBox="1"/>
          <p:nvPr/>
        </p:nvSpPr>
        <p:spPr>
          <a:xfrm>
            <a:off x="9710928" y="1828800"/>
            <a:ext cx="1719072" cy="1143000"/>
          </a:xfrm>
          <a:prstGeom prst="rect">
            <a:avLst/>
          </a:prstGeom>
          <a:noFill/>
          <a:ln/>
        </p:spPr>
        <p:txBody>
          <a:bodyPr wrap="square" lIns="0" tIns="0" rIns="0" bIns="0" rtlCol="0" anchor="ctr"/>
          <a:lstStyle/>
          <a:p>
            <a:pPr algn="ctr" indent="0" marL="0">
              <a:buNone/>
            </a:pPr>
            <a:r>
              <a:rPr lang="en-US" sz="1600" b="1" dirty="0">
                <a:solidFill>
                  <a:srgbClr val="FFFFFF"/>
                </a:solidFill>
              </a:rPr>
              <a:t>Performance information</a:t>
            </a:r>
            <a:endParaRPr lang="en-US" sz="1600" dirty="0"/>
          </a:p>
        </p:txBody>
      </p:sp>
      <p:sp>
        <p:nvSpPr>
          <p:cNvPr id="18" name="card"/>
          <p:cNvSpPr/>
          <p:nvPr/>
        </p:nvSpPr>
        <p:spPr>
          <a:xfrm>
            <a:off x="640080" y="3520440"/>
            <a:ext cx="6309360" cy="2468880"/>
          </a:xfrm>
          <a:prstGeom prst="roundRect">
            <a:avLst>
              <a:gd name="adj" fmla="val 4444"/>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19" name="Text 17"/>
          <p:cNvSpPr txBox="1"/>
          <p:nvPr/>
        </p:nvSpPr>
        <p:spPr>
          <a:xfrm>
            <a:off x="914400" y="3749040"/>
            <a:ext cx="5760720" cy="320040"/>
          </a:xfrm>
          <a:prstGeom prst="rect">
            <a:avLst/>
          </a:prstGeom>
          <a:noFill/>
          <a:ln/>
        </p:spPr>
        <p:txBody>
          <a:bodyPr wrap="square" lIns="0" tIns="0" rIns="0" bIns="0" rtlCol="0" anchor="t"/>
          <a:lstStyle/>
          <a:p>
            <a:pPr indent="0" marL="0">
              <a:buNone/>
            </a:pPr>
            <a:r>
              <a:rPr lang="en-US" sz="1400" b="1" spc="300" kern="0" dirty="0">
                <a:solidFill>
                  <a:schemeClr val="accent1"/>
                </a:solidFill>
              </a:rPr>
              <a:t>Ask the room</a:t>
            </a:r>
            <a:endParaRPr lang="en-US" sz="1400" dirty="0"/>
          </a:p>
        </p:txBody>
      </p:sp>
      <p:sp>
        <p:nvSpPr>
          <p:cNvPr id="20" name="Text 18"/>
          <p:cNvSpPr txBox="1"/>
          <p:nvPr/>
        </p:nvSpPr>
        <p:spPr>
          <a:xfrm>
            <a:off x="914400" y="4160520"/>
            <a:ext cx="5760720" cy="1371600"/>
          </a:xfrm>
          <a:prstGeom prst="rect">
            <a:avLst/>
          </a:prstGeom>
          <a:noFill/>
          <a:ln/>
        </p:spPr>
        <p:txBody>
          <a:bodyPr wrap="square" lIns="0" tIns="0" rIns="0" bIns="0" rtlCol="0" anchor="t"/>
          <a:lstStyle/>
          <a:p>
            <a:pPr indent="0" marL="0">
              <a:buNone/>
            </a:pPr>
            <a:r>
              <a:rPr lang="en-US" sz="2600" b="1" dirty="0">
                <a:solidFill>
                  <a:schemeClr val="tx1"/>
                </a:solidFill>
              </a:rPr>
              <a:t>What would you normally do after receiving these results?</a:t>
            </a:r>
            <a:endParaRPr lang="en-US" sz="2600" dirty="0"/>
          </a:p>
        </p:txBody>
      </p:sp>
      <p:sp>
        <p:nvSpPr>
          <p:cNvPr id="21" name="arrow"/>
          <p:cNvSpPr/>
          <p:nvPr/>
        </p:nvSpPr>
        <p:spPr>
          <a:xfrm>
            <a:off x="7040880" y="4754880"/>
            <a:ext cx="731520" cy="0"/>
          </a:xfrm>
          <a:prstGeom prst="line">
            <a:avLst/>
          </a:prstGeom>
          <a:noFill/>
          <a:ln w="38100">
            <a:solidFill>
              <a:srgbClr val="1F8A84"/>
            </a:solidFill>
            <a:prstDash val="solid"/>
            <a:tailEnd type="triangle"/>
          </a:ln>
        </p:spPr>
      </p:sp>
      <p:sp>
        <p:nvSpPr>
          <p:cNvPr id="22" name="next step"/>
          <p:cNvSpPr/>
          <p:nvPr/>
        </p:nvSpPr>
        <p:spPr>
          <a:xfrm>
            <a:off x="7863840" y="3520440"/>
            <a:ext cx="3685032" cy="2468880"/>
          </a:xfrm>
          <a:prstGeom prst="roundRect">
            <a:avLst>
              <a:gd name="adj" fmla="val 5185"/>
            </a:avLst>
          </a:prstGeom>
          <a:solidFill>
            <a:srgbClr val="1F8A84"/>
          </a:solidFill>
          <a:ln w="12700">
            <a:solidFill>
              <a:srgbClr val="1F8A84"/>
            </a:solidFill>
            <a:prstDash val="solid"/>
          </a:ln>
        </p:spPr>
      </p:sp>
      <p:sp>
        <p:nvSpPr>
          <p:cNvPr id="23" name="Text 21"/>
          <p:cNvSpPr txBox="1"/>
          <p:nvPr/>
        </p:nvSpPr>
        <p:spPr>
          <a:xfrm>
            <a:off x="8138160" y="3840480"/>
            <a:ext cx="3200400" cy="1097280"/>
          </a:xfrm>
          <a:prstGeom prst="rect">
            <a:avLst/>
          </a:prstGeom>
          <a:noFill/>
          <a:ln/>
        </p:spPr>
        <p:txBody>
          <a:bodyPr wrap="square" lIns="0" tIns="0" rIns="0" bIns="0" rtlCol="0" anchor="t"/>
          <a:lstStyle/>
          <a:p>
            <a:pPr indent="0" marL="0">
              <a:buNone/>
            </a:pPr>
            <a:r>
              <a:rPr lang="en-US" sz="2200" b="1" dirty="0">
                <a:solidFill>
                  <a:srgbClr val="FFFFFF"/>
                </a:solidFill>
              </a:rPr>
              <a:t>Then connect it to Smart Learning</a:t>
            </a:r>
            <a:endParaRPr lang="en-US" sz="2200" dirty="0"/>
          </a:p>
        </p:txBody>
      </p:sp>
      <p:sp>
        <p:nvSpPr>
          <p:cNvPr id="24" name="Text 22"/>
          <p:cNvSpPr txBox="1"/>
          <p:nvPr/>
        </p:nvSpPr>
        <p:spPr>
          <a:xfrm>
            <a:off x="8138160" y="4937760"/>
            <a:ext cx="3200400" cy="914400"/>
          </a:xfrm>
          <a:prstGeom prst="rect">
            <a:avLst/>
          </a:prstGeom>
          <a:noFill/>
          <a:ln/>
        </p:spPr>
        <p:txBody>
          <a:bodyPr wrap="square" lIns="0" tIns="0" rIns="0" bIns="0" rtlCol="0" anchor="t"/>
          <a:lstStyle/>
          <a:p>
            <a:pPr indent="0" marL="0">
              <a:buNone/>
            </a:pPr>
            <a:r>
              <a:rPr lang="en-US" sz="1400" dirty="0">
                <a:solidFill>
                  <a:srgbClr val="FFFFFF"/>
                </a:solidFill>
              </a:rPr>
              <a:t>Results show what happened. Learning decides what happens next.</a:t>
            </a:r>
            <a:endParaRPr lang="en-US" sz="14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chemeClr val="accent1"/>
                </a:solidFill>
              </a:rPr>
              <a:t>PHASE 5   |   SMART LEARNING   |   5 MIN</a:t>
            </a:r>
            <a:endParaRPr lang="en-US" sz="1100" dirty="0"/>
          </a:p>
        </p:txBody>
      </p:sp>
      <p:sp>
        <p:nvSpPr>
          <p:cNvPr id="3" name="Text 0"/>
          <p:cNvSpPr/>
          <p:nvPr>
            <p:ph idx="100" type="title" hasCustomPrompt="1"/>
          </p:nvPr>
        </p:nvSpPr>
        <p:spPr>
          <a:xfrm>
            <a:off x="640080" y="548640"/>
            <a:ext cx="10908792" cy="1005840"/>
          </a:xfrm>
          <a:prstGeom prst="rect">
            <a:avLst/>
          </a:prstGeom>
          <a:noFill/>
          <a:ln/>
        </p:spPr>
        <p:txBody>
          <a:bodyPr wrap="square" lIns="0" tIns="0" rIns="0" bIns="0" rtlCol="0" anchor="t"/>
          <a:lstStyle/>
          <a:p>
            <a:pPr algn="l" indent="0" marL="0">
              <a:buNone/>
            </a:pPr>
            <a:r>
              <a:rPr lang="en-US" sz="3400" b="1" dirty="0">
                <a:solidFill>
                  <a:schemeClr val="tx1"/>
                </a:solidFill>
              </a:rPr>
              <a:t>Assessment tells us what happened. Learning tells us what we do next</a:t>
            </a:r>
            <a:endParaRPr lang="en-US" sz="3400" dirty="0"/>
          </a:p>
        </p:txBody>
      </p:sp>
      <p:sp>
        <p:nvSpPr>
          <p:cNvPr id="4" name="Text 2"/>
          <p:cNvSpPr txBox="1"/>
          <p:nvPr/>
        </p:nvSpPr>
        <p:spPr>
          <a:xfrm>
            <a:off x="640080" y="1783080"/>
            <a:ext cx="5486400" cy="320040"/>
          </a:xfrm>
          <a:prstGeom prst="rect">
            <a:avLst/>
          </a:prstGeom>
          <a:noFill/>
          <a:ln/>
        </p:spPr>
        <p:txBody>
          <a:bodyPr wrap="square" lIns="0" tIns="0" rIns="0" bIns="0" rtlCol="0" anchor="t"/>
          <a:lstStyle/>
          <a:p>
            <a:pPr indent="0" marL="0">
              <a:buNone/>
            </a:pPr>
            <a:r>
              <a:rPr lang="en-US" sz="1600" b="1" dirty="0">
                <a:solidFill>
                  <a:schemeClr val="accent2"/>
                </a:solidFill>
              </a:rPr>
              <a:t>Show, where enabled:</a:t>
            </a:r>
            <a:endParaRPr lang="en-US" sz="1600" dirty="0"/>
          </a:p>
        </p:txBody>
      </p:sp>
      <p:sp>
        <p:nvSpPr>
          <p:cNvPr id="5" name="item"/>
          <p:cNvSpPr/>
          <p:nvPr/>
        </p:nvSpPr>
        <p:spPr>
          <a:xfrm>
            <a:off x="640080" y="2240280"/>
            <a:ext cx="2743200" cy="749808"/>
          </a:xfrm>
          <a:prstGeom prst="roundRect">
            <a:avLst>
              <a:gd name="adj" fmla="val 14634"/>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6" name="Text 4"/>
          <p:cNvSpPr txBox="1"/>
          <p:nvPr/>
        </p:nvSpPr>
        <p:spPr>
          <a:xfrm>
            <a:off x="868680" y="2240280"/>
            <a:ext cx="2377440" cy="749808"/>
          </a:xfrm>
          <a:prstGeom prst="rect">
            <a:avLst/>
          </a:prstGeom>
          <a:noFill/>
          <a:ln/>
        </p:spPr>
        <p:txBody>
          <a:bodyPr wrap="square" lIns="0" tIns="0" rIns="0" bIns="0" rtlCol="0" anchor="ctr"/>
          <a:lstStyle/>
          <a:p>
            <a:pPr indent="0" marL="0">
              <a:buNone/>
            </a:pPr>
            <a:r>
              <a:rPr lang="en-US" sz="1500" b="1" dirty="0">
                <a:solidFill>
                  <a:schemeClr val="tx1"/>
                </a:solidFill>
              </a:rPr>
              <a:t>The 5E lesson</a:t>
            </a:r>
            <a:endParaRPr lang="en-US" sz="1500" dirty="0"/>
          </a:p>
        </p:txBody>
      </p:sp>
      <p:sp>
        <p:nvSpPr>
          <p:cNvPr id="7" name="item"/>
          <p:cNvSpPr/>
          <p:nvPr/>
        </p:nvSpPr>
        <p:spPr>
          <a:xfrm>
            <a:off x="3566160" y="2240280"/>
            <a:ext cx="2743200" cy="749808"/>
          </a:xfrm>
          <a:prstGeom prst="roundRect">
            <a:avLst>
              <a:gd name="adj" fmla="val 14634"/>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8" name="Text 6"/>
          <p:cNvSpPr txBox="1"/>
          <p:nvPr/>
        </p:nvSpPr>
        <p:spPr>
          <a:xfrm>
            <a:off x="3794760" y="2240280"/>
            <a:ext cx="2377440" cy="749808"/>
          </a:xfrm>
          <a:prstGeom prst="rect">
            <a:avLst/>
          </a:prstGeom>
          <a:noFill/>
          <a:ln/>
        </p:spPr>
        <p:txBody>
          <a:bodyPr wrap="square" lIns="0" tIns="0" rIns="0" bIns="0" rtlCol="0" anchor="ctr"/>
          <a:lstStyle/>
          <a:p>
            <a:pPr indent="0" marL="0">
              <a:buNone/>
            </a:pPr>
            <a:r>
              <a:rPr lang="en-US" sz="1500" b="1" dirty="0">
                <a:solidFill>
                  <a:schemeClr val="tx1"/>
                </a:solidFill>
              </a:rPr>
              <a:t>Topic</a:t>
            </a:r>
            <a:endParaRPr lang="en-US" sz="1500" dirty="0"/>
          </a:p>
        </p:txBody>
      </p:sp>
      <p:sp>
        <p:nvSpPr>
          <p:cNvPr id="9" name="item"/>
          <p:cNvSpPr/>
          <p:nvPr/>
        </p:nvSpPr>
        <p:spPr>
          <a:xfrm>
            <a:off x="640080" y="3154680"/>
            <a:ext cx="2743200" cy="749808"/>
          </a:xfrm>
          <a:prstGeom prst="roundRect">
            <a:avLst>
              <a:gd name="adj" fmla="val 14634"/>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10" name="Text 8"/>
          <p:cNvSpPr txBox="1"/>
          <p:nvPr/>
        </p:nvSpPr>
        <p:spPr>
          <a:xfrm>
            <a:off x="868680" y="3154680"/>
            <a:ext cx="2377440" cy="749808"/>
          </a:xfrm>
          <a:prstGeom prst="rect">
            <a:avLst/>
          </a:prstGeom>
          <a:noFill/>
          <a:ln/>
        </p:spPr>
        <p:txBody>
          <a:bodyPr wrap="square" lIns="0" tIns="0" rIns="0" bIns="0" rtlCol="0" anchor="ctr"/>
          <a:lstStyle/>
          <a:p>
            <a:pPr indent="0" marL="0">
              <a:buNone/>
            </a:pPr>
            <a:r>
              <a:rPr lang="en-US" sz="1500" b="1" dirty="0">
                <a:solidFill>
                  <a:schemeClr val="tx1"/>
                </a:solidFill>
              </a:rPr>
              <a:t>Student progress</a:t>
            </a:r>
            <a:endParaRPr lang="en-US" sz="1500" dirty="0"/>
          </a:p>
        </p:txBody>
      </p:sp>
      <p:sp>
        <p:nvSpPr>
          <p:cNvPr id="11" name="item"/>
          <p:cNvSpPr/>
          <p:nvPr/>
        </p:nvSpPr>
        <p:spPr>
          <a:xfrm>
            <a:off x="3566160" y="3154680"/>
            <a:ext cx="2743200" cy="749808"/>
          </a:xfrm>
          <a:prstGeom prst="roundRect">
            <a:avLst>
              <a:gd name="adj" fmla="val 14634"/>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12" name="Text 10"/>
          <p:cNvSpPr txBox="1"/>
          <p:nvPr/>
        </p:nvSpPr>
        <p:spPr>
          <a:xfrm>
            <a:off x="3794760" y="3154680"/>
            <a:ext cx="2377440" cy="749808"/>
          </a:xfrm>
          <a:prstGeom prst="rect">
            <a:avLst/>
          </a:prstGeom>
          <a:noFill/>
          <a:ln/>
        </p:spPr>
        <p:txBody>
          <a:bodyPr wrap="square" lIns="0" tIns="0" rIns="0" bIns="0" rtlCol="0" anchor="ctr"/>
          <a:lstStyle/>
          <a:p>
            <a:pPr indent="0" marL="0">
              <a:buNone/>
            </a:pPr>
            <a:r>
              <a:rPr lang="en-US" sz="1500" b="1" dirty="0">
                <a:solidFill>
                  <a:schemeClr val="tx1"/>
                </a:solidFill>
              </a:rPr>
              <a:t>Check-your-understanding</a:t>
            </a:r>
            <a:endParaRPr lang="en-US" sz="1500" dirty="0"/>
          </a:p>
        </p:txBody>
      </p:sp>
      <p:sp>
        <p:nvSpPr>
          <p:cNvPr id="13" name="item"/>
          <p:cNvSpPr/>
          <p:nvPr/>
        </p:nvSpPr>
        <p:spPr>
          <a:xfrm>
            <a:off x="640080" y="4069080"/>
            <a:ext cx="2743200" cy="749808"/>
          </a:xfrm>
          <a:prstGeom prst="roundRect">
            <a:avLst>
              <a:gd name="adj" fmla="val 14634"/>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14" name="Text 12"/>
          <p:cNvSpPr txBox="1"/>
          <p:nvPr/>
        </p:nvSpPr>
        <p:spPr>
          <a:xfrm>
            <a:off x="868680" y="4069080"/>
            <a:ext cx="2377440" cy="749808"/>
          </a:xfrm>
          <a:prstGeom prst="rect">
            <a:avLst/>
          </a:prstGeom>
          <a:noFill/>
          <a:ln/>
        </p:spPr>
        <p:txBody>
          <a:bodyPr wrap="square" lIns="0" tIns="0" rIns="0" bIns="0" rtlCol="0" anchor="ctr"/>
          <a:lstStyle/>
          <a:p>
            <a:pPr indent="0" marL="0">
              <a:buNone/>
            </a:pPr>
            <a:r>
              <a:rPr lang="en-US" sz="1500" b="1" dirty="0">
                <a:solidFill>
                  <a:schemeClr val="tx1"/>
                </a:solidFill>
              </a:rPr>
              <a:t>Coverage</a:t>
            </a:r>
            <a:endParaRPr lang="en-US" sz="1500" dirty="0"/>
          </a:p>
        </p:txBody>
      </p:sp>
      <p:sp>
        <p:nvSpPr>
          <p:cNvPr id="15" name="item"/>
          <p:cNvSpPr/>
          <p:nvPr/>
        </p:nvSpPr>
        <p:spPr>
          <a:xfrm>
            <a:off x="3566160" y="4069080"/>
            <a:ext cx="2743200" cy="749808"/>
          </a:xfrm>
          <a:prstGeom prst="roundRect">
            <a:avLst>
              <a:gd name="adj" fmla="val 14634"/>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16" name="Text 14"/>
          <p:cNvSpPr txBox="1"/>
          <p:nvPr/>
        </p:nvSpPr>
        <p:spPr>
          <a:xfrm>
            <a:off x="3794760" y="4069080"/>
            <a:ext cx="2377440" cy="749808"/>
          </a:xfrm>
          <a:prstGeom prst="rect">
            <a:avLst/>
          </a:prstGeom>
          <a:noFill/>
          <a:ln/>
        </p:spPr>
        <p:txBody>
          <a:bodyPr wrap="square" lIns="0" tIns="0" rIns="0" bIns="0" rtlCol="0" anchor="ctr"/>
          <a:lstStyle/>
          <a:p>
            <a:pPr indent="0" marL="0">
              <a:buNone/>
            </a:pPr>
            <a:r>
              <a:rPr lang="en-US" sz="1500" b="1" dirty="0">
                <a:solidFill>
                  <a:schemeClr val="tx1"/>
                </a:solidFill>
              </a:rPr>
              <a:t>The Library, if on</a:t>
            </a:r>
            <a:endParaRPr lang="en-US" sz="1500" dirty="0"/>
          </a:p>
        </p:txBody>
      </p:sp>
      <p:sp>
        <p:nvSpPr>
          <p:cNvPr id="17" name="scenario"/>
          <p:cNvSpPr/>
          <p:nvPr/>
        </p:nvSpPr>
        <p:spPr>
          <a:xfrm>
            <a:off x="6720840" y="1783080"/>
            <a:ext cx="4828032" cy="4160520"/>
          </a:xfrm>
          <a:prstGeom prst="roundRect">
            <a:avLst>
              <a:gd name="adj" fmla="val 3077"/>
            </a:avLst>
          </a:prstGeom>
          <a:solidFill>
            <a:srgbClr val="1F8A84"/>
          </a:solidFill>
          <a:ln w="12700">
            <a:solidFill>
              <a:srgbClr val="1F8A84"/>
            </a:solidFill>
            <a:prstDash val="solid"/>
          </a:ln>
        </p:spPr>
      </p:sp>
      <p:sp>
        <p:nvSpPr>
          <p:cNvPr id="18" name="Text 16"/>
          <p:cNvSpPr txBox="1"/>
          <p:nvPr/>
        </p:nvSpPr>
        <p:spPr>
          <a:xfrm>
            <a:off x="7086600" y="2103120"/>
            <a:ext cx="4114800" cy="274320"/>
          </a:xfrm>
          <a:prstGeom prst="rect">
            <a:avLst/>
          </a:prstGeom>
          <a:noFill/>
          <a:ln/>
        </p:spPr>
        <p:txBody>
          <a:bodyPr wrap="square" lIns="0" tIns="0" rIns="0" bIns="0" rtlCol="0" anchor="t"/>
          <a:lstStyle/>
          <a:p>
            <a:pPr indent="0" marL="0">
              <a:buNone/>
            </a:pPr>
            <a:r>
              <a:rPr lang="en-US" sz="1200" b="1" spc="400" kern="0" dirty="0">
                <a:solidFill>
                  <a:srgbClr val="FFFFFF"/>
                </a:solidFill>
              </a:rPr>
              <a:t>THE MANCHESTER SCENARIO</a:t>
            </a:r>
            <a:endParaRPr lang="en-US" sz="1200" dirty="0"/>
          </a:p>
        </p:txBody>
      </p:sp>
      <p:sp>
        <p:nvSpPr>
          <p:cNvPr id="19" name="Text 17"/>
          <p:cNvSpPr txBox="1"/>
          <p:nvPr/>
        </p:nvSpPr>
        <p:spPr>
          <a:xfrm>
            <a:off x="7086600" y="2514600"/>
            <a:ext cx="4206240" cy="1463040"/>
          </a:xfrm>
          <a:prstGeom prst="rect">
            <a:avLst/>
          </a:prstGeom>
          <a:noFill/>
          <a:ln/>
        </p:spPr>
        <p:txBody>
          <a:bodyPr wrap="square" lIns="0" tIns="0" rIns="0" bIns="0" rtlCol="0" anchor="t"/>
          <a:lstStyle/>
          <a:p>
            <a:pPr indent="0" marL="0">
              <a:buNone/>
            </a:pPr>
            <a:r>
              <a:rPr lang="en-US" sz="2800" b="1" dirty="0">
                <a:solidFill>
                  <a:srgbClr val="FFFFFF"/>
                </a:solidFill>
              </a:rPr>
              <a:t>A student misses three days of school.</a:t>
            </a:r>
            <a:endParaRPr lang="en-US" sz="2800" dirty="0"/>
          </a:p>
        </p:txBody>
      </p:sp>
      <p:sp>
        <p:nvSpPr>
          <p:cNvPr id="20" name="Text 18"/>
          <p:cNvSpPr txBox="1"/>
          <p:nvPr/>
        </p:nvSpPr>
        <p:spPr>
          <a:xfrm>
            <a:off x="7086600" y="4114800"/>
            <a:ext cx="4206240" cy="1280160"/>
          </a:xfrm>
          <a:prstGeom prst="rect">
            <a:avLst/>
          </a:prstGeom>
          <a:noFill/>
          <a:ln/>
        </p:spPr>
        <p:txBody>
          <a:bodyPr wrap="square" lIns="0" tIns="0" rIns="0" bIns="0" rtlCol="0" anchor="t"/>
          <a:lstStyle/>
          <a:p>
            <a:pPr indent="0" marL="0">
              <a:buNone/>
            </a:pPr>
            <a:r>
              <a:rPr lang="en-US" sz="1600" dirty="0">
                <a:solidFill>
                  <a:srgbClr val="FFFFFF"/>
                </a:solidFill>
              </a:rPr>
              <a:t>Show how Smart Learning is designed to give that student a path back into the learning.</a:t>
            </a:r>
            <a:endParaRPr lang="en-US" sz="1600" dirty="0"/>
          </a:p>
        </p:txBody>
      </p:sp>
      <p:sp>
        <p:nvSpPr>
          <p:cNvPr id="21" name="Text 19"/>
          <p:cNvSpPr txBox="1"/>
          <p:nvPr/>
        </p:nvSpPr>
        <p:spPr>
          <a:xfrm>
            <a:off x="640080" y="5257800"/>
            <a:ext cx="5852160" cy="731520"/>
          </a:xfrm>
          <a:prstGeom prst="rect">
            <a:avLst/>
          </a:prstGeom>
          <a:noFill/>
          <a:ln/>
        </p:spPr>
        <p:txBody>
          <a:bodyPr wrap="square" lIns="0" tIns="0" rIns="0" bIns="0" rtlCol="0" anchor="t"/>
          <a:lstStyle/>
          <a:p>
            <a:pPr indent="0" marL="0">
              <a:buNone/>
            </a:pPr>
            <a:r>
              <a:rPr lang="en-US" sz="1300" i="1" dirty="0">
                <a:solidFill>
                  <a:schemeClr val="accent5"/>
                </a:solidFill>
              </a:rPr>
              <a:t>Smart Learning is switched on at Manchester. Demonstrate only what is enabled.</a:t>
            </a:r>
            <a:endParaRPr lang="en-US" sz="13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rgbClr val="EC924A"/>
                </a:solidFill>
              </a:rPr>
              <a:t>PHASE 6   |   SMART PLAY   |   5 MIN</a:t>
            </a:r>
            <a:endParaRPr lang="en-US" sz="1100" dirty="0"/>
          </a:p>
        </p:txBody>
      </p:sp>
      <p:sp>
        <p:nvSpPr>
          <p:cNvPr id="3" name="Text 0"/>
          <p:cNvSpPr/>
          <p:nvPr>
            <p:ph idx="100" type="title" hasCustomPrompt="1"/>
          </p:nvPr>
        </p:nvSpPr>
        <p:spPr>
          <a:xfrm>
            <a:off x="640080" y="548640"/>
            <a:ext cx="10908792" cy="1005840"/>
          </a:xfrm>
          <a:prstGeom prst="rect">
            <a:avLst/>
          </a:prstGeom>
          <a:noFill/>
          <a:ln/>
        </p:spPr>
        <p:txBody>
          <a:bodyPr wrap="square" lIns="0" tIns="0" rIns="0" bIns="0" rtlCol="0" anchor="t"/>
          <a:lstStyle/>
          <a:p>
            <a:pPr algn="l" indent="0" marL="0">
              <a:buNone/>
            </a:pPr>
            <a:r>
              <a:rPr lang="en-US" sz="3400" b="1" dirty="0">
                <a:solidFill>
                  <a:schemeClr val="bg1"/>
                </a:solidFill>
              </a:rPr>
              <a:t>Not every learning activity should feel like an examination</a:t>
            </a:r>
            <a:endParaRPr lang="en-US" sz="3400" dirty="0"/>
          </a:p>
        </p:txBody>
      </p:sp>
      <p:sp>
        <p:nvSpPr>
          <p:cNvPr id="4" name="chip"/>
          <p:cNvSpPr/>
          <p:nvPr/>
        </p:nvSpPr>
        <p:spPr>
          <a:xfrm>
            <a:off x="9692640" y="164592"/>
            <a:ext cx="1828800" cy="347472"/>
          </a:xfrm>
          <a:prstGeom prst="roundRect">
            <a:avLst>
              <a:gd name="adj" fmla="val 50000"/>
            </a:avLst>
          </a:prstGeom>
          <a:solidFill>
            <a:srgbClr val="F2C230"/>
          </a:solidFill>
          <a:ln w="12700">
            <a:solidFill>
              <a:srgbClr val="F2C230"/>
            </a:solidFill>
            <a:prstDash val="solid"/>
          </a:ln>
        </p:spPr>
      </p:sp>
      <p:sp>
        <p:nvSpPr>
          <p:cNvPr id="5" name="Text 3"/>
          <p:cNvSpPr txBox="1"/>
          <p:nvPr/>
        </p:nvSpPr>
        <p:spPr>
          <a:xfrm>
            <a:off x="9692640" y="164592"/>
            <a:ext cx="1828800" cy="347472"/>
          </a:xfrm>
          <a:prstGeom prst="rect">
            <a:avLst/>
          </a:prstGeom>
          <a:noFill/>
          <a:ln/>
        </p:spPr>
        <p:txBody>
          <a:bodyPr wrap="square" lIns="0" tIns="0" rIns="0" bIns="0" rtlCol="0" anchor="ctr"/>
          <a:lstStyle/>
          <a:p>
            <a:pPr algn="ctr" indent="0" marL="0">
              <a:buNone/>
            </a:pPr>
            <a:r>
              <a:rPr lang="en-US" sz="1300" b="1" dirty="0">
                <a:solidFill>
                  <a:srgbClr val="14100C"/>
                </a:solidFill>
              </a:rPr>
              <a:t>Coming soon</a:t>
            </a:r>
            <a:endParaRPr lang="en-US" sz="1300" dirty="0"/>
          </a:p>
        </p:txBody>
      </p:sp>
      <p:sp>
        <p:nvSpPr>
          <p:cNvPr id="6" name="card"/>
          <p:cNvSpPr/>
          <p:nvPr/>
        </p:nvSpPr>
        <p:spPr>
          <a:xfrm>
            <a:off x="640080" y="1783080"/>
            <a:ext cx="3429000" cy="3520440"/>
          </a:xfrm>
          <a:prstGeom prst="roundRect">
            <a:avLst>
              <a:gd name="adj" fmla="val 3200"/>
            </a:avLst>
          </a:prstGeom>
          <a:solidFill>
            <a:srgbClr val="1E1710"/>
          </a:solidFill>
          <a:ln w="12700">
            <a:solidFill>
              <a:srgbClr val="3A2E22"/>
            </a:solidFill>
            <a:prstDash val="solid"/>
          </a:ln>
        </p:spPr>
      </p:sp>
      <p:sp>
        <p:nvSpPr>
          <p:cNvPr id="7" name="card"/>
          <p:cNvSpPr/>
          <p:nvPr/>
        </p:nvSpPr>
        <p:spPr>
          <a:xfrm>
            <a:off x="4389120" y="1783080"/>
            <a:ext cx="3429000" cy="3520440"/>
          </a:xfrm>
          <a:prstGeom prst="roundRect">
            <a:avLst>
              <a:gd name="adj" fmla="val 3200"/>
            </a:avLst>
          </a:prstGeom>
          <a:solidFill>
            <a:srgbClr val="1E1710"/>
          </a:solidFill>
          <a:ln w="12700">
            <a:solidFill>
              <a:srgbClr val="3A2E22"/>
            </a:solidFill>
            <a:prstDash val="solid"/>
          </a:ln>
        </p:spPr>
      </p:sp>
      <p:sp>
        <p:nvSpPr>
          <p:cNvPr id="8" name="card"/>
          <p:cNvSpPr/>
          <p:nvPr/>
        </p:nvSpPr>
        <p:spPr>
          <a:xfrm>
            <a:off x="8138160" y="1783080"/>
            <a:ext cx="3429000" cy="3520440"/>
          </a:xfrm>
          <a:prstGeom prst="roundRect">
            <a:avLst>
              <a:gd name="adj" fmla="val 3200"/>
            </a:avLst>
          </a:prstGeom>
          <a:solidFill>
            <a:srgbClr val="1E1710"/>
          </a:solidFill>
          <a:ln w="12700">
            <a:solidFill>
              <a:srgbClr val="3A2E22"/>
            </a:solidFill>
            <a:prstDash val="solid"/>
          </a:ln>
        </p:spPr>
      </p:sp>
      <p:sp>
        <p:nvSpPr>
          <p:cNvPr id="9" name="Text 7"/>
          <p:cNvSpPr txBox="1"/>
          <p:nvPr/>
        </p:nvSpPr>
        <p:spPr>
          <a:xfrm>
            <a:off x="914400" y="2011680"/>
            <a:ext cx="2926080" cy="320040"/>
          </a:xfrm>
          <a:prstGeom prst="rect">
            <a:avLst/>
          </a:prstGeom>
          <a:noFill/>
          <a:ln/>
        </p:spPr>
        <p:txBody>
          <a:bodyPr wrap="square" lIns="0" tIns="0" rIns="0" bIns="0" rtlCol="0" anchor="t"/>
          <a:lstStyle/>
          <a:p>
            <a:pPr indent="0" marL="0">
              <a:buNone/>
            </a:pPr>
            <a:r>
              <a:rPr lang="en-US" sz="1700" b="1" dirty="0">
                <a:solidFill>
                  <a:schemeClr val="bg1"/>
                </a:solidFill>
              </a:rPr>
              <a:t>Jeopardy-style board</a:t>
            </a:r>
            <a:endParaRPr lang="en-US" sz="1700" dirty="0"/>
          </a:p>
        </p:txBody>
      </p:sp>
      <p:sp>
        <p:nvSpPr>
          <p:cNvPr id="10" name="category"/>
          <p:cNvSpPr/>
          <p:nvPr/>
        </p:nvSpPr>
        <p:spPr>
          <a:xfrm>
            <a:off x="868680" y="2514600"/>
            <a:ext cx="676656" cy="329184"/>
          </a:xfrm>
          <a:prstGeom prst="rect">
            <a:avLst/>
          </a:prstGeom>
          <a:solidFill>
            <a:srgbClr val="3A2E22"/>
          </a:solidFill>
          <a:ln w="12700">
            <a:solidFill>
              <a:srgbClr val="3A2E22"/>
            </a:solidFill>
            <a:prstDash val="solid"/>
          </a:ln>
        </p:spPr>
      </p:sp>
      <p:sp>
        <p:nvSpPr>
          <p:cNvPr id="11" name="Text 9"/>
          <p:cNvSpPr txBox="1"/>
          <p:nvPr/>
        </p:nvSpPr>
        <p:spPr>
          <a:xfrm>
            <a:off x="868680" y="2514600"/>
            <a:ext cx="676656" cy="329184"/>
          </a:xfrm>
          <a:prstGeom prst="rect">
            <a:avLst/>
          </a:prstGeom>
          <a:noFill/>
          <a:ln/>
        </p:spPr>
        <p:txBody>
          <a:bodyPr wrap="square" lIns="0" tIns="0" rIns="0" bIns="0" rtlCol="0" anchor="ctr"/>
          <a:lstStyle/>
          <a:p>
            <a:pPr algn="ctr" indent="0" marL="0">
              <a:buNone/>
            </a:pPr>
            <a:r>
              <a:rPr lang="en-US" sz="900" b="1" dirty="0">
                <a:solidFill>
                  <a:srgbClr val="F2C230"/>
                </a:solidFill>
              </a:rPr>
              <a:t>Fractions</a:t>
            </a:r>
            <a:endParaRPr lang="en-US" sz="900" dirty="0"/>
          </a:p>
        </p:txBody>
      </p:sp>
      <p:sp>
        <p:nvSpPr>
          <p:cNvPr id="12" name="tile"/>
          <p:cNvSpPr/>
          <p:nvPr/>
        </p:nvSpPr>
        <p:spPr>
          <a:xfrm>
            <a:off x="868680" y="2898648"/>
            <a:ext cx="676656" cy="420624"/>
          </a:xfrm>
          <a:prstGeom prst="rect">
            <a:avLst/>
          </a:prstGeom>
          <a:solidFill>
            <a:srgbClr val="2A2018"/>
          </a:solidFill>
          <a:ln w="12700">
            <a:solidFill>
              <a:srgbClr val="2A2018"/>
            </a:solidFill>
            <a:prstDash val="solid"/>
          </a:ln>
        </p:spPr>
      </p:sp>
      <p:sp>
        <p:nvSpPr>
          <p:cNvPr id="13" name="tile"/>
          <p:cNvSpPr/>
          <p:nvPr/>
        </p:nvSpPr>
        <p:spPr>
          <a:xfrm>
            <a:off x="868680" y="3374136"/>
            <a:ext cx="676656" cy="420624"/>
          </a:xfrm>
          <a:prstGeom prst="rect">
            <a:avLst/>
          </a:prstGeom>
          <a:solidFill>
            <a:srgbClr val="D4762A"/>
          </a:solidFill>
          <a:ln w="12700">
            <a:solidFill>
              <a:srgbClr val="D4762A"/>
            </a:solidFill>
            <a:prstDash val="solid"/>
          </a:ln>
        </p:spPr>
      </p:sp>
      <p:sp>
        <p:nvSpPr>
          <p:cNvPr id="14" name="Text 12"/>
          <p:cNvSpPr txBox="1"/>
          <p:nvPr/>
        </p:nvSpPr>
        <p:spPr>
          <a:xfrm>
            <a:off x="868680" y="3374136"/>
            <a:ext cx="676656" cy="420624"/>
          </a:xfrm>
          <a:prstGeom prst="rect">
            <a:avLst/>
          </a:prstGeom>
          <a:noFill/>
          <a:ln/>
        </p:spPr>
        <p:txBody>
          <a:bodyPr wrap="square" lIns="0" tIns="0" rIns="0" bIns="0" rtlCol="0" anchor="ctr"/>
          <a:lstStyle/>
          <a:p>
            <a:pPr algn="ctr" indent="0" marL="0">
              <a:buNone/>
            </a:pPr>
            <a:r>
              <a:rPr lang="en-US" sz="1200" b="1" dirty="0">
                <a:solidFill>
                  <a:srgbClr val="FFFFFF"/>
                </a:solidFill>
              </a:rPr>
              <a:t>200</a:t>
            </a:r>
            <a:endParaRPr lang="en-US" sz="1200" dirty="0"/>
          </a:p>
        </p:txBody>
      </p:sp>
      <p:sp>
        <p:nvSpPr>
          <p:cNvPr id="15" name="tile"/>
          <p:cNvSpPr/>
          <p:nvPr/>
        </p:nvSpPr>
        <p:spPr>
          <a:xfrm>
            <a:off x="868680" y="3849624"/>
            <a:ext cx="676656" cy="420624"/>
          </a:xfrm>
          <a:prstGeom prst="rect">
            <a:avLst/>
          </a:prstGeom>
          <a:solidFill>
            <a:srgbClr val="D4762A"/>
          </a:solidFill>
          <a:ln w="12700">
            <a:solidFill>
              <a:srgbClr val="D4762A"/>
            </a:solidFill>
            <a:prstDash val="solid"/>
          </a:ln>
        </p:spPr>
      </p:sp>
      <p:sp>
        <p:nvSpPr>
          <p:cNvPr id="16" name="Text 14"/>
          <p:cNvSpPr txBox="1"/>
          <p:nvPr/>
        </p:nvSpPr>
        <p:spPr>
          <a:xfrm>
            <a:off x="868680" y="3849624"/>
            <a:ext cx="676656" cy="420624"/>
          </a:xfrm>
          <a:prstGeom prst="rect">
            <a:avLst/>
          </a:prstGeom>
          <a:noFill/>
          <a:ln/>
        </p:spPr>
        <p:txBody>
          <a:bodyPr wrap="square" lIns="0" tIns="0" rIns="0" bIns="0" rtlCol="0" anchor="ctr"/>
          <a:lstStyle/>
          <a:p>
            <a:pPr algn="ctr" indent="0" marL="0">
              <a:buNone/>
            </a:pPr>
            <a:r>
              <a:rPr lang="en-US" sz="1200" b="1" dirty="0">
                <a:solidFill>
                  <a:srgbClr val="FFFFFF"/>
                </a:solidFill>
              </a:rPr>
              <a:t>300</a:t>
            </a:r>
            <a:endParaRPr lang="en-US" sz="1200" dirty="0"/>
          </a:p>
        </p:txBody>
      </p:sp>
      <p:sp>
        <p:nvSpPr>
          <p:cNvPr id="17" name="tile"/>
          <p:cNvSpPr/>
          <p:nvPr/>
        </p:nvSpPr>
        <p:spPr>
          <a:xfrm>
            <a:off x="868680" y="4325112"/>
            <a:ext cx="676656" cy="420624"/>
          </a:xfrm>
          <a:prstGeom prst="rect">
            <a:avLst/>
          </a:prstGeom>
          <a:solidFill>
            <a:srgbClr val="D4762A"/>
          </a:solidFill>
          <a:ln w="12700">
            <a:solidFill>
              <a:srgbClr val="D4762A"/>
            </a:solidFill>
            <a:prstDash val="solid"/>
          </a:ln>
        </p:spPr>
      </p:sp>
      <p:sp>
        <p:nvSpPr>
          <p:cNvPr id="18" name="Text 16"/>
          <p:cNvSpPr txBox="1"/>
          <p:nvPr/>
        </p:nvSpPr>
        <p:spPr>
          <a:xfrm>
            <a:off x="868680" y="4325112"/>
            <a:ext cx="676656" cy="420624"/>
          </a:xfrm>
          <a:prstGeom prst="rect">
            <a:avLst/>
          </a:prstGeom>
          <a:noFill/>
          <a:ln/>
        </p:spPr>
        <p:txBody>
          <a:bodyPr wrap="square" lIns="0" tIns="0" rIns="0" bIns="0" rtlCol="0" anchor="ctr"/>
          <a:lstStyle/>
          <a:p>
            <a:pPr algn="ctr" indent="0" marL="0">
              <a:buNone/>
            </a:pPr>
            <a:r>
              <a:rPr lang="en-US" sz="1200" b="1" dirty="0">
                <a:solidFill>
                  <a:srgbClr val="FFFFFF"/>
                </a:solidFill>
              </a:rPr>
              <a:t>400</a:t>
            </a:r>
            <a:endParaRPr lang="en-US" sz="1200" dirty="0"/>
          </a:p>
        </p:txBody>
      </p:sp>
      <p:sp>
        <p:nvSpPr>
          <p:cNvPr id="19" name="category"/>
          <p:cNvSpPr/>
          <p:nvPr/>
        </p:nvSpPr>
        <p:spPr>
          <a:xfrm>
            <a:off x="1600200" y="2514600"/>
            <a:ext cx="676656" cy="329184"/>
          </a:xfrm>
          <a:prstGeom prst="rect">
            <a:avLst/>
          </a:prstGeom>
          <a:solidFill>
            <a:srgbClr val="3A2E22"/>
          </a:solidFill>
          <a:ln w="12700">
            <a:solidFill>
              <a:srgbClr val="3A2E22"/>
            </a:solidFill>
            <a:prstDash val="solid"/>
          </a:ln>
        </p:spPr>
      </p:sp>
      <p:sp>
        <p:nvSpPr>
          <p:cNvPr id="20" name="Text 18"/>
          <p:cNvSpPr txBox="1"/>
          <p:nvPr/>
        </p:nvSpPr>
        <p:spPr>
          <a:xfrm>
            <a:off x="1600200" y="2514600"/>
            <a:ext cx="676656" cy="329184"/>
          </a:xfrm>
          <a:prstGeom prst="rect">
            <a:avLst/>
          </a:prstGeom>
          <a:noFill/>
          <a:ln/>
        </p:spPr>
        <p:txBody>
          <a:bodyPr wrap="square" lIns="0" tIns="0" rIns="0" bIns="0" rtlCol="0" anchor="ctr"/>
          <a:lstStyle/>
          <a:p>
            <a:pPr algn="ctr" indent="0" marL="0">
              <a:buNone/>
            </a:pPr>
            <a:r>
              <a:rPr lang="en-US" sz="900" b="1" dirty="0">
                <a:solidFill>
                  <a:srgbClr val="F2C230"/>
                </a:solidFill>
              </a:rPr>
              <a:t>Algebra</a:t>
            </a:r>
            <a:endParaRPr lang="en-US" sz="900" dirty="0"/>
          </a:p>
        </p:txBody>
      </p:sp>
      <p:sp>
        <p:nvSpPr>
          <p:cNvPr id="21" name="tile"/>
          <p:cNvSpPr/>
          <p:nvPr/>
        </p:nvSpPr>
        <p:spPr>
          <a:xfrm>
            <a:off x="1600200" y="2898648"/>
            <a:ext cx="676656" cy="420624"/>
          </a:xfrm>
          <a:prstGeom prst="rect">
            <a:avLst/>
          </a:prstGeom>
          <a:solidFill>
            <a:srgbClr val="2A2018"/>
          </a:solidFill>
          <a:ln w="12700">
            <a:solidFill>
              <a:srgbClr val="2A2018"/>
            </a:solidFill>
            <a:prstDash val="solid"/>
          </a:ln>
        </p:spPr>
      </p:sp>
      <p:sp>
        <p:nvSpPr>
          <p:cNvPr id="22" name="tile"/>
          <p:cNvSpPr/>
          <p:nvPr/>
        </p:nvSpPr>
        <p:spPr>
          <a:xfrm>
            <a:off x="1600200" y="3374136"/>
            <a:ext cx="676656" cy="420624"/>
          </a:xfrm>
          <a:prstGeom prst="rect">
            <a:avLst/>
          </a:prstGeom>
          <a:solidFill>
            <a:srgbClr val="D4762A"/>
          </a:solidFill>
          <a:ln w="12700">
            <a:solidFill>
              <a:srgbClr val="D4762A"/>
            </a:solidFill>
            <a:prstDash val="solid"/>
          </a:ln>
        </p:spPr>
      </p:sp>
      <p:sp>
        <p:nvSpPr>
          <p:cNvPr id="23" name="Text 21"/>
          <p:cNvSpPr txBox="1"/>
          <p:nvPr/>
        </p:nvSpPr>
        <p:spPr>
          <a:xfrm>
            <a:off x="1600200" y="3374136"/>
            <a:ext cx="676656" cy="420624"/>
          </a:xfrm>
          <a:prstGeom prst="rect">
            <a:avLst/>
          </a:prstGeom>
          <a:noFill/>
          <a:ln/>
        </p:spPr>
        <p:txBody>
          <a:bodyPr wrap="square" lIns="0" tIns="0" rIns="0" bIns="0" rtlCol="0" anchor="ctr"/>
          <a:lstStyle/>
          <a:p>
            <a:pPr algn="ctr" indent="0" marL="0">
              <a:buNone/>
            </a:pPr>
            <a:r>
              <a:rPr lang="en-US" sz="1200" b="1" dirty="0">
                <a:solidFill>
                  <a:srgbClr val="FFFFFF"/>
                </a:solidFill>
              </a:rPr>
              <a:t>200</a:t>
            </a:r>
            <a:endParaRPr lang="en-US" sz="1200" dirty="0"/>
          </a:p>
        </p:txBody>
      </p:sp>
      <p:sp>
        <p:nvSpPr>
          <p:cNvPr id="24" name="tile"/>
          <p:cNvSpPr/>
          <p:nvPr/>
        </p:nvSpPr>
        <p:spPr>
          <a:xfrm>
            <a:off x="1600200" y="3849624"/>
            <a:ext cx="676656" cy="420624"/>
          </a:xfrm>
          <a:prstGeom prst="rect">
            <a:avLst/>
          </a:prstGeom>
          <a:solidFill>
            <a:srgbClr val="D4762A"/>
          </a:solidFill>
          <a:ln w="12700">
            <a:solidFill>
              <a:srgbClr val="D4762A"/>
            </a:solidFill>
            <a:prstDash val="solid"/>
          </a:ln>
        </p:spPr>
      </p:sp>
      <p:sp>
        <p:nvSpPr>
          <p:cNvPr id="25" name="Text 23"/>
          <p:cNvSpPr txBox="1"/>
          <p:nvPr/>
        </p:nvSpPr>
        <p:spPr>
          <a:xfrm>
            <a:off x="1600200" y="3849624"/>
            <a:ext cx="676656" cy="420624"/>
          </a:xfrm>
          <a:prstGeom prst="rect">
            <a:avLst/>
          </a:prstGeom>
          <a:noFill/>
          <a:ln/>
        </p:spPr>
        <p:txBody>
          <a:bodyPr wrap="square" lIns="0" tIns="0" rIns="0" bIns="0" rtlCol="0" anchor="ctr"/>
          <a:lstStyle/>
          <a:p>
            <a:pPr algn="ctr" indent="0" marL="0">
              <a:buNone/>
            </a:pPr>
            <a:r>
              <a:rPr lang="en-US" sz="1200" b="1" dirty="0">
                <a:solidFill>
                  <a:srgbClr val="FFFFFF"/>
                </a:solidFill>
              </a:rPr>
              <a:t>300</a:t>
            </a:r>
            <a:endParaRPr lang="en-US" sz="1200" dirty="0"/>
          </a:p>
        </p:txBody>
      </p:sp>
      <p:sp>
        <p:nvSpPr>
          <p:cNvPr id="26" name="tile"/>
          <p:cNvSpPr/>
          <p:nvPr/>
        </p:nvSpPr>
        <p:spPr>
          <a:xfrm>
            <a:off x="1600200" y="4325112"/>
            <a:ext cx="676656" cy="420624"/>
          </a:xfrm>
          <a:prstGeom prst="rect">
            <a:avLst/>
          </a:prstGeom>
          <a:solidFill>
            <a:srgbClr val="D4762A"/>
          </a:solidFill>
          <a:ln w="12700">
            <a:solidFill>
              <a:srgbClr val="D4762A"/>
            </a:solidFill>
            <a:prstDash val="solid"/>
          </a:ln>
        </p:spPr>
      </p:sp>
      <p:sp>
        <p:nvSpPr>
          <p:cNvPr id="27" name="Text 25"/>
          <p:cNvSpPr txBox="1"/>
          <p:nvPr/>
        </p:nvSpPr>
        <p:spPr>
          <a:xfrm>
            <a:off x="1600200" y="4325112"/>
            <a:ext cx="676656" cy="420624"/>
          </a:xfrm>
          <a:prstGeom prst="rect">
            <a:avLst/>
          </a:prstGeom>
          <a:noFill/>
          <a:ln/>
        </p:spPr>
        <p:txBody>
          <a:bodyPr wrap="square" lIns="0" tIns="0" rIns="0" bIns="0" rtlCol="0" anchor="ctr"/>
          <a:lstStyle/>
          <a:p>
            <a:pPr algn="ctr" indent="0" marL="0">
              <a:buNone/>
            </a:pPr>
            <a:r>
              <a:rPr lang="en-US" sz="1200" b="1" dirty="0">
                <a:solidFill>
                  <a:srgbClr val="FFFFFF"/>
                </a:solidFill>
              </a:rPr>
              <a:t>400</a:t>
            </a:r>
            <a:endParaRPr lang="en-US" sz="1200" dirty="0"/>
          </a:p>
        </p:txBody>
      </p:sp>
      <p:sp>
        <p:nvSpPr>
          <p:cNvPr id="28" name="category"/>
          <p:cNvSpPr/>
          <p:nvPr/>
        </p:nvSpPr>
        <p:spPr>
          <a:xfrm>
            <a:off x="2331720" y="2514600"/>
            <a:ext cx="676656" cy="329184"/>
          </a:xfrm>
          <a:prstGeom prst="rect">
            <a:avLst/>
          </a:prstGeom>
          <a:solidFill>
            <a:srgbClr val="3A2E22"/>
          </a:solidFill>
          <a:ln w="12700">
            <a:solidFill>
              <a:srgbClr val="3A2E22"/>
            </a:solidFill>
            <a:prstDash val="solid"/>
          </a:ln>
        </p:spPr>
      </p:sp>
      <p:sp>
        <p:nvSpPr>
          <p:cNvPr id="29" name="Text 27"/>
          <p:cNvSpPr txBox="1"/>
          <p:nvPr/>
        </p:nvSpPr>
        <p:spPr>
          <a:xfrm>
            <a:off x="2331720" y="2514600"/>
            <a:ext cx="676656" cy="329184"/>
          </a:xfrm>
          <a:prstGeom prst="rect">
            <a:avLst/>
          </a:prstGeom>
          <a:noFill/>
          <a:ln/>
        </p:spPr>
        <p:txBody>
          <a:bodyPr wrap="square" lIns="0" tIns="0" rIns="0" bIns="0" rtlCol="0" anchor="ctr"/>
          <a:lstStyle/>
          <a:p>
            <a:pPr algn="ctr" indent="0" marL="0">
              <a:buNone/>
            </a:pPr>
            <a:r>
              <a:rPr lang="en-US" sz="900" b="1" dirty="0">
                <a:solidFill>
                  <a:srgbClr val="F2C230"/>
                </a:solidFill>
              </a:rPr>
              <a:t>Shapes</a:t>
            </a:r>
            <a:endParaRPr lang="en-US" sz="900" dirty="0"/>
          </a:p>
        </p:txBody>
      </p:sp>
      <p:sp>
        <p:nvSpPr>
          <p:cNvPr id="30" name="tile"/>
          <p:cNvSpPr/>
          <p:nvPr/>
        </p:nvSpPr>
        <p:spPr>
          <a:xfrm>
            <a:off x="2331720" y="2898648"/>
            <a:ext cx="676656" cy="420624"/>
          </a:xfrm>
          <a:prstGeom prst="rect">
            <a:avLst/>
          </a:prstGeom>
          <a:solidFill>
            <a:srgbClr val="D4762A"/>
          </a:solidFill>
          <a:ln w="12700">
            <a:solidFill>
              <a:srgbClr val="D4762A"/>
            </a:solidFill>
            <a:prstDash val="solid"/>
          </a:ln>
        </p:spPr>
      </p:sp>
      <p:sp>
        <p:nvSpPr>
          <p:cNvPr id="31" name="Text 29"/>
          <p:cNvSpPr txBox="1"/>
          <p:nvPr/>
        </p:nvSpPr>
        <p:spPr>
          <a:xfrm>
            <a:off x="2331720" y="2898648"/>
            <a:ext cx="676656" cy="420624"/>
          </a:xfrm>
          <a:prstGeom prst="rect">
            <a:avLst/>
          </a:prstGeom>
          <a:noFill/>
          <a:ln/>
        </p:spPr>
        <p:txBody>
          <a:bodyPr wrap="square" lIns="0" tIns="0" rIns="0" bIns="0" rtlCol="0" anchor="ctr"/>
          <a:lstStyle/>
          <a:p>
            <a:pPr algn="ctr" indent="0" marL="0">
              <a:buNone/>
            </a:pPr>
            <a:r>
              <a:rPr lang="en-US" sz="1200" b="1" dirty="0">
                <a:solidFill>
                  <a:srgbClr val="FFFFFF"/>
                </a:solidFill>
              </a:rPr>
              <a:t>100</a:t>
            </a:r>
            <a:endParaRPr lang="en-US" sz="1200" dirty="0"/>
          </a:p>
        </p:txBody>
      </p:sp>
      <p:sp>
        <p:nvSpPr>
          <p:cNvPr id="32" name="tile"/>
          <p:cNvSpPr/>
          <p:nvPr/>
        </p:nvSpPr>
        <p:spPr>
          <a:xfrm>
            <a:off x="2331720" y="3374136"/>
            <a:ext cx="676656" cy="420624"/>
          </a:xfrm>
          <a:prstGeom prst="rect">
            <a:avLst/>
          </a:prstGeom>
          <a:solidFill>
            <a:srgbClr val="D4762A"/>
          </a:solidFill>
          <a:ln w="12700">
            <a:solidFill>
              <a:srgbClr val="D4762A"/>
            </a:solidFill>
            <a:prstDash val="solid"/>
          </a:ln>
        </p:spPr>
      </p:sp>
      <p:sp>
        <p:nvSpPr>
          <p:cNvPr id="33" name="Text 31"/>
          <p:cNvSpPr txBox="1"/>
          <p:nvPr/>
        </p:nvSpPr>
        <p:spPr>
          <a:xfrm>
            <a:off x="2331720" y="3374136"/>
            <a:ext cx="676656" cy="420624"/>
          </a:xfrm>
          <a:prstGeom prst="rect">
            <a:avLst/>
          </a:prstGeom>
          <a:noFill/>
          <a:ln/>
        </p:spPr>
        <p:txBody>
          <a:bodyPr wrap="square" lIns="0" tIns="0" rIns="0" bIns="0" rtlCol="0" anchor="ctr"/>
          <a:lstStyle/>
          <a:p>
            <a:pPr algn="ctr" indent="0" marL="0">
              <a:buNone/>
            </a:pPr>
            <a:r>
              <a:rPr lang="en-US" sz="1200" b="1" dirty="0">
                <a:solidFill>
                  <a:srgbClr val="FFFFFF"/>
                </a:solidFill>
              </a:rPr>
              <a:t>200</a:t>
            </a:r>
            <a:endParaRPr lang="en-US" sz="1200" dirty="0"/>
          </a:p>
        </p:txBody>
      </p:sp>
      <p:sp>
        <p:nvSpPr>
          <p:cNvPr id="34" name="tile"/>
          <p:cNvSpPr/>
          <p:nvPr/>
        </p:nvSpPr>
        <p:spPr>
          <a:xfrm>
            <a:off x="2331720" y="3849624"/>
            <a:ext cx="676656" cy="420624"/>
          </a:xfrm>
          <a:prstGeom prst="rect">
            <a:avLst/>
          </a:prstGeom>
          <a:solidFill>
            <a:srgbClr val="D4762A"/>
          </a:solidFill>
          <a:ln w="12700">
            <a:solidFill>
              <a:srgbClr val="D4762A"/>
            </a:solidFill>
            <a:prstDash val="solid"/>
          </a:ln>
        </p:spPr>
      </p:sp>
      <p:sp>
        <p:nvSpPr>
          <p:cNvPr id="35" name="Text 33"/>
          <p:cNvSpPr txBox="1"/>
          <p:nvPr/>
        </p:nvSpPr>
        <p:spPr>
          <a:xfrm>
            <a:off x="2331720" y="3849624"/>
            <a:ext cx="676656" cy="420624"/>
          </a:xfrm>
          <a:prstGeom prst="rect">
            <a:avLst/>
          </a:prstGeom>
          <a:noFill/>
          <a:ln/>
        </p:spPr>
        <p:txBody>
          <a:bodyPr wrap="square" lIns="0" tIns="0" rIns="0" bIns="0" rtlCol="0" anchor="ctr"/>
          <a:lstStyle/>
          <a:p>
            <a:pPr algn="ctr" indent="0" marL="0">
              <a:buNone/>
            </a:pPr>
            <a:r>
              <a:rPr lang="en-US" sz="1200" b="1" dirty="0">
                <a:solidFill>
                  <a:srgbClr val="FFFFFF"/>
                </a:solidFill>
              </a:rPr>
              <a:t>300</a:t>
            </a:r>
            <a:endParaRPr lang="en-US" sz="1200" dirty="0"/>
          </a:p>
        </p:txBody>
      </p:sp>
      <p:sp>
        <p:nvSpPr>
          <p:cNvPr id="36" name="tile"/>
          <p:cNvSpPr/>
          <p:nvPr/>
        </p:nvSpPr>
        <p:spPr>
          <a:xfrm>
            <a:off x="2331720" y="4325112"/>
            <a:ext cx="676656" cy="420624"/>
          </a:xfrm>
          <a:prstGeom prst="rect">
            <a:avLst/>
          </a:prstGeom>
          <a:solidFill>
            <a:srgbClr val="D4762A"/>
          </a:solidFill>
          <a:ln w="12700">
            <a:solidFill>
              <a:srgbClr val="D4762A"/>
            </a:solidFill>
            <a:prstDash val="solid"/>
          </a:ln>
        </p:spPr>
      </p:sp>
      <p:sp>
        <p:nvSpPr>
          <p:cNvPr id="37" name="Text 35"/>
          <p:cNvSpPr txBox="1"/>
          <p:nvPr/>
        </p:nvSpPr>
        <p:spPr>
          <a:xfrm>
            <a:off x="2331720" y="4325112"/>
            <a:ext cx="676656" cy="420624"/>
          </a:xfrm>
          <a:prstGeom prst="rect">
            <a:avLst/>
          </a:prstGeom>
          <a:noFill/>
          <a:ln/>
        </p:spPr>
        <p:txBody>
          <a:bodyPr wrap="square" lIns="0" tIns="0" rIns="0" bIns="0" rtlCol="0" anchor="ctr"/>
          <a:lstStyle/>
          <a:p>
            <a:pPr algn="ctr" indent="0" marL="0">
              <a:buNone/>
            </a:pPr>
            <a:r>
              <a:rPr lang="en-US" sz="1200" b="1" dirty="0">
                <a:solidFill>
                  <a:srgbClr val="FFFFFF"/>
                </a:solidFill>
              </a:rPr>
              <a:t>400</a:t>
            </a:r>
            <a:endParaRPr lang="en-US" sz="1200" dirty="0"/>
          </a:p>
        </p:txBody>
      </p:sp>
      <p:sp>
        <p:nvSpPr>
          <p:cNvPr id="38" name="category"/>
          <p:cNvSpPr/>
          <p:nvPr/>
        </p:nvSpPr>
        <p:spPr>
          <a:xfrm>
            <a:off x="3063240" y="2514600"/>
            <a:ext cx="676656" cy="329184"/>
          </a:xfrm>
          <a:prstGeom prst="rect">
            <a:avLst/>
          </a:prstGeom>
          <a:solidFill>
            <a:srgbClr val="3A2E22"/>
          </a:solidFill>
          <a:ln w="12700">
            <a:solidFill>
              <a:srgbClr val="3A2E22"/>
            </a:solidFill>
            <a:prstDash val="solid"/>
          </a:ln>
        </p:spPr>
      </p:sp>
      <p:sp>
        <p:nvSpPr>
          <p:cNvPr id="39" name="Text 37"/>
          <p:cNvSpPr txBox="1"/>
          <p:nvPr/>
        </p:nvSpPr>
        <p:spPr>
          <a:xfrm>
            <a:off x="3063240" y="2514600"/>
            <a:ext cx="676656" cy="329184"/>
          </a:xfrm>
          <a:prstGeom prst="rect">
            <a:avLst/>
          </a:prstGeom>
          <a:noFill/>
          <a:ln/>
        </p:spPr>
        <p:txBody>
          <a:bodyPr wrap="square" lIns="0" tIns="0" rIns="0" bIns="0" rtlCol="0" anchor="ctr"/>
          <a:lstStyle/>
          <a:p>
            <a:pPr algn="ctr" indent="0" marL="0">
              <a:buNone/>
            </a:pPr>
            <a:r>
              <a:rPr lang="en-US" sz="900" b="1" dirty="0">
                <a:solidFill>
                  <a:srgbClr val="F2C230"/>
                </a:solidFill>
              </a:rPr>
              <a:t>Data</a:t>
            </a:r>
            <a:endParaRPr lang="en-US" sz="900" dirty="0"/>
          </a:p>
        </p:txBody>
      </p:sp>
      <p:sp>
        <p:nvSpPr>
          <p:cNvPr id="40" name="tile"/>
          <p:cNvSpPr/>
          <p:nvPr/>
        </p:nvSpPr>
        <p:spPr>
          <a:xfrm>
            <a:off x="3063240" y="2898648"/>
            <a:ext cx="676656" cy="420624"/>
          </a:xfrm>
          <a:prstGeom prst="rect">
            <a:avLst/>
          </a:prstGeom>
          <a:solidFill>
            <a:srgbClr val="D4762A"/>
          </a:solidFill>
          <a:ln w="12700">
            <a:solidFill>
              <a:srgbClr val="D4762A"/>
            </a:solidFill>
            <a:prstDash val="solid"/>
          </a:ln>
        </p:spPr>
      </p:sp>
      <p:sp>
        <p:nvSpPr>
          <p:cNvPr id="41" name="Text 39"/>
          <p:cNvSpPr txBox="1"/>
          <p:nvPr/>
        </p:nvSpPr>
        <p:spPr>
          <a:xfrm>
            <a:off x="3063240" y="2898648"/>
            <a:ext cx="676656" cy="420624"/>
          </a:xfrm>
          <a:prstGeom prst="rect">
            <a:avLst/>
          </a:prstGeom>
          <a:noFill/>
          <a:ln/>
        </p:spPr>
        <p:txBody>
          <a:bodyPr wrap="square" lIns="0" tIns="0" rIns="0" bIns="0" rtlCol="0" anchor="ctr"/>
          <a:lstStyle/>
          <a:p>
            <a:pPr algn="ctr" indent="0" marL="0">
              <a:buNone/>
            </a:pPr>
            <a:r>
              <a:rPr lang="en-US" sz="1200" b="1" dirty="0">
                <a:solidFill>
                  <a:srgbClr val="FFFFFF"/>
                </a:solidFill>
              </a:rPr>
              <a:t>100</a:t>
            </a:r>
            <a:endParaRPr lang="en-US" sz="1200" dirty="0"/>
          </a:p>
        </p:txBody>
      </p:sp>
      <p:sp>
        <p:nvSpPr>
          <p:cNvPr id="42" name="tile"/>
          <p:cNvSpPr/>
          <p:nvPr/>
        </p:nvSpPr>
        <p:spPr>
          <a:xfrm>
            <a:off x="3063240" y="3374136"/>
            <a:ext cx="676656" cy="420624"/>
          </a:xfrm>
          <a:prstGeom prst="rect">
            <a:avLst/>
          </a:prstGeom>
          <a:solidFill>
            <a:srgbClr val="2A2018"/>
          </a:solidFill>
          <a:ln w="12700">
            <a:solidFill>
              <a:srgbClr val="2A2018"/>
            </a:solidFill>
            <a:prstDash val="solid"/>
          </a:ln>
        </p:spPr>
      </p:sp>
      <p:sp>
        <p:nvSpPr>
          <p:cNvPr id="43" name="tile"/>
          <p:cNvSpPr/>
          <p:nvPr/>
        </p:nvSpPr>
        <p:spPr>
          <a:xfrm>
            <a:off x="3063240" y="3849624"/>
            <a:ext cx="676656" cy="420624"/>
          </a:xfrm>
          <a:prstGeom prst="rect">
            <a:avLst/>
          </a:prstGeom>
          <a:solidFill>
            <a:srgbClr val="D4762A"/>
          </a:solidFill>
          <a:ln w="12700">
            <a:solidFill>
              <a:srgbClr val="D4762A"/>
            </a:solidFill>
            <a:prstDash val="solid"/>
          </a:ln>
        </p:spPr>
      </p:sp>
      <p:sp>
        <p:nvSpPr>
          <p:cNvPr id="44" name="Text 42"/>
          <p:cNvSpPr txBox="1"/>
          <p:nvPr/>
        </p:nvSpPr>
        <p:spPr>
          <a:xfrm>
            <a:off x="3063240" y="3849624"/>
            <a:ext cx="676656" cy="420624"/>
          </a:xfrm>
          <a:prstGeom prst="rect">
            <a:avLst/>
          </a:prstGeom>
          <a:noFill/>
          <a:ln/>
        </p:spPr>
        <p:txBody>
          <a:bodyPr wrap="square" lIns="0" tIns="0" rIns="0" bIns="0" rtlCol="0" anchor="ctr"/>
          <a:lstStyle/>
          <a:p>
            <a:pPr algn="ctr" indent="0" marL="0">
              <a:buNone/>
            </a:pPr>
            <a:r>
              <a:rPr lang="en-US" sz="1200" b="1" dirty="0">
                <a:solidFill>
                  <a:srgbClr val="FFFFFF"/>
                </a:solidFill>
              </a:rPr>
              <a:t>300</a:t>
            </a:r>
            <a:endParaRPr lang="en-US" sz="1200" dirty="0"/>
          </a:p>
        </p:txBody>
      </p:sp>
      <p:sp>
        <p:nvSpPr>
          <p:cNvPr id="45" name="tile"/>
          <p:cNvSpPr/>
          <p:nvPr/>
        </p:nvSpPr>
        <p:spPr>
          <a:xfrm>
            <a:off x="3063240" y="4325112"/>
            <a:ext cx="676656" cy="420624"/>
          </a:xfrm>
          <a:prstGeom prst="rect">
            <a:avLst/>
          </a:prstGeom>
          <a:solidFill>
            <a:srgbClr val="D4762A"/>
          </a:solidFill>
          <a:ln w="12700">
            <a:solidFill>
              <a:srgbClr val="D4762A"/>
            </a:solidFill>
            <a:prstDash val="solid"/>
          </a:ln>
        </p:spPr>
      </p:sp>
      <p:sp>
        <p:nvSpPr>
          <p:cNvPr id="46" name="Text 44"/>
          <p:cNvSpPr txBox="1"/>
          <p:nvPr/>
        </p:nvSpPr>
        <p:spPr>
          <a:xfrm>
            <a:off x="3063240" y="4325112"/>
            <a:ext cx="676656" cy="420624"/>
          </a:xfrm>
          <a:prstGeom prst="rect">
            <a:avLst/>
          </a:prstGeom>
          <a:noFill/>
          <a:ln/>
        </p:spPr>
        <p:txBody>
          <a:bodyPr wrap="square" lIns="0" tIns="0" rIns="0" bIns="0" rtlCol="0" anchor="ctr"/>
          <a:lstStyle/>
          <a:p>
            <a:pPr algn="ctr" indent="0" marL="0">
              <a:buNone/>
            </a:pPr>
            <a:r>
              <a:rPr lang="en-US" sz="1200" b="1" dirty="0">
                <a:solidFill>
                  <a:srgbClr val="FFFFFF"/>
                </a:solidFill>
              </a:rPr>
              <a:t>400</a:t>
            </a:r>
            <a:endParaRPr lang="en-US" sz="1200" dirty="0"/>
          </a:p>
        </p:txBody>
      </p:sp>
      <p:sp>
        <p:nvSpPr>
          <p:cNvPr id="47" name="Text 45"/>
          <p:cNvSpPr txBox="1"/>
          <p:nvPr/>
        </p:nvSpPr>
        <p:spPr>
          <a:xfrm>
            <a:off x="914400" y="4873752"/>
            <a:ext cx="2926080" cy="320040"/>
          </a:xfrm>
          <a:prstGeom prst="rect">
            <a:avLst/>
          </a:prstGeom>
          <a:noFill/>
          <a:ln/>
        </p:spPr>
        <p:txBody>
          <a:bodyPr wrap="square" lIns="0" tIns="0" rIns="0" bIns="0" rtlCol="0" anchor="t"/>
          <a:lstStyle/>
          <a:p>
            <a:pPr indent="0" marL="0">
              <a:buNone/>
            </a:pPr>
            <a:r>
              <a:rPr lang="en-US" sz="1200" dirty="0">
                <a:solidFill>
                  <a:srgbClr val="BFB09C"/>
                </a:solidFill>
              </a:rPr>
              <a:t>Students buzz in from their own devices</a:t>
            </a:r>
            <a:endParaRPr lang="en-US" sz="1200" dirty="0"/>
          </a:p>
        </p:txBody>
      </p:sp>
      <p:sp>
        <p:nvSpPr>
          <p:cNvPr id="48" name="Text 46"/>
          <p:cNvSpPr txBox="1"/>
          <p:nvPr/>
        </p:nvSpPr>
        <p:spPr>
          <a:xfrm>
            <a:off x="4663440" y="2011680"/>
            <a:ext cx="2926080" cy="320040"/>
          </a:xfrm>
          <a:prstGeom prst="rect">
            <a:avLst/>
          </a:prstGeom>
          <a:noFill/>
          <a:ln/>
        </p:spPr>
        <p:txBody>
          <a:bodyPr wrap="square" lIns="0" tIns="0" rIns="0" bIns="0" rtlCol="0" anchor="t"/>
          <a:lstStyle/>
          <a:p>
            <a:pPr indent="0" marL="0">
              <a:buNone/>
            </a:pPr>
            <a:r>
              <a:rPr lang="en-US" sz="1700" b="1" dirty="0">
                <a:solidFill>
                  <a:schemeClr val="bg1"/>
                </a:solidFill>
              </a:rPr>
              <a:t>Tug of War</a:t>
            </a:r>
            <a:endParaRPr lang="en-US" sz="1700" dirty="0"/>
          </a:p>
        </p:txBody>
      </p:sp>
      <p:sp>
        <p:nvSpPr>
          <p:cNvPr id="49" name="field"/>
          <p:cNvSpPr/>
          <p:nvPr/>
        </p:nvSpPr>
        <p:spPr>
          <a:xfrm>
            <a:off x="4617720" y="2560320"/>
            <a:ext cx="2971800" cy="2011680"/>
          </a:xfrm>
          <a:prstGeom prst="roundRect">
            <a:avLst>
              <a:gd name="adj" fmla="val 4545"/>
            </a:avLst>
          </a:prstGeom>
          <a:solidFill>
            <a:srgbClr val="2D6A3F"/>
          </a:solidFill>
          <a:ln w="12700">
            <a:solidFill>
              <a:srgbClr val="2D6A3F"/>
            </a:solidFill>
            <a:prstDash val="solid"/>
          </a:ln>
        </p:spPr>
      </p:sp>
      <p:sp>
        <p:nvSpPr>
          <p:cNvPr id="50" name="centre line"/>
          <p:cNvSpPr/>
          <p:nvPr/>
        </p:nvSpPr>
        <p:spPr>
          <a:xfrm>
            <a:off x="6103620" y="2606040"/>
            <a:ext cx="0" cy="1920240"/>
          </a:xfrm>
          <a:prstGeom prst="line">
            <a:avLst/>
          </a:prstGeom>
          <a:noFill/>
          <a:ln w="19050">
            <a:solidFill>
              <a:srgbClr val="FFFFFF"/>
            </a:solidFill>
            <a:prstDash val="dash"/>
          </a:ln>
        </p:spPr>
      </p:sp>
      <p:sp>
        <p:nvSpPr>
          <p:cNvPr id="51" name="rope"/>
          <p:cNvSpPr/>
          <p:nvPr/>
        </p:nvSpPr>
        <p:spPr>
          <a:xfrm>
            <a:off x="4892040" y="3566160"/>
            <a:ext cx="2423160" cy="0"/>
          </a:xfrm>
          <a:prstGeom prst="line">
            <a:avLst/>
          </a:prstGeom>
          <a:noFill/>
          <a:ln w="50800">
            <a:solidFill>
              <a:srgbClr val="E8D8B0"/>
            </a:solidFill>
            <a:prstDash val="solid"/>
          </a:ln>
        </p:spPr>
      </p:sp>
      <p:sp>
        <p:nvSpPr>
          <p:cNvPr id="52" name="team A"/>
          <p:cNvSpPr/>
          <p:nvPr/>
        </p:nvSpPr>
        <p:spPr>
          <a:xfrm>
            <a:off x="5029200" y="3063240"/>
            <a:ext cx="274320" cy="274320"/>
          </a:xfrm>
          <a:prstGeom prst="ellipse">
            <a:avLst/>
          </a:prstGeom>
          <a:solidFill>
            <a:srgbClr val="3DB5AB"/>
          </a:solidFill>
          <a:ln w="12700">
            <a:solidFill>
              <a:srgbClr val="FFFFFF"/>
            </a:solidFill>
            <a:prstDash val="solid"/>
          </a:ln>
        </p:spPr>
      </p:sp>
      <p:sp>
        <p:nvSpPr>
          <p:cNvPr id="53" name="team A"/>
          <p:cNvSpPr/>
          <p:nvPr/>
        </p:nvSpPr>
        <p:spPr>
          <a:xfrm>
            <a:off x="5349240" y="3749040"/>
            <a:ext cx="274320" cy="274320"/>
          </a:xfrm>
          <a:prstGeom prst="ellipse">
            <a:avLst/>
          </a:prstGeom>
          <a:solidFill>
            <a:srgbClr val="3DB5AB"/>
          </a:solidFill>
          <a:ln w="12700">
            <a:solidFill>
              <a:srgbClr val="FFFFFF"/>
            </a:solidFill>
            <a:prstDash val="solid"/>
          </a:ln>
        </p:spPr>
      </p:sp>
      <p:sp>
        <p:nvSpPr>
          <p:cNvPr id="54" name="team A"/>
          <p:cNvSpPr/>
          <p:nvPr/>
        </p:nvSpPr>
        <p:spPr>
          <a:xfrm>
            <a:off x="5669280" y="3063240"/>
            <a:ext cx="274320" cy="274320"/>
          </a:xfrm>
          <a:prstGeom prst="ellipse">
            <a:avLst/>
          </a:prstGeom>
          <a:solidFill>
            <a:srgbClr val="3DB5AB"/>
          </a:solidFill>
          <a:ln w="12700">
            <a:solidFill>
              <a:srgbClr val="FFFFFF"/>
            </a:solidFill>
            <a:prstDash val="solid"/>
          </a:ln>
        </p:spPr>
      </p:sp>
      <p:sp>
        <p:nvSpPr>
          <p:cNvPr id="55" name="team A"/>
          <p:cNvSpPr/>
          <p:nvPr/>
        </p:nvSpPr>
        <p:spPr>
          <a:xfrm>
            <a:off x="5029200" y="3749040"/>
            <a:ext cx="274320" cy="274320"/>
          </a:xfrm>
          <a:prstGeom prst="ellipse">
            <a:avLst/>
          </a:prstGeom>
          <a:solidFill>
            <a:srgbClr val="3DB5AB"/>
          </a:solidFill>
          <a:ln w="12700">
            <a:solidFill>
              <a:srgbClr val="FFFFFF"/>
            </a:solidFill>
            <a:prstDash val="solid"/>
          </a:ln>
        </p:spPr>
      </p:sp>
      <p:sp>
        <p:nvSpPr>
          <p:cNvPr id="56" name="team A"/>
          <p:cNvSpPr/>
          <p:nvPr/>
        </p:nvSpPr>
        <p:spPr>
          <a:xfrm>
            <a:off x="5669280" y="3749040"/>
            <a:ext cx="274320" cy="274320"/>
          </a:xfrm>
          <a:prstGeom prst="ellipse">
            <a:avLst/>
          </a:prstGeom>
          <a:solidFill>
            <a:srgbClr val="3DB5AB"/>
          </a:solidFill>
          <a:ln w="12700">
            <a:solidFill>
              <a:srgbClr val="FFFFFF"/>
            </a:solidFill>
            <a:prstDash val="solid"/>
          </a:ln>
        </p:spPr>
      </p:sp>
      <p:sp>
        <p:nvSpPr>
          <p:cNvPr id="57" name="team B"/>
          <p:cNvSpPr/>
          <p:nvPr/>
        </p:nvSpPr>
        <p:spPr>
          <a:xfrm>
            <a:off x="6492240" y="3063240"/>
            <a:ext cx="274320" cy="274320"/>
          </a:xfrm>
          <a:prstGeom prst="ellipse">
            <a:avLst/>
          </a:prstGeom>
          <a:solidFill>
            <a:srgbClr val="EC924A"/>
          </a:solidFill>
          <a:ln w="12700">
            <a:solidFill>
              <a:srgbClr val="FFFFFF"/>
            </a:solidFill>
            <a:prstDash val="solid"/>
          </a:ln>
        </p:spPr>
      </p:sp>
      <p:sp>
        <p:nvSpPr>
          <p:cNvPr id="58" name="team B"/>
          <p:cNvSpPr/>
          <p:nvPr/>
        </p:nvSpPr>
        <p:spPr>
          <a:xfrm>
            <a:off x="6812280" y="3749040"/>
            <a:ext cx="274320" cy="274320"/>
          </a:xfrm>
          <a:prstGeom prst="ellipse">
            <a:avLst/>
          </a:prstGeom>
          <a:solidFill>
            <a:srgbClr val="EC924A"/>
          </a:solidFill>
          <a:ln w="12700">
            <a:solidFill>
              <a:srgbClr val="FFFFFF"/>
            </a:solidFill>
            <a:prstDash val="solid"/>
          </a:ln>
        </p:spPr>
      </p:sp>
      <p:sp>
        <p:nvSpPr>
          <p:cNvPr id="59" name="team B"/>
          <p:cNvSpPr/>
          <p:nvPr/>
        </p:nvSpPr>
        <p:spPr>
          <a:xfrm>
            <a:off x="7086600" y="3063240"/>
            <a:ext cx="274320" cy="274320"/>
          </a:xfrm>
          <a:prstGeom prst="ellipse">
            <a:avLst/>
          </a:prstGeom>
          <a:solidFill>
            <a:srgbClr val="EC924A"/>
          </a:solidFill>
          <a:ln w="12700">
            <a:solidFill>
              <a:srgbClr val="FFFFFF"/>
            </a:solidFill>
            <a:prstDash val="solid"/>
          </a:ln>
        </p:spPr>
      </p:sp>
      <p:sp>
        <p:nvSpPr>
          <p:cNvPr id="60" name="team B"/>
          <p:cNvSpPr/>
          <p:nvPr/>
        </p:nvSpPr>
        <p:spPr>
          <a:xfrm>
            <a:off x="6492240" y="3749040"/>
            <a:ext cx="274320" cy="274320"/>
          </a:xfrm>
          <a:prstGeom prst="ellipse">
            <a:avLst/>
          </a:prstGeom>
          <a:solidFill>
            <a:srgbClr val="EC924A"/>
          </a:solidFill>
          <a:ln w="12700">
            <a:solidFill>
              <a:srgbClr val="FFFFFF"/>
            </a:solidFill>
            <a:prstDash val="solid"/>
          </a:ln>
        </p:spPr>
      </p:sp>
      <p:sp>
        <p:nvSpPr>
          <p:cNvPr id="61" name="team B"/>
          <p:cNvSpPr/>
          <p:nvPr/>
        </p:nvSpPr>
        <p:spPr>
          <a:xfrm>
            <a:off x="7086600" y="3749040"/>
            <a:ext cx="274320" cy="274320"/>
          </a:xfrm>
          <a:prstGeom prst="ellipse">
            <a:avLst/>
          </a:prstGeom>
          <a:solidFill>
            <a:srgbClr val="EC924A"/>
          </a:solidFill>
          <a:ln w="12700">
            <a:solidFill>
              <a:srgbClr val="FFFFFF"/>
            </a:solidFill>
            <a:prstDash val="solid"/>
          </a:ln>
        </p:spPr>
      </p:sp>
      <p:sp>
        <p:nvSpPr>
          <p:cNvPr id="62" name="Text 60"/>
          <p:cNvSpPr txBox="1"/>
          <p:nvPr/>
        </p:nvSpPr>
        <p:spPr>
          <a:xfrm>
            <a:off x="4663440" y="2651760"/>
            <a:ext cx="1097280" cy="274320"/>
          </a:xfrm>
          <a:prstGeom prst="rect">
            <a:avLst/>
          </a:prstGeom>
          <a:noFill/>
          <a:ln/>
        </p:spPr>
        <p:txBody>
          <a:bodyPr wrap="square" lIns="0" tIns="0" rIns="0" bIns="0" rtlCol="0" anchor="t"/>
          <a:lstStyle/>
          <a:p>
            <a:pPr indent="0" marL="0">
              <a:buNone/>
            </a:pPr>
            <a:r>
              <a:rPr lang="en-US" sz="1200" b="1" dirty="0">
                <a:solidFill>
                  <a:srgbClr val="FFFFFF"/>
                </a:solidFill>
              </a:rPr>
              <a:t>Team A</a:t>
            </a:r>
            <a:endParaRPr lang="en-US" sz="1200" dirty="0"/>
          </a:p>
        </p:txBody>
      </p:sp>
      <p:sp>
        <p:nvSpPr>
          <p:cNvPr id="63" name="Text 61"/>
          <p:cNvSpPr txBox="1"/>
          <p:nvPr/>
        </p:nvSpPr>
        <p:spPr>
          <a:xfrm>
            <a:off x="6446520" y="2651760"/>
            <a:ext cx="1097280" cy="274320"/>
          </a:xfrm>
          <a:prstGeom prst="rect">
            <a:avLst/>
          </a:prstGeom>
          <a:noFill/>
          <a:ln/>
        </p:spPr>
        <p:txBody>
          <a:bodyPr wrap="square" lIns="0" tIns="0" rIns="0" bIns="0" rtlCol="0" anchor="t"/>
          <a:lstStyle/>
          <a:p>
            <a:pPr algn="r" indent="0" marL="0">
              <a:buNone/>
            </a:pPr>
            <a:r>
              <a:rPr lang="en-US" sz="1200" b="1" dirty="0">
                <a:solidFill>
                  <a:srgbClr val="FFFFFF"/>
                </a:solidFill>
              </a:rPr>
              <a:t>Team B</a:t>
            </a:r>
            <a:endParaRPr lang="en-US" sz="1200" dirty="0"/>
          </a:p>
        </p:txBody>
      </p:sp>
      <p:sp>
        <p:nvSpPr>
          <p:cNvPr id="64" name="Text 62"/>
          <p:cNvSpPr txBox="1"/>
          <p:nvPr/>
        </p:nvSpPr>
        <p:spPr>
          <a:xfrm>
            <a:off x="4663440" y="4873752"/>
            <a:ext cx="2926080" cy="320040"/>
          </a:xfrm>
          <a:prstGeom prst="rect">
            <a:avLst/>
          </a:prstGeom>
          <a:noFill/>
          <a:ln/>
        </p:spPr>
        <p:txBody>
          <a:bodyPr wrap="square" lIns="0" tIns="0" rIns="0" bIns="0" rtlCol="0" anchor="t"/>
          <a:lstStyle/>
          <a:p>
            <a:pPr indent="0" marL="0">
              <a:buNone/>
            </a:pPr>
            <a:r>
              <a:rPr lang="en-US" sz="1200" dirty="0">
                <a:solidFill>
                  <a:srgbClr val="BFB09C"/>
                </a:solidFill>
              </a:rPr>
              <a:t>Every student appears on the field</a:t>
            </a:r>
            <a:endParaRPr lang="en-US" sz="1200" dirty="0"/>
          </a:p>
        </p:txBody>
      </p:sp>
      <p:sp>
        <p:nvSpPr>
          <p:cNvPr id="65" name="Text 63"/>
          <p:cNvSpPr txBox="1"/>
          <p:nvPr/>
        </p:nvSpPr>
        <p:spPr>
          <a:xfrm>
            <a:off x="8412480" y="2011680"/>
            <a:ext cx="3017520" cy="320040"/>
          </a:xfrm>
          <a:prstGeom prst="rect">
            <a:avLst/>
          </a:prstGeom>
          <a:noFill/>
          <a:ln/>
        </p:spPr>
        <p:txBody>
          <a:bodyPr wrap="square" lIns="0" tIns="0" rIns="0" bIns="0" rtlCol="0" anchor="t"/>
          <a:lstStyle/>
          <a:p>
            <a:pPr indent="0" marL="0">
              <a:buNone/>
            </a:pPr>
            <a:r>
              <a:rPr lang="en-US" sz="1700" b="1" dirty="0">
                <a:solidFill>
                  <a:schemeClr val="bg1"/>
                </a:solidFill>
              </a:rPr>
              <a:t>XP, badges, streaks, leaderboards</a:t>
            </a:r>
            <a:endParaRPr lang="en-US" sz="1700" dirty="0"/>
          </a:p>
        </p:txBody>
      </p:sp>
      <p:sp>
        <p:nvSpPr>
          <p:cNvPr id="66" name="XP track"/>
          <p:cNvSpPr/>
          <p:nvPr/>
        </p:nvSpPr>
        <p:spPr>
          <a:xfrm>
            <a:off x="8412480" y="2560320"/>
            <a:ext cx="2880360" cy="201168"/>
          </a:xfrm>
          <a:prstGeom prst="roundRect">
            <a:avLst>
              <a:gd name="adj" fmla="val 50000"/>
            </a:avLst>
          </a:prstGeom>
          <a:solidFill>
            <a:srgbClr val="3A2E22"/>
          </a:solidFill>
          <a:ln w="12700">
            <a:solidFill>
              <a:srgbClr val="3A2E22"/>
            </a:solidFill>
            <a:prstDash val="solid"/>
          </a:ln>
        </p:spPr>
      </p:sp>
      <p:sp>
        <p:nvSpPr>
          <p:cNvPr id="67" name="XP fill"/>
          <p:cNvSpPr/>
          <p:nvPr/>
        </p:nvSpPr>
        <p:spPr>
          <a:xfrm>
            <a:off x="8412480" y="2560320"/>
            <a:ext cx="1920240" cy="201168"/>
          </a:xfrm>
          <a:prstGeom prst="roundRect">
            <a:avLst>
              <a:gd name="adj" fmla="val 50000"/>
            </a:avLst>
          </a:prstGeom>
          <a:solidFill>
            <a:srgbClr val="F2C230"/>
          </a:solidFill>
          <a:ln w="12700">
            <a:solidFill>
              <a:srgbClr val="F2C230"/>
            </a:solidFill>
            <a:prstDash val="solid"/>
          </a:ln>
        </p:spPr>
      </p:sp>
      <p:sp>
        <p:nvSpPr>
          <p:cNvPr id="68" name="Text 66"/>
          <p:cNvSpPr txBox="1"/>
          <p:nvPr/>
        </p:nvSpPr>
        <p:spPr>
          <a:xfrm>
            <a:off x="8412480" y="2807208"/>
            <a:ext cx="1828800" cy="274320"/>
          </a:xfrm>
          <a:prstGeom prst="rect">
            <a:avLst/>
          </a:prstGeom>
          <a:noFill/>
          <a:ln/>
        </p:spPr>
        <p:txBody>
          <a:bodyPr wrap="square" lIns="0" tIns="0" rIns="0" bIns="0" rtlCol="0" anchor="t"/>
          <a:lstStyle/>
          <a:p>
            <a:pPr indent="0" marL="0">
              <a:buNone/>
            </a:pPr>
            <a:r>
              <a:rPr lang="en-US" sz="1100" dirty="0">
                <a:solidFill>
                  <a:srgbClr val="BFB09C"/>
                </a:solidFill>
              </a:rPr>
              <a:t>Weekly XP</a:t>
            </a:r>
            <a:endParaRPr lang="en-US" sz="1100" dirty="0"/>
          </a:p>
        </p:txBody>
      </p:sp>
      <p:pic>
        <p:nvPicPr>
          <p:cNvPr id="69" name="streak icon" descr="preencoded.png">    </p:cNvPr>
          <p:cNvPicPr>
            <a:picLocks noChangeAspect="1"/>
          </p:cNvPicPr>
          <p:nvPr/>
        </p:nvPicPr>
        <p:blipFill>
          <a:blip r:embed="rId2"/>
          <a:stretch>
            <a:fillRect/>
          </a:stretch>
        </p:blipFill>
        <p:spPr>
          <a:xfrm>
            <a:off x="8412480" y="3200400"/>
            <a:ext cx="502920" cy="502920"/>
          </a:xfrm>
          <a:prstGeom prst="rect">
            <a:avLst/>
          </a:prstGeom>
        </p:spPr>
      </p:pic>
      <p:sp>
        <p:nvSpPr>
          <p:cNvPr id="70" name="Text 67"/>
          <p:cNvSpPr txBox="1"/>
          <p:nvPr/>
        </p:nvSpPr>
        <p:spPr>
          <a:xfrm>
            <a:off x="9006840" y="3200400"/>
            <a:ext cx="1463040" cy="502920"/>
          </a:xfrm>
          <a:prstGeom prst="rect">
            <a:avLst/>
          </a:prstGeom>
          <a:noFill/>
          <a:ln/>
        </p:spPr>
        <p:txBody>
          <a:bodyPr wrap="square" lIns="0" tIns="0" rIns="0" bIns="0" rtlCol="0" anchor="ctr"/>
          <a:lstStyle/>
          <a:p>
            <a:pPr indent="0" marL="0">
              <a:buNone/>
            </a:pPr>
            <a:r>
              <a:rPr lang="en-US" sz="1300" b="1" dirty="0">
                <a:solidFill>
                  <a:schemeClr val="bg1"/>
                </a:solidFill>
              </a:rPr>
              <a:t>7 day streak</a:t>
            </a:r>
            <a:endParaRPr lang="en-US" sz="1300" dirty="0"/>
          </a:p>
        </p:txBody>
      </p:sp>
      <p:pic>
        <p:nvPicPr>
          <p:cNvPr id="71" name="badge" descr="preencoded.png">    </p:cNvPr>
          <p:cNvPicPr>
            <a:picLocks noChangeAspect="1"/>
          </p:cNvPicPr>
          <p:nvPr/>
        </p:nvPicPr>
        <p:blipFill>
          <a:blip r:embed="rId3"/>
          <a:stretch>
            <a:fillRect/>
          </a:stretch>
        </p:blipFill>
        <p:spPr>
          <a:xfrm>
            <a:off x="9966960" y="3227832"/>
            <a:ext cx="384048" cy="384048"/>
          </a:xfrm>
          <a:prstGeom prst="rect">
            <a:avLst/>
          </a:prstGeom>
        </p:spPr>
      </p:pic>
      <p:pic>
        <p:nvPicPr>
          <p:cNvPr id="72" name="badge" descr="preencoded.png">    </p:cNvPr>
          <p:cNvPicPr>
            <a:picLocks noChangeAspect="1"/>
          </p:cNvPicPr>
          <p:nvPr/>
        </p:nvPicPr>
        <p:blipFill>
          <a:blip r:embed="rId4"/>
          <a:stretch>
            <a:fillRect/>
          </a:stretch>
        </p:blipFill>
        <p:spPr>
          <a:xfrm>
            <a:off x="10424160" y="3227832"/>
            <a:ext cx="384048" cy="384048"/>
          </a:xfrm>
          <a:prstGeom prst="rect">
            <a:avLst/>
          </a:prstGeom>
        </p:spPr>
      </p:pic>
      <p:pic>
        <p:nvPicPr>
          <p:cNvPr id="73" name="badge" descr="preencoded.png">    </p:cNvPr>
          <p:cNvPicPr>
            <a:picLocks noChangeAspect="1"/>
          </p:cNvPicPr>
          <p:nvPr/>
        </p:nvPicPr>
        <p:blipFill>
          <a:blip r:embed="rId5"/>
          <a:stretch>
            <a:fillRect/>
          </a:stretch>
        </p:blipFill>
        <p:spPr>
          <a:xfrm>
            <a:off x="10881360" y="3227832"/>
            <a:ext cx="384048" cy="384048"/>
          </a:xfrm>
          <a:prstGeom prst="rect">
            <a:avLst/>
          </a:prstGeom>
        </p:spPr>
      </p:pic>
      <p:sp>
        <p:nvSpPr>
          <p:cNvPr id="74" name="Text 68"/>
          <p:cNvSpPr txBox="1"/>
          <p:nvPr/>
        </p:nvSpPr>
        <p:spPr>
          <a:xfrm>
            <a:off x="8412480" y="3931920"/>
            <a:ext cx="868680" cy="274320"/>
          </a:xfrm>
          <a:prstGeom prst="rect">
            <a:avLst/>
          </a:prstGeom>
          <a:noFill/>
          <a:ln/>
        </p:spPr>
        <p:txBody>
          <a:bodyPr wrap="square" lIns="0" tIns="0" rIns="0" bIns="0" rtlCol="0" anchor="ctr"/>
          <a:lstStyle/>
          <a:p>
            <a:pPr indent="0" marL="0">
              <a:buNone/>
            </a:pPr>
            <a:r>
              <a:rPr lang="en-US" sz="1100" dirty="0">
                <a:solidFill>
                  <a:schemeClr val="bg1"/>
                </a:solidFill>
              </a:rPr>
              <a:t>Student A</a:t>
            </a:r>
            <a:endParaRPr lang="en-US" sz="1100" dirty="0"/>
          </a:p>
        </p:txBody>
      </p:sp>
      <p:sp>
        <p:nvSpPr>
          <p:cNvPr id="75" name="leaderboard bar"/>
          <p:cNvSpPr/>
          <p:nvPr/>
        </p:nvSpPr>
        <p:spPr>
          <a:xfrm>
            <a:off x="9281160" y="3968496"/>
            <a:ext cx="1920240" cy="201168"/>
          </a:xfrm>
          <a:prstGeom prst="roundRect">
            <a:avLst>
              <a:gd name="adj" fmla="val 50000"/>
            </a:avLst>
          </a:prstGeom>
          <a:solidFill>
            <a:srgbClr val="F2C230"/>
          </a:solidFill>
          <a:ln w="12700">
            <a:solidFill>
              <a:srgbClr val="D4762A"/>
            </a:solidFill>
            <a:prstDash val="solid"/>
          </a:ln>
        </p:spPr>
      </p:sp>
      <p:sp>
        <p:nvSpPr>
          <p:cNvPr id="76" name="Text 70"/>
          <p:cNvSpPr txBox="1"/>
          <p:nvPr/>
        </p:nvSpPr>
        <p:spPr>
          <a:xfrm>
            <a:off x="8412480" y="4297680"/>
            <a:ext cx="868680" cy="274320"/>
          </a:xfrm>
          <a:prstGeom prst="rect">
            <a:avLst/>
          </a:prstGeom>
          <a:noFill/>
          <a:ln/>
        </p:spPr>
        <p:txBody>
          <a:bodyPr wrap="square" lIns="0" tIns="0" rIns="0" bIns="0" rtlCol="0" anchor="ctr"/>
          <a:lstStyle/>
          <a:p>
            <a:pPr indent="0" marL="0">
              <a:buNone/>
            </a:pPr>
            <a:r>
              <a:rPr lang="en-US" sz="1100" dirty="0">
                <a:solidFill>
                  <a:schemeClr val="bg1"/>
                </a:solidFill>
              </a:rPr>
              <a:t>Student B</a:t>
            </a:r>
            <a:endParaRPr lang="en-US" sz="1100" dirty="0"/>
          </a:p>
        </p:txBody>
      </p:sp>
      <p:sp>
        <p:nvSpPr>
          <p:cNvPr id="77" name="leaderboard bar"/>
          <p:cNvSpPr/>
          <p:nvPr/>
        </p:nvSpPr>
        <p:spPr>
          <a:xfrm>
            <a:off x="9281160" y="4334256"/>
            <a:ext cx="1536192" cy="201168"/>
          </a:xfrm>
          <a:prstGeom prst="roundRect">
            <a:avLst>
              <a:gd name="adj" fmla="val 50000"/>
            </a:avLst>
          </a:prstGeom>
          <a:solidFill>
            <a:srgbClr val="D4762A"/>
          </a:solidFill>
          <a:ln w="12700">
            <a:solidFill>
              <a:srgbClr val="D4762A"/>
            </a:solidFill>
            <a:prstDash val="solid"/>
          </a:ln>
        </p:spPr>
      </p:sp>
      <p:sp>
        <p:nvSpPr>
          <p:cNvPr id="78" name="Text 72"/>
          <p:cNvSpPr txBox="1"/>
          <p:nvPr/>
        </p:nvSpPr>
        <p:spPr>
          <a:xfrm>
            <a:off x="8412480" y="4663440"/>
            <a:ext cx="868680" cy="274320"/>
          </a:xfrm>
          <a:prstGeom prst="rect">
            <a:avLst/>
          </a:prstGeom>
          <a:noFill/>
          <a:ln/>
        </p:spPr>
        <p:txBody>
          <a:bodyPr wrap="square" lIns="0" tIns="0" rIns="0" bIns="0" rtlCol="0" anchor="ctr"/>
          <a:lstStyle/>
          <a:p>
            <a:pPr indent="0" marL="0">
              <a:buNone/>
            </a:pPr>
            <a:r>
              <a:rPr lang="en-US" sz="1100" dirty="0">
                <a:solidFill>
                  <a:schemeClr val="bg1"/>
                </a:solidFill>
              </a:rPr>
              <a:t>Student C</a:t>
            </a:r>
            <a:endParaRPr lang="en-US" sz="1100" dirty="0"/>
          </a:p>
        </p:txBody>
      </p:sp>
      <p:sp>
        <p:nvSpPr>
          <p:cNvPr id="79" name="leaderboard bar"/>
          <p:cNvSpPr/>
          <p:nvPr/>
        </p:nvSpPr>
        <p:spPr>
          <a:xfrm>
            <a:off x="9281160" y="4700016"/>
            <a:ext cx="1152144" cy="201168"/>
          </a:xfrm>
          <a:prstGeom prst="roundRect">
            <a:avLst>
              <a:gd name="adj" fmla="val 50000"/>
            </a:avLst>
          </a:prstGeom>
          <a:solidFill>
            <a:srgbClr val="D4762A"/>
          </a:solidFill>
          <a:ln w="12700">
            <a:solidFill>
              <a:srgbClr val="D4762A"/>
            </a:solidFill>
            <a:prstDash val="solid"/>
          </a:ln>
        </p:spPr>
      </p:sp>
      <p:sp>
        <p:nvSpPr>
          <p:cNvPr id="80" name="Text 74"/>
          <p:cNvSpPr txBox="1"/>
          <p:nvPr/>
        </p:nvSpPr>
        <p:spPr>
          <a:xfrm>
            <a:off x="731520" y="5440680"/>
            <a:ext cx="3246120" cy="548640"/>
          </a:xfrm>
          <a:prstGeom prst="rect">
            <a:avLst/>
          </a:prstGeom>
          <a:noFill/>
          <a:ln/>
        </p:spPr>
        <p:txBody>
          <a:bodyPr wrap="square" lIns="0" tIns="0" rIns="0" bIns="0" rtlCol="0" anchor="t"/>
          <a:lstStyle/>
          <a:p>
            <a:pPr indent="0" marL="0">
              <a:buNone/>
            </a:pPr>
            <a:r>
              <a:rPr lang="en-US" sz="1400" dirty="0">
                <a:solidFill>
                  <a:schemeClr val="bg1"/>
                </a:solidFill>
              </a:rPr>
              <a:t>Pick categories and run a buzz-in board on the projector.</a:t>
            </a:r>
            <a:endParaRPr lang="en-US" sz="1400" dirty="0"/>
          </a:p>
        </p:txBody>
      </p:sp>
      <p:sp>
        <p:nvSpPr>
          <p:cNvPr id="81" name="Text 75"/>
          <p:cNvSpPr txBox="1"/>
          <p:nvPr/>
        </p:nvSpPr>
        <p:spPr>
          <a:xfrm>
            <a:off x="4480560" y="5440680"/>
            <a:ext cx="3246120" cy="548640"/>
          </a:xfrm>
          <a:prstGeom prst="rect">
            <a:avLst/>
          </a:prstGeom>
          <a:noFill/>
          <a:ln/>
        </p:spPr>
        <p:txBody>
          <a:bodyPr wrap="square" lIns="0" tIns="0" rIns="0" bIns="0" rtlCol="0" anchor="t"/>
          <a:lstStyle/>
          <a:p>
            <a:pPr indent="0" marL="0">
              <a:buNone/>
            </a:pPr>
            <a:r>
              <a:rPr lang="en-US" sz="1400" dirty="0">
                <a:solidFill>
                  <a:schemeClr val="bg1"/>
                </a:solidFill>
              </a:rPr>
              <a:t>Two teams race through quick questions and pull the rope.</a:t>
            </a:r>
            <a:endParaRPr lang="en-US" sz="1400" dirty="0"/>
          </a:p>
        </p:txBody>
      </p:sp>
      <p:sp>
        <p:nvSpPr>
          <p:cNvPr id="82" name="Text 76"/>
          <p:cNvSpPr txBox="1"/>
          <p:nvPr/>
        </p:nvSpPr>
        <p:spPr>
          <a:xfrm>
            <a:off x="8229600" y="5440680"/>
            <a:ext cx="3246120" cy="548640"/>
          </a:xfrm>
          <a:prstGeom prst="rect">
            <a:avLst/>
          </a:prstGeom>
          <a:noFill/>
          <a:ln/>
        </p:spPr>
        <p:txBody>
          <a:bodyPr wrap="square" lIns="0" tIns="0" rIns="0" bIns="0" rtlCol="0" anchor="t"/>
          <a:lstStyle/>
          <a:p>
            <a:pPr indent="0" marL="0">
              <a:buNone/>
            </a:pPr>
            <a:r>
              <a:rPr lang="en-US" sz="1400" dirty="0">
                <a:solidFill>
                  <a:schemeClr val="bg1"/>
                </a:solidFill>
              </a:rPr>
              <a:t>Rewards that keep practice going.</a:t>
            </a:r>
            <a:endParaRPr lang="en-US" sz="1400" dirty="0"/>
          </a:p>
        </p:txBody>
      </p:sp>
      <p:sp>
        <p:nvSpPr>
          <p:cNvPr id="83" name="Text 77"/>
          <p:cNvSpPr txBox="1"/>
          <p:nvPr/>
        </p:nvSpPr>
        <p:spPr>
          <a:xfrm>
            <a:off x="640080" y="6080760"/>
            <a:ext cx="10881360" cy="274320"/>
          </a:xfrm>
          <a:prstGeom prst="rect">
            <a:avLst/>
          </a:prstGeom>
          <a:noFill/>
          <a:ln/>
        </p:spPr>
        <p:txBody>
          <a:bodyPr wrap="square" lIns="0" tIns="0" rIns="0" bIns="0" rtlCol="0" anchor="t"/>
          <a:lstStyle/>
          <a:p>
            <a:pPr indent="0" marL="0">
              <a:buNone/>
            </a:pPr>
            <a:r>
              <a:rPr lang="en-US" sz="1100" dirty="0">
                <a:solidFill>
                  <a:srgbClr val="BFB09C"/>
                </a:solidFill>
              </a:rPr>
              <a:t>Illustrative mock-ups of planned Smart Play screens. Not live at Manchester.</a:t>
            </a:r>
            <a:endParaRPr lang="en-US" sz="11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chemeClr val="accent1"/>
                </a:solidFill>
              </a:rPr>
              <a:t>PHASE 7   |   LEADERSHIP   |   5 MIN</a:t>
            </a:r>
            <a:endParaRPr lang="en-US" sz="1100" dirty="0"/>
          </a:p>
        </p:txBody>
      </p:sp>
      <p:sp>
        <p:nvSpPr>
          <p:cNvPr id="3" name="Text 0"/>
          <p:cNvSpPr/>
          <p:nvPr>
            <p:ph idx="100" type="title" hasCustomPrompt="1"/>
          </p:nvPr>
        </p:nvSpPr>
        <p:spPr>
          <a:xfrm>
            <a:off x="640080" y="548640"/>
            <a:ext cx="10908792" cy="1005840"/>
          </a:xfrm>
          <a:prstGeom prst="rect">
            <a:avLst/>
          </a:prstGeom>
          <a:noFill/>
          <a:ln/>
        </p:spPr>
        <p:txBody>
          <a:bodyPr wrap="square" lIns="0" tIns="0" rIns="0" bIns="0" rtlCol="0" anchor="t"/>
          <a:lstStyle/>
          <a:p>
            <a:pPr algn="l" indent="0" marL="0">
              <a:buNone/>
            </a:pPr>
            <a:r>
              <a:rPr lang="en-US" sz="3400" b="1" dirty="0">
                <a:solidFill>
                  <a:schemeClr val="tx1"/>
                </a:solidFill>
              </a:rPr>
              <a:t>Leadership: a broader view of the school</a:t>
            </a:r>
            <a:endParaRPr lang="en-US" sz="3400" dirty="0"/>
          </a:p>
        </p:txBody>
      </p:sp>
      <p:sp>
        <p:nvSpPr>
          <p:cNvPr id="4" name="tier Teachers see their classrooms"/>
          <p:cNvSpPr/>
          <p:nvPr/>
        </p:nvSpPr>
        <p:spPr>
          <a:xfrm>
            <a:off x="640080" y="4526280"/>
            <a:ext cx="2926080" cy="1188720"/>
          </a:xfrm>
          <a:prstGeom prst="roundRect">
            <a:avLst>
              <a:gd name="adj" fmla="val 9231"/>
            </a:avLst>
          </a:prstGeom>
          <a:solidFill>
            <a:srgbClr val="D4762A"/>
          </a:solidFill>
          <a:ln w="12700">
            <a:solidFill>
              <a:srgbClr val="D4762A"/>
            </a:solidFill>
            <a:prstDash val="solid"/>
          </a:ln>
        </p:spPr>
      </p:sp>
      <p:sp>
        <p:nvSpPr>
          <p:cNvPr id="5" name="Text 3"/>
          <p:cNvSpPr txBox="1"/>
          <p:nvPr/>
        </p:nvSpPr>
        <p:spPr>
          <a:xfrm>
            <a:off x="914400" y="4526280"/>
            <a:ext cx="2468880" cy="1188720"/>
          </a:xfrm>
          <a:prstGeom prst="rect">
            <a:avLst/>
          </a:prstGeom>
          <a:noFill/>
          <a:ln/>
        </p:spPr>
        <p:txBody>
          <a:bodyPr wrap="square" lIns="0" tIns="0" rIns="0" bIns="0" rtlCol="0" anchor="ctr"/>
          <a:lstStyle/>
          <a:p>
            <a:pPr indent="0" marL="0">
              <a:buNone/>
            </a:pPr>
            <a:r>
              <a:rPr lang="en-US" sz="1800" b="1" dirty="0">
                <a:solidFill>
                  <a:srgbClr val="FFFFFF"/>
                </a:solidFill>
              </a:rPr>
              <a:t>Teachers see their classrooms</a:t>
            </a:r>
            <a:endParaRPr lang="en-US" sz="1800" dirty="0"/>
          </a:p>
        </p:txBody>
      </p:sp>
      <p:sp>
        <p:nvSpPr>
          <p:cNvPr id="6" name="tier HODs see their departments"/>
          <p:cNvSpPr/>
          <p:nvPr/>
        </p:nvSpPr>
        <p:spPr>
          <a:xfrm>
            <a:off x="640080" y="3154680"/>
            <a:ext cx="4297680" cy="1188720"/>
          </a:xfrm>
          <a:prstGeom prst="roundRect">
            <a:avLst>
              <a:gd name="adj" fmla="val 9231"/>
            </a:avLst>
          </a:prstGeom>
          <a:solidFill>
            <a:srgbClr val="1F8A84"/>
          </a:solidFill>
          <a:ln w="12700">
            <a:solidFill>
              <a:srgbClr val="1F8A84"/>
            </a:solidFill>
            <a:prstDash val="solid"/>
          </a:ln>
        </p:spPr>
      </p:sp>
      <p:sp>
        <p:nvSpPr>
          <p:cNvPr id="7" name="Text 5"/>
          <p:cNvSpPr txBox="1"/>
          <p:nvPr/>
        </p:nvSpPr>
        <p:spPr>
          <a:xfrm>
            <a:off x="914400" y="3154680"/>
            <a:ext cx="3840480" cy="1188720"/>
          </a:xfrm>
          <a:prstGeom prst="rect">
            <a:avLst/>
          </a:prstGeom>
          <a:noFill/>
          <a:ln/>
        </p:spPr>
        <p:txBody>
          <a:bodyPr wrap="square" lIns="0" tIns="0" rIns="0" bIns="0" rtlCol="0" anchor="ctr"/>
          <a:lstStyle/>
          <a:p>
            <a:pPr indent="0" marL="0">
              <a:buNone/>
            </a:pPr>
            <a:r>
              <a:rPr lang="en-US" sz="1800" b="1" dirty="0">
                <a:solidFill>
                  <a:srgbClr val="FFFFFF"/>
                </a:solidFill>
              </a:rPr>
              <a:t>HODs see their departments</a:t>
            </a:r>
            <a:endParaRPr lang="en-US" sz="1800" dirty="0"/>
          </a:p>
        </p:txBody>
      </p:sp>
      <p:sp>
        <p:nvSpPr>
          <p:cNvPr id="8" name="tier Leadership gets a broader view of the school"/>
          <p:cNvSpPr/>
          <p:nvPr/>
        </p:nvSpPr>
        <p:spPr>
          <a:xfrm>
            <a:off x="640080" y="1783080"/>
            <a:ext cx="5852160" cy="1188720"/>
          </a:xfrm>
          <a:prstGeom prst="roundRect">
            <a:avLst>
              <a:gd name="adj" fmla="val 9231"/>
            </a:avLst>
          </a:prstGeom>
          <a:solidFill>
            <a:srgbClr val="A85A18"/>
          </a:solidFill>
          <a:ln w="12700">
            <a:solidFill>
              <a:srgbClr val="A85A18"/>
            </a:solidFill>
            <a:prstDash val="solid"/>
          </a:ln>
        </p:spPr>
      </p:sp>
      <p:sp>
        <p:nvSpPr>
          <p:cNvPr id="9" name="Text 7"/>
          <p:cNvSpPr txBox="1"/>
          <p:nvPr/>
        </p:nvSpPr>
        <p:spPr>
          <a:xfrm>
            <a:off x="914400" y="1783080"/>
            <a:ext cx="5394960" cy="1188720"/>
          </a:xfrm>
          <a:prstGeom prst="rect">
            <a:avLst/>
          </a:prstGeom>
          <a:noFill/>
          <a:ln/>
        </p:spPr>
        <p:txBody>
          <a:bodyPr wrap="square" lIns="0" tIns="0" rIns="0" bIns="0" rtlCol="0" anchor="ctr"/>
          <a:lstStyle/>
          <a:p>
            <a:pPr indent="0" marL="0">
              <a:buNone/>
            </a:pPr>
            <a:r>
              <a:rPr lang="en-US" sz="1800" b="1" dirty="0">
                <a:solidFill>
                  <a:srgbClr val="FFFFFF"/>
                </a:solidFill>
              </a:rPr>
              <a:t>Leadership gets a broader view of the school</a:t>
            </a:r>
            <a:endParaRPr lang="en-US" sz="1800" dirty="0"/>
          </a:p>
        </p:txBody>
      </p:sp>
      <p:sp>
        <p:nvSpPr>
          <p:cNvPr id="10" name="card"/>
          <p:cNvSpPr/>
          <p:nvPr/>
        </p:nvSpPr>
        <p:spPr>
          <a:xfrm>
            <a:off x="6766560" y="1783080"/>
            <a:ext cx="4782312" cy="4297680"/>
          </a:xfrm>
          <a:prstGeom prst="roundRect">
            <a:avLst>
              <a:gd name="adj" fmla="val 2553"/>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11" name="Text 9"/>
          <p:cNvSpPr txBox="1"/>
          <p:nvPr/>
        </p:nvSpPr>
        <p:spPr>
          <a:xfrm>
            <a:off x="7040880" y="2011680"/>
            <a:ext cx="4206240" cy="365760"/>
          </a:xfrm>
          <a:prstGeom prst="rect">
            <a:avLst/>
          </a:prstGeom>
          <a:noFill/>
          <a:ln/>
        </p:spPr>
        <p:txBody>
          <a:bodyPr wrap="square" lIns="0" tIns="0" rIns="0" bIns="0" rtlCol="0" anchor="t"/>
          <a:lstStyle/>
          <a:p>
            <a:pPr indent="0" marL="0">
              <a:buNone/>
            </a:pPr>
            <a:r>
              <a:rPr lang="en-US" sz="1800" b="1" dirty="0">
                <a:solidFill>
                  <a:schemeClr val="tx1"/>
                </a:solidFill>
              </a:rPr>
              <a:t>Show, where appropriate</a:t>
            </a:r>
            <a:endParaRPr lang="en-US" sz="1800" dirty="0"/>
          </a:p>
        </p:txBody>
      </p:sp>
      <p:sp>
        <p:nvSpPr>
          <p:cNvPr id="12" name="Text 10"/>
          <p:cNvSpPr txBox="1"/>
          <p:nvPr/>
        </p:nvSpPr>
        <p:spPr>
          <a:xfrm>
            <a:off x="7040880" y="2560320"/>
            <a:ext cx="4206240" cy="338328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Department information</a:t>
            </a:r>
            <a:endParaRPr lang="en-US" sz="1800" dirty="0"/>
          </a:p>
          <a:p>
            <a:pPr marL="342900" indent="-342900">
              <a:spcAft>
                <a:spcPts val="1200"/>
              </a:spcAft>
              <a:buSzPct val="100000"/>
              <a:buChar char="•"/>
            </a:pPr>
            <a:r>
              <a:rPr lang="en-US" sz="1800" dirty="0">
                <a:solidFill>
                  <a:schemeClr val="tx1"/>
                </a:solidFill>
              </a:rPr>
              <a:t>Analytics</a:t>
            </a:r>
            <a:endParaRPr lang="en-US" sz="1800" dirty="0"/>
          </a:p>
          <a:p>
            <a:pPr marL="342900" indent="-342900">
              <a:spcAft>
                <a:spcPts val="1200"/>
              </a:spcAft>
              <a:buSzPct val="100000"/>
              <a:buChar char="•"/>
            </a:pPr>
            <a:r>
              <a:rPr lang="en-US" sz="1800" dirty="0">
                <a:solidFill>
                  <a:schemeClr val="tx1"/>
                </a:solidFill>
              </a:rPr>
              <a:t>Attendance</a:t>
            </a:r>
            <a:endParaRPr lang="en-US" sz="1800" dirty="0"/>
          </a:p>
          <a:p>
            <a:pPr marL="342900" indent="-342900">
              <a:spcAft>
                <a:spcPts val="1200"/>
              </a:spcAft>
              <a:buSzPct val="100000"/>
              <a:buChar char="•"/>
            </a:pPr>
            <a:r>
              <a:rPr lang="en-US" sz="1800" dirty="0">
                <a:solidFill>
                  <a:schemeClr val="tx1"/>
                </a:solidFill>
              </a:rPr>
              <a:t>Student performance</a:t>
            </a:r>
            <a:endParaRPr lang="en-US" sz="1800" dirty="0"/>
          </a:p>
          <a:p>
            <a:pPr marL="342900" indent="-342900">
              <a:spcAft>
                <a:spcPts val="1200"/>
              </a:spcAft>
              <a:buSzPct val="100000"/>
              <a:buChar char="•"/>
            </a:pPr>
            <a:r>
              <a:rPr lang="en-US" sz="1800" dirty="0">
                <a:solidFill>
                  <a:schemeClr val="tx1"/>
                </a:solidFill>
              </a:rPr>
              <a:t>Teacher and class information</a:t>
            </a:r>
            <a:endParaRPr lang="en-US" sz="1800" dirty="0"/>
          </a:p>
          <a:p>
            <a:pPr marL="342900" indent="-342900">
              <a:spcAft>
                <a:spcPts val="1200"/>
              </a:spcAft>
              <a:buSzPct val="100000"/>
              <a:buChar char="•"/>
            </a:pPr>
            <a:r>
              <a:rPr lang="en-US" sz="1800" dirty="0">
                <a:solidFill>
                  <a:schemeClr val="tx1"/>
                </a:solidFill>
              </a:rPr>
              <a:t>Curriculum and topic coverage</a:t>
            </a:r>
            <a:endParaRPr lang="en-US" sz="1800" dirty="0"/>
          </a:p>
          <a:p>
            <a:pPr marL="342900" indent="-342900">
              <a:spcAft>
                <a:spcPts val="1200"/>
              </a:spcAft>
              <a:buSzPct val="100000"/>
              <a:buChar char="•"/>
            </a:pPr>
            <a:r>
              <a:rPr lang="en-US" sz="1800" dirty="0">
                <a:solidFill>
                  <a:schemeClr val="tx1"/>
                </a:solidFill>
              </a:rPr>
              <a:t>Leadership oversight</a:t>
            </a:r>
            <a:endParaRPr lang="en-US" sz="18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rgbClr val="EC924A"/>
                </a:solidFill>
              </a:rPr>
              <a:t>THE "AHA" MOMENT</a:t>
            </a:r>
            <a:endParaRPr lang="en-US" sz="1100" dirty="0"/>
          </a:p>
        </p:txBody>
      </p:sp>
      <p:sp>
        <p:nvSpPr>
          <p:cNvPr id="3" name="Text 1"/>
          <p:cNvSpPr txBox="1"/>
          <p:nvPr/>
        </p:nvSpPr>
        <p:spPr>
          <a:xfrm>
            <a:off x="822960" y="914400"/>
            <a:ext cx="10515600" cy="1828800"/>
          </a:xfrm>
          <a:prstGeom prst="rect">
            <a:avLst/>
          </a:prstGeom>
          <a:noFill/>
          <a:ln/>
        </p:spPr>
        <p:txBody>
          <a:bodyPr wrap="square" lIns="0" tIns="0" rIns="0" bIns="0" rtlCol="0" anchor="t"/>
          <a:lstStyle/>
          <a:p>
            <a:pPr indent="0" marL="0">
              <a:buNone/>
            </a:pPr>
            <a:r>
              <a:rPr lang="en-US" sz="3400" b="1" dirty="0">
                <a:solidFill>
                  <a:schemeClr val="bg1"/>
                </a:solidFill>
              </a:rPr>
              <a:t>Think about the current process for creating, printing, administering, marking and analyzing an examination.</a:t>
            </a:r>
            <a:endParaRPr lang="en-US" sz="3400" dirty="0"/>
          </a:p>
        </p:txBody>
      </p:sp>
      <p:sp>
        <p:nvSpPr>
          <p:cNvPr id="4" name="old step"/>
          <p:cNvSpPr/>
          <p:nvPr/>
        </p:nvSpPr>
        <p:spPr>
          <a:xfrm>
            <a:off x="640080" y="3566160"/>
            <a:ext cx="1261872" cy="822960"/>
          </a:xfrm>
          <a:prstGeom prst="roundRect">
            <a:avLst>
              <a:gd name="adj" fmla="val 11111"/>
            </a:avLst>
          </a:prstGeom>
          <a:solidFill>
            <a:srgbClr val="1E1710"/>
          </a:solidFill>
          <a:ln w="12700">
            <a:solidFill>
              <a:srgbClr val="3A2E22"/>
            </a:solidFill>
            <a:prstDash val="solid"/>
          </a:ln>
        </p:spPr>
      </p:sp>
      <p:sp>
        <p:nvSpPr>
          <p:cNvPr id="5" name="Text 3"/>
          <p:cNvSpPr txBox="1"/>
          <p:nvPr/>
        </p:nvSpPr>
        <p:spPr>
          <a:xfrm>
            <a:off x="640080" y="3566160"/>
            <a:ext cx="1261872" cy="822960"/>
          </a:xfrm>
          <a:prstGeom prst="rect">
            <a:avLst/>
          </a:prstGeom>
          <a:noFill/>
          <a:ln/>
        </p:spPr>
        <p:txBody>
          <a:bodyPr wrap="square" lIns="0" tIns="0" rIns="0" bIns="0" rtlCol="0" anchor="ctr"/>
          <a:lstStyle/>
          <a:p>
            <a:pPr algn="ctr" indent="0" marL="0">
              <a:buNone/>
            </a:pPr>
            <a:r>
              <a:rPr lang="en-US" sz="1500" b="1" dirty="0">
                <a:solidFill>
                  <a:srgbClr val="BFB09C"/>
                </a:solidFill>
              </a:rPr>
              <a:t>Create</a:t>
            </a:r>
            <a:endParaRPr lang="en-US" sz="1500" dirty="0"/>
          </a:p>
        </p:txBody>
      </p:sp>
      <p:sp>
        <p:nvSpPr>
          <p:cNvPr id="6" name="old step"/>
          <p:cNvSpPr/>
          <p:nvPr/>
        </p:nvSpPr>
        <p:spPr>
          <a:xfrm>
            <a:off x="2011680" y="3566160"/>
            <a:ext cx="1261872" cy="822960"/>
          </a:xfrm>
          <a:prstGeom prst="roundRect">
            <a:avLst>
              <a:gd name="adj" fmla="val 11111"/>
            </a:avLst>
          </a:prstGeom>
          <a:solidFill>
            <a:srgbClr val="1E1710"/>
          </a:solidFill>
          <a:ln w="12700">
            <a:solidFill>
              <a:srgbClr val="3A2E22"/>
            </a:solidFill>
            <a:prstDash val="solid"/>
          </a:ln>
        </p:spPr>
      </p:sp>
      <p:sp>
        <p:nvSpPr>
          <p:cNvPr id="7" name="Text 5"/>
          <p:cNvSpPr txBox="1"/>
          <p:nvPr/>
        </p:nvSpPr>
        <p:spPr>
          <a:xfrm>
            <a:off x="2011680" y="3566160"/>
            <a:ext cx="1261872" cy="822960"/>
          </a:xfrm>
          <a:prstGeom prst="rect">
            <a:avLst/>
          </a:prstGeom>
          <a:noFill/>
          <a:ln/>
        </p:spPr>
        <p:txBody>
          <a:bodyPr wrap="square" lIns="0" tIns="0" rIns="0" bIns="0" rtlCol="0" anchor="ctr"/>
          <a:lstStyle/>
          <a:p>
            <a:pPr algn="ctr" indent="0" marL="0">
              <a:buNone/>
            </a:pPr>
            <a:r>
              <a:rPr lang="en-US" sz="1500" b="1" dirty="0">
                <a:solidFill>
                  <a:srgbClr val="BFB09C"/>
                </a:solidFill>
              </a:rPr>
              <a:t>Print</a:t>
            </a:r>
            <a:endParaRPr lang="en-US" sz="1500" dirty="0"/>
          </a:p>
        </p:txBody>
      </p:sp>
      <p:sp>
        <p:nvSpPr>
          <p:cNvPr id="8" name="old step"/>
          <p:cNvSpPr/>
          <p:nvPr/>
        </p:nvSpPr>
        <p:spPr>
          <a:xfrm>
            <a:off x="3383280" y="3566160"/>
            <a:ext cx="1261872" cy="822960"/>
          </a:xfrm>
          <a:prstGeom prst="roundRect">
            <a:avLst>
              <a:gd name="adj" fmla="val 11111"/>
            </a:avLst>
          </a:prstGeom>
          <a:solidFill>
            <a:srgbClr val="1E1710"/>
          </a:solidFill>
          <a:ln w="12700">
            <a:solidFill>
              <a:srgbClr val="3A2E22"/>
            </a:solidFill>
            <a:prstDash val="solid"/>
          </a:ln>
        </p:spPr>
      </p:sp>
      <p:sp>
        <p:nvSpPr>
          <p:cNvPr id="9" name="Text 7"/>
          <p:cNvSpPr txBox="1"/>
          <p:nvPr/>
        </p:nvSpPr>
        <p:spPr>
          <a:xfrm>
            <a:off x="3383280" y="3566160"/>
            <a:ext cx="1261872" cy="822960"/>
          </a:xfrm>
          <a:prstGeom prst="rect">
            <a:avLst/>
          </a:prstGeom>
          <a:noFill/>
          <a:ln/>
        </p:spPr>
        <p:txBody>
          <a:bodyPr wrap="square" lIns="0" tIns="0" rIns="0" bIns="0" rtlCol="0" anchor="ctr"/>
          <a:lstStyle/>
          <a:p>
            <a:pPr algn="ctr" indent="0" marL="0">
              <a:buNone/>
            </a:pPr>
            <a:r>
              <a:rPr lang="en-US" sz="1500" b="1" dirty="0">
                <a:solidFill>
                  <a:srgbClr val="BFB09C"/>
                </a:solidFill>
              </a:rPr>
              <a:t>Copy</a:t>
            </a:r>
            <a:endParaRPr lang="en-US" sz="1500" dirty="0"/>
          </a:p>
        </p:txBody>
      </p:sp>
      <p:sp>
        <p:nvSpPr>
          <p:cNvPr id="10" name="old step"/>
          <p:cNvSpPr/>
          <p:nvPr/>
        </p:nvSpPr>
        <p:spPr>
          <a:xfrm>
            <a:off x="4754880" y="3566160"/>
            <a:ext cx="1261872" cy="822960"/>
          </a:xfrm>
          <a:prstGeom prst="roundRect">
            <a:avLst>
              <a:gd name="adj" fmla="val 11111"/>
            </a:avLst>
          </a:prstGeom>
          <a:solidFill>
            <a:srgbClr val="1E1710"/>
          </a:solidFill>
          <a:ln w="12700">
            <a:solidFill>
              <a:srgbClr val="3A2E22"/>
            </a:solidFill>
            <a:prstDash val="solid"/>
          </a:ln>
        </p:spPr>
      </p:sp>
      <p:sp>
        <p:nvSpPr>
          <p:cNvPr id="11" name="Text 9"/>
          <p:cNvSpPr txBox="1"/>
          <p:nvPr/>
        </p:nvSpPr>
        <p:spPr>
          <a:xfrm>
            <a:off x="4754880" y="3566160"/>
            <a:ext cx="1261872" cy="822960"/>
          </a:xfrm>
          <a:prstGeom prst="rect">
            <a:avLst/>
          </a:prstGeom>
          <a:noFill/>
          <a:ln/>
        </p:spPr>
        <p:txBody>
          <a:bodyPr wrap="square" lIns="0" tIns="0" rIns="0" bIns="0" rtlCol="0" anchor="ctr"/>
          <a:lstStyle/>
          <a:p>
            <a:pPr algn="ctr" indent="0" marL="0">
              <a:buNone/>
            </a:pPr>
            <a:r>
              <a:rPr lang="en-US" sz="1500" b="1" dirty="0">
                <a:solidFill>
                  <a:srgbClr val="BFB09C"/>
                </a:solidFill>
              </a:rPr>
              <a:t>Administer</a:t>
            </a:r>
            <a:endParaRPr lang="en-US" sz="1500" dirty="0"/>
          </a:p>
        </p:txBody>
      </p:sp>
      <p:sp>
        <p:nvSpPr>
          <p:cNvPr id="12" name="old step"/>
          <p:cNvSpPr/>
          <p:nvPr/>
        </p:nvSpPr>
        <p:spPr>
          <a:xfrm>
            <a:off x="6126480" y="3566160"/>
            <a:ext cx="1261872" cy="822960"/>
          </a:xfrm>
          <a:prstGeom prst="roundRect">
            <a:avLst>
              <a:gd name="adj" fmla="val 11111"/>
            </a:avLst>
          </a:prstGeom>
          <a:solidFill>
            <a:srgbClr val="1E1710"/>
          </a:solidFill>
          <a:ln w="12700">
            <a:solidFill>
              <a:srgbClr val="3A2E22"/>
            </a:solidFill>
            <a:prstDash val="solid"/>
          </a:ln>
        </p:spPr>
      </p:sp>
      <p:sp>
        <p:nvSpPr>
          <p:cNvPr id="13" name="Text 11"/>
          <p:cNvSpPr txBox="1"/>
          <p:nvPr/>
        </p:nvSpPr>
        <p:spPr>
          <a:xfrm>
            <a:off x="6126480" y="3566160"/>
            <a:ext cx="1261872" cy="822960"/>
          </a:xfrm>
          <a:prstGeom prst="rect">
            <a:avLst/>
          </a:prstGeom>
          <a:noFill/>
          <a:ln/>
        </p:spPr>
        <p:txBody>
          <a:bodyPr wrap="square" lIns="0" tIns="0" rIns="0" bIns="0" rtlCol="0" anchor="ctr"/>
          <a:lstStyle/>
          <a:p>
            <a:pPr algn="ctr" indent="0" marL="0">
              <a:buNone/>
            </a:pPr>
            <a:r>
              <a:rPr lang="en-US" sz="1500" b="1" dirty="0">
                <a:solidFill>
                  <a:srgbClr val="BFB09C"/>
                </a:solidFill>
              </a:rPr>
              <a:t>Collect</a:t>
            </a:r>
            <a:endParaRPr lang="en-US" sz="1500" dirty="0"/>
          </a:p>
        </p:txBody>
      </p:sp>
      <p:sp>
        <p:nvSpPr>
          <p:cNvPr id="14" name="old step"/>
          <p:cNvSpPr/>
          <p:nvPr/>
        </p:nvSpPr>
        <p:spPr>
          <a:xfrm>
            <a:off x="7498080" y="3566160"/>
            <a:ext cx="1261872" cy="822960"/>
          </a:xfrm>
          <a:prstGeom prst="roundRect">
            <a:avLst>
              <a:gd name="adj" fmla="val 11111"/>
            </a:avLst>
          </a:prstGeom>
          <a:solidFill>
            <a:srgbClr val="1E1710"/>
          </a:solidFill>
          <a:ln w="12700">
            <a:solidFill>
              <a:srgbClr val="3A2E22"/>
            </a:solidFill>
            <a:prstDash val="solid"/>
          </a:ln>
        </p:spPr>
      </p:sp>
      <p:sp>
        <p:nvSpPr>
          <p:cNvPr id="15" name="Text 13"/>
          <p:cNvSpPr txBox="1"/>
          <p:nvPr/>
        </p:nvSpPr>
        <p:spPr>
          <a:xfrm>
            <a:off x="7498080" y="3566160"/>
            <a:ext cx="1261872" cy="822960"/>
          </a:xfrm>
          <a:prstGeom prst="rect">
            <a:avLst/>
          </a:prstGeom>
          <a:noFill/>
          <a:ln/>
        </p:spPr>
        <p:txBody>
          <a:bodyPr wrap="square" lIns="0" tIns="0" rIns="0" bIns="0" rtlCol="0" anchor="ctr"/>
          <a:lstStyle/>
          <a:p>
            <a:pPr algn="ctr" indent="0" marL="0">
              <a:buNone/>
            </a:pPr>
            <a:r>
              <a:rPr lang="en-US" sz="1500" b="1" dirty="0">
                <a:solidFill>
                  <a:srgbClr val="BFB09C"/>
                </a:solidFill>
              </a:rPr>
              <a:t>Mark</a:t>
            </a:r>
            <a:endParaRPr lang="en-US" sz="1500" dirty="0"/>
          </a:p>
        </p:txBody>
      </p:sp>
      <p:sp>
        <p:nvSpPr>
          <p:cNvPr id="16" name="old step"/>
          <p:cNvSpPr/>
          <p:nvPr/>
        </p:nvSpPr>
        <p:spPr>
          <a:xfrm>
            <a:off x="8869680" y="3566160"/>
            <a:ext cx="1261872" cy="822960"/>
          </a:xfrm>
          <a:prstGeom prst="roundRect">
            <a:avLst>
              <a:gd name="adj" fmla="val 11111"/>
            </a:avLst>
          </a:prstGeom>
          <a:solidFill>
            <a:srgbClr val="1E1710"/>
          </a:solidFill>
          <a:ln w="12700">
            <a:solidFill>
              <a:srgbClr val="3A2E22"/>
            </a:solidFill>
            <a:prstDash val="solid"/>
          </a:ln>
        </p:spPr>
      </p:sp>
      <p:sp>
        <p:nvSpPr>
          <p:cNvPr id="17" name="Text 15"/>
          <p:cNvSpPr txBox="1"/>
          <p:nvPr/>
        </p:nvSpPr>
        <p:spPr>
          <a:xfrm>
            <a:off x="8869680" y="3566160"/>
            <a:ext cx="1261872" cy="822960"/>
          </a:xfrm>
          <a:prstGeom prst="rect">
            <a:avLst/>
          </a:prstGeom>
          <a:noFill/>
          <a:ln/>
        </p:spPr>
        <p:txBody>
          <a:bodyPr wrap="square" lIns="0" tIns="0" rIns="0" bIns="0" rtlCol="0" anchor="ctr"/>
          <a:lstStyle/>
          <a:p>
            <a:pPr algn="ctr" indent="0" marL="0">
              <a:buNone/>
            </a:pPr>
            <a:r>
              <a:rPr lang="en-US" sz="1500" b="1" dirty="0">
                <a:solidFill>
                  <a:srgbClr val="BFB09C"/>
                </a:solidFill>
              </a:rPr>
              <a:t>Record</a:t>
            </a:r>
            <a:endParaRPr lang="en-US" sz="1500" dirty="0"/>
          </a:p>
        </p:txBody>
      </p:sp>
      <p:sp>
        <p:nvSpPr>
          <p:cNvPr id="18" name="old step"/>
          <p:cNvSpPr/>
          <p:nvPr/>
        </p:nvSpPr>
        <p:spPr>
          <a:xfrm>
            <a:off x="10241280" y="3566160"/>
            <a:ext cx="1261872" cy="822960"/>
          </a:xfrm>
          <a:prstGeom prst="roundRect">
            <a:avLst>
              <a:gd name="adj" fmla="val 11111"/>
            </a:avLst>
          </a:prstGeom>
          <a:solidFill>
            <a:srgbClr val="1E1710"/>
          </a:solidFill>
          <a:ln w="12700">
            <a:solidFill>
              <a:srgbClr val="3A2E22"/>
            </a:solidFill>
            <a:prstDash val="solid"/>
          </a:ln>
        </p:spPr>
      </p:sp>
      <p:sp>
        <p:nvSpPr>
          <p:cNvPr id="19" name="Text 17"/>
          <p:cNvSpPr txBox="1"/>
          <p:nvPr/>
        </p:nvSpPr>
        <p:spPr>
          <a:xfrm>
            <a:off x="10241280" y="3566160"/>
            <a:ext cx="1261872" cy="822960"/>
          </a:xfrm>
          <a:prstGeom prst="rect">
            <a:avLst/>
          </a:prstGeom>
          <a:noFill/>
          <a:ln/>
        </p:spPr>
        <p:txBody>
          <a:bodyPr wrap="square" lIns="0" tIns="0" rIns="0" bIns="0" rtlCol="0" anchor="ctr"/>
          <a:lstStyle/>
          <a:p>
            <a:pPr algn="ctr" indent="0" marL="0">
              <a:buNone/>
            </a:pPr>
            <a:r>
              <a:rPr lang="en-US" sz="1500" b="1" dirty="0">
                <a:solidFill>
                  <a:srgbClr val="BFB09C"/>
                </a:solidFill>
              </a:rPr>
              <a:t>Analyze</a:t>
            </a:r>
            <a:endParaRPr lang="en-US" sz="1500" dirty="0"/>
          </a:p>
        </p:txBody>
      </p:sp>
      <p:sp>
        <p:nvSpPr>
          <p:cNvPr id="20" name="Text 18"/>
          <p:cNvSpPr txBox="1"/>
          <p:nvPr/>
        </p:nvSpPr>
        <p:spPr>
          <a:xfrm>
            <a:off x="822960" y="4937760"/>
            <a:ext cx="10515600" cy="822960"/>
          </a:xfrm>
          <a:prstGeom prst="rect">
            <a:avLst/>
          </a:prstGeom>
          <a:noFill/>
          <a:ln/>
        </p:spPr>
        <p:txBody>
          <a:bodyPr wrap="square" lIns="0" tIns="0" rIns="0" bIns="0" rtlCol="0" anchor="t"/>
          <a:lstStyle/>
          <a:p>
            <a:pPr indent="0" marL="0">
              <a:buNone/>
            </a:pPr>
            <a:r>
              <a:rPr lang="en-US" sz="4000" b="1" dirty="0">
                <a:solidFill>
                  <a:srgbClr val="EC924A"/>
                </a:solidFill>
              </a:rPr>
              <a:t>How many steps just disappeared?</a:t>
            </a:r>
            <a:endParaRPr lang="en-US" sz="40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640080"/>
            <a:ext cx="10515600" cy="1828800"/>
          </a:xfrm>
          <a:prstGeom prst="rect">
            <a:avLst/>
          </a:prstGeom>
          <a:noFill/>
          <a:ln/>
        </p:spPr>
        <p:txBody>
          <a:bodyPr wrap="square" lIns="0" tIns="0" rIns="0" bIns="0" rtlCol="0" anchor="t"/>
          <a:lstStyle/>
          <a:p>
            <a:pPr indent="0" marL="0">
              <a:buNone/>
            </a:pPr>
            <a:r>
              <a:rPr lang="en-US" sz="3400" b="1" dirty="0">
                <a:solidFill>
                  <a:schemeClr val="bg1"/>
                </a:solidFill>
              </a:rPr>
              <a:t>And what becomes possible when assessment data is connected to learning and reinforcement?</a:t>
            </a:r>
            <a:endParaRPr lang="en-US" sz="3400" dirty="0"/>
          </a:p>
        </p:txBody>
      </p:sp>
      <p:sp>
        <p:nvSpPr>
          <p:cNvPr id="3" name="card"/>
          <p:cNvSpPr/>
          <p:nvPr/>
        </p:nvSpPr>
        <p:spPr>
          <a:xfrm>
            <a:off x="3017520" y="2743200"/>
            <a:ext cx="6126480" cy="960120"/>
          </a:xfrm>
          <a:prstGeom prst="roundRect">
            <a:avLst>
              <a:gd name="adj" fmla="val 11429"/>
            </a:avLst>
          </a:prstGeom>
          <a:solidFill>
            <a:srgbClr val="1E1710"/>
          </a:solidFill>
          <a:ln w="12700">
            <a:solidFill>
              <a:srgbClr val="3A2E22"/>
            </a:solidFill>
            <a:prstDash val="solid"/>
          </a:ln>
        </p:spPr>
      </p:sp>
      <p:sp>
        <p:nvSpPr>
          <p:cNvPr id="4" name="icon circle"/>
          <p:cNvSpPr/>
          <p:nvPr/>
        </p:nvSpPr>
        <p:spPr>
          <a:xfrm>
            <a:off x="3291840" y="2898648"/>
            <a:ext cx="640080" cy="640080"/>
          </a:xfrm>
          <a:prstGeom prst="ellipse">
            <a:avLst/>
          </a:prstGeom>
          <a:solidFill>
            <a:srgbClr val="EC924A"/>
          </a:solidFill>
          <a:ln w="12700">
            <a:solidFill>
              <a:srgbClr val="EC924A"/>
            </a:solidFill>
            <a:prstDash val="solid"/>
          </a:ln>
        </p:spPr>
      </p:sp>
      <p:pic>
        <p:nvPicPr>
          <p:cNvPr id="5" name="icon" descr="preencoded.png">    </p:cNvPr>
          <p:cNvPicPr>
            <a:picLocks noChangeAspect="1"/>
          </p:cNvPicPr>
          <p:nvPr/>
        </p:nvPicPr>
        <p:blipFill>
          <a:blip r:embed="rId2"/>
          <a:stretch>
            <a:fillRect/>
          </a:stretch>
        </p:blipFill>
        <p:spPr>
          <a:xfrm>
            <a:off x="3432658" y="3039466"/>
            <a:ext cx="358445" cy="358445"/>
          </a:xfrm>
          <a:prstGeom prst="rect">
            <a:avLst/>
          </a:prstGeom>
        </p:spPr>
      </p:pic>
      <p:sp>
        <p:nvSpPr>
          <p:cNvPr id="6" name="Text 3"/>
          <p:cNvSpPr txBox="1"/>
          <p:nvPr/>
        </p:nvSpPr>
        <p:spPr>
          <a:xfrm>
            <a:off x="4114800" y="2743200"/>
            <a:ext cx="3291840" cy="960120"/>
          </a:xfrm>
          <a:prstGeom prst="rect">
            <a:avLst/>
          </a:prstGeom>
          <a:noFill/>
          <a:ln/>
        </p:spPr>
        <p:txBody>
          <a:bodyPr wrap="square" lIns="0" tIns="0" rIns="0" bIns="0" rtlCol="0" anchor="ctr"/>
          <a:lstStyle/>
          <a:p>
            <a:pPr indent="0" marL="0">
              <a:buNone/>
            </a:pPr>
            <a:r>
              <a:rPr lang="en-US" sz="2000" b="1" spc="300" kern="0" dirty="0">
                <a:solidFill>
                  <a:srgbClr val="EC924A"/>
                </a:solidFill>
              </a:rPr>
              <a:t>SMART ASSESS</a:t>
            </a:r>
            <a:endParaRPr lang="en-US" sz="2000" dirty="0"/>
          </a:p>
        </p:txBody>
      </p:sp>
      <p:sp>
        <p:nvSpPr>
          <p:cNvPr id="7" name="Text 4"/>
          <p:cNvSpPr txBox="1"/>
          <p:nvPr/>
        </p:nvSpPr>
        <p:spPr>
          <a:xfrm>
            <a:off x="7406640" y="2743200"/>
            <a:ext cx="1554480" cy="960120"/>
          </a:xfrm>
          <a:prstGeom prst="rect">
            <a:avLst/>
          </a:prstGeom>
          <a:noFill/>
          <a:ln/>
        </p:spPr>
        <p:txBody>
          <a:bodyPr wrap="square" lIns="0" tIns="0" rIns="0" bIns="0" rtlCol="0" anchor="ctr"/>
          <a:lstStyle/>
          <a:p>
            <a:pPr algn="r" indent="0" marL="0">
              <a:buNone/>
            </a:pPr>
            <a:r>
              <a:rPr lang="en-US" sz="2000" dirty="0">
                <a:solidFill>
                  <a:schemeClr val="bg1"/>
                </a:solidFill>
              </a:rPr>
              <a:t>Measure</a:t>
            </a:r>
            <a:endParaRPr lang="en-US" sz="2000" dirty="0"/>
          </a:p>
        </p:txBody>
      </p:sp>
      <p:sp>
        <p:nvSpPr>
          <p:cNvPr id="8" name="arrow"/>
          <p:cNvSpPr/>
          <p:nvPr/>
        </p:nvSpPr>
        <p:spPr>
          <a:xfrm>
            <a:off x="6080760" y="3721608"/>
            <a:ext cx="0" cy="182880"/>
          </a:xfrm>
          <a:prstGeom prst="line">
            <a:avLst/>
          </a:prstGeom>
          <a:noFill/>
          <a:ln w="25400">
            <a:solidFill>
              <a:srgbClr val="BFB09C"/>
            </a:solidFill>
            <a:prstDash val="solid"/>
            <a:tailEnd type="triangle"/>
          </a:ln>
        </p:spPr>
      </p:sp>
      <p:sp>
        <p:nvSpPr>
          <p:cNvPr id="9" name="card"/>
          <p:cNvSpPr/>
          <p:nvPr/>
        </p:nvSpPr>
        <p:spPr>
          <a:xfrm>
            <a:off x="3017520" y="3931920"/>
            <a:ext cx="6126480" cy="960120"/>
          </a:xfrm>
          <a:prstGeom prst="roundRect">
            <a:avLst>
              <a:gd name="adj" fmla="val 11429"/>
            </a:avLst>
          </a:prstGeom>
          <a:solidFill>
            <a:srgbClr val="1E1710"/>
          </a:solidFill>
          <a:ln w="12700">
            <a:solidFill>
              <a:srgbClr val="3A2E22"/>
            </a:solidFill>
            <a:prstDash val="solid"/>
          </a:ln>
        </p:spPr>
      </p:sp>
      <p:sp>
        <p:nvSpPr>
          <p:cNvPr id="10" name="icon circle"/>
          <p:cNvSpPr/>
          <p:nvPr/>
        </p:nvSpPr>
        <p:spPr>
          <a:xfrm>
            <a:off x="3291840" y="4087368"/>
            <a:ext cx="640080" cy="640080"/>
          </a:xfrm>
          <a:prstGeom prst="ellipse">
            <a:avLst/>
          </a:prstGeom>
          <a:solidFill>
            <a:srgbClr val="3DB5AB"/>
          </a:solidFill>
          <a:ln w="12700">
            <a:solidFill>
              <a:srgbClr val="3DB5AB"/>
            </a:solidFill>
            <a:prstDash val="solid"/>
          </a:ln>
        </p:spPr>
      </p:sp>
      <p:pic>
        <p:nvPicPr>
          <p:cNvPr id="11" name="icon" descr="preencoded.png">    </p:cNvPr>
          <p:cNvPicPr>
            <a:picLocks noChangeAspect="1"/>
          </p:cNvPicPr>
          <p:nvPr/>
        </p:nvPicPr>
        <p:blipFill>
          <a:blip r:embed="rId3"/>
          <a:stretch>
            <a:fillRect/>
          </a:stretch>
        </p:blipFill>
        <p:spPr>
          <a:xfrm>
            <a:off x="3432658" y="4228186"/>
            <a:ext cx="358445" cy="358445"/>
          </a:xfrm>
          <a:prstGeom prst="rect">
            <a:avLst/>
          </a:prstGeom>
        </p:spPr>
      </p:pic>
      <p:sp>
        <p:nvSpPr>
          <p:cNvPr id="12" name="Text 8"/>
          <p:cNvSpPr txBox="1"/>
          <p:nvPr/>
        </p:nvSpPr>
        <p:spPr>
          <a:xfrm>
            <a:off x="4114800" y="3931920"/>
            <a:ext cx="3291840" cy="960120"/>
          </a:xfrm>
          <a:prstGeom prst="rect">
            <a:avLst/>
          </a:prstGeom>
          <a:noFill/>
          <a:ln/>
        </p:spPr>
        <p:txBody>
          <a:bodyPr wrap="square" lIns="0" tIns="0" rIns="0" bIns="0" rtlCol="0" anchor="ctr"/>
          <a:lstStyle/>
          <a:p>
            <a:pPr indent="0" marL="0">
              <a:buNone/>
            </a:pPr>
            <a:r>
              <a:rPr lang="en-US" sz="2000" b="1" spc="300" kern="0" dirty="0">
                <a:solidFill>
                  <a:srgbClr val="3DB5AB"/>
                </a:solidFill>
              </a:rPr>
              <a:t>SMART LEARNING</a:t>
            </a:r>
            <a:endParaRPr lang="en-US" sz="2000" dirty="0"/>
          </a:p>
        </p:txBody>
      </p:sp>
      <p:sp>
        <p:nvSpPr>
          <p:cNvPr id="13" name="Text 9"/>
          <p:cNvSpPr txBox="1"/>
          <p:nvPr/>
        </p:nvSpPr>
        <p:spPr>
          <a:xfrm>
            <a:off x="7406640" y="3931920"/>
            <a:ext cx="1554480" cy="960120"/>
          </a:xfrm>
          <a:prstGeom prst="rect">
            <a:avLst/>
          </a:prstGeom>
          <a:noFill/>
          <a:ln/>
        </p:spPr>
        <p:txBody>
          <a:bodyPr wrap="square" lIns="0" tIns="0" rIns="0" bIns="0" rtlCol="0" anchor="ctr"/>
          <a:lstStyle/>
          <a:p>
            <a:pPr algn="r" indent="0" marL="0">
              <a:buNone/>
            </a:pPr>
            <a:r>
              <a:rPr lang="en-US" sz="2000" dirty="0">
                <a:solidFill>
                  <a:schemeClr val="bg1"/>
                </a:solidFill>
              </a:rPr>
              <a:t>Teach</a:t>
            </a:r>
            <a:endParaRPr lang="en-US" sz="2000" dirty="0"/>
          </a:p>
        </p:txBody>
      </p:sp>
      <p:sp>
        <p:nvSpPr>
          <p:cNvPr id="14" name="arrow"/>
          <p:cNvSpPr/>
          <p:nvPr/>
        </p:nvSpPr>
        <p:spPr>
          <a:xfrm>
            <a:off x="6080760" y="4910328"/>
            <a:ext cx="0" cy="182880"/>
          </a:xfrm>
          <a:prstGeom prst="line">
            <a:avLst/>
          </a:prstGeom>
          <a:noFill/>
          <a:ln w="25400">
            <a:solidFill>
              <a:srgbClr val="BFB09C"/>
            </a:solidFill>
            <a:prstDash val="solid"/>
            <a:tailEnd type="triangle"/>
          </a:ln>
        </p:spPr>
      </p:sp>
      <p:sp>
        <p:nvSpPr>
          <p:cNvPr id="15" name="card"/>
          <p:cNvSpPr/>
          <p:nvPr/>
        </p:nvSpPr>
        <p:spPr>
          <a:xfrm>
            <a:off x="3017520" y="5120640"/>
            <a:ext cx="6126480" cy="960120"/>
          </a:xfrm>
          <a:prstGeom prst="roundRect">
            <a:avLst>
              <a:gd name="adj" fmla="val 11429"/>
            </a:avLst>
          </a:prstGeom>
          <a:solidFill>
            <a:srgbClr val="1E1710"/>
          </a:solidFill>
          <a:ln w="12700">
            <a:solidFill>
              <a:srgbClr val="3A2E22"/>
            </a:solidFill>
            <a:prstDash val="solid"/>
          </a:ln>
        </p:spPr>
      </p:sp>
      <p:sp>
        <p:nvSpPr>
          <p:cNvPr id="16" name="icon circle"/>
          <p:cNvSpPr/>
          <p:nvPr/>
        </p:nvSpPr>
        <p:spPr>
          <a:xfrm>
            <a:off x="3291840" y="5276088"/>
            <a:ext cx="640080" cy="640080"/>
          </a:xfrm>
          <a:prstGeom prst="ellipse">
            <a:avLst/>
          </a:prstGeom>
          <a:solidFill>
            <a:srgbClr val="F2C230"/>
          </a:solidFill>
          <a:ln w="12700">
            <a:solidFill>
              <a:srgbClr val="F2C230"/>
            </a:solidFill>
            <a:prstDash val="solid"/>
          </a:ln>
        </p:spPr>
      </p:sp>
      <p:pic>
        <p:nvPicPr>
          <p:cNvPr id="17" name="icon" descr="preencoded.png">    </p:cNvPr>
          <p:cNvPicPr>
            <a:picLocks noChangeAspect="1"/>
          </p:cNvPicPr>
          <p:nvPr/>
        </p:nvPicPr>
        <p:blipFill>
          <a:blip r:embed="rId4"/>
          <a:stretch>
            <a:fillRect/>
          </a:stretch>
        </p:blipFill>
        <p:spPr>
          <a:xfrm>
            <a:off x="3432658" y="5416906"/>
            <a:ext cx="358445" cy="358445"/>
          </a:xfrm>
          <a:prstGeom prst="rect">
            <a:avLst/>
          </a:prstGeom>
        </p:spPr>
      </p:pic>
      <p:sp>
        <p:nvSpPr>
          <p:cNvPr id="18" name="Text 13"/>
          <p:cNvSpPr txBox="1"/>
          <p:nvPr/>
        </p:nvSpPr>
        <p:spPr>
          <a:xfrm>
            <a:off x="4114800" y="5120640"/>
            <a:ext cx="3291840" cy="960120"/>
          </a:xfrm>
          <a:prstGeom prst="rect">
            <a:avLst/>
          </a:prstGeom>
          <a:noFill/>
          <a:ln/>
        </p:spPr>
        <p:txBody>
          <a:bodyPr wrap="square" lIns="0" tIns="0" rIns="0" bIns="0" rtlCol="0" anchor="ctr"/>
          <a:lstStyle/>
          <a:p>
            <a:pPr indent="0" marL="0">
              <a:buNone/>
            </a:pPr>
            <a:r>
              <a:rPr lang="en-US" sz="2000" b="1" spc="300" kern="0" dirty="0">
                <a:solidFill>
                  <a:srgbClr val="F2C230"/>
                </a:solidFill>
              </a:rPr>
              <a:t>SMART PLAY</a:t>
            </a:r>
            <a:endParaRPr lang="en-US" sz="2000" dirty="0"/>
          </a:p>
        </p:txBody>
      </p:sp>
      <p:sp>
        <p:nvSpPr>
          <p:cNvPr id="19" name="Text 14"/>
          <p:cNvSpPr txBox="1"/>
          <p:nvPr/>
        </p:nvSpPr>
        <p:spPr>
          <a:xfrm>
            <a:off x="7406640" y="5120640"/>
            <a:ext cx="1554480" cy="960120"/>
          </a:xfrm>
          <a:prstGeom prst="rect">
            <a:avLst/>
          </a:prstGeom>
          <a:noFill/>
          <a:ln/>
        </p:spPr>
        <p:txBody>
          <a:bodyPr wrap="square" lIns="0" tIns="0" rIns="0" bIns="0" rtlCol="0" anchor="ctr"/>
          <a:lstStyle/>
          <a:p>
            <a:pPr algn="r" indent="0" marL="0">
              <a:buNone/>
            </a:pPr>
            <a:r>
              <a:rPr lang="en-US" sz="2000" dirty="0">
                <a:solidFill>
                  <a:schemeClr val="bg1"/>
                </a:solidFill>
              </a:rPr>
              <a:t>Engage</a:t>
            </a:r>
            <a:endParaRPr lang="en-US" sz="20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chemeClr val="accent1"/>
                </a:solidFill>
              </a:rPr>
              <a:t>HANDS-ON EXERCISE   |   10 MIN</a:t>
            </a:r>
            <a:endParaRPr lang="en-US" sz="1100" dirty="0"/>
          </a:p>
        </p:txBody>
      </p:sp>
      <p:sp>
        <p:nvSpPr>
          <p:cNvPr id="3" name="Text 0"/>
          <p:cNvSpPr/>
          <p:nvPr>
            <p:ph idx="100" type="title" hasCustomPrompt="1"/>
          </p:nvPr>
        </p:nvSpPr>
        <p:spPr>
          <a:xfrm>
            <a:off x="640080" y="548640"/>
            <a:ext cx="10908792" cy="1005840"/>
          </a:xfrm>
          <a:prstGeom prst="rect">
            <a:avLst/>
          </a:prstGeom>
          <a:noFill/>
          <a:ln/>
        </p:spPr>
        <p:txBody>
          <a:bodyPr wrap="square" lIns="0" tIns="0" rIns="0" bIns="0" rtlCol="0" anchor="t"/>
          <a:lstStyle/>
          <a:p>
            <a:pPr algn="l" indent="0" marL="0">
              <a:buNone/>
            </a:pPr>
            <a:r>
              <a:rPr lang="en-US" sz="3400" b="1" dirty="0">
                <a:solidFill>
                  <a:schemeClr val="tx1"/>
                </a:solidFill>
              </a:rPr>
              <a:t>Your turn: 10 minutes to explore</a:t>
            </a:r>
            <a:endParaRPr lang="en-US" sz="3400" dirty="0"/>
          </a:p>
        </p:txBody>
      </p:sp>
      <p:sp>
        <p:nvSpPr>
          <p:cNvPr id="4" name="card"/>
          <p:cNvSpPr/>
          <p:nvPr/>
        </p:nvSpPr>
        <p:spPr>
          <a:xfrm>
            <a:off x="640080" y="1783080"/>
            <a:ext cx="3520440" cy="3840480"/>
          </a:xfrm>
          <a:prstGeom prst="roundRect">
            <a:avLst>
              <a:gd name="adj" fmla="val 3117"/>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5" name="role header"/>
          <p:cNvSpPr/>
          <p:nvPr/>
        </p:nvSpPr>
        <p:spPr>
          <a:xfrm>
            <a:off x="868680" y="2011680"/>
            <a:ext cx="3063240" cy="457200"/>
          </a:xfrm>
          <a:prstGeom prst="roundRect">
            <a:avLst>
              <a:gd name="adj" fmla="val 50000"/>
            </a:avLst>
          </a:prstGeom>
          <a:solidFill>
            <a:srgbClr val="D4762A"/>
          </a:solidFill>
          <a:ln w="12700">
            <a:solidFill>
              <a:srgbClr val="D4762A"/>
            </a:solidFill>
            <a:prstDash val="solid"/>
          </a:ln>
        </p:spPr>
      </p:sp>
      <p:sp>
        <p:nvSpPr>
          <p:cNvPr id="6" name="Text 4"/>
          <p:cNvSpPr txBox="1"/>
          <p:nvPr/>
        </p:nvSpPr>
        <p:spPr>
          <a:xfrm>
            <a:off x="868680" y="2011680"/>
            <a:ext cx="3063240" cy="457200"/>
          </a:xfrm>
          <a:prstGeom prst="rect">
            <a:avLst/>
          </a:prstGeom>
          <a:noFill/>
          <a:ln/>
        </p:spPr>
        <p:txBody>
          <a:bodyPr wrap="square" lIns="0" tIns="0" rIns="0" bIns="0" rtlCol="0" anchor="ctr"/>
          <a:lstStyle/>
          <a:p>
            <a:pPr algn="ctr" indent="0" marL="0">
              <a:buNone/>
            </a:pPr>
            <a:r>
              <a:rPr lang="en-US" sz="1600" b="1" dirty="0">
                <a:solidFill>
                  <a:srgbClr val="FFFFFF"/>
                </a:solidFill>
              </a:rPr>
              <a:t>Teacher</a:t>
            </a:r>
            <a:endParaRPr lang="en-US" sz="1600" dirty="0"/>
          </a:p>
        </p:txBody>
      </p:sp>
      <p:sp>
        <p:nvSpPr>
          <p:cNvPr id="7" name="checkbox"/>
          <p:cNvSpPr/>
          <p:nvPr/>
        </p:nvSpPr>
        <p:spPr>
          <a:xfrm>
            <a:off x="914400" y="2743200"/>
            <a:ext cx="237744" cy="237744"/>
          </a:xfrm>
          <a:prstGeom prst="roundRect">
            <a:avLst>
              <a:gd name="adj" fmla="val 19231"/>
            </a:avLst>
          </a:prstGeom>
          <a:solidFill>
            <a:srgbClr val="FFFFFF"/>
          </a:solidFill>
          <a:ln w="19050">
            <a:solidFill>
              <a:srgbClr val="D4762A"/>
            </a:solidFill>
            <a:prstDash val="solid"/>
          </a:ln>
        </p:spPr>
      </p:sp>
      <p:sp>
        <p:nvSpPr>
          <p:cNvPr id="8" name="Text 6"/>
          <p:cNvSpPr txBox="1"/>
          <p:nvPr/>
        </p:nvSpPr>
        <p:spPr>
          <a:xfrm>
            <a:off x="1325880" y="2697480"/>
            <a:ext cx="2651760" cy="347472"/>
          </a:xfrm>
          <a:prstGeom prst="rect">
            <a:avLst/>
          </a:prstGeom>
          <a:noFill/>
          <a:ln/>
        </p:spPr>
        <p:txBody>
          <a:bodyPr wrap="square" lIns="0" tIns="0" rIns="0" bIns="0" rtlCol="0" anchor="ctr"/>
          <a:lstStyle/>
          <a:p>
            <a:pPr indent="0" marL="0">
              <a:buNone/>
            </a:pPr>
            <a:r>
              <a:rPr lang="en-US" sz="1400" dirty="0">
                <a:solidFill>
                  <a:schemeClr val="tx1"/>
                </a:solidFill>
              </a:rPr>
              <a:t>Find your class</a:t>
            </a:r>
            <a:endParaRPr lang="en-US" sz="1400" dirty="0"/>
          </a:p>
        </p:txBody>
      </p:sp>
      <p:sp>
        <p:nvSpPr>
          <p:cNvPr id="9" name="checkbox"/>
          <p:cNvSpPr/>
          <p:nvPr/>
        </p:nvSpPr>
        <p:spPr>
          <a:xfrm>
            <a:off x="914400" y="3218688"/>
            <a:ext cx="237744" cy="237744"/>
          </a:xfrm>
          <a:prstGeom prst="roundRect">
            <a:avLst>
              <a:gd name="adj" fmla="val 19231"/>
            </a:avLst>
          </a:prstGeom>
          <a:solidFill>
            <a:srgbClr val="FFFFFF"/>
          </a:solidFill>
          <a:ln w="19050">
            <a:solidFill>
              <a:srgbClr val="D4762A"/>
            </a:solidFill>
            <a:prstDash val="solid"/>
          </a:ln>
        </p:spPr>
      </p:sp>
      <p:sp>
        <p:nvSpPr>
          <p:cNvPr id="10" name="Text 8"/>
          <p:cNvSpPr txBox="1"/>
          <p:nvPr/>
        </p:nvSpPr>
        <p:spPr>
          <a:xfrm>
            <a:off x="1325880" y="3172968"/>
            <a:ext cx="2651760" cy="347472"/>
          </a:xfrm>
          <a:prstGeom prst="rect">
            <a:avLst/>
          </a:prstGeom>
          <a:noFill/>
          <a:ln/>
        </p:spPr>
        <p:txBody>
          <a:bodyPr wrap="square" lIns="0" tIns="0" rIns="0" bIns="0" rtlCol="0" anchor="ctr"/>
          <a:lstStyle/>
          <a:p>
            <a:pPr indent="0" marL="0">
              <a:buNone/>
            </a:pPr>
            <a:r>
              <a:rPr lang="en-US" sz="1400" dirty="0">
                <a:solidFill>
                  <a:schemeClr val="tx1"/>
                </a:solidFill>
              </a:rPr>
              <a:t>Find or create an assessment</a:t>
            </a:r>
            <a:endParaRPr lang="en-US" sz="1400" dirty="0"/>
          </a:p>
        </p:txBody>
      </p:sp>
      <p:sp>
        <p:nvSpPr>
          <p:cNvPr id="11" name="checkbox"/>
          <p:cNvSpPr/>
          <p:nvPr/>
        </p:nvSpPr>
        <p:spPr>
          <a:xfrm>
            <a:off x="914400" y="3694176"/>
            <a:ext cx="237744" cy="237744"/>
          </a:xfrm>
          <a:prstGeom prst="roundRect">
            <a:avLst>
              <a:gd name="adj" fmla="val 19231"/>
            </a:avLst>
          </a:prstGeom>
          <a:solidFill>
            <a:srgbClr val="FFFFFF"/>
          </a:solidFill>
          <a:ln w="19050">
            <a:solidFill>
              <a:srgbClr val="D4762A"/>
            </a:solidFill>
            <a:prstDash val="solid"/>
          </a:ln>
        </p:spPr>
      </p:sp>
      <p:sp>
        <p:nvSpPr>
          <p:cNvPr id="12" name="Text 10"/>
          <p:cNvSpPr txBox="1"/>
          <p:nvPr/>
        </p:nvSpPr>
        <p:spPr>
          <a:xfrm>
            <a:off x="1325880" y="3648456"/>
            <a:ext cx="2651760" cy="347472"/>
          </a:xfrm>
          <a:prstGeom prst="rect">
            <a:avLst/>
          </a:prstGeom>
          <a:noFill/>
          <a:ln/>
        </p:spPr>
        <p:txBody>
          <a:bodyPr wrap="square" lIns="0" tIns="0" rIns="0" bIns="0" rtlCol="0" anchor="ctr"/>
          <a:lstStyle/>
          <a:p>
            <a:pPr indent="0" marL="0">
              <a:buNone/>
            </a:pPr>
            <a:r>
              <a:rPr lang="en-US" sz="1400" dirty="0">
                <a:solidFill>
                  <a:schemeClr val="tx1"/>
                </a:solidFill>
              </a:rPr>
              <a:t>Find the question bank</a:t>
            </a:r>
            <a:endParaRPr lang="en-US" sz="1400" dirty="0"/>
          </a:p>
        </p:txBody>
      </p:sp>
      <p:sp>
        <p:nvSpPr>
          <p:cNvPr id="13" name="checkbox"/>
          <p:cNvSpPr/>
          <p:nvPr/>
        </p:nvSpPr>
        <p:spPr>
          <a:xfrm>
            <a:off x="914400" y="4169664"/>
            <a:ext cx="237744" cy="237744"/>
          </a:xfrm>
          <a:prstGeom prst="roundRect">
            <a:avLst>
              <a:gd name="adj" fmla="val 19231"/>
            </a:avLst>
          </a:prstGeom>
          <a:solidFill>
            <a:srgbClr val="FFFFFF"/>
          </a:solidFill>
          <a:ln w="19050">
            <a:solidFill>
              <a:srgbClr val="D4762A"/>
            </a:solidFill>
            <a:prstDash val="solid"/>
          </a:ln>
        </p:spPr>
      </p:sp>
      <p:sp>
        <p:nvSpPr>
          <p:cNvPr id="14" name="Text 12"/>
          <p:cNvSpPr txBox="1"/>
          <p:nvPr/>
        </p:nvSpPr>
        <p:spPr>
          <a:xfrm>
            <a:off x="1325880" y="4123944"/>
            <a:ext cx="2651760" cy="347472"/>
          </a:xfrm>
          <a:prstGeom prst="rect">
            <a:avLst/>
          </a:prstGeom>
          <a:noFill/>
          <a:ln/>
        </p:spPr>
        <p:txBody>
          <a:bodyPr wrap="square" lIns="0" tIns="0" rIns="0" bIns="0" rtlCol="0" anchor="ctr"/>
          <a:lstStyle/>
          <a:p>
            <a:pPr indent="0" marL="0">
              <a:buNone/>
            </a:pPr>
            <a:r>
              <a:rPr lang="en-US" sz="1400" dirty="0">
                <a:solidFill>
                  <a:schemeClr val="tx1"/>
                </a:solidFill>
              </a:rPr>
              <a:t>Find lesson planning</a:t>
            </a:r>
            <a:endParaRPr lang="en-US" sz="1400" dirty="0"/>
          </a:p>
        </p:txBody>
      </p:sp>
      <p:sp>
        <p:nvSpPr>
          <p:cNvPr id="15" name="checkbox"/>
          <p:cNvSpPr/>
          <p:nvPr/>
        </p:nvSpPr>
        <p:spPr>
          <a:xfrm>
            <a:off x="914400" y="4645152"/>
            <a:ext cx="237744" cy="237744"/>
          </a:xfrm>
          <a:prstGeom prst="roundRect">
            <a:avLst>
              <a:gd name="adj" fmla="val 19231"/>
            </a:avLst>
          </a:prstGeom>
          <a:solidFill>
            <a:srgbClr val="FFFFFF"/>
          </a:solidFill>
          <a:ln w="19050">
            <a:solidFill>
              <a:srgbClr val="D4762A"/>
            </a:solidFill>
            <a:prstDash val="solid"/>
          </a:ln>
        </p:spPr>
      </p:sp>
      <p:sp>
        <p:nvSpPr>
          <p:cNvPr id="16" name="Text 14"/>
          <p:cNvSpPr txBox="1"/>
          <p:nvPr/>
        </p:nvSpPr>
        <p:spPr>
          <a:xfrm>
            <a:off x="1325880" y="4599432"/>
            <a:ext cx="2651760" cy="347472"/>
          </a:xfrm>
          <a:prstGeom prst="rect">
            <a:avLst/>
          </a:prstGeom>
          <a:noFill/>
          <a:ln/>
        </p:spPr>
        <p:txBody>
          <a:bodyPr wrap="square" lIns="0" tIns="0" rIns="0" bIns="0" rtlCol="0" anchor="ctr"/>
          <a:lstStyle/>
          <a:p>
            <a:pPr indent="0" marL="0">
              <a:buNone/>
            </a:pPr>
            <a:r>
              <a:rPr lang="en-US" sz="1400" dirty="0">
                <a:solidFill>
                  <a:schemeClr val="tx1"/>
                </a:solidFill>
              </a:rPr>
              <a:t>Find student results</a:t>
            </a:r>
            <a:endParaRPr lang="en-US" sz="1400" dirty="0"/>
          </a:p>
        </p:txBody>
      </p:sp>
      <p:sp>
        <p:nvSpPr>
          <p:cNvPr id="17" name="checkbox"/>
          <p:cNvSpPr/>
          <p:nvPr/>
        </p:nvSpPr>
        <p:spPr>
          <a:xfrm>
            <a:off x="914400" y="5120640"/>
            <a:ext cx="237744" cy="237744"/>
          </a:xfrm>
          <a:prstGeom prst="roundRect">
            <a:avLst>
              <a:gd name="adj" fmla="val 19231"/>
            </a:avLst>
          </a:prstGeom>
          <a:solidFill>
            <a:srgbClr val="FFFFFF"/>
          </a:solidFill>
          <a:ln w="19050">
            <a:solidFill>
              <a:srgbClr val="D4762A"/>
            </a:solidFill>
            <a:prstDash val="solid"/>
          </a:ln>
        </p:spPr>
      </p:sp>
      <p:sp>
        <p:nvSpPr>
          <p:cNvPr id="18" name="Text 16"/>
          <p:cNvSpPr txBox="1"/>
          <p:nvPr/>
        </p:nvSpPr>
        <p:spPr>
          <a:xfrm>
            <a:off x="1325880" y="5074920"/>
            <a:ext cx="2651760" cy="347472"/>
          </a:xfrm>
          <a:prstGeom prst="rect">
            <a:avLst/>
          </a:prstGeom>
          <a:noFill/>
          <a:ln/>
        </p:spPr>
        <p:txBody>
          <a:bodyPr wrap="square" lIns="0" tIns="0" rIns="0" bIns="0" rtlCol="0" anchor="ctr"/>
          <a:lstStyle/>
          <a:p>
            <a:pPr indent="0" marL="0">
              <a:buNone/>
            </a:pPr>
            <a:r>
              <a:rPr lang="en-US" sz="1400" dirty="0">
                <a:solidFill>
                  <a:schemeClr val="tx1"/>
                </a:solidFill>
              </a:rPr>
              <a:t>Find progress information</a:t>
            </a:r>
            <a:endParaRPr lang="en-US" sz="1400" dirty="0"/>
          </a:p>
        </p:txBody>
      </p:sp>
      <p:sp>
        <p:nvSpPr>
          <p:cNvPr id="19" name="card"/>
          <p:cNvSpPr/>
          <p:nvPr/>
        </p:nvSpPr>
        <p:spPr>
          <a:xfrm>
            <a:off x="4352544" y="1783080"/>
            <a:ext cx="3520440" cy="3840480"/>
          </a:xfrm>
          <a:prstGeom prst="roundRect">
            <a:avLst>
              <a:gd name="adj" fmla="val 3117"/>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20" name="role header"/>
          <p:cNvSpPr/>
          <p:nvPr/>
        </p:nvSpPr>
        <p:spPr>
          <a:xfrm>
            <a:off x="4581144" y="2011680"/>
            <a:ext cx="3063240" cy="457200"/>
          </a:xfrm>
          <a:prstGeom prst="roundRect">
            <a:avLst>
              <a:gd name="adj" fmla="val 50000"/>
            </a:avLst>
          </a:prstGeom>
          <a:solidFill>
            <a:srgbClr val="1F8A84"/>
          </a:solidFill>
          <a:ln w="12700">
            <a:solidFill>
              <a:srgbClr val="1F8A84"/>
            </a:solidFill>
            <a:prstDash val="solid"/>
          </a:ln>
        </p:spPr>
      </p:sp>
      <p:sp>
        <p:nvSpPr>
          <p:cNvPr id="21" name="Text 19"/>
          <p:cNvSpPr txBox="1"/>
          <p:nvPr/>
        </p:nvSpPr>
        <p:spPr>
          <a:xfrm>
            <a:off x="4581144" y="2011680"/>
            <a:ext cx="3063240" cy="457200"/>
          </a:xfrm>
          <a:prstGeom prst="rect">
            <a:avLst/>
          </a:prstGeom>
          <a:noFill/>
          <a:ln/>
        </p:spPr>
        <p:txBody>
          <a:bodyPr wrap="square" lIns="0" tIns="0" rIns="0" bIns="0" rtlCol="0" anchor="ctr"/>
          <a:lstStyle/>
          <a:p>
            <a:pPr algn="ctr" indent="0" marL="0">
              <a:buNone/>
            </a:pPr>
            <a:r>
              <a:rPr lang="en-US" sz="1600" b="1" dirty="0">
                <a:solidFill>
                  <a:srgbClr val="FFFFFF"/>
                </a:solidFill>
              </a:rPr>
              <a:t>Student</a:t>
            </a:r>
            <a:endParaRPr lang="en-US" sz="1600" dirty="0"/>
          </a:p>
        </p:txBody>
      </p:sp>
      <p:sp>
        <p:nvSpPr>
          <p:cNvPr id="22" name="checkbox"/>
          <p:cNvSpPr/>
          <p:nvPr/>
        </p:nvSpPr>
        <p:spPr>
          <a:xfrm>
            <a:off x="4626864" y="2743200"/>
            <a:ext cx="237744" cy="237744"/>
          </a:xfrm>
          <a:prstGeom prst="roundRect">
            <a:avLst>
              <a:gd name="adj" fmla="val 19231"/>
            </a:avLst>
          </a:prstGeom>
          <a:solidFill>
            <a:srgbClr val="FFFFFF"/>
          </a:solidFill>
          <a:ln w="19050">
            <a:solidFill>
              <a:srgbClr val="1F8A84"/>
            </a:solidFill>
            <a:prstDash val="solid"/>
          </a:ln>
        </p:spPr>
      </p:sp>
      <p:sp>
        <p:nvSpPr>
          <p:cNvPr id="23" name="Text 21"/>
          <p:cNvSpPr txBox="1"/>
          <p:nvPr/>
        </p:nvSpPr>
        <p:spPr>
          <a:xfrm>
            <a:off x="5038344" y="2697480"/>
            <a:ext cx="2651760" cy="347472"/>
          </a:xfrm>
          <a:prstGeom prst="rect">
            <a:avLst/>
          </a:prstGeom>
          <a:noFill/>
          <a:ln/>
        </p:spPr>
        <p:txBody>
          <a:bodyPr wrap="square" lIns="0" tIns="0" rIns="0" bIns="0" rtlCol="0" anchor="ctr"/>
          <a:lstStyle/>
          <a:p>
            <a:pPr indent="0" marL="0">
              <a:buNone/>
            </a:pPr>
            <a:r>
              <a:rPr lang="en-US" sz="1400" dirty="0">
                <a:solidFill>
                  <a:schemeClr val="tx1"/>
                </a:solidFill>
              </a:rPr>
              <a:t>Find your assigned work</a:t>
            </a:r>
            <a:endParaRPr lang="en-US" sz="1400" dirty="0"/>
          </a:p>
        </p:txBody>
      </p:sp>
      <p:sp>
        <p:nvSpPr>
          <p:cNvPr id="24" name="checkbox"/>
          <p:cNvSpPr/>
          <p:nvPr/>
        </p:nvSpPr>
        <p:spPr>
          <a:xfrm>
            <a:off x="4626864" y="3218688"/>
            <a:ext cx="237744" cy="237744"/>
          </a:xfrm>
          <a:prstGeom prst="roundRect">
            <a:avLst>
              <a:gd name="adj" fmla="val 19231"/>
            </a:avLst>
          </a:prstGeom>
          <a:solidFill>
            <a:srgbClr val="FFFFFF"/>
          </a:solidFill>
          <a:ln w="19050">
            <a:solidFill>
              <a:srgbClr val="1F8A84"/>
            </a:solidFill>
            <a:prstDash val="solid"/>
          </a:ln>
        </p:spPr>
      </p:sp>
      <p:sp>
        <p:nvSpPr>
          <p:cNvPr id="25" name="Text 23"/>
          <p:cNvSpPr txBox="1"/>
          <p:nvPr/>
        </p:nvSpPr>
        <p:spPr>
          <a:xfrm>
            <a:off x="5038344" y="3172968"/>
            <a:ext cx="2651760" cy="347472"/>
          </a:xfrm>
          <a:prstGeom prst="rect">
            <a:avLst/>
          </a:prstGeom>
          <a:noFill/>
          <a:ln/>
        </p:spPr>
        <p:txBody>
          <a:bodyPr wrap="square" lIns="0" tIns="0" rIns="0" bIns="0" rtlCol="0" anchor="ctr"/>
          <a:lstStyle/>
          <a:p>
            <a:pPr indent="0" marL="0">
              <a:buNone/>
            </a:pPr>
            <a:r>
              <a:rPr lang="en-US" sz="1400" dirty="0">
                <a:solidFill>
                  <a:schemeClr val="tx1"/>
                </a:solidFill>
              </a:rPr>
              <a:t>Complete an assessment</a:t>
            </a:r>
            <a:endParaRPr lang="en-US" sz="1400" dirty="0"/>
          </a:p>
        </p:txBody>
      </p:sp>
      <p:sp>
        <p:nvSpPr>
          <p:cNvPr id="26" name="checkbox"/>
          <p:cNvSpPr/>
          <p:nvPr/>
        </p:nvSpPr>
        <p:spPr>
          <a:xfrm>
            <a:off x="4626864" y="3694176"/>
            <a:ext cx="237744" cy="237744"/>
          </a:xfrm>
          <a:prstGeom prst="roundRect">
            <a:avLst>
              <a:gd name="adj" fmla="val 19231"/>
            </a:avLst>
          </a:prstGeom>
          <a:solidFill>
            <a:srgbClr val="FFFFFF"/>
          </a:solidFill>
          <a:ln w="19050">
            <a:solidFill>
              <a:srgbClr val="1F8A84"/>
            </a:solidFill>
            <a:prstDash val="solid"/>
          </a:ln>
        </p:spPr>
      </p:sp>
      <p:sp>
        <p:nvSpPr>
          <p:cNvPr id="27" name="Text 25"/>
          <p:cNvSpPr txBox="1"/>
          <p:nvPr/>
        </p:nvSpPr>
        <p:spPr>
          <a:xfrm>
            <a:off x="5038344" y="3648456"/>
            <a:ext cx="2651760" cy="347472"/>
          </a:xfrm>
          <a:prstGeom prst="rect">
            <a:avLst/>
          </a:prstGeom>
          <a:noFill/>
          <a:ln/>
        </p:spPr>
        <p:txBody>
          <a:bodyPr wrap="square" lIns="0" tIns="0" rIns="0" bIns="0" rtlCol="0" anchor="ctr"/>
          <a:lstStyle/>
          <a:p>
            <a:pPr indent="0" marL="0">
              <a:buNone/>
            </a:pPr>
            <a:r>
              <a:rPr lang="en-US" sz="1400" dirty="0">
                <a:solidFill>
                  <a:schemeClr val="tx1"/>
                </a:solidFill>
              </a:rPr>
              <a:t>Submit</a:t>
            </a:r>
            <a:endParaRPr lang="en-US" sz="1400" dirty="0"/>
          </a:p>
        </p:txBody>
      </p:sp>
      <p:sp>
        <p:nvSpPr>
          <p:cNvPr id="28" name="checkbox"/>
          <p:cNvSpPr/>
          <p:nvPr/>
        </p:nvSpPr>
        <p:spPr>
          <a:xfrm>
            <a:off x="4626864" y="4169664"/>
            <a:ext cx="237744" cy="237744"/>
          </a:xfrm>
          <a:prstGeom prst="roundRect">
            <a:avLst>
              <a:gd name="adj" fmla="val 19231"/>
            </a:avLst>
          </a:prstGeom>
          <a:solidFill>
            <a:srgbClr val="FFFFFF"/>
          </a:solidFill>
          <a:ln w="19050">
            <a:solidFill>
              <a:srgbClr val="1F8A84"/>
            </a:solidFill>
            <a:prstDash val="solid"/>
          </a:ln>
        </p:spPr>
      </p:sp>
      <p:sp>
        <p:nvSpPr>
          <p:cNvPr id="29" name="Text 27"/>
          <p:cNvSpPr txBox="1"/>
          <p:nvPr/>
        </p:nvSpPr>
        <p:spPr>
          <a:xfrm>
            <a:off x="5038344" y="4123944"/>
            <a:ext cx="2651760" cy="347472"/>
          </a:xfrm>
          <a:prstGeom prst="rect">
            <a:avLst/>
          </a:prstGeom>
          <a:noFill/>
          <a:ln/>
        </p:spPr>
        <p:txBody>
          <a:bodyPr wrap="square" lIns="0" tIns="0" rIns="0" bIns="0" rtlCol="0" anchor="ctr"/>
          <a:lstStyle/>
          <a:p>
            <a:pPr indent="0" marL="0">
              <a:buNone/>
            </a:pPr>
            <a:r>
              <a:rPr lang="en-US" sz="1400" dirty="0">
                <a:solidFill>
                  <a:schemeClr val="tx1"/>
                </a:solidFill>
              </a:rPr>
              <a:t>Find your progress and results</a:t>
            </a:r>
            <a:endParaRPr lang="en-US" sz="1400" dirty="0"/>
          </a:p>
        </p:txBody>
      </p:sp>
      <p:sp>
        <p:nvSpPr>
          <p:cNvPr id="30" name="card"/>
          <p:cNvSpPr/>
          <p:nvPr/>
        </p:nvSpPr>
        <p:spPr>
          <a:xfrm>
            <a:off x="8065008" y="1783080"/>
            <a:ext cx="3520440" cy="3840480"/>
          </a:xfrm>
          <a:prstGeom prst="roundRect">
            <a:avLst>
              <a:gd name="adj" fmla="val 3117"/>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31" name="role header"/>
          <p:cNvSpPr/>
          <p:nvPr/>
        </p:nvSpPr>
        <p:spPr>
          <a:xfrm>
            <a:off x="8293608" y="2011680"/>
            <a:ext cx="3063240" cy="457200"/>
          </a:xfrm>
          <a:prstGeom prst="roundRect">
            <a:avLst>
              <a:gd name="adj" fmla="val 50000"/>
            </a:avLst>
          </a:prstGeom>
          <a:solidFill>
            <a:srgbClr val="A85A18"/>
          </a:solidFill>
          <a:ln w="12700">
            <a:solidFill>
              <a:srgbClr val="A85A18"/>
            </a:solidFill>
            <a:prstDash val="solid"/>
          </a:ln>
        </p:spPr>
      </p:sp>
      <p:sp>
        <p:nvSpPr>
          <p:cNvPr id="32" name="Text 30"/>
          <p:cNvSpPr txBox="1"/>
          <p:nvPr/>
        </p:nvSpPr>
        <p:spPr>
          <a:xfrm>
            <a:off x="8293608" y="2011680"/>
            <a:ext cx="3063240" cy="457200"/>
          </a:xfrm>
          <a:prstGeom prst="rect">
            <a:avLst/>
          </a:prstGeom>
          <a:noFill/>
          <a:ln/>
        </p:spPr>
        <p:txBody>
          <a:bodyPr wrap="square" lIns="0" tIns="0" rIns="0" bIns="0" rtlCol="0" anchor="ctr"/>
          <a:lstStyle/>
          <a:p>
            <a:pPr algn="ctr" indent="0" marL="0">
              <a:buNone/>
            </a:pPr>
            <a:r>
              <a:rPr lang="en-US" sz="1600" b="1" dirty="0">
                <a:solidFill>
                  <a:srgbClr val="FFFFFF"/>
                </a:solidFill>
              </a:rPr>
              <a:t>HOD or administrator</a:t>
            </a:r>
            <a:endParaRPr lang="en-US" sz="1600" dirty="0"/>
          </a:p>
        </p:txBody>
      </p:sp>
      <p:sp>
        <p:nvSpPr>
          <p:cNvPr id="33" name="checkbox"/>
          <p:cNvSpPr/>
          <p:nvPr/>
        </p:nvSpPr>
        <p:spPr>
          <a:xfrm>
            <a:off x="8339328" y="2743200"/>
            <a:ext cx="237744" cy="237744"/>
          </a:xfrm>
          <a:prstGeom prst="roundRect">
            <a:avLst>
              <a:gd name="adj" fmla="val 19231"/>
            </a:avLst>
          </a:prstGeom>
          <a:solidFill>
            <a:srgbClr val="FFFFFF"/>
          </a:solidFill>
          <a:ln w="19050">
            <a:solidFill>
              <a:srgbClr val="A85A18"/>
            </a:solidFill>
            <a:prstDash val="solid"/>
          </a:ln>
        </p:spPr>
      </p:sp>
      <p:sp>
        <p:nvSpPr>
          <p:cNvPr id="34" name="Text 32"/>
          <p:cNvSpPr txBox="1"/>
          <p:nvPr/>
        </p:nvSpPr>
        <p:spPr>
          <a:xfrm>
            <a:off x="8750808" y="2697480"/>
            <a:ext cx="2651760" cy="347472"/>
          </a:xfrm>
          <a:prstGeom prst="rect">
            <a:avLst/>
          </a:prstGeom>
          <a:noFill/>
          <a:ln/>
        </p:spPr>
        <p:txBody>
          <a:bodyPr wrap="square" lIns="0" tIns="0" rIns="0" bIns="0" rtlCol="0" anchor="ctr"/>
          <a:lstStyle/>
          <a:p>
            <a:pPr indent="0" marL="0">
              <a:buNone/>
            </a:pPr>
            <a:r>
              <a:rPr lang="en-US" sz="1400" dirty="0">
                <a:solidFill>
                  <a:schemeClr val="tx1"/>
                </a:solidFill>
              </a:rPr>
              <a:t>Find department information</a:t>
            </a:r>
            <a:endParaRPr lang="en-US" sz="1400" dirty="0"/>
          </a:p>
        </p:txBody>
      </p:sp>
      <p:sp>
        <p:nvSpPr>
          <p:cNvPr id="35" name="checkbox"/>
          <p:cNvSpPr/>
          <p:nvPr/>
        </p:nvSpPr>
        <p:spPr>
          <a:xfrm>
            <a:off x="8339328" y="3218688"/>
            <a:ext cx="237744" cy="237744"/>
          </a:xfrm>
          <a:prstGeom prst="roundRect">
            <a:avLst>
              <a:gd name="adj" fmla="val 19231"/>
            </a:avLst>
          </a:prstGeom>
          <a:solidFill>
            <a:srgbClr val="FFFFFF"/>
          </a:solidFill>
          <a:ln w="19050">
            <a:solidFill>
              <a:srgbClr val="A85A18"/>
            </a:solidFill>
            <a:prstDash val="solid"/>
          </a:ln>
        </p:spPr>
      </p:sp>
      <p:sp>
        <p:nvSpPr>
          <p:cNvPr id="36" name="Text 34"/>
          <p:cNvSpPr txBox="1"/>
          <p:nvPr/>
        </p:nvSpPr>
        <p:spPr>
          <a:xfrm>
            <a:off x="8750808" y="3172968"/>
            <a:ext cx="2651760" cy="347472"/>
          </a:xfrm>
          <a:prstGeom prst="rect">
            <a:avLst/>
          </a:prstGeom>
          <a:noFill/>
          <a:ln/>
        </p:spPr>
        <p:txBody>
          <a:bodyPr wrap="square" lIns="0" tIns="0" rIns="0" bIns="0" rtlCol="0" anchor="ctr"/>
          <a:lstStyle/>
          <a:p>
            <a:pPr indent="0" marL="0">
              <a:buNone/>
            </a:pPr>
            <a:r>
              <a:rPr lang="en-US" sz="1400" dirty="0">
                <a:solidFill>
                  <a:schemeClr val="tx1"/>
                </a:solidFill>
              </a:rPr>
              <a:t>Find analytics</a:t>
            </a:r>
            <a:endParaRPr lang="en-US" sz="1400" dirty="0"/>
          </a:p>
        </p:txBody>
      </p:sp>
      <p:sp>
        <p:nvSpPr>
          <p:cNvPr id="37" name="checkbox"/>
          <p:cNvSpPr/>
          <p:nvPr/>
        </p:nvSpPr>
        <p:spPr>
          <a:xfrm>
            <a:off x="8339328" y="3694176"/>
            <a:ext cx="237744" cy="237744"/>
          </a:xfrm>
          <a:prstGeom prst="roundRect">
            <a:avLst>
              <a:gd name="adj" fmla="val 19231"/>
            </a:avLst>
          </a:prstGeom>
          <a:solidFill>
            <a:srgbClr val="FFFFFF"/>
          </a:solidFill>
          <a:ln w="19050">
            <a:solidFill>
              <a:srgbClr val="A85A18"/>
            </a:solidFill>
            <a:prstDash val="solid"/>
          </a:ln>
        </p:spPr>
      </p:sp>
      <p:sp>
        <p:nvSpPr>
          <p:cNvPr id="38" name="Text 36"/>
          <p:cNvSpPr txBox="1"/>
          <p:nvPr/>
        </p:nvSpPr>
        <p:spPr>
          <a:xfrm>
            <a:off x="8750808" y="3648456"/>
            <a:ext cx="2651760" cy="347472"/>
          </a:xfrm>
          <a:prstGeom prst="rect">
            <a:avLst/>
          </a:prstGeom>
          <a:noFill/>
          <a:ln/>
        </p:spPr>
        <p:txBody>
          <a:bodyPr wrap="square" lIns="0" tIns="0" rIns="0" bIns="0" rtlCol="0" anchor="ctr"/>
          <a:lstStyle/>
          <a:p>
            <a:pPr indent="0" marL="0">
              <a:buNone/>
            </a:pPr>
            <a:r>
              <a:rPr lang="en-US" sz="1400" dirty="0">
                <a:solidFill>
                  <a:schemeClr val="tx1"/>
                </a:solidFill>
              </a:rPr>
              <a:t>Find attendance</a:t>
            </a:r>
            <a:endParaRPr lang="en-US" sz="1400" dirty="0"/>
          </a:p>
        </p:txBody>
      </p:sp>
      <p:sp>
        <p:nvSpPr>
          <p:cNvPr id="39" name="checkbox"/>
          <p:cNvSpPr/>
          <p:nvPr/>
        </p:nvSpPr>
        <p:spPr>
          <a:xfrm>
            <a:off x="8339328" y="4169664"/>
            <a:ext cx="237744" cy="237744"/>
          </a:xfrm>
          <a:prstGeom prst="roundRect">
            <a:avLst>
              <a:gd name="adj" fmla="val 19231"/>
            </a:avLst>
          </a:prstGeom>
          <a:solidFill>
            <a:srgbClr val="FFFFFF"/>
          </a:solidFill>
          <a:ln w="19050">
            <a:solidFill>
              <a:srgbClr val="A85A18"/>
            </a:solidFill>
            <a:prstDash val="solid"/>
          </a:ln>
        </p:spPr>
      </p:sp>
      <p:sp>
        <p:nvSpPr>
          <p:cNvPr id="40" name="Text 38"/>
          <p:cNvSpPr txBox="1"/>
          <p:nvPr/>
        </p:nvSpPr>
        <p:spPr>
          <a:xfrm>
            <a:off x="8750808" y="4123944"/>
            <a:ext cx="2651760" cy="347472"/>
          </a:xfrm>
          <a:prstGeom prst="rect">
            <a:avLst/>
          </a:prstGeom>
          <a:noFill/>
          <a:ln/>
        </p:spPr>
        <p:txBody>
          <a:bodyPr wrap="square" lIns="0" tIns="0" rIns="0" bIns="0" rtlCol="0" anchor="ctr"/>
          <a:lstStyle/>
          <a:p>
            <a:pPr indent="0" marL="0">
              <a:buNone/>
            </a:pPr>
            <a:r>
              <a:rPr lang="en-US" sz="1400" dirty="0">
                <a:solidFill>
                  <a:schemeClr val="tx1"/>
                </a:solidFill>
              </a:rPr>
              <a:t>Find student and teacher information</a:t>
            </a:r>
            <a:endParaRPr lang="en-US" sz="1400" dirty="0"/>
          </a:p>
        </p:txBody>
      </p:sp>
      <p:sp>
        <p:nvSpPr>
          <p:cNvPr id="41" name="Text 39"/>
          <p:cNvSpPr txBox="1"/>
          <p:nvPr/>
        </p:nvSpPr>
        <p:spPr>
          <a:xfrm>
            <a:off x="640080" y="5760720"/>
            <a:ext cx="10881360" cy="365760"/>
          </a:xfrm>
          <a:prstGeom prst="rect">
            <a:avLst/>
          </a:prstGeom>
          <a:noFill/>
          <a:ln/>
        </p:spPr>
        <p:txBody>
          <a:bodyPr wrap="square" lIns="0" tIns="0" rIns="0" bIns="0" rtlCol="0" anchor="t"/>
          <a:lstStyle/>
          <a:p>
            <a:pPr indent="0" marL="0">
              <a:buNone/>
            </a:pPr>
            <a:r>
              <a:rPr lang="en-US" sz="1500" i="1" dirty="0">
                <a:solidFill>
                  <a:schemeClr val="accent5"/>
                </a:solidFill>
              </a:rPr>
              <a:t>Stuck? Say what you are trying to do. We will guide you rather than take over your screen.</a:t>
            </a:r>
            <a:endParaRPr lang="en-US" sz="15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chemeClr val="accent1"/>
                </a:solidFill>
              </a:rPr>
              <a:t>QUESTIONS FOR THE ROOM</a:t>
            </a:r>
            <a:endParaRPr lang="en-US" sz="1100" dirty="0"/>
          </a:p>
        </p:txBody>
      </p:sp>
      <p:sp>
        <p:nvSpPr>
          <p:cNvPr id="3" name="Text 0"/>
          <p:cNvSpPr/>
          <p:nvPr>
            <p:ph idx="100" type="title" hasCustomPrompt="1"/>
          </p:nvPr>
        </p:nvSpPr>
        <p:spPr>
          <a:xfrm>
            <a:off x="640080" y="548640"/>
            <a:ext cx="10908792" cy="1005840"/>
          </a:xfrm>
          <a:prstGeom prst="rect">
            <a:avLst/>
          </a:prstGeom>
          <a:noFill/>
          <a:ln/>
        </p:spPr>
        <p:txBody>
          <a:bodyPr wrap="square" lIns="0" tIns="0" rIns="0" bIns="0" rtlCol="0" anchor="t"/>
          <a:lstStyle/>
          <a:p>
            <a:pPr algn="l" indent="0" marL="0">
              <a:buNone/>
            </a:pPr>
            <a:r>
              <a:rPr lang="en-US" sz="3400" b="1" dirty="0">
                <a:solidFill>
                  <a:schemeClr val="tx1"/>
                </a:solidFill>
              </a:rPr>
              <a:t>Eight questions to keep the conversation open</a:t>
            </a:r>
            <a:endParaRPr lang="en-US" sz="3400" dirty="0"/>
          </a:p>
        </p:txBody>
      </p:sp>
      <p:sp>
        <p:nvSpPr>
          <p:cNvPr id="4" name="card"/>
          <p:cNvSpPr/>
          <p:nvPr/>
        </p:nvSpPr>
        <p:spPr>
          <a:xfrm>
            <a:off x="640080" y="1783080"/>
            <a:ext cx="5376672" cy="960120"/>
          </a:xfrm>
          <a:prstGeom prst="roundRect">
            <a:avLst>
              <a:gd name="adj" fmla="val 11429"/>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5" name="Text 3"/>
          <p:cNvSpPr txBox="1"/>
          <p:nvPr/>
        </p:nvSpPr>
        <p:spPr>
          <a:xfrm>
            <a:off x="914400" y="1783080"/>
            <a:ext cx="3931920" cy="960120"/>
          </a:xfrm>
          <a:prstGeom prst="rect">
            <a:avLst/>
          </a:prstGeom>
          <a:noFill/>
          <a:ln/>
        </p:spPr>
        <p:txBody>
          <a:bodyPr wrap="square" lIns="0" tIns="0" rIns="0" bIns="0" rtlCol="0" anchor="ctr"/>
          <a:lstStyle/>
          <a:p>
            <a:pPr indent="0" marL="0">
              <a:buNone/>
            </a:pPr>
            <a:r>
              <a:rPr lang="en-US" sz="1400" b="1" dirty="0">
                <a:solidFill>
                  <a:schemeClr val="tx1"/>
                </a:solidFill>
              </a:rPr>
              <a:t>What currently takes the most time when preparing an examination?</a:t>
            </a:r>
            <a:endParaRPr lang="en-US" sz="1400" dirty="0"/>
          </a:p>
        </p:txBody>
      </p:sp>
      <p:sp>
        <p:nvSpPr>
          <p:cNvPr id="6" name="chip"/>
          <p:cNvSpPr/>
          <p:nvPr/>
        </p:nvSpPr>
        <p:spPr>
          <a:xfrm>
            <a:off x="4983480" y="2103120"/>
            <a:ext cx="868680" cy="310896"/>
          </a:xfrm>
          <a:prstGeom prst="roundRect">
            <a:avLst>
              <a:gd name="adj" fmla="val 50000"/>
            </a:avLst>
          </a:prstGeom>
          <a:solidFill>
            <a:srgbClr val="FAE8D4"/>
          </a:solidFill>
          <a:ln w="12700">
            <a:solidFill>
              <a:srgbClr val="FAE8D4"/>
            </a:solidFill>
            <a:prstDash val="solid"/>
          </a:ln>
        </p:spPr>
      </p:sp>
      <p:sp>
        <p:nvSpPr>
          <p:cNvPr id="7" name="Text 5"/>
          <p:cNvSpPr txBox="1"/>
          <p:nvPr/>
        </p:nvSpPr>
        <p:spPr>
          <a:xfrm>
            <a:off x="4983480" y="2103120"/>
            <a:ext cx="868680" cy="310896"/>
          </a:xfrm>
          <a:prstGeom prst="rect">
            <a:avLst/>
          </a:prstGeom>
          <a:noFill/>
          <a:ln/>
        </p:spPr>
        <p:txBody>
          <a:bodyPr wrap="square" lIns="0" tIns="0" rIns="0" bIns="0" rtlCol="0" anchor="ctr"/>
          <a:lstStyle/>
          <a:p>
            <a:pPr algn="ctr" indent="0" marL="0">
              <a:buNone/>
            </a:pPr>
            <a:r>
              <a:rPr lang="en-US" sz="1100" b="1" dirty="0">
                <a:solidFill>
                  <a:srgbClr val="A85A18"/>
                </a:solidFill>
              </a:rPr>
              <a:t>Phase 2</a:t>
            </a:r>
            <a:endParaRPr lang="en-US" sz="1100" dirty="0"/>
          </a:p>
        </p:txBody>
      </p:sp>
      <p:sp>
        <p:nvSpPr>
          <p:cNvPr id="8" name="card"/>
          <p:cNvSpPr/>
          <p:nvPr/>
        </p:nvSpPr>
        <p:spPr>
          <a:xfrm>
            <a:off x="6172200" y="1783080"/>
            <a:ext cx="5376672" cy="960120"/>
          </a:xfrm>
          <a:prstGeom prst="roundRect">
            <a:avLst>
              <a:gd name="adj" fmla="val 11429"/>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9" name="Text 7"/>
          <p:cNvSpPr txBox="1"/>
          <p:nvPr/>
        </p:nvSpPr>
        <p:spPr>
          <a:xfrm>
            <a:off x="6446520" y="1783080"/>
            <a:ext cx="3931920" cy="960120"/>
          </a:xfrm>
          <a:prstGeom prst="rect">
            <a:avLst/>
          </a:prstGeom>
          <a:noFill/>
          <a:ln/>
        </p:spPr>
        <p:txBody>
          <a:bodyPr wrap="square" lIns="0" tIns="0" rIns="0" bIns="0" rtlCol="0" anchor="ctr"/>
          <a:lstStyle/>
          <a:p>
            <a:pPr indent="0" marL="0">
              <a:buNone/>
            </a:pPr>
            <a:r>
              <a:rPr lang="en-US" sz="1400" b="1" dirty="0">
                <a:solidFill>
                  <a:schemeClr val="tx1"/>
                </a:solidFill>
              </a:rPr>
              <a:t>How much printing does assessment require?</a:t>
            </a:r>
            <a:endParaRPr lang="en-US" sz="1400" dirty="0"/>
          </a:p>
        </p:txBody>
      </p:sp>
      <p:sp>
        <p:nvSpPr>
          <p:cNvPr id="10" name="chip"/>
          <p:cNvSpPr/>
          <p:nvPr/>
        </p:nvSpPr>
        <p:spPr>
          <a:xfrm>
            <a:off x="10515600" y="2103120"/>
            <a:ext cx="868680" cy="310896"/>
          </a:xfrm>
          <a:prstGeom prst="roundRect">
            <a:avLst>
              <a:gd name="adj" fmla="val 50000"/>
            </a:avLst>
          </a:prstGeom>
          <a:solidFill>
            <a:srgbClr val="FAE8D4"/>
          </a:solidFill>
          <a:ln w="12700">
            <a:solidFill>
              <a:srgbClr val="FAE8D4"/>
            </a:solidFill>
            <a:prstDash val="solid"/>
          </a:ln>
        </p:spPr>
      </p:sp>
      <p:sp>
        <p:nvSpPr>
          <p:cNvPr id="11" name="Text 9"/>
          <p:cNvSpPr txBox="1"/>
          <p:nvPr/>
        </p:nvSpPr>
        <p:spPr>
          <a:xfrm>
            <a:off x="10515600" y="2103120"/>
            <a:ext cx="868680" cy="310896"/>
          </a:xfrm>
          <a:prstGeom prst="rect">
            <a:avLst/>
          </a:prstGeom>
          <a:noFill/>
          <a:ln/>
        </p:spPr>
        <p:txBody>
          <a:bodyPr wrap="square" lIns="0" tIns="0" rIns="0" bIns="0" rtlCol="0" anchor="ctr"/>
          <a:lstStyle/>
          <a:p>
            <a:pPr algn="ctr" indent="0" marL="0">
              <a:buNone/>
            </a:pPr>
            <a:r>
              <a:rPr lang="en-US" sz="1100" b="1" dirty="0">
                <a:solidFill>
                  <a:srgbClr val="A85A18"/>
                </a:solidFill>
              </a:rPr>
              <a:t>Phase 2</a:t>
            </a:r>
            <a:endParaRPr lang="en-US" sz="1100" dirty="0"/>
          </a:p>
        </p:txBody>
      </p:sp>
      <p:sp>
        <p:nvSpPr>
          <p:cNvPr id="12" name="card"/>
          <p:cNvSpPr/>
          <p:nvPr/>
        </p:nvSpPr>
        <p:spPr>
          <a:xfrm>
            <a:off x="640080" y="2880360"/>
            <a:ext cx="5376672" cy="960120"/>
          </a:xfrm>
          <a:prstGeom prst="roundRect">
            <a:avLst>
              <a:gd name="adj" fmla="val 11429"/>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13" name="Text 11"/>
          <p:cNvSpPr txBox="1"/>
          <p:nvPr/>
        </p:nvSpPr>
        <p:spPr>
          <a:xfrm>
            <a:off x="914400" y="2880360"/>
            <a:ext cx="3931920" cy="960120"/>
          </a:xfrm>
          <a:prstGeom prst="rect">
            <a:avLst/>
          </a:prstGeom>
          <a:noFill/>
          <a:ln/>
        </p:spPr>
        <p:txBody>
          <a:bodyPr wrap="square" lIns="0" tIns="0" rIns="0" bIns="0" rtlCol="0" anchor="ctr"/>
          <a:lstStyle/>
          <a:p>
            <a:pPr indent="0" marL="0">
              <a:buNone/>
            </a:pPr>
            <a:r>
              <a:rPr lang="en-US" sz="1400" b="1" dirty="0">
                <a:solidFill>
                  <a:schemeClr val="tx1"/>
                </a:solidFill>
              </a:rPr>
              <a:t>How long does it normally take before teachers can analyze results?</a:t>
            </a:r>
            <a:endParaRPr lang="en-US" sz="1400" dirty="0"/>
          </a:p>
        </p:txBody>
      </p:sp>
      <p:sp>
        <p:nvSpPr>
          <p:cNvPr id="14" name="chip"/>
          <p:cNvSpPr/>
          <p:nvPr/>
        </p:nvSpPr>
        <p:spPr>
          <a:xfrm>
            <a:off x="4983480" y="3200400"/>
            <a:ext cx="868680" cy="310896"/>
          </a:xfrm>
          <a:prstGeom prst="roundRect">
            <a:avLst>
              <a:gd name="adj" fmla="val 50000"/>
            </a:avLst>
          </a:prstGeom>
          <a:solidFill>
            <a:srgbClr val="FAE8D4"/>
          </a:solidFill>
          <a:ln w="12700">
            <a:solidFill>
              <a:srgbClr val="FAE8D4"/>
            </a:solidFill>
            <a:prstDash val="solid"/>
          </a:ln>
        </p:spPr>
      </p:sp>
      <p:sp>
        <p:nvSpPr>
          <p:cNvPr id="15" name="Text 13"/>
          <p:cNvSpPr txBox="1"/>
          <p:nvPr/>
        </p:nvSpPr>
        <p:spPr>
          <a:xfrm>
            <a:off x="4983480" y="3200400"/>
            <a:ext cx="868680" cy="310896"/>
          </a:xfrm>
          <a:prstGeom prst="rect">
            <a:avLst/>
          </a:prstGeom>
          <a:noFill/>
          <a:ln/>
        </p:spPr>
        <p:txBody>
          <a:bodyPr wrap="square" lIns="0" tIns="0" rIns="0" bIns="0" rtlCol="0" anchor="ctr"/>
          <a:lstStyle/>
          <a:p>
            <a:pPr algn="ctr" indent="0" marL="0">
              <a:buNone/>
            </a:pPr>
            <a:r>
              <a:rPr lang="en-US" sz="1100" b="1" dirty="0">
                <a:solidFill>
                  <a:srgbClr val="A85A18"/>
                </a:solidFill>
              </a:rPr>
              <a:t>Phase 4</a:t>
            </a:r>
            <a:endParaRPr lang="en-US" sz="1100" dirty="0"/>
          </a:p>
        </p:txBody>
      </p:sp>
      <p:sp>
        <p:nvSpPr>
          <p:cNvPr id="16" name="card"/>
          <p:cNvSpPr/>
          <p:nvPr/>
        </p:nvSpPr>
        <p:spPr>
          <a:xfrm>
            <a:off x="6172200" y="2880360"/>
            <a:ext cx="5376672" cy="960120"/>
          </a:xfrm>
          <a:prstGeom prst="roundRect">
            <a:avLst>
              <a:gd name="adj" fmla="val 11429"/>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17" name="Text 15"/>
          <p:cNvSpPr txBox="1"/>
          <p:nvPr/>
        </p:nvSpPr>
        <p:spPr>
          <a:xfrm>
            <a:off x="6446520" y="2880360"/>
            <a:ext cx="3931920" cy="960120"/>
          </a:xfrm>
          <a:prstGeom prst="rect">
            <a:avLst/>
          </a:prstGeom>
          <a:noFill/>
          <a:ln/>
        </p:spPr>
        <p:txBody>
          <a:bodyPr wrap="square" lIns="0" tIns="0" rIns="0" bIns="0" rtlCol="0" anchor="ctr"/>
          <a:lstStyle/>
          <a:p>
            <a:pPr indent="0" marL="0">
              <a:buNone/>
            </a:pPr>
            <a:r>
              <a:rPr lang="en-US" sz="1400" b="1" dirty="0">
                <a:solidFill>
                  <a:schemeClr val="tx1"/>
                </a:solidFill>
              </a:rPr>
              <a:t>What happens when a student misses an important lesson?</a:t>
            </a:r>
            <a:endParaRPr lang="en-US" sz="1400" dirty="0"/>
          </a:p>
        </p:txBody>
      </p:sp>
      <p:sp>
        <p:nvSpPr>
          <p:cNvPr id="18" name="chip"/>
          <p:cNvSpPr/>
          <p:nvPr/>
        </p:nvSpPr>
        <p:spPr>
          <a:xfrm>
            <a:off x="10515600" y="3200400"/>
            <a:ext cx="868680" cy="310896"/>
          </a:xfrm>
          <a:prstGeom prst="roundRect">
            <a:avLst>
              <a:gd name="adj" fmla="val 50000"/>
            </a:avLst>
          </a:prstGeom>
          <a:solidFill>
            <a:srgbClr val="FAE8D4"/>
          </a:solidFill>
          <a:ln w="12700">
            <a:solidFill>
              <a:srgbClr val="FAE8D4"/>
            </a:solidFill>
            <a:prstDash val="solid"/>
          </a:ln>
        </p:spPr>
      </p:sp>
      <p:sp>
        <p:nvSpPr>
          <p:cNvPr id="19" name="Text 17"/>
          <p:cNvSpPr txBox="1"/>
          <p:nvPr/>
        </p:nvSpPr>
        <p:spPr>
          <a:xfrm>
            <a:off x="10515600" y="3200400"/>
            <a:ext cx="868680" cy="310896"/>
          </a:xfrm>
          <a:prstGeom prst="rect">
            <a:avLst/>
          </a:prstGeom>
          <a:noFill/>
          <a:ln/>
        </p:spPr>
        <p:txBody>
          <a:bodyPr wrap="square" lIns="0" tIns="0" rIns="0" bIns="0" rtlCol="0" anchor="ctr"/>
          <a:lstStyle/>
          <a:p>
            <a:pPr algn="ctr" indent="0" marL="0">
              <a:buNone/>
            </a:pPr>
            <a:r>
              <a:rPr lang="en-US" sz="1100" b="1" dirty="0">
                <a:solidFill>
                  <a:srgbClr val="A85A18"/>
                </a:solidFill>
              </a:rPr>
              <a:t>Phase 5</a:t>
            </a:r>
            <a:endParaRPr lang="en-US" sz="1100" dirty="0"/>
          </a:p>
        </p:txBody>
      </p:sp>
      <p:sp>
        <p:nvSpPr>
          <p:cNvPr id="20" name="card"/>
          <p:cNvSpPr/>
          <p:nvPr/>
        </p:nvSpPr>
        <p:spPr>
          <a:xfrm>
            <a:off x="640080" y="3977640"/>
            <a:ext cx="5376672" cy="960120"/>
          </a:xfrm>
          <a:prstGeom prst="roundRect">
            <a:avLst>
              <a:gd name="adj" fmla="val 11429"/>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21" name="Text 19"/>
          <p:cNvSpPr txBox="1"/>
          <p:nvPr/>
        </p:nvSpPr>
        <p:spPr>
          <a:xfrm>
            <a:off x="914400" y="3977640"/>
            <a:ext cx="3931920" cy="960120"/>
          </a:xfrm>
          <a:prstGeom prst="rect">
            <a:avLst/>
          </a:prstGeom>
          <a:noFill/>
          <a:ln/>
        </p:spPr>
        <p:txBody>
          <a:bodyPr wrap="square" lIns="0" tIns="0" rIns="0" bIns="0" rtlCol="0" anchor="ctr"/>
          <a:lstStyle/>
          <a:p>
            <a:pPr indent="0" marL="0">
              <a:buNone/>
            </a:pPr>
            <a:r>
              <a:rPr lang="en-US" sz="1400" b="1" dirty="0">
                <a:solidFill>
                  <a:schemeClr val="tx1"/>
                </a:solidFill>
              </a:rPr>
              <a:t>How do HODs currently identify learning gaps across classes?</a:t>
            </a:r>
            <a:endParaRPr lang="en-US" sz="1400" dirty="0"/>
          </a:p>
        </p:txBody>
      </p:sp>
      <p:sp>
        <p:nvSpPr>
          <p:cNvPr id="22" name="chip"/>
          <p:cNvSpPr/>
          <p:nvPr/>
        </p:nvSpPr>
        <p:spPr>
          <a:xfrm>
            <a:off x="4983480" y="4297680"/>
            <a:ext cx="868680" cy="310896"/>
          </a:xfrm>
          <a:prstGeom prst="roundRect">
            <a:avLst>
              <a:gd name="adj" fmla="val 50000"/>
            </a:avLst>
          </a:prstGeom>
          <a:solidFill>
            <a:srgbClr val="FAE8D4"/>
          </a:solidFill>
          <a:ln w="12700">
            <a:solidFill>
              <a:srgbClr val="FAE8D4"/>
            </a:solidFill>
            <a:prstDash val="solid"/>
          </a:ln>
        </p:spPr>
      </p:sp>
      <p:sp>
        <p:nvSpPr>
          <p:cNvPr id="23" name="Text 21"/>
          <p:cNvSpPr txBox="1"/>
          <p:nvPr/>
        </p:nvSpPr>
        <p:spPr>
          <a:xfrm>
            <a:off x="4983480" y="4297680"/>
            <a:ext cx="868680" cy="310896"/>
          </a:xfrm>
          <a:prstGeom prst="rect">
            <a:avLst/>
          </a:prstGeom>
          <a:noFill/>
          <a:ln/>
        </p:spPr>
        <p:txBody>
          <a:bodyPr wrap="square" lIns="0" tIns="0" rIns="0" bIns="0" rtlCol="0" anchor="ctr"/>
          <a:lstStyle/>
          <a:p>
            <a:pPr algn="ctr" indent="0" marL="0">
              <a:buNone/>
            </a:pPr>
            <a:r>
              <a:rPr lang="en-US" sz="1100" b="1" dirty="0">
                <a:solidFill>
                  <a:srgbClr val="A85A18"/>
                </a:solidFill>
              </a:rPr>
              <a:t>Phase 7</a:t>
            </a:r>
            <a:endParaRPr lang="en-US" sz="1100" dirty="0"/>
          </a:p>
        </p:txBody>
      </p:sp>
      <p:sp>
        <p:nvSpPr>
          <p:cNvPr id="24" name="card"/>
          <p:cNvSpPr/>
          <p:nvPr/>
        </p:nvSpPr>
        <p:spPr>
          <a:xfrm>
            <a:off x="6172200" y="3977640"/>
            <a:ext cx="5376672" cy="960120"/>
          </a:xfrm>
          <a:prstGeom prst="roundRect">
            <a:avLst>
              <a:gd name="adj" fmla="val 11429"/>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25" name="Text 23"/>
          <p:cNvSpPr txBox="1"/>
          <p:nvPr/>
        </p:nvSpPr>
        <p:spPr>
          <a:xfrm>
            <a:off x="6446520" y="3977640"/>
            <a:ext cx="3931920" cy="960120"/>
          </a:xfrm>
          <a:prstGeom prst="rect">
            <a:avLst/>
          </a:prstGeom>
          <a:noFill/>
          <a:ln/>
        </p:spPr>
        <p:txBody>
          <a:bodyPr wrap="square" lIns="0" tIns="0" rIns="0" bIns="0" rtlCol="0" anchor="ctr"/>
          <a:lstStyle/>
          <a:p>
            <a:pPr indent="0" marL="0">
              <a:buNone/>
            </a:pPr>
            <a:r>
              <a:rPr lang="en-US" sz="1400" b="1" dirty="0">
                <a:solidFill>
                  <a:schemeClr val="tx1"/>
                </a:solidFill>
              </a:rPr>
              <a:t>What information would leadership like to see that is difficult to get today?</a:t>
            </a:r>
            <a:endParaRPr lang="en-US" sz="1400" dirty="0"/>
          </a:p>
        </p:txBody>
      </p:sp>
      <p:sp>
        <p:nvSpPr>
          <p:cNvPr id="26" name="chip"/>
          <p:cNvSpPr/>
          <p:nvPr/>
        </p:nvSpPr>
        <p:spPr>
          <a:xfrm>
            <a:off x="10515600" y="4297680"/>
            <a:ext cx="868680" cy="310896"/>
          </a:xfrm>
          <a:prstGeom prst="roundRect">
            <a:avLst>
              <a:gd name="adj" fmla="val 50000"/>
            </a:avLst>
          </a:prstGeom>
          <a:solidFill>
            <a:srgbClr val="FAE8D4"/>
          </a:solidFill>
          <a:ln w="12700">
            <a:solidFill>
              <a:srgbClr val="FAE8D4"/>
            </a:solidFill>
            <a:prstDash val="solid"/>
          </a:ln>
        </p:spPr>
      </p:sp>
      <p:sp>
        <p:nvSpPr>
          <p:cNvPr id="27" name="Text 25"/>
          <p:cNvSpPr txBox="1"/>
          <p:nvPr/>
        </p:nvSpPr>
        <p:spPr>
          <a:xfrm>
            <a:off x="10515600" y="4297680"/>
            <a:ext cx="868680" cy="310896"/>
          </a:xfrm>
          <a:prstGeom prst="rect">
            <a:avLst/>
          </a:prstGeom>
          <a:noFill/>
          <a:ln/>
        </p:spPr>
        <p:txBody>
          <a:bodyPr wrap="square" lIns="0" tIns="0" rIns="0" bIns="0" rtlCol="0" anchor="ctr"/>
          <a:lstStyle/>
          <a:p>
            <a:pPr algn="ctr" indent="0" marL="0">
              <a:buNone/>
            </a:pPr>
            <a:r>
              <a:rPr lang="en-US" sz="1100" b="1" dirty="0">
                <a:solidFill>
                  <a:srgbClr val="A85A18"/>
                </a:solidFill>
              </a:rPr>
              <a:t>Phase 7</a:t>
            </a:r>
            <a:endParaRPr lang="en-US" sz="1100" dirty="0"/>
          </a:p>
        </p:txBody>
      </p:sp>
      <p:sp>
        <p:nvSpPr>
          <p:cNvPr id="28" name="card"/>
          <p:cNvSpPr/>
          <p:nvPr/>
        </p:nvSpPr>
        <p:spPr>
          <a:xfrm>
            <a:off x="640080" y="5074920"/>
            <a:ext cx="5376672" cy="960120"/>
          </a:xfrm>
          <a:prstGeom prst="roundRect">
            <a:avLst>
              <a:gd name="adj" fmla="val 11429"/>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29" name="Text 27"/>
          <p:cNvSpPr txBox="1"/>
          <p:nvPr/>
        </p:nvSpPr>
        <p:spPr>
          <a:xfrm>
            <a:off x="914400" y="5074920"/>
            <a:ext cx="3931920" cy="960120"/>
          </a:xfrm>
          <a:prstGeom prst="rect">
            <a:avLst/>
          </a:prstGeom>
          <a:noFill/>
          <a:ln/>
        </p:spPr>
        <p:txBody>
          <a:bodyPr wrap="square" lIns="0" tIns="0" rIns="0" bIns="0" rtlCol="0" anchor="ctr"/>
          <a:lstStyle/>
          <a:p>
            <a:pPr indent="0" marL="0">
              <a:buNone/>
            </a:pPr>
            <a:r>
              <a:rPr lang="en-US" sz="1400" b="1" dirty="0">
                <a:solidFill>
                  <a:schemeClr val="tx1"/>
                </a:solidFill>
              </a:rPr>
              <a:t>Which part of this workflow would save teachers the most time?</a:t>
            </a:r>
            <a:endParaRPr lang="en-US" sz="1400" dirty="0"/>
          </a:p>
        </p:txBody>
      </p:sp>
      <p:sp>
        <p:nvSpPr>
          <p:cNvPr id="30" name="chip"/>
          <p:cNvSpPr/>
          <p:nvPr/>
        </p:nvSpPr>
        <p:spPr>
          <a:xfrm>
            <a:off x="4983480" y="5394960"/>
            <a:ext cx="868680" cy="310896"/>
          </a:xfrm>
          <a:prstGeom prst="roundRect">
            <a:avLst>
              <a:gd name="adj" fmla="val 50000"/>
            </a:avLst>
          </a:prstGeom>
          <a:solidFill>
            <a:srgbClr val="FAE8D4"/>
          </a:solidFill>
          <a:ln w="12700">
            <a:solidFill>
              <a:srgbClr val="FAE8D4"/>
            </a:solidFill>
            <a:prstDash val="solid"/>
          </a:ln>
        </p:spPr>
      </p:sp>
      <p:sp>
        <p:nvSpPr>
          <p:cNvPr id="31" name="Text 29"/>
          <p:cNvSpPr txBox="1"/>
          <p:nvPr/>
        </p:nvSpPr>
        <p:spPr>
          <a:xfrm>
            <a:off x="4983480" y="5394960"/>
            <a:ext cx="868680" cy="310896"/>
          </a:xfrm>
          <a:prstGeom prst="rect">
            <a:avLst/>
          </a:prstGeom>
          <a:noFill/>
          <a:ln/>
        </p:spPr>
        <p:txBody>
          <a:bodyPr wrap="square" lIns="0" tIns="0" rIns="0" bIns="0" rtlCol="0" anchor="ctr"/>
          <a:lstStyle/>
          <a:p>
            <a:pPr algn="ctr" indent="0" marL="0">
              <a:buNone/>
            </a:pPr>
            <a:r>
              <a:rPr lang="en-US" sz="1100" b="1" dirty="0">
                <a:solidFill>
                  <a:srgbClr val="A85A18"/>
                </a:solidFill>
              </a:rPr>
              <a:t>Any time</a:t>
            </a:r>
            <a:endParaRPr lang="en-US" sz="1100" dirty="0"/>
          </a:p>
        </p:txBody>
      </p:sp>
      <p:sp>
        <p:nvSpPr>
          <p:cNvPr id="32" name="card"/>
          <p:cNvSpPr/>
          <p:nvPr/>
        </p:nvSpPr>
        <p:spPr>
          <a:xfrm>
            <a:off x="6172200" y="5074920"/>
            <a:ext cx="5376672" cy="960120"/>
          </a:xfrm>
          <a:prstGeom prst="roundRect">
            <a:avLst>
              <a:gd name="adj" fmla="val 11429"/>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33" name="Text 31"/>
          <p:cNvSpPr txBox="1"/>
          <p:nvPr/>
        </p:nvSpPr>
        <p:spPr>
          <a:xfrm>
            <a:off x="6446520" y="5074920"/>
            <a:ext cx="3931920" cy="960120"/>
          </a:xfrm>
          <a:prstGeom prst="rect">
            <a:avLst/>
          </a:prstGeom>
          <a:noFill/>
          <a:ln/>
        </p:spPr>
        <p:txBody>
          <a:bodyPr wrap="square" lIns="0" tIns="0" rIns="0" bIns="0" rtlCol="0" anchor="ctr"/>
          <a:lstStyle/>
          <a:p>
            <a:pPr indent="0" marL="0">
              <a:buNone/>
            </a:pPr>
            <a:r>
              <a:rPr lang="en-US" sz="1400" b="1" dirty="0">
                <a:solidFill>
                  <a:schemeClr val="tx1"/>
                </a:solidFill>
              </a:rPr>
              <a:t>Which feature would you want your department to use first?</a:t>
            </a:r>
            <a:endParaRPr lang="en-US" sz="1400" dirty="0"/>
          </a:p>
        </p:txBody>
      </p:sp>
      <p:sp>
        <p:nvSpPr>
          <p:cNvPr id="34" name="chip"/>
          <p:cNvSpPr/>
          <p:nvPr/>
        </p:nvSpPr>
        <p:spPr>
          <a:xfrm>
            <a:off x="10515600" y="5394960"/>
            <a:ext cx="868680" cy="310896"/>
          </a:xfrm>
          <a:prstGeom prst="roundRect">
            <a:avLst>
              <a:gd name="adj" fmla="val 50000"/>
            </a:avLst>
          </a:prstGeom>
          <a:solidFill>
            <a:srgbClr val="FAE8D4"/>
          </a:solidFill>
          <a:ln w="12700">
            <a:solidFill>
              <a:srgbClr val="FAE8D4"/>
            </a:solidFill>
            <a:prstDash val="solid"/>
          </a:ln>
        </p:spPr>
      </p:sp>
      <p:sp>
        <p:nvSpPr>
          <p:cNvPr id="35" name="Text 33"/>
          <p:cNvSpPr txBox="1"/>
          <p:nvPr/>
        </p:nvSpPr>
        <p:spPr>
          <a:xfrm>
            <a:off x="10515600" y="5394960"/>
            <a:ext cx="868680" cy="310896"/>
          </a:xfrm>
          <a:prstGeom prst="rect">
            <a:avLst/>
          </a:prstGeom>
          <a:noFill/>
          <a:ln/>
        </p:spPr>
        <p:txBody>
          <a:bodyPr wrap="square" lIns="0" tIns="0" rIns="0" bIns="0" rtlCol="0" anchor="ctr"/>
          <a:lstStyle/>
          <a:p>
            <a:pPr algn="ctr" indent="0" marL="0">
              <a:buNone/>
            </a:pPr>
            <a:r>
              <a:rPr lang="en-US" sz="1100" b="1" dirty="0">
                <a:solidFill>
                  <a:srgbClr val="A85A18"/>
                </a:solidFill>
              </a:rPr>
              <a:t>Any time</a:t>
            </a:r>
            <a:endParaRPr lang="en-US" sz="11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640080" y="256032"/>
            <a:ext cx="8229600" cy="228600"/>
          </a:xfrm>
          <a:prstGeom prst="rect">
            <a:avLst/>
          </a:prstGeom>
          <a:noFill/>
          <a:ln/>
        </p:spPr>
        <p:txBody>
          <a:bodyPr wrap="square" lIns="0" tIns="0" rIns="0" bIns="0" rtlCol="0" anchor="t"/>
          <a:lstStyle/>
          <a:p>
            <a:pPr indent="0" marL="0">
              <a:buNone/>
            </a:pPr>
            <a:r>
              <a:rPr lang="en-US" sz="1100" b="1" spc="400" kern="0" dirty="0">
                <a:solidFill>
                  <a:schemeClr val="accent1"/>
                </a:solidFill>
              </a:rPr>
              <a:t>FINAL DISCUSSION</a:t>
            </a:r>
            <a:endParaRPr lang="en-US" sz="1100" dirty="0"/>
          </a:p>
        </p:txBody>
      </p:sp>
      <p:sp>
        <p:nvSpPr>
          <p:cNvPr id="3" name="Text 0"/>
          <p:cNvSpPr/>
          <p:nvPr>
            <p:ph idx="100" type="title" hasCustomPrompt="1"/>
          </p:nvPr>
        </p:nvSpPr>
        <p:spPr>
          <a:xfrm>
            <a:off x="640080" y="548640"/>
            <a:ext cx="10908792" cy="1005840"/>
          </a:xfrm>
          <a:prstGeom prst="rect">
            <a:avLst/>
          </a:prstGeom>
          <a:noFill/>
          <a:ln/>
        </p:spPr>
        <p:txBody>
          <a:bodyPr wrap="square" lIns="0" tIns="0" rIns="0" bIns="0" rtlCol="0" anchor="t"/>
          <a:lstStyle/>
          <a:p>
            <a:pPr algn="l" indent="0" marL="0">
              <a:buNone/>
            </a:pPr>
            <a:r>
              <a:rPr lang="en-US" sz="3400" b="1" dirty="0">
                <a:solidFill>
                  <a:schemeClr val="tx1"/>
                </a:solidFill>
              </a:rPr>
              <a:t>What would need to be true for Manchester High School to adopt this?</a:t>
            </a:r>
            <a:endParaRPr lang="en-US" sz="3400" dirty="0"/>
          </a:p>
        </p:txBody>
      </p:sp>
      <p:sp>
        <p:nvSpPr>
          <p:cNvPr id="4" name="card"/>
          <p:cNvSpPr/>
          <p:nvPr/>
        </p:nvSpPr>
        <p:spPr>
          <a:xfrm>
            <a:off x="640080" y="1874520"/>
            <a:ext cx="3520440" cy="1920240"/>
          </a:xfrm>
          <a:prstGeom prst="roundRect">
            <a:avLst>
              <a:gd name="adj" fmla="val 5714"/>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5" name="icon circle"/>
          <p:cNvSpPr/>
          <p:nvPr/>
        </p:nvSpPr>
        <p:spPr>
          <a:xfrm>
            <a:off x="914400" y="2130552"/>
            <a:ext cx="594360" cy="594360"/>
          </a:xfrm>
          <a:prstGeom prst="ellipse">
            <a:avLst/>
          </a:prstGeom>
          <a:solidFill>
            <a:srgbClr val="D4762A"/>
          </a:solidFill>
          <a:ln w="12700">
            <a:solidFill>
              <a:srgbClr val="D4762A"/>
            </a:solidFill>
            <a:prstDash val="solid"/>
          </a:ln>
        </p:spPr>
      </p:sp>
      <p:pic>
        <p:nvPicPr>
          <p:cNvPr id="6" name="icon" descr="preencoded.png">    </p:cNvPr>
          <p:cNvPicPr>
            <a:picLocks noChangeAspect="1"/>
          </p:cNvPicPr>
          <p:nvPr/>
        </p:nvPicPr>
        <p:blipFill>
          <a:blip r:embed="rId1"/>
          <a:stretch>
            <a:fillRect/>
          </a:stretch>
        </p:blipFill>
        <p:spPr>
          <a:xfrm>
            <a:off x="1045159" y="2261311"/>
            <a:ext cx="332842" cy="332842"/>
          </a:xfrm>
          <a:prstGeom prst="rect">
            <a:avLst/>
          </a:prstGeom>
        </p:spPr>
      </p:pic>
      <p:sp>
        <p:nvSpPr>
          <p:cNvPr id="7" name="Text 4"/>
          <p:cNvSpPr txBox="1"/>
          <p:nvPr/>
        </p:nvSpPr>
        <p:spPr>
          <a:xfrm>
            <a:off x="1691640" y="2130552"/>
            <a:ext cx="2286000" cy="594360"/>
          </a:xfrm>
          <a:prstGeom prst="rect">
            <a:avLst/>
          </a:prstGeom>
          <a:noFill/>
          <a:ln/>
        </p:spPr>
        <p:txBody>
          <a:bodyPr wrap="square" lIns="0" tIns="0" rIns="0" bIns="0" rtlCol="0" anchor="ctr"/>
          <a:lstStyle/>
          <a:p>
            <a:pPr indent="0" marL="0">
              <a:buNone/>
            </a:pPr>
            <a:r>
              <a:rPr lang="en-US" sz="2000" b="1" dirty="0">
                <a:solidFill>
                  <a:schemeClr val="tx1"/>
                </a:solidFill>
              </a:rPr>
              <a:t>People</a:t>
            </a:r>
            <a:endParaRPr lang="en-US" sz="2000" dirty="0"/>
          </a:p>
        </p:txBody>
      </p:sp>
      <p:sp>
        <p:nvSpPr>
          <p:cNvPr id="8" name="Text 5"/>
          <p:cNvSpPr txBox="1"/>
          <p:nvPr/>
        </p:nvSpPr>
        <p:spPr>
          <a:xfrm>
            <a:off x="914400" y="2880360"/>
            <a:ext cx="3017520" cy="822960"/>
          </a:xfrm>
          <a:prstGeom prst="rect">
            <a:avLst/>
          </a:prstGeom>
          <a:noFill/>
          <a:ln/>
        </p:spPr>
        <p:txBody>
          <a:bodyPr wrap="square" lIns="0" tIns="0" rIns="0" bIns="0" rtlCol="0" anchor="t"/>
          <a:lstStyle/>
          <a:p>
            <a:pPr indent="0" marL="0">
              <a:buNone/>
            </a:pPr>
            <a:r>
              <a:rPr lang="en-US" sz="1400" dirty="0">
                <a:solidFill>
                  <a:schemeClr val="accent5"/>
                </a:solidFill>
              </a:rPr>
              <a:t>Who would lead? Who needs to be on board?</a:t>
            </a:r>
            <a:endParaRPr lang="en-US" sz="1400" dirty="0"/>
          </a:p>
        </p:txBody>
      </p:sp>
      <p:sp>
        <p:nvSpPr>
          <p:cNvPr id="9" name="card"/>
          <p:cNvSpPr/>
          <p:nvPr/>
        </p:nvSpPr>
        <p:spPr>
          <a:xfrm>
            <a:off x="4352544" y="1874520"/>
            <a:ext cx="3520440" cy="1920240"/>
          </a:xfrm>
          <a:prstGeom prst="roundRect">
            <a:avLst>
              <a:gd name="adj" fmla="val 5714"/>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10" name="icon circle"/>
          <p:cNvSpPr/>
          <p:nvPr/>
        </p:nvSpPr>
        <p:spPr>
          <a:xfrm>
            <a:off x="4626864" y="2130552"/>
            <a:ext cx="594360" cy="594360"/>
          </a:xfrm>
          <a:prstGeom prst="ellipse">
            <a:avLst/>
          </a:prstGeom>
          <a:solidFill>
            <a:srgbClr val="1F8A84"/>
          </a:solidFill>
          <a:ln w="12700">
            <a:solidFill>
              <a:srgbClr val="1F8A84"/>
            </a:solidFill>
            <a:prstDash val="solid"/>
          </a:ln>
        </p:spPr>
      </p:sp>
      <p:pic>
        <p:nvPicPr>
          <p:cNvPr id="11" name="icon" descr="preencoded.png">    </p:cNvPr>
          <p:cNvPicPr>
            <a:picLocks noChangeAspect="1"/>
          </p:cNvPicPr>
          <p:nvPr/>
        </p:nvPicPr>
        <p:blipFill>
          <a:blip r:embed="rId2"/>
          <a:stretch>
            <a:fillRect/>
          </a:stretch>
        </p:blipFill>
        <p:spPr>
          <a:xfrm>
            <a:off x="4757623" y="2261311"/>
            <a:ext cx="332842" cy="332842"/>
          </a:xfrm>
          <a:prstGeom prst="rect">
            <a:avLst/>
          </a:prstGeom>
        </p:spPr>
      </p:pic>
      <p:sp>
        <p:nvSpPr>
          <p:cNvPr id="12" name="Text 8"/>
          <p:cNvSpPr txBox="1"/>
          <p:nvPr/>
        </p:nvSpPr>
        <p:spPr>
          <a:xfrm>
            <a:off x="5404104" y="2130552"/>
            <a:ext cx="2286000" cy="594360"/>
          </a:xfrm>
          <a:prstGeom prst="rect">
            <a:avLst/>
          </a:prstGeom>
          <a:noFill/>
          <a:ln/>
        </p:spPr>
        <p:txBody>
          <a:bodyPr wrap="square" lIns="0" tIns="0" rIns="0" bIns="0" rtlCol="0" anchor="ctr"/>
          <a:lstStyle/>
          <a:p>
            <a:pPr indent="0" marL="0">
              <a:buNone/>
            </a:pPr>
            <a:r>
              <a:rPr lang="en-US" sz="2000" b="1" dirty="0">
                <a:solidFill>
                  <a:schemeClr val="tx1"/>
                </a:solidFill>
              </a:rPr>
              <a:t>Process</a:t>
            </a:r>
            <a:endParaRPr lang="en-US" sz="2000" dirty="0"/>
          </a:p>
        </p:txBody>
      </p:sp>
      <p:sp>
        <p:nvSpPr>
          <p:cNvPr id="13" name="Text 9"/>
          <p:cNvSpPr txBox="1"/>
          <p:nvPr/>
        </p:nvSpPr>
        <p:spPr>
          <a:xfrm>
            <a:off x="4626864" y="2880360"/>
            <a:ext cx="3017520" cy="822960"/>
          </a:xfrm>
          <a:prstGeom prst="rect">
            <a:avLst/>
          </a:prstGeom>
          <a:noFill/>
          <a:ln/>
        </p:spPr>
        <p:txBody>
          <a:bodyPr wrap="square" lIns="0" tIns="0" rIns="0" bIns="0" rtlCol="0" anchor="t"/>
          <a:lstStyle/>
          <a:p>
            <a:pPr indent="0" marL="0">
              <a:buNone/>
            </a:pPr>
            <a:r>
              <a:rPr lang="en-US" sz="1400" dirty="0">
                <a:solidFill>
                  <a:schemeClr val="accent5"/>
                </a:solidFill>
              </a:rPr>
              <a:t>What changes in how exams are set, marked and reviewed?</a:t>
            </a:r>
            <a:endParaRPr lang="en-US" sz="1400" dirty="0"/>
          </a:p>
        </p:txBody>
      </p:sp>
      <p:sp>
        <p:nvSpPr>
          <p:cNvPr id="14" name="card"/>
          <p:cNvSpPr/>
          <p:nvPr/>
        </p:nvSpPr>
        <p:spPr>
          <a:xfrm>
            <a:off x="8065008" y="1874520"/>
            <a:ext cx="3520440" cy="1920240"/>
          </a:xfrm>
          <a:prstGeom prst="roundRect">
            <a:avLst>
              <a:gd name="adj" fmla="val 5714"/>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15" name="icon circle"/>
          <p:cNvSpPr/>
          <p:nvPr/>
        </p:nvSpPr>
        <p:spPr>
          <a:xfrm>
            <a:off x="8339328" y="2130552"/>
            <a:ext cx="594360" cy="594360"/>
          </a:xfrm>
          <a:prstGeom prst="ellipse">
            <a:avLst/>
          </a:prstGeom>
          <a:solidFill>
            <a:srgbClr val="D4762A"/>
          </a:solidFill>
          <a:ln w="12700">
            <a:solidFill>
              <a:srgbClr val="D4762A"/>
            </a:solidFill>
            <a:prstDash val="solid"/>
          </a:ln>
        </p:spPr>
      </p:sp>
      <p:pic>
        <p:nvPicPr>
          <p:cNvPr id="16" name="icon" descr="preencoded.png">    </p:cNvPr>
          <p:cNvPicPr>
            <a:picLocks noChangeAspect="1"/>
          </p:cNvPicPr>
          <p:nvPr/>
        </p:nvPicPr>
        <p:blipFill>
          <a:blip r:embed="rId3"/>
          <a:stretch>
            <a:fillRect/>
          </a:stretch>
        </p:blipFill>
        <p:spPr>
          <a:xfrm>
            <a:off x="8470087" y="2261311"/>
            <a:ext cx="332842" cy="332842"/>
          </a:xfrm>
          <a:prstGeom prst="rect">
            <a:avLst/>
          </a:prstGeom>
        </p:spPr>
      </p:pic>
      <p:sp>
        <p:nvSpPr>
          <p:cNvPr id="17" name="Text 12"/>
          <p:cNvSpPr txBox="1"/>
          <p:nvPr/>
        </p:nvSpPr>
        <p:spPr>
          <a:xfrm>
            <a:off x="9116568" y="2130552"/>
            <a:ext cx="2286000" cy="594360"/>
          </a:xfrm>
          <a:prstGeom prst="rect">
            <a:avLst/>
          </a:prstGeom>
          <a:noFill/>
          <a:ln/>
        </p:spPr>
        <p:txBody>
          <a:bodyPr wrap="square" lIns="0" tIns="0" rIns="0" bIns="0" rtlCol="0" anchor="ctr"/>
          <a:lstStyle/>
          <a:p>
            <a:pPr indent="0" marL="0">
              <a:buNone/>
            </a:pPr>
            <a:r>
              <a:rPr lang="en-US" sz="2000" b="1" dirty="0">
                <a:solidFill>
                  <a:schemeClr val="tx1"/>
                </a:solidFill>
              </a:rPr>
              <a:t>Technology</a:t>
            </a:r>
            <a:endParaRPr lang="en-US" sz="2000" dirty="0"/>
          </a:p>
        </p:txBody>
      </p:sp>
      <p:sp>
        <p:nvSpPr>
          <p:cNvPr id="18" name="Text 13"/>
          <p:cNvSpPr txBox="1"/>
          <p:nvPr/>
        </p:nvSpPr>
        <p:spPr>
          <a:xfrm>
            <a:off x="8339328" y="2880360"/>
            <a:ext cx="3017520" cy="822960"/>
          </a:xfrm>
          <a:prstGeom prst="rect">
            <a:avLst/>
          </a:prstGeom>
          <a:noFill/>
          <a:ln/>
        </p:spPr>
        <p:txBody>
          <a:bodyPr wrap="square" lIns="0" tIns="0" rIns="0" bIns="0" rtlCol="0" anchor="t"/>
          <a:lstStyle/>
          <a:p>
            <a:pPr indent="0" marL="0">
              <a:buNone/>
            </a:pPr>
            <a:r>
              <a:rPr lang="en-US" sz="1400" dirty="0">
                <a:solidFill>
                  <a:schemeClr val="accent5"/>
                </a:solidFill>
              </a:rPr>
              <a:t>Devices, connectivity, sign-ins and support.</a:t>
            </a:r>
            <a:endParaRPr lang="en-US" sz="1400" dirty="0"/>
          </a:p>
        </p:txBody>
      </p:sp>
      <p:sp>
        <p:nvSpPr>
          <p:cNvPr id="19" name="card"/>
          <p:cNvSpPr/>
          <p:nvPr/>
        </p:nvSpPr>
        <p:spPr>
          <a:xfrm>
            <a:off x="640080" y="3977640"/>
            <a:ext cx="3520440" cy="1920240"/>
          </a:xfrm>
          <a:prstGeom prst="roundRect">
            <a:avLst>
              <a:gd name="adj" fmla="val 5714"/>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20" name="icon circle"/>
          <p:cNvSpPr/>
          <p:nvPr/>
        </p:nvSpPr>
        <p:spPr>
          <a:xfrm>
            <a:off x="914400" y="4233672"/>
            <a:ext cx="594360" cy="594360"/>
          </a:xfrm>
          <a:prstGeom prst="ellipse">
            <a:avLst/>
          </a:prstGeom>
          <a:solidFill>
            <a:srgbClr val="1F8A84"/>
          </a:solidFill>
          <a:ln w="12700">
            <a:solidFill>
              <a:srgbClr val="1F8A84"/>
            </a:solidFill>
            <a:prstDash val="solid"/>
          </a:ln>
        </p:spPr>
      </p:sp>
      <p:pic>
        <p:nvPicPr>
          <p:cNvPr id="21" name="icon" descr="preencoded.png">    </p:cNvPr>
          <p:cNvPicPr>
            <a:picLocks noChangeAspect="1"/>
          </p:cNvPicPr>
          <p:nvPr/>
        </p:nvPicPr>
        <p:blipFill>
          <a:blip r:embed="rId4"/>
          <a:stretch>
            <a:fillRect/>
          </a:stretch>
        </p:blipFill>
        <p:spPr>
          <a:xfrm>
            <a:off x="1045159" y="4364431"/>
            <a:ext cx="332842" cy="332842"/>
          </a:xfrm>
          <a:prstGeom prst="rect">
            <a:avLst/>
          </a:prstGeom>
        </p:spPr>
      </p:pic>
      <p:sp>
        <p:nvSpPr>
          <p:cNvPr id="22" name="Text 16"/>
          <p:cNvSpPr txBox="1"/>
          <p:nvPr/>
        </p:nvSpPr>
        <p:spPr>
          <a:xfrm>
            <a:off x="1691640" y="4233672"/>
            <a:ext cx="2286000" cy="594360"/>
          </a:xfrm>
          <a:prstGeom prst="rect">
            <a:avLst/>
          </a:prstGeom>
          <a:noFill/>
          <a:ln/>
        </p:spPr>
        <p:txBody>
          <a:bodyPr wrap="square" lIns="0" tIns="0" rIns="0" bIns="0" rtlCol="0" anchor="ctr"/>
          <a:lstStyle/>
          <a:p>
            <a:pPr indent="0" marL="0">
              <a:buNone/>
            </a:pPr>
            <a:r>
              <a:rPr lang="en-US" sz="2000" b="1" dirty="0">
                <a:solidFill>
                  <a:schemeClr val="tx1"/>
                </a:solidFill>
              </a:rPr>
              <a:t>Training</a:t>
            </a:r>
            <a:endParaRPr lang="en-US" sz="2000" dirty="0"/>
          </a:p>
        </p:txBody>
      </p:sp>
      <p:sp>
        <p:nvSpPr>
          <p:cNvPr id="23" name="Text 17"/>
          <p:cNvSpPr txBox="1"/>
          <p:nvPr/>
        </p:nvSpPr>
        <p:spPr>
          <a:xfrm>
            <a:off x="914400" y="4983480"/>
            <a:ext cx="3017520" cy="822960"/>
          </a:xfrm>
          <a:prstGeom prst="rect">
            <a:avLst/>
          </a:prstGeom>
          <a:noFill/>
          <a:ln/>
        </p:spPr>
        <p:txBody>
          <a:bodyPr wrap="square" lIns="0" tIns="0" rIns="0" bIns="0" rtlCol="0" anchor="t"/>
          <a:lstStyle/>
          <a:p>
            <a:pPr indent="0" marL="0">
              <a:buNone/>
            </a:pPr>
            <a:r>
              <a:rPr lang="en-US" sz="1400" dirty="0">
                <a:solidFill>
                  <a:schemeClr val="accent5"/>
                </a:solidFill>
              </a:rPr>
              <a:t>Who needs training, and when?</a:t>
            </a:r>
            <a:endParaRPr lang="en-US" sz="1400" dirty="0"/>
          </a:p>
        </p:txBody>
      </p:sp>
      <p:sp>
        <p:nvSpPr>
          <p:cNvPr id="24" name="card"/>
          <p:cNvSpPr/>
          <p:nvPr/>
        </p:nvSpPr>
        <p:spPr>
          <a:xfrm>
            <a:off x="4352544" y="3977640"/>
            <a:ext cx="3520440" cy="1920240"/>
          </a:xfrm>
          <a:prstGeom prst="roundRect">
            <a:avLst>
              <a:gd name="adj" fmla="val 5714"/>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25" name="icon circle"/>
          <p:cNvSpPr/>
          <p:nvPr/>
        </p:nvSpPr>
        <p:spPr>
          <a:xfrm>
            <a:off x="4626864" y="4233672"/>
            <a:ext cx="594360" cy="594360"/>
          </a:xfrm>
          <a:prstGeom prst="ellipse">
            <a:avLst/>
          </a:prstGeom>
          <a:solidFill>
            <a:srgbClr val="D4762A"/>
          </a:solidFill>
          <a:ln w="12700">
            <a:solidFill>
              <a:srgbClr val="D4762A"/>
            </a:solidFill>
            <a:prstDash val="solid"/>
          </a:ln>
        </p:spPr>
      </p:sp>
      <p:pic>
        <p:nvPicPr>
          <p:cNvPr id="26" name="icon" descr="preencoded.png">    </p:cNvPr>
          <p:cNvPicPr>
            <a:picLocks noChangeAspect="1"/>
          </p:cNvPicPr>
          <p:nvPr/>
        </p:nvPicPr>
        <p:blipFill>
          <a:blip r:embed="rId5"/>
          <a:stretch>
            <a:fillRect/>
          </a:stretch>
        </p:blipFill>
        <p:spPr>
          <a:xfrm>
            <a:off x="4757623" y="4364431"/>
            <a:ext cx="332842" cy="332842"/>
          </a:xfrm>
          <a:prstGeom prst="rect">
            <a:avLst/>
          </a:prstGeom>
        </p:spPr>
      </p:pic>
      <p:sp>
        <p:nvSpPr>
          <p:cNvPr id="27" name="Text 20"/>
          <p:cNvSpPr txBox="1"/>
          <p:nvPr/>
        </p:nvSpPr>
        <p:spPr>
          <a:xfrm>
            <a:off x="5404104" y="4233672"/>
            <a:ext cx="2286000" cy="594360"/>
          </a:xfrm>
          <a:prstGeom prst="rect">
            <a:avLst/>
          </a:prstGeom>
          <a:noFill/>
          <a:ln/>
        </p:spPr>
        <p:txBody>
          <a:bodyPr wrap="square" lIns="0" tIns="0" rIns="0" bIns="0" rtlCol="0" anchor="ctr"/>
          <a:lstStyle/>
          <a:p>
            <a:pPr indent="0" marL="0">
              <a:buNone/>
            </a:pPr>
            <a:r>
              <a:rPr lang="en-US" sz="2000" b="1" dirty="0">
                <a:solidFill>
                  <a:schemeClr val="tx1"/>
                </a:solidFill>
              </a:rPr>
              <a:t>Data</a:t>
            </a:r>
            <a:endParaRPr lang="en-US" sz="2000" dirty="0"/>
          </a:p>
        </p:txBody>
      </p:sp>
      <p:sp>
        <p:nvSpPr>
          <p:cNvPr id="28" name="Text 21"/>
          <p:cNvSpPr txBox="1"/>
          <p:nvPr/>
        </p:nvSpPr>
        <p:spPr>
          <a:xfrm>
            <a:off x="4626864" y="4983480"/>
            <a:ext cx="3017520" cy="822960"/>
          </a:xfrm>
          <a:prstGeom prst="rect">
            <a:avLst/>
          </a:prstGeom>
          <a:noFill/>
          <a:ln/>
        </p:spPr>
        <p:txBody>
          <a:bodyPr wrap="square" lIns="0" tIns="0" rIns="0" bIns="0" rtlCol="0" anchor="t"/>
          <a:lstStyle/>
          <a:p>
            <a:pPr indent="0" marL="0">
              <a:buNone/>
            </a:pPr>
            <a:r>
              <a:rPr lang="en-US" sz="1400" dirty="0">
                <a:solidFill>
                  <a:schemeClr val="accent5"/>
                </a:solidFill>
              </a:rPr>
              <a:t>What do leaders need to see, and how is it protected?</a:t>
            </a:r>
            <a:endParaRPr lang="en-US" sz="1400" dirty="0"/>
          </a:p>
        </p:txBody>
      </p:sp>
      <p:sp>
        <p:nvSpPr>
          <p:cNvPr id="29" name="card"/>
          <p:cNvSpPr/>
          <p:nvPr/>
        </p:nvSpPr>
        <p:spPr>
          <a:xfrm>
            <a:off x="8065008" y="3977640"/>
            <a:ext cx="3520440" cy="1920240"/>
          </a:xfrm>
          <a:prstGeom prst="roundRect">
            <a:avLst>
              <a:gd name="adj" fmla="val 5714"/>
            </a:avLst>
          </a:prstGeom>
          <a:solidFill>
            <a:srgbClr val="FFFFFF"/>
          </a:solidFill>
          <a:ln w="12700">
            <a:solidFill>
              <a:srgbClr val="EAD9C4"/>
            </a:solidFill>
            <a:prstDash val="solid"/>
          </a:ln>
          <a:effectLst>
            <a:outerShdw sx="100000" sy="100000" kx="0" ky="0" algn="bl" rotWithShape="0" blurRad="127000" dist="25400" dir="5400000">
              <a:srgbClr val="000000">
                <a:alpha val="10000"/>
              </a:srgbClr>
            </a:outerShdw>
          </a:effectLst>
        </p:spPr>
      </p:sp>
      <p:sp>
        <p:nvSpPr>
          <p:cNvPr id="30" name="icon circle"/>
          <p:cNvSpPr/>
          <p:nvPr/>
        </p:nvSpPr>
        <p:spPr>
          <a:xfrm>
            <a:off x="8339328" y="4233672"/>
            <a:ext cx="594360" cy="594360"/>
          </a:xfrm>
          <a:prstGeom prst="ellipse">
            <a:avLst/>
          </a:prstGeom>
          <a:solidFill>
            <a:srgbClr val="1F8A84"/>
          </a:solidFill>
          <a:ln w="12700">
            <a:solidFill>
              <a:srgbClr val="1F8A84"/>
            </a:solidFill>
            <a:prstDash val="solid"/>
          </a:ln>
        </p:spPr>
      </p:sp>
      <p:pic>
        <p:nvPicPr>
          <p:cNvPr id="31" name="icon" descr="preencoded.png">    </p:cNvPr>
          <p:cNvPicPr>
            <a:picLocks noChangeAspect="1"/>
          </p:cNvPicPr>
          <p:nvPr/>
        </p:nvPicPr>
        <p:blipFill>
          <a:blip r:embed="rId6"/>
          <a:stretch>
            <a:fillRect/>
          </a:stretch>
        </p:blipFill>
        <p:spPr>
          <a:xfrm>
            <a:off x="8470087" y="4364431"/>
            <a:ext cx="332842" cy="332842"/>
          </a:xfrm>
          <a:prstGeom prst="rect">
            <a:avLst/>
          </a:prstGeom>
        </p:spPr>
      </p:pic>
      <p:sp>
        <p:nvSpPr>
          <p:cNvPr id="32" name="Text 24"/>
          <p:cNvSpPr txBox="1"/>
          <p:nvPr/>
        </p:nvSpPr>
        <p:spPr>
          <a:xfrm>
            <a:off x="9116568" y="4233672"/>
            <a:ext cx="2286000" cy="594360"/>
          </a:xfrm>
          <a:prstGeom prst="rect">
            <a:avLst/>
          </a:prstGeom>
          <a:noFill/>
          <a:ln/>
        </p:spPr>
        <p:txBody>
          <a:bodyPr wrap="square" lIns="0" tIns="0" rIns="0" bIns="0" rtlCol="0" anchor="ctr"/>
          <a:lstStyle/>
          <a:p>
            <a:pPr indent="0" marL="0">
              <a:buNone/>
            </a:pPr>
            <a:r>
              <a:rPr lang="en-US" sz="2000" b="1" dirty="0">
                <a:solidFill>
                  <a:schemeClr val="tx1"/>
                </a:solidFill>
              </a:rPr>
              <a:t>Implementation</a:t>
            </a:r>
            <a:endParaRPr lang="en-US" sz="2000" dirty="0"/>
          </a:p>
        </p:txBody>
      </p:sp>
      <p:sp>
        <p:nvSpPr>
          <p:cNvPr id="33" name="Text 25"/>
          <p:cNvSpPr txBox="1"/>
          <p:nvPr/>
        </p:nvSpPr>
        <p:spPr>
          <a:xfrm>
            <a:off x="8339328" y="4983480"/>
            <a:ext cx="3017520" cy="822960"/>
          </a:xfrm>
          <a:prstGeom prst="rect">
            <a:avLst/>
          </a:prstGeom>
          <a:noFill/>
          <a:ln/>
        </p:spPr>
        <p:txBody>
          <a:bodyPr wrap="square" lIns="0" tIns="0" rIns="0" bIns="0" rtlCol="0" anchor="t"/>
          <a:lstStyle/>
          <a:p>
            <a:pPr indent="0" marL="0">
              <a:buNone/>
            </a:pPr>
            <a:r>
              <a:rPr lang="en-US" sz="1400" dirty="0">
                <a:solidFill>
                  <a:schemeClr val="accent5"/>
                </a:solidFill>
              </a:rPr>
              <a:t>Where does it start, and what is the first term like?</a:t>
            </a:r>
            <a:endParaRPr lang="en-US" sz="14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02920"/>
            <a:ext cx="10881360" cy="1188720"/>
          </a:xfrm>
          <a:prstGeom prst="rect">
            <a:avLst/>
          </a:prstGeom>
          <a:noFill/>
          <a:ln/>
        </p:spPr>
        <p:txBody>
          <a:bodyPr wrap="square" lIns="0" tIns="0" rIns="0" bIns="0" rtlCol="0" anchor="t"/>
          <a:lstStyle/>
          <a:p>
            <a:pPr indent="0" marL="0">
              <a:buNone/>
            </a:pPr>
            <a:r>
              <a:rPr lang="en-US" sz="3000" b="1" spc="100" kern="0" dirty="0">
                <a:solidFill>
                  <a:schemeClr val="bg1"/>
                </a:solidFill>
              </a:rPr>
              <a:t>WHAT COULD MANCHESTER HIGH SCHOOL LOOK LIKE WITH SMART ASSESS JA?</a:t>
            </a:r>
            <a:endParaRPr lang="en-US" sz="3000" dirty="0"/>
          </a:p>
        </p:txBody>
      </p:sp>
      <p:sp>
        <p:nvSpPr>
          <p:cNvPr id="3" name="card"/>
          <p:cNvSpPr/>
          <p:nvPr/>
        </p:nvSpPr>
        <p:spPr>
          <a:xfrm>
            <a:off x="640080" y="1965960"/>
            <a:ext cx="3429000" cy="1737360"/>
          </a:xfrm>
          <a:prstGeom prst="roundRect">
            <a:avLst>
              <a:gd name="adj" fmla="val 6316"/>
            </a:avLst>
          </a:prstGeom>
          <a:solidFill>
            <a:srgbClr val="1E1710"/>
          </a:solidFill>
          <a:ln w="12700">
            <a:solidFill>
              <a:srgbClr val="3A2E22"/>
            </a:solidFill>
            <a:prstDash val="solid"/>
          </a:ln>
        </p:spPr>
      </p:sp>
      <p:sp>
        <p:nvSpPr>
          <p:cNvPr id="4" name="Text 2"/>
          <p:cNvSpPr txBox="1"/>
          <p:nvPr/>
        </p:nvSpPr>
        <p:spPr>
          <a:xfrm>
            <a:off x="960120" y="2240280"/>
            <a:ext cx="2834640" cy="320040"/>
          </a:xfrm>
          <a:prstGeom prst="rect">
            <a:avLst/>
          </a:prstGeom>
          <a:noFill/>
          <a:ln/>
        </p:spPr>
        <p:txBody>
          <a:bodyPr wrap="square" lIns="0" tIns="0" rIns="0" bIns="0" rtlCol="0" anchor="t"/>
          <a:lstStyle/>
          <a:p>
            <a:pPr indent="0" marL="0">
              <a:buNone/>
            </a:pPr>
            <a:r>
              <a:rPr lang="en-US" sz="1500" b="1" spc="400" kern="0" dirty="0">
                <a:solidFill>
                  <a:srgbClr val="EC924A"/>
                </a:solidFill>
              </a:rPr>
              <a:t>SMART ASSESS</a:t>
            </a:r>
            <a:endParaRPr lang="en-US" sz="1500" dirty="0"/>
          </a:p>
        </p:txBody>
      </p:sp>
      <p:sp>
        <p:nvSpPr>
          <p:cNvPr id="5" name="Text 3"/>
          <p:cNvSpPr txBox="1"/>
          <p:nvPr/>
        </p:nvSpPr>
        <p:spPr>
          <a:xfrm>
            <a:off x="960120" y="2697480"/>
            <a:ext cx="2834640" cy="822960"/>
          </a:xfrm>
          <a:prstGeom prst="rect">
            <a:avLst/>
          </a:prstGeom>
          <a:noFill/>
          <a:ln/>
        </p:spPr>
        <p:txBody>
          <a:bodyPr wrap="square" lIns="0" tIns="0" rIns="0" bIns="0" rtlCol="0" anchor="t"/>
          <a:lstStyle/>
          <a:p>
            <a:pPr indent="0" marL="0">
              <a:buNone/>
            </a:pPr>
            <a:r>
              <a:rPr lang="en-US" sz="2000" b="1" dirty="0">
                <a:solidFill>
                  <a:schemeClr val="bg1"/>
                </a:solidFill>
              </a:rPr>
              <a:t>Measure learning.</a:t>
            </a:r>
            <a:endParaRPr lang="en-US" sz="2000" dirty="0"/>
          </a:p>
        </p:txBody>
      </p:sp>
      <p:sp>
        <p:nvSpPr>
          <p:cNvPr id="6" name="card"/>
          <p:cNvSpPr/>
          <p:nvPr/>
        </p:nvSpPr>
        <p:spPr>
          <a:xfrm>
            <a:off x="4389120" y="1965960"/>
            <a:ext cx="3429000" cy="1737360"/>
          </a:xfrm>
          <a:prstGeom prst="roundRect">
            <a:avLst>
              <a:gd name="adj" fmla="val 6316"/>
            </a:avLst>
          </a:prstGeom>
          <a:solidFill>
            <a:srgbClr val="1E1710"/>
          </a:solidFill>
          <a:ln w="12700">
            <a:solidFill>
              <a:srgbClr val="3A2E22"/>
            </a:solidFill>
            <a:prstDash val="solid"/>
          </a:ln>
        </p:spPr>
      </p:sp>
      <p:sp>
        <p:nvSpPr>
          <p:cNvPr id="7" name="Text 5"/>
          <p:cNvSpPr txBox="1"/>
          <p:nvPr/>
        </p:nvSpPr>
        <p:spPr>
          <a:xfrm>
            <a:off x="4709160" y="2240280"/>
            <a:ext cx="2834640" cy="320040"/>
          </a:xfrm>
          <a:prstGeom prst="rect">
            <a:avLst/>
          </a:prstGeom>
          <a:noFill/>
          <a:ln/>
        </p:spPr>
        <p:txBody>
          <a:bodyPr wrap="square" lIns="0" tIns="0" rIns="0" bIns="0" rtlCol="0" anchor="t"/>
          <a:lstStyle/>
          <a:p>
            <a:pPr indent="0" marL="0">
              <a:buNone/>
            </a:pPr>
            <a:r>
              <a:rPr lang="en-US" sz="1500" b="1" spc="400" kern="0" dirty="0">
                <a:solidFill>
                  <a:srgbClr val="3DB5AB"/>
                </a:solidFill>
              </a:rPr>
              <a:t>SMART LEARNING</a:t>
            </a:r>
            <a:endParaRPr lang="en-US" sz="1500" dirty="0"/>
          </a:p>
        </p:txBody>
      </p:sp>
      <p:sp>
        <p:nvSpPr>
          <p:cNvPr id="8" name="Text 6"/>
          <p:cNvSpPr txBox="1"/>
          <p:nvPr/>
        </p:nvSpPr>
        <p:spPr>
          <a:xfrm>
            <a:off x="4709160" y="2697480"/>
            <a:ext cx="2834640" cy="822960"/>
          </a:xfrm>
          <a:prstGeom prst="rect">
            <a:avLst/>
          </a:prstGeom>
          <a:noFill/>
          <a:ln/>
        </p:spPr>
        <p:txBody>
          <a:bodyPr wrap="square" lIns="0" tIns="0" rIns="0" bIns="0" rtlCol="0" anchor="t"/>
          <a:lstStyle/>
          <a:p>
            <a:pPr indent="0" marL="0">
              <a:buNone/>
            </a:pPr>
            <a:r>
              <a:rPr lang="en-US" sz="2000" b="1" dirty="0">
                <a:solidFill>
                  <a:schemeClr val="bg1"/>
                </a:solidFill>
              </a:rPr>
              <a:t>Deliver and recover learning.</a:t>
            </a:r>
            <a:endParaRPr lang="en-US" sz="2000" dirty="0"/>
          </a:p>
        </p:txBody>
      </p:sp>
      <p:sp>
        <p:nvSpPr>
          <p:cNvPr id="9" name="card"/>
          <p:cNvSpPr/>
          <p:nvPr/>
        </p:nvSpPr>
        <p:spPr>
          <a:xfrm>
            <a:off x="8138160" y="1965960"/>
            <a:ext cx="3429000" cy="1737360"/>
          </a:xfrm>
          <a:prstGeom prst="roundRect">
            <a:avLst>
              <a:gd name="adj" fmla="val 6316"/>
            </a:avLst>
          </a:prstGeom>
          <a:solidFill>
            <a:srgbClr val="1E1710"/>
          </a:solidFill>
          <a:ln w="12700">
            <a:solidFill>
              <a:srgbClr val="3A2E22"/>
            </a:solidFill>
            <a:prstDash val="solid"/>
          </a:ln>
        </p:spPr>
      </p:sp>
      <p:sp>
        <p:nvSpPr>
          <p:cNvPr id="10" name="Text 8"/>
          <p:cNvSpPr txBox="1"/>
          <p:nvPr/>
        </p:nvSpPr>
        <p:spPr>
          <a:xfrm>
            <a:off x="8458200" y="2240280"/>
            <a:ext cx="2834640" cy="320040"/>
          </a:xfrm>
          <a:prstGeom prst="rect">
            <a:avLst/>
          </a:prstGeom>
          <a:noFill/>
          <a:ln/>
        </p:spPr>
        <p:txBody>
          <a:bodyPr wrap="square" lIns="0" tIns="0" rIns="0" bIns="0" rtlCol="0" anchor="t"/>
          <a:lstStyle/>
          <a:p>
            <a:pPr indent="0" marL="0">
              <a:buNone/>
            </a:pPr>
            <a:r>
              <a:rPr lang="en-US" sz="1500" b="1" spc="400" kern="0" dirty="0">
                <a:solidFill>
                  <a:srgbClr val="F2C230"/>
                </a:solidFill>
              </a:rPr>
              <a:t>SMART PLAY</a:t>
            </a:r>
            <a:endParaRPr lang="en-US" sz="1500" dirty="0"/>
          </a:p>
        </p:txBody>
      </p:sp>
      <p:sp>
        <p:nvSpPr>
          <p:cNvPr id="11" name="Text 9"/>
          <p:cNvSpPr txBox="1"/>
          <p:nvPr/>
        </p:nvSpPr>
        <p:spPr>
          <a:xfrm>
            <a:off x="8458200" y="2697480"/>
            <a:ext cx="2834640" cy="822960"/>
          </a:xfrm>
          <a:prstGeom prst="rect">
            <a:avLst/>
          </a:prstGeom>
          <a:noFill/>
          <a:ln/>
        </p:spPr>
        <p:txBody>
          <a:bodyPr wrap="square" lIns="0" tIns="0" rIns="0" bIns="0" rtlCol="0" anchor="t"/>
          <a:lstStyle/>
          <a:p>
            <a:pPr indent="0" marL="0">
              <a:buNone/>
            </a:pPr>
            <a:r>
              <a:rPr lang="en-US" sz="2000" b="1" dirty="0">
                <a:solidFill>
                  <a:schemeClr val="bg1"/>
                </a:solidFill>
              </a:rPr>
              <a:t>Engage and reinforce learning.</a:t>
            </a:r>
            <a:endParaRPr lang="en-US" sz="2000" dirty="0"/>
          </a:p>
        </p:txBody>
      </p:sp>
      <p:sp>
        <p:nvSpPr>
          <p:cNvPr id="12" name="Text 10"/>
          <p:cNvSpPr txBox="1"/>
          <p:nvPr/>
        </p:nvSpPr>
        <p:spPr>
          <a:xfrm>
            <a:off x="640080" y="4114800"/>
            <a:ext cx="10881360" cy="457200"/>
          </a:xfrm>
          <a:prstGeom prst="rect">
            <a:avLst/>
          </a:prstGeom>
          <a:noFill/>
          <a:ln/>
        </p:spPr>
        <p:txBody>
          <a:bodyPr wrap="square" lIns="0" tIns="0" rIns="0" bIns="0" rtlCol="0" anchor="t"/>
          <a:lstStyle/>
          <a:p>
            <a:pPr indent="0" marL="0">
              <a:buNone/>
            </a:pPr>
            <a:r>
              <a:rPr lang="en-US" sz="1900" b="1" spc="200" kern="0" dirty="0">
                <a:solidFill>
                  <a:srgbClr val="BFB09C"/>
                </a:solidFill>
              </a:rPr>
              <a:t>ONE SCHOOL.   ONE ECOSYSTEM.   ONE CONNECTED LEARNING EXPERIENCE.</a:t>
            </a:r>
            <a:endParaRPr lang="en-US" sz="1900" dirty="0"/>
          </a:p>
        </p:txBody>
      </p:sp>
      <p:sp>
        <p:nvSpPr>
          <p:cNvPr id="13" name="Text 11"/>
          <p:cNvSpPr txBox="1"/>
          <p:nvPr/>
        </p:nvSpPr>
        <p:spPr>
          <a:xfrm>
            <a:off x="640080" y="4892040"/>
            <a:ext cx="10881360" cy="1005840"/>
          </a:xfrm>
          <a:prstGeom prst="rect">
            <a:avLst/>
          </a:prstGeom>
          <a:noFill/>
          <a:ln/>
        </p:spPr>
        <p:txBody>
          <a:bodyPr wrap="square" lIns="0" tIns="0" rIns="0" bIns="0" rtlCol="0" anchor="t"/>
          <a:lstStyle/>
          <a:p>
            <a:pPr indent="0" marL="0">
              <a:buNone/>
            </a:pPr>
            <a:r>
              <a:rPr lang="en-US" sz="5400" b="1" dirty="0">
                <a:solidFill>
                  <a:srgbClr val="EC924A"/>
                </a:solidFill>
              </a:rPr>
              <a:t>Where would you start?</a:t>
            </a:r>
            <a:endParaRPr lang="en-US" sz="5400" dirty="0"/>
          </a:p>
        </p:txBody>
      </p:sp>
      <p:sp>
        <p:nvSpPr>
          <p:cNvPr id="25" name="Slide Number Placeholder 0"/>
          <p:cNvSpPr>
            <a:spLocks noGrp="1"/>
          </p:cNvSpPr>
          <p:nvPr>
            <p:ph type="sldNum" sz="quarter" idx="4294967295"/>
          </p:nvPr>
        </p:nvSpPr>
        <p:spPr>
          <a:xfrm>
            <a:off x="10972800" y="6419088"/>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34</a:t>
            </a:fld>
            <a:endParaRPr lang="en-US"/>
          </a:p>
        </p:txBody>
      </p:sp>
    </p:spTree>
  </p:cSld>
  <p:clrMapOvr>
    <a:masterClrMapping/>
  </p:clrMapOvr>
</p:sld>
</file>

<file path=ppt/theme/theme1.xml><?xml version="1.0" encoding="utf-8"?>
<a:theme xmlns:a="http://schemas.openxmlformats.org/drawingml/2006/main" name="Smart Assess Ja">
  <a:themeElements>
    <a:clrScheme name="Smart Assess Ja">
      <a:dk1>
        <a:srgbClr val="1E1208"/>
      </a:dk1>
      <a:lt1>
        <a:srgbClr val="FFFFFF"/>
      </a:lt1>
      <a:dk2>
        <a:srgbClr val="14100C"/>
      </a:dk2>
      <a:lt2>
        <a:srgbClr val="FDF8F3"/>
      </a:lt2>
      <a:accent1>
        <a:srgbClr val="D4762A"/>
      </a:accent1>
      <a:accent2>
        <a:srgbClr val="1F8A84"/>
      </a:accent2>
      <a:accent3>
        <a:srgbClr val="F2C230"/>
      </a:accent3>
      <a:accent4>
        <a:srgbClr val="A85A18"/>
      </a:accent4>
      <a:accent5>
        <a:srgbClr val="6B4F35"/>
      </a:accent5>
      <a:accent6>
        <a:srgbClr val="BFB09C"/>
      </a:accent6>
      <a:hlink>
        <a:srgbClr val="D4762A"/>
      </a:hlink>
      <a:folHlink>
        <a:srgbClr val="6B4F35"/>
      </a:folHlink>
    </a:clrScheme>
    <a:fontScheme name="Smart Assess J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Smart Assess Ja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Assess Ja: Built for Manchester High School</dc:title>
  <dc:subject>PptxGenJS Presentation</dc:subject>
  <dc:creator>Smart Assess Ja</dc:creator>
  <cp:lastModifiedBy>Smart Assess Ja</cp:lastModifiedBy>
  <cp:revision>1</cp:revision>
  <dcterms:created xsi:type="dcterms:W3CDTF">2026-10-06T00:11:23Z</dcterms:created>
  <dcterms:modified xsi:type="dcterms:W3CDTF">2026-10-06T00:11:23Z</dcterms:modified>
</cp:coreProperties>
</file>
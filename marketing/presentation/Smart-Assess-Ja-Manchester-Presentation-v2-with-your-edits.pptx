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7" r:id="rId9001"/>
    <p:sldId id="288" r:id="rId9002"/>
    <p:sldId id="289" r:id="rId9003"/>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468"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slide" Target="slides/slide29.xml"/><Relationship Id="rId35" Type="http://schemas.openxmlformats.org/officeDocument/2006/relationships/viewProps" Target="viewProps.xml"/><Relationship Id="rId9001" Type="http://schemas.openxmlformats.org/officeDocument/2006/relationships/slide" Target="slides/slide32.xml"/><Relationship Id="rId9002" Type="http://schemas.openxmlformats.org/officeDocument/2006/relationships/slide" Target="slides/slide33.xml"/><Relationship Id="rId9003"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Percent of students</c:v>
                </c:pt>
              </c:strCache>
            </c:strRef>
          </c:tx>
          <c:spPr>
            <a:solidFill>
              <a:srgbClr val="D4762A"/>
            </a:solidFill>
            <a:effectLst/>
          </c:spPr>
          <c:invertIfNegative val="0"/>
          <c:dLbls>
            <c:numFmt formatCode="0&quot;%&quot;" sourceLinked="0"/>
            <c:txPr>
              <a:bodyPr/>
              <a:lstStyle/>
              <a:p>
                <a:pPr>
                  <a:defRPr sz="1400" b="0" i="0" u="none" strike="noStrike">
                    <a:solidFill>
                      <a:srgbClr val="1E1208"/>
                    </a:solidFill>
                    <a:latin typeface="Impact"/>
                  </a:defRPr>
                </a:pPr>
                <a:endParaRPr lang="en-US"/>
              </a:p>
            </c:txPr>
            <c:showLegendKey val="0"/>
            <c:showVal val="1"/>
            <c:showCatName val="0"/>
            <c:showSerName val="0"/>
            <c:showPercent val="0"/>
            <c:showBubbleSize val="0"/>
            <c:showLeaderLines val="0"/>
          </c:dLbls>
          <c:cat>
            <c:strRef>
              <c:f>Sheet1!$A$2:$A$7</c:f>
              <c:strCache>
                <c:ptCount val="6"/>
                <c:pt idx="0">
                  <c:v>Step-by-step explanations</c:v>
                </c:pt>
                <c:pt idx="1">
                  <c:v>Practice questions</c:v>
                </c:pt>
                <c:pt idx="2">
                  <c:v>Quizzes</c:v>
                </c:pt>
                <c:pt idx="3">
                  <c:v>Games or challenges</c:v>
                </c:pt>
                <c:pt idx="4">
                  <c:v>Examples</c:v>
                </c:pt>
                <c:pt idx="5">
                  <c:v>Study at my own pace</c:v>
                </c:pt>
              </c:strCache>
            </c:strRef>
          </c:cat>
          <c:val>
            <c:numRef>
              <c:f>Sheet1!$B$2:$B$7</c:f>
              <c:numCache>
                <c:formatCode>General</c:formatCode>
                <c:ptCount val="6"/>
                <c:pt idx="0">
                  <c:v>92</c:v>
                </c:pt>
                <c:pt idx="1">
                  <c:v>58</c:v>
                </c:pt>
                <c:pt idx="2">
                  <c:v>50</c:v>
                </c:pt>
                <c:pt idx="3">
                  <c:v>33</c:v>
                </c:pt>
                <c:pt idx="4">
                  <c:v>25</c:v>
                </c:pt>
                <c:pt idx="5">
                  <c:v>25</c:v>
                </c:pt>
              </c:numCache>
            </c:numRef>
          </c:val>
        </c:ser>
        <c:dLbls>
          <c:showLegendKey val="0"/>
          <c:showVal val="1"/>
          <c:showCatName val="0"/>
          <c:showSerName val="0"/>
          <c:showPercent val="0"/>
          <c:showBubbleSize val="0"/>
        </c:dLbls>
        <c:gapWidth val="45"/>
        <c:axId val="121893632"/>
        <c:axId val="121895168"/>
      </c:barChart>
      <c:catAx>
        <c:axId val="121893632"/>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121895168"/>
        <c:crosses val="autoZero"/>
        <c:auto val="1"/>
        <c:lblAlgn val="ctr"/>
        <c:lblOffset val="100"/>
        <c:noMultiLvlLbl val="1"/>
      </c:catAx>
      <c:valAx>
        <c:axId val="121895168"/>
        <c:scaling>
          <c:orientation val="minMax"/>
          <c:max val="105"/>
          <c:min val="0"/>
        </c:scaling>
        <c:delete val="1"/>
        <c:axPos val="t"/>
        <c:numFmt formatCode="General" sourceLinked="0"/>
        <c:majorTickMark val="out"/>
        <c:minorTickMark val="none"/>
        <c:tickLblPos val="low"/>
        <c:crossAx val="121893632"/>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Percent of students</c:v>
                </c:pt>
              </c:strCache>
            </c:strRef>
          </c:tx>
          <c:spPr>
            <a:solidFill>
              <a:srgbClr val="1F8A84"/>
            </a:solidFill>
            <a:effectLst/>
          </c:spPr>
          <c:invertIfNegative val="0"/>
          <c:dLbls>
            <c:numFmt formatCode="0&quot;%&quot;" sourceLinked="0"/>
            <c:txPr>
              <a:bodyPr/>
              <a:lstStyle/>
              <a:p>
                <a:pPr>
                  <a:defRPr sz="1400" b="0" i="0" u="none" strike="noStrike">
                    <a:solidFill>
                      <a:srgbClr val="1E1208"/>
                    </a:solidFill>
                    <a:latin typeface="Impact"/>
                  </a:defRPr>
                </a:pPr>
                <a:endParaRPr lang="en-US"/>
              </a:p>
            </c:txPr>
            <c:showLegendKey val="0"/>
            <c:showVal val="1"/>
            <c:showCatName val="0"/>
            <c:showSerName val="0"/>
            <c:showPercent val="0"/>
            <c:showBubbleSize val="0"/>
            <c:showLeaderLines val="0"/>
          </c:dLbls>
          <c:cat>
            <c:strRef>
              <c:f>Sheet1!$A$2:$A$6</c:f>
              <c:strCache>
                <c:ptCount val="5"/>
                <c:pt idx="0">
                  <c:v>Topics I need to improve</c:v>
                </c:pt>
                <c:pt idx="1">
                  <c:v>Grades</c:v>
                </c:pt>
                <c:pt idx="2">
                  <c:v>Compare with previous results</c:v>
                </c:pt>
                <c:pt idx="3">
                  <c:v>Strongest topics</c:v>
                </c:pt>
                <c:pt idx="4">
                  <c:v>Progress toward goals</c:v>
                </c:pt>
              </c:strCache>
            </c:strRef>
          </c:cat>
          <c:val>
            <c:numRef>
              <c:f>Sheet1!$B$2:$B$6</c:f>
              <c:numCache>
                <c:formatCode>General</c:formatCode>
                <c:ptCount val="5"/>
                <c:pt idx="0">
                  <c:v>75</c:v>
                </c:pt>
                <c:pt idx="1">
                  <c:v>58</c:v>
                </c:pt>
                <c:pt idx="2">
                  <c:v>50</c:v>
                </c:pt>
                <c:pt idx="3">
                  <c:v>42</c:v>
                </c:pt>
                <c:pt idx="4">
                  <c:v>42</c:v>
                </c:pt>
              </c:numCache>
            </c:numRef>
          </c:val>
        </c:ser>
        <c:dLbls>
          <c:showLegendKey val="0"/>
          <c:showVal val="1"/>
          <c:showCatName val="0"/>
          <c:showSerName val="0"/>
          <c:showPercent val="0"/>
          <c:showBubbleSize val="0"/>
        </c:dLbls>
        <c:gapWidth val="45"/>
        <c:axId val="122148736"/>
        <c:axId val="122150272"/>
      </c:barChart>
      <c:catAx>
        <c:axId val="122148736"/>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122150272"/>
        <c:crosses val="autoZero"/>
        <c:auto val="1"/>
        <c:lblAlgn val="ctr"/>
        <c:lblOffset val="100"/>
        <c:noMultiLvlLbl val="1"/>
      </c:catAx>
      <c:valAx>
        <c:axId val="122150272"/>
        <c:scaling>
          <c:orientation val="minMax"/>
          <c:max val="105"/>
          <c:min val="0"/>
        </c:scaling>
        <c:delete val="1"/>
        <c:axPos val="t"/>
        <c:numFmt formatCode="General" sourceLinked="0"/>
        <c:majorTickMark val="out"/>
        <c:minorTickMark val="none"/>
        <c:tickLblPos val="low"/>
        <c:crossAx val="122148736"/>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clustered"/>
        <c:varyColors val="0"/>
        <c:ser>
          <c:idx val="0"/>
          <c:order val="0"/>
          <c:tx>
            <c:strRef>
              <c:f>Sheet1!$B$1</c:f>
              <c:strCache>
                <c:ptCount val="1"/>
                <c:pt idx="0">
                  <c:v>Percent of teachers</c:v>
                </c:pt>
              </c:strCache>
            </c:strRef>
          </c:tx>
          <c:spPr>
            <a:solidFill>
              <a:srgbClr val="D4762A"/>
            </a:solidFill>
            <a:effectLst/>
          </c:spPr>
          <c:invertIfNegative val="0"/>
          <c:dLbls>
            <c:numFmt formatCode="0&quot;%&quot;" sourceLinked="0"/>
            <c:txPr>
              <a:bodyPr/>
              <a:lstStyle/>
              <a:p>
                <a:pPr>
                  <a:defRPr sz="1400" b="0" i="0" u="none" strike="noStrike">
                    <a:solidFill>
                      <a:srgbClr val="1E1208"/>
                    </a:solidFill>
                    <a:latin typeface="Impact"/>
                  </a:defRPr>
                </a:pPr>
                <a:endParaRPr lang="en-US"/>
              </a:p>
            </c:txPr>
            <c:showLegendKey val="0"/>
            <c:showVal val="1"/>
            <c:showCatName val="0"/>
            <c:showSerName val="0"/>
            <c:showPercent val="0"/>
            <c:showBubbleSize val="0"/>
            <c:showLeaderLines val="0"/>
          </c:dLbls>
          <c:cat>
            <c:strRef>
              <c:f>Sheet1!$A$2:$A$6</c:f>
              <c:strCache>
                <c:ptCount val="5"/>
                <c:pt idx="0">
                  <c:v>Marking</c:v>
                </c:pt>
                <c:pt idx="1">
                  <c:v>Creating questions</c:v>
                </c:pt>
                <c:pt idx="2">
                  <c:v>Analysing performance</c:v>
                </c:pt>
                <c:pt idx="3">
                  <c:v>Calculating results</c:v>
                </c:pt>
                <c:pt idx="4">
                  <c:v>Recording grades</c:v>
                </c:pt>
              </c:strCache>
            </c:strRef>
          </c:cat>
          <c:val>
            <c:numRef>
              <c:f>Sheet1!$B$2:$B$6</c:f>
              <c:numCache>
                <c:formatCode>General</c:formatCode>
                <c:ptCount val="5"/>
                <c:pt idx="0">
                  <c:v>80</c:v>
                </c:pt>
                <c:pt idx="1">
                  <c:v>60</c:v>
                </c:pt>
                <c:pt idx="2">
                  <c:v>50</c:v>
                </c:pt>
                <c:pt idx="3">
                  <c:v>40</c:v>
                </c:pt>
                <c:pt idx="4">
                  <c:v>30</c:v>
                </c:pt>
              </c:numCache>
            </c:numRef>
          </c:val>
        </c:ser>
        <c:dLbls>
          <c:showLegendKey val="0"/>
          <c:showVal val="1"/>
          <c:showCatName val="0"/>
          <c:showSerName val="0"/>
          <c:showPercent val="0"/>
          <c:showBubbleSize val="0"/>
        </c:dLbls>
        <c:gapWidth val="45"/>
        <c:axId val="122241024"/>
        <c:axId val="122242560"/>
      </c:barChart>
      <c:catAx>
        <c:axId val="12224102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1208"/>
                </a:solidFill>
                <a:latin typeface="Arial"/>
              </a:defRPr>
            </a:pPr>
            <a:endParaRPr lang="en-US"/>
          </a:p>
        </c:txPr>
        <c:crossAx val="122242560"/>
        <c:crosses val="autoZero"/>
        <c:auto val="1"/>
        <c:lblAlgn val="ctr"/>
        <c:lblOffset val="100"/>
        <c:noMultiLvlLbl val="1"/>
      </c:catAx>
      <c:valAx>
        <c:axId val="122242560"/>
        <c:scaling>
          <c:orientation val="minMax"/>
          <c:max val="105"/>
          <c:min val="0"/>
        </c:scaling>
        <c:delete val="1"/>
        <c:axPos val="t"/>
        <c:numFmt formatCode="General" sourceLinked="0"/>
        <c:majorTickMark val="out"/>
        <c:minorTickMark val="none"/>
        <c:tickLblPos val="low"/>
        <c:crossAx val="12224102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41F21CFF-4AD4-4581-ABE4-5D3BE95D7DE8}" type="datetimeFigureOut">
              <a:rPr lang="en-US" smtClean="0"/>
              <a:t>07/10/2026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E97BC2F0-B167-4416-8DF2-B510C8806ABB}" type="slidenum">
              <a:rPr lang="en-US" smtClean="0"/>
              <a:t>‹#›</a:t>
            </a:fld>
            <a:endParaRPr lang="en-US"/>
          </a:p>
        </p:txBody>
      </p:sp>
    </p:spTree>
    <p:extLst>
      <p:ext uri="{BB962C8B-B14F-4D97-AF65-F5344CB8AC3E}">
        <p14:creationId xmlns:p14="http://schemas.microsoft.com/office/powerpoint/2010/main" val="3171193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Welcome everyone. The ice breaker answers on page 1 of your guide will come back at the end. Today: a short film (already shown), then this strategy section, then a live demo, then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idea in one line. Schools run on many separate tools. We built one connected system around how a school actually works: assess, learn, practise.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Walk the eight steps. The assessment itself may take one hour; the work around it takes much longer. Ask: where does the time go in your department? (Their ice breaker answers may already mention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Manchester High School is about 1,800 students and more than 100 members of staff. Every test, lesson and class produces information. The question is whether teachers and leaders can see it, in time to act.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Twelve students filled in a short paper survey. A small sample, so read it as a signal, not a verdict. Step-by-step explanations came first, then practice questions. Ask the room: do these sound like your students? Wifi and offline access came up unprompted.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Ten teachers. Marking is the biggest time cost (80% of teachers). 90% want the system to show what an absent student missed, and 90% want activities for different ability levels. 80% want AI-assisted lesson planning. Everything on this slide is something we have now built; the last two slides before the demo show how.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One platform, three products with three different jobs. Assess measures learning. Learning delivers and recovers it. Play makes practice engaging. Two are already built and in use at Manchester; Play is built and held back until you choose to launch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a minute. One line: Smart Assess is for assessment only. The next four slides show building, marking, results and security. 80% of teachers named marking as their biggest time cost, so that is where we start.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Smart Assess is for assessments only: set it, sit it, mark it, understand it. Walk the six cards quickly. The demo will show building a test and the results screens.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answers the biggest survey signal: marking. Objective questions are marked the moment a student submits. For essays the teacher defines marking points; the AI can suggest a mark for each point with the words that earned it, flags where it is unsure, and the teacher edits and saves. The AI never saves a mark, never sees a student name, and only runs when a teacher asks. It is switched on per school.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Teachers asked who is struggling and what the common mistakes are (80% and 70%). Exam insight shows, per test, which questions the class missed, the wrong answer most students chose, which students may need support and why, and the class against its last five tests. Students get My Topics: their own results by topic, with a practise button. Leaders get department and school analytics.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 minute.
Fair and secure by design. Tab switches are logged and pasting is blocked. A student can only be signed in on one device. A lost connection does not lose the exam. Teachers can switch on read-aloud support. Integrity flags are only prompts: a person always decides.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a minute. Assessment tells you what happened; Smart Learning helps you act on it. The next slides cover lessons, catch-up, study support and the Library.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Smart Learning is for learning only: lessons, study support, catch-up and reading. Assessment tells you what happened; Learning helps you act on it. Lessons follow the national curriculum 5E model. Short check questions come at three levels, support, core and stretch, which answers the 90% who asked for different activities for different ability levels. The AI drafts a lesson plan from a subject, grade and topic; the teacher reviews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DOK is Depth of Knowledge, a simple scale from 1 to 4 for how deeply a student has to think. It is about the thinking, not how hard the topic is. Level 1 is recall, level 2 is using a method, level 3 is reasoning and justifying, and level 4 is an extended investigation. Every lesson plan in Smart Learning carries a DOK level next to a general objective and specific objectives. When a teacher asks the AI to draft a plan it suggests a level, and the teacher always reviews and can change it. The point is balance: it helps a teacher see when every task has stayed at recall, without turning everything into a project. The examples use simple interest because it is in the Grade 9 mathematics topic list.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The scenario: a student misses three days. The teacher records when each lesson was taught. The absent student is offered the lesson as a catch-up, works through it at their own pace, and the teacher sees who has caught up. 90% of teachers asked for exactly this. The screen on the left is a real lesson from the Manchester demo school.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What students and teachers told us they want, and what is built: flashcards (58% of students chose them) with review spacing, so cards you miss come back sooner; support, core and stretch practice per lesson; a "Current and future" page for students and teachers (what is happening now and what is coming, including upcoming assignment reminders, with no email); and the teacher resource space. The screen on the right is a real lesson builder from the demo school, with the optional AI drafting button.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Teachers asked how they would know whether lessons are landing. Each week, every student gives a one-minute evaluation of each class on their timetable: how well they understood, which topic was hardest, whether they want help, the pace, and what helped. Each teacher writes a short end-of-week reflection. The system then builds a progress report for each class with plain advice, for example "many students said the lessons went too fast", and an optional AI summary the teacher checks. Privacy is built into the database, not just the screen: the class teacher and head of department see names against the first three answers so they can help; everything else is anonymous and appears only once five students have answered. The principal team sees anonymous results only. A teacher who still has reflections to write gets one email on Friday afternoon.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You asked how to focus on students below the school average. Four parts. One: a staff list that shows, in plain words, who may need help and why: results well below the school average or falling, absences, lessons left unfinished, a long time since sign-in, or asking for help in class feedback. Two: a support plan for each student with a goal, a review date and a record of what was done, and it shows whether their results moved afterwards. Three: for the student, a My progress page that compares them only with their own earlier results, never with classmates. Four: gentle nudges to the student, such as lessons past their date. The school average is only shown once five students have results. Teachers see marks only in the subjects they teach; heads of department see their department; the principal team sees all subjects. Students never see the staff list, a plan or the school average.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 minute.
Videos: teachers and heads of department add links to videos that already exist on YouTube, Vimeo or Khan Academy. Nothing is uploaded or hosted by the school. A teacher's video waits for the head of department to approve it; a head's video is live at once. Students get a short-video feed by subject and for their grade, and a YouTube or Vimeo video plays right inside Smart Learning. Low-data mode shows no pictures and loads a video only when tapped, and turns on by itself for a phone that is saving data or on a slow connection. Students can report a problem: two reports hide the video until a teacher looks.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 minute.
The Library: books for the curriculum and books for the joy of reading, in the same place as the lessons. Smart Assess Ja chooses and clears every title (public domain or openly licensed), so schools do not upload books. The Library is built and switched on; titles are being added.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half a minute. Built and tested, held back until the school chooses to launch it. The next slide shows the games.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Smart Play is built and tested but held back until you choose to launch it. Quick, fun practice for the classroom. It does not replace formal assessment and it never holds the school's official results. Games and exams are kept apart on purpose.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This is the point of one connected system. A weak topic found in Smart Assess leads to a lesson in Smart Learning or a game in Smart Play, then back to assessment to see if it worked. No product reaches into another product's data; they share the school, the people and the topic list.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skip if you are short of time.
About 1.5 minutes.
Everyone sees what they need and nothing more. Teachers see classrooms. Heads of department see departments. Principals and administrators see the school. Each role has its own home page and menu.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Be clear about what this is not. It is not a teacher replacement: teachers stay in control of questions, marking and decisions. AI can assist with drafting and review; a person decides. It is not just a PDF on a screen: it supports the work before, during and after an assessment. And it is not three disconnected apps: the products share the school, the people and the topics.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Trust, data and AI. Each school's data lives in its own separate environment. Access rules are enforced by the database itself. Two-factor sign-in is required for every staff account, which you set up today. AI helps a teacher write and suggest; it never saves a mark and never decides. Every suggestion is reviewed by a person before it is used. The optional AI tutor stays inside a lesson, is switched on by the school, can be switched off by the principal at any time, and its conversations can be read by the teacher; worrying conversations are flagged for an adult.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This closes the loop on the survey. Left: what Manchester students and teachers told us. Right: what now exists. Be honest about the two that are not finished: step-by-step explanations are partly covered by lessons and the optional AI tutor, and offline use of flashcards and opened lessons is built and in testing.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A starting proposal, not a plan handed down. Today is step one: experience it. Then choose where to start, pilot it with real classes, review the evidence together, and decide how to widen it. Scope, timing and measures are decided with you.</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0.5 minutes.
Hand over to the live demo. Teacher, student, leadership. Everyone signs in using page 6 of their guide. Remind them the password changes on first sign-in and that they will need their authenticator app. The system administrator is signed in by the facilitator. The questions page of the guide is for anything that comes up; we come back to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it as written. Many schools use different tools for different jobs. Smart Assess Ja brings assessment, learning and practice together in one platform, with one login, one set of people and one topic list. Walk down the two columns together: separate tools and one login for everything; different security and built in security; fragmented results and meaningful results; built for other contexts and made for Jamaica. The other tools do their own jobs well. We connect the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Walk down the table one section at a time: assessment, learning, practice and engagement, school-wide. Each platform has strengths. Smart Assess Ja is different because it brings assessment, learning and practice together in one school platform. The question is not "can another tool do one of these things?" It is "how many tools and handoffs does the school need?" Other tools are excellent in their areas. Smart Assess Ja is designed to connect the whole learning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minutes.
Say these two paragraphs as written.
Other platforms are good at what they do. Smart Assess JA is designed to connect assessment, learning and practice around the same students, classes and curriculum topics, while reducing the work teachers do between those activities.
Google Classroom is useful for managing classwork. Smart Assess is designed to go further into the assessment process, from creating and administering examinations to marking, understanding results and supporting learning through connected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cmp32-image-26-2.png"/><Relationship Id="rId3" Type="http://schemas.openxmlformats.org/officeDocument/2006/relationships/image" Target="../media/cmp32-image-26-3.png"/><Relationship Id="rId4" Type="http://schemas.openxmlformats.org/officeDocument/2006/relationships/image" Target="../media/cmp32-image-26-4.png"/><Relationship Id="rId5" Type="http://schemas.openxmlformats.org/officeDocument/2006/relationships/image" Target="../media/cmp32-image-26-5.png"/><Relationship Id="rId6" Type="http://schemas.openxmlformats.org/officeDocument/2006/relationships/image" Target="../media/cmp32-image-26-6.png"/><Relationship Id="rId7" Type="http://schemas.openxmlformats.org/officeDocument/2006/relationships/image" Target="../media/cmp32-image-26-7.png"/><Relationship Id="rId8" Type="http://schemas.openxmlformats.org/officeDocument/2006/relationships/image" Target="../media/cmp32-image-26-8.png"/><Relationship Id="rId9" Type="http://schemas.openxmlformats.org/officeDocument/2006/relationships/image" Target="../media/cmp32-image-26-9.png"/><Relationship Id="rId10" Type="http://schemas.openxmlformats.org/officeDocument/2006/relationships/slideLayout" Target="../slideLayouts/slideLayout1.xml"/><Relationship Id="rId11"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cmp33-image-27-2.png"/><Relationship Id="rId3" Type="http://schemas.openxmlformats.org/officeDocument/2006/relationships/image" Target="../media/cmp33-image-27-3.png"/><Relationship Id="rId4" Type="http://schemas.openxmlformats.org/officeDocument/2006/relationships/image" Target="../media/cmp33-image-27-4.png"/><Relationship Id="rId5" Type="http://schemas.openxmlformats.org/officeDocument/2006/relationships/image" Target="../media/cmp33-image-27-5.png"/><Relationship Id="rId6" Type="http://schemas.openxmlformats.org/officeDocument/2006/relationships/image" Target="../media/cmp33-image-27-6.png"/><Relationship Id="rId7" Type="http://schemas.openxmlformats.org/officeDocument/2006/relationships/image" Target="../media/cmp33-image-27-7.png"/><Relationship Id="rId8" Type="http://schemas.openxmlformats.org/officeDocument/2006/relationships/image" Target="../media/cmp33-image-27-8.png"/><Relationship Id="rId9" Type="http://schemas.openxmlformats.org/officeDocument/2006/relationships/slideLayout" Target="../slideLayouts/slideLayout1.xml"/><Relationship Id="rId10"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Shape 10"/>
          <p:cNvSpPr/>
          <p:nvPr/>
        </p:nvSpPr>
        <p:spPr>
          <a:xfrm>
            <a:off x="1417320" y="777240"/>
            <a:ext cx="8412480" cy="4206240"/>
          </a:xfrm>
          <a:prstGeom prst="rect">
            <a:avLst/>
          </a:prstGeom>
          <a:solidFill>
            <a:srgbClr val="1E1208"/>
          </a:solidFill>
          <a:ln/>
        </p:spPr>
      </p:sp>
      <p:sp>
        <p:nvSpPr>
          <p:cNvPr id="14" name="Shape 11"/>
          <p:cNvSpPr/>
          <p:nvPr/>
        </p:nvSpPr>
        <p:spPr>
          <a:xfrm>
            <a:off x="1417320" y="5074920"/>
            <a:ext cx="8412480" cy="128016"/>
          </a:xfrm>
          <a:prstGeom prst="rect">
            <a:avLst/>
          </a:prstGeom>
          <a:solidFill>
            <a:srgbClr val="E3B51E"/>
          </a:solidFill>
          <a:ln/>
        </p:spPr>
      </p:sp>
      <p:sp>
        <p:nvSpPr>
          <p:cNvPr id="15" name="Text 12"/>
          <p:cNvSpPr/>
          <p:nvPr/>
        </p:nvSpPr>
        <p:spPr>
          <a:xfrm>
            <a:off x="1828800" y="1097280"/>
            <a:ext cx="7315200" cy="274320"/>
          </a:xfrm>
          <a:prstGeom prst="rect">
            <a:avLst/>
          </a:prstGeom>
          <a:noFill/>
          <a:ln/>
        </p:spPr>
        <p:txBody>
          <a:bodyPr wrap="square" lIns="0" tIns="0" rIns="0" bIns="0" rtlCol="0" anchor="t"/>
          <a:lstStyle/>
          <a:p>
            <a:pPr marL="0" indent="0" algn="l">
              <a:lnSpc>
                <a:spcPct val="110000"/>
              </a:lnSpc>
              <a:buNone/>
            </a:pPr>
            <a:r>
              <a:rPr lang="en-US" sz="1400" b="1" kern="0" spc="300" dirty="0">
                <a:solidFill>
                  <a:srgbClr val="E3B51E"/>
                </a:solidFill>
                <a:latin typeface="Courier New" pitchFamily="34" charset="0"/>
                <a:ea typeface="Courier New" pitchFamily="34" charset="-122"/>
                <a:cs typeface="Courier New" pitchFamily="34" charset="-120"/>
              </a:rPr>
              <a:t>STRATEGY SESSION AND LIVE DEMONSTRATION</a:t>
            </a:r>
            <a:endParaRPr lang="en-US" sz="1400" dirty="0"/>
          </a:p>
        </p:txBody>
      </p:sp>
      <p:sp>
        <p:nvSpPr>
          <p:cNvPr id="16" name="Text 13"/>
          <p:cNvSpPr/>
          <p:nvPr/>
        </p:nvSpPr>
        <p:spPr>
          <a:xfrm>
            <a:off x="1828800" y="1508760"/>
            <a:ext cx="7680960" cy="3200400"/>
          </a:xfrm>
          <a:prstGeom prst="rect">
            <a:avLst/>
          </a:prstGeom>
          <a:noFill/>
          <a:ln/>
        </p:spPr>
        <p:txBody>
          <a:bodyPr wrap="square" lIns="0" tIns="0" rIns="0" bIns="0" rtlCol="0" anchor="t"/>
          <a:lstStyle/>
          <a:p>
            <a:pPr marL="0" indent="0">
              <a:lnSpc>
                <a:spcPct val="90000"/>
              </a:lnSpc>
              <a:buNone/>
            </a:pPr>
            <a:r>
              <a:rPr lang="en-US" sz="8400" dirty="0">
                <a:solidFill>
                  <a:srgbClr val="FFFFFF"/>
                </a:solidFill>
                <a:latin typeface="Impact" pitchFamily="34" charset="0"/>
                <a:ea typeface="Impact" pitchFamily="34" charset="-122"/>
                <a:cs typeface="Impact" pitchFamily="34" charset="-120"/>
              </a:rPr>
              <a:t>SMART</a:t>
            </a:r>
            <a:endParaRPr lang="en-US" sz="8400" dirty="0"/>
          </a:p>
          <a:p>
            <a:pPr marL="0" indent="0">
              <a:lnSpc>
                <a:spcPct val="90000"/>
              </a:lnSpc>
              <a:buNone/>
            </a:pPr>
            <a:r>
              <a:rPr lang="en-US" sz="8400" dirty="0">
                <a:solidFill>
                  <a:srgbClr val="FFFFFF"/>
                </a:solidFill>
                <a:latin typeface="Impact" pitchFamily="34" charset="0"/>
                <a:ea typeface="Impact" pitchFamily="34" charset="-122"/>
                <a:cs typeface="Impact" pitchFamily="34" charset="-120"/>
              </a:rPr>
              <a:t>ASSESS </a:t>
            </a:r>
            <a:endParaRPr lang="en-US" sz="8400" dirty="0"/>
          </a:p>
          <a:p>
            <a:pPr marL="0" indent="0">
              <a:lnSpc>
                <a:spcPct val="90000"/>
              </a:lnSpc>
              <a:buNone/>
            </a:pPr>
            <a:r>
              <a:rPr lang="en-US" sz="8400" dirty="0">
                <a:solidFill>
                  <a:srgbClr val="E3B51E"/>
                </a:solidFill>
                <a:latin typeface="Impact" pitchFamily="34" charset="0"/>
                <a:ea typeface="Impact" pitchFamily="34" charset="-122"/>
                <a:cs typeface="Impact" pitchFamily="34" charset="-120"/>
              </a:rPr>
              <a:t>JA</a:t>
            </a:r>
            <a:endParaRPr lang="en-US" sz="8400" dirty="0"/>
          </a:p>
        </p:txBody>
      </p:sp>
      <p:sp>
        <p:nvSpPr>
          <p:cNvPr id="17" name="Text 14"/>
          <p:cNvSpPr/>
          <p:nvPr/>
        </p:nvSpPr>
        <p:spPr>
          <a:xfrm>
            <a:off x="1417320" y="5577840"/>
            <a:ext cx="8412480" cy="457200"/>
          </a:xfrm>
          <a:prstGeom prst="rect">
            <a:avLst/>
          </a:prstGeom>
          <a:noFill/>
          <a:ln/>
        </p:spPr>
        <p:txBody>
          <a:bodyPr wrap="square" lIns="0" tIns="0" rIns="0" bIns="0" rtlCol="0" anchor="t"/>
          <a:lstStyle/>
          <a:p>
            <a:pPr marL="0" indent="0" algn="l">
              <a:lnSpc>
                <a:spcPct val="110000"/>
              </a:lnSpc>
              <a:buNone/>
            </a:pPr>
            <a:r>
              <a:rPr lang="en-US" sz="2400" b="1" dirty="0">
                <a:solidFill>
                  <a:srgbClr val="1E1208"/>
                </a:solidFill>
                <a:latin typeface="Arial" pitchFamily="34" charset="0"/>
                <a:ea typeface="Arial" pitchFamily="34" charset="-122"/>
                <a:cs typeface="Arial" pitchFamily="34" charset="-120"/>
              </a:rPr>
              <a:t>Smarter assessments. Better learning.</a:t>
            </a:r>
            <a:endParaRPr lang="en-US" sz="2400" dirty="0"/>
          </a:p>
        </p:txBody>
      </p:sp>
      <p:sp>
        <p:nvSpPr>
          <p:cNvPr id="18" name="Text 15"/>
          <p:cNvSpPr/>
          <p:nvPr/>
        </p:nvSpPr>
        <p:spPr>
          <a:xfrm>
            <a:off x="1417320" y="6172200"/>
            <a:ext cx="8229600" cy="274320"/>
          </a:xfrm>
          <a:prstGeom prst="rect">
            <a:avLst/>
          </a:prstGeom>
          <a:noFill/>
          <a:ln/>
        </p:spPr>
        <p:txBody>
          <a:bodyPr wrap="square" lIns="0" tIns="0" rIns="0" bIns="0" rtlCol="0" anchor="t"/>
          <a:lstStyle/>
          <a:p>
            <a:pPr marL="0" indent="0" algn="l">
              <a:lnSpc>
                <a:spcPct val="110000"/>
              </a:lnSpc>
              <a:buNone/>
            </a:pPr>
            <a:r>
              <a:rPr lang="en-US" sz="1200" b="1" kern="0" spc="300" dirty="0">
                <a:solidFill>
                  <a:srgbClr val="1E1208"/>
                </a:solidFill>
                <a:latin typeface="Courier New" pitchFamily="34" charset="0"/>
                <a:ea typeface="Courier New" pitchFamily="34" charset="-122"/>
                <a:cs typeface="Courier New" pitchFamily="34" charset="-120"/>
              </a:rPr>
              <a:t>BUILT FOR MANCHESTER HIGH SCHOOL</a:t>
            </a:r>
            <a:endParaRPr lang="en-US" sz="1200" dirty="0"/>
          </a:p>
        </p:txBody>
      </p:sp>
      <p:sp>
        <p:nvSpPr>
          <p:cNvPr id="19" name="Text 15"/>
          <p:cNvSpPr/>
          <p:nvPr/>
        </p:nvSpPr>
        <p:spPr>
          <a:xfrm>
            <a:off x="1417320" y="6461760"/>
            <a:ext cx="8229600" cy="274320"/>
          </a:xfrm>
          <a:prstGeom prst="rect">
            <a:avLst/>
          </a:prstGeom>
          <a:noFill/>
          <a:ln/>
        </p:spPr>
        <p:txBody>
          <a:bodyPr wrap="square" lIns="0" tIns="0" rIns="0" bIns="0" rtlCol="0" anchor="t"/>
          <a:lstStyle/>
          <a:p>
            <a:pPr marL="0" indent="0" algn="l">
              <a:lnSpc>
                <a:spcPct val="110000"/>
              </a:lnSpc>
              <a:buNone/>
            </a:pPr>
            <a:r>
              <a:rPr lang="en-US" sz="1200" b="1" kern="0" spc="300" dirty="0" smtClean="0">
                <a:solidFill>
                  <a:srgbClr val="1E1208"/>
                </a:solidFill>
                <a:latin typeface="Courier New" pitchFamily="34" charset="0"/>
                <a:ea typeface="Courier New" pitchFamily="34" charset="-122"/>
                <a:cs typeface="Courier New" pitchFamily="34" charset="-120"/>
              </a:rPr>
              <a:t>Presented by: Steven Gordon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marL="0" indent="0">
              <a:buNone/>
            </a:pPr>
            <a:r>
              <a:rPr lang="en-US" b="1" kern="0" spc="300" dirty="0">
                <a:solidFill>
                  <a:srgbClr val="1E1208"/>
                </a:solidFill>
                <a:latin typeface="Courier New" pitchFamily="34" charset="0"/>
                <a:ea typeface="Courier New" pitchFamily="34" charset="-122"/>
                <a:cs typeface="Courier New" pitchFamily="34" charset="-120"/>
              </a:rPr>
              <a:t>WHY WE BUILT IT</a:t>
            </a:r>
            <a:endParaRPr lang="en-US" dirty="0"/>
          </a:p>
        </p:txBody>
      </p:sp>
      <p:sp>
        <p:nvSpPr>
          <p:cNvPr id="14" name="Text 11"/>
          <p:cNvSpPr/>
          <p:nvPr/>
        </p:nvSpPr>
        <p:spPr>
          <a:xfrm>
            <a:off x="1417320" y="1188720"/>
            <a:ext cx="9326880" cy="2926080"/>
          </a:xfrm>
          <a:prstGeom prst="rect">
            <a:avLst/>
          </a:prstGeom>
          <a:noFill/>
          <a:ln/>
        </p:spPr>
        <p:txBody>
          <a:bodyPr wrap="square" lIns="0" tIns="0" rIns="0" bIns="0" rtlCol="0" anchor="t"/>
          <a:lstStyle/>
          <a:p>
            <a:pPr marL="0" indent="0">
              <a:lnSpc>
                <a:spcPct val="95000"/>
              </a:lnSpc>
              <a:buNone/>
            </a:pPr>
            <a:r>
              <a:rPr lang="en-US" sz="6000" dirty="0">
                <a:solidFill>
                  <a:srgbClr val="1E1208"/>
                </a:solidFill>
                <a:latin typeface="Impact" pitchFamily="34" charset="0"/>
                <a:ea typeface="Impact" pitchFamily="34" charset="-122"/>
                <a:cs typeface="Impact" pitchFamily="34" charset="-120"/>
              </a:rPr>
              <a:t>TECHNOLOGY FINALLY ORGANISED AROUND HOW A SCHOOL ACTUALLY WORKS.</a:t>
            </a:r>
            <a:endParaRPr lang="en-US" sz="6000" dirty="0"/>
          </a:p>
        </p:txBody>
      </p:sp>
      <p:sp>
        <p:nvSpPr>
          <p:cNvPr id="15" name="Text 12"/>
          <p:cNvSpPr/>
          <p:nvPr/>
        </p:nvSpPr>
        <p:spPr>
          <a:xfrm>
            <a:off x="1417320" y="4526280"/>
            <a:ext cx="8229600" cy="457200"/>
          </a:xfrm>
          <a:prstGeom prst="rect">
            <a:avLst/>
          </a:prstGeom>
          <a:noFill/>
          <a:ln/>
        </p:spPr>
        <p:txBody>
          <a:bodyPr wrap="square" lIns="0" tIns="0" rIns="0" bIns="0" rtlCol="0" anchor="t"/>
          <a:lstStyle/>
          <a:p>
            <a:pPr marL="0" indent="0" algn="l">
              <a:lnSpc>
                <a:spcPct val="110000"/>
              </a:lnSpc>
              <a:buNone/>
            </a:pPr>
            <a:r>
              <a:rPr lang="en-US" sz="2400" b="1" dirty="0">
                <a:solidFill>
                  <a:srgbClr val="1E1208"/>
                </a:solidFill>
                <a:latin typeface="Arial" pitchFamily="34" charset="0"/>
                <a:ea typeface="Arial" pitchFamily="34" charset="-122"/>
                <a:cs typeface="Arial" pitchFamily="34" charset="-120"/>
              </a:rPr>
              <a:t>That is the idea behind Smart Assess Ja.</a:t>
            </a:r>
            <a:endParaRPr lang="en-US" sz="2400" dirty="0"/>
          </a:p>
        </p:txBody>
      </p:sp>
      <p:sp>
        <p:nvSpPr>
          <p:cNvPr id="16" name="Shape 13"/>
          <p:cNvSpPr/>
          <p:nvPr/>
        </p:nvSpPr>
        <p:spPr>
          <a:xfrm>
            <a:off x="1417320" y="5349240"/>
            <a:ext cx="1645920" cy="310896"/>
          </a:xfrm>
          <a:prstGeom prst="rect">
            <a:avLst/>
          </a:prstGeom>
          <a:solidFill>
            <a:srgbClr val="D4762A"/>
          </a:solidFill>
          <a:ln w="19050">
            <a:solidFill>
              <a:srgbClr val="1E1208"/>
            </a:solidFill>
            <a:prstDash val="solid"/>
          </a:ln>
        </p:spPr>
      </p:sp>
      <p:sp>
        <p:nvSpPr>
          <p:cNvPr id="17" name="Text 14"/>
          <p:cNvSpPr/>
          <p:nvPr/>
        </p:nvSpPr>
        <p:spPr>
          <a:xfrm>
            <a:off x="1417320" y="5349240"/>
            <a:ext cx="164592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ASSESS</a:t>
            </a:r>
            <a:endParaRPr lang="en-US" sz="1000" dirty="0"/>
          </a:p>
        </p:txBody>
      </p:sp>
      <p:sp>
        <p:nvSpPr>
          <p:cNvPr id="18" name="Shape 15"/>
          <p:cNvSpPr/>
          <p:nvPr/>
        </p:nvSpPr>
        <p:spPr>
          <a:xfrm>
            <a:off x="3246120" y="5349240"/>
            <a:ext cx="1645920" cy="310896"/>
          </a:xfrm>
          <a:prstGeom prst="rect">
            <a:avLst/>
          </a:prstGeom>
          <a:solidFill>
            <a:srgbClr val="E3B51E"/>
          </a:solidFill>
          <a:ln w="19050">
            <a:solidFill>
              <a:srgbClr val="1E1208"/>
            </a:solidFill>
            <a:prstDash val="solid"/>
          </a:ln>
        </p:spPr>
      </p:sp>
      <p:sp>
        <p:nvSpPr>
          <p:cNvPr id="19" name="Text 16"/>
          <p:cNvSpPr/>
          <p:nvPr/>
        </p:nvSpPr>
        <p:spPr>
          <a:xfrm>
            <a:off x="3246120" y="5349240"/>
            <a:ext cx="164592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LEARN</a:t>
            </a:r>
            <a:endParaRPr lang="en-US" sz="1000" dirty="0"/>
          </a:p>
        </p:txBody>
      </p:sp>
      <p:sp>
        <p:nvSpPr>
          <p:cNvPr id="20" name="Shape 17"/>
          <p:cNvSpPr/>
          <p:nvPr/>
        </p:nvSpPr>
        <p:spPr>
          <a:xfrm>
            <a:off x="5074920" y="5349240"/>
            <a:ext cx="1645920" cy="310896"/>
          </a:xfrm>
          <a:prstGeom prst="rect">
            <a:avLst/>
          </a:prstGeom>
          <a:solidFill>
            <a:srgbClr val="1E1208"/>
          </a:solidFill>
          <a:ln w="19050">
            <a:solidFill>
              <a:srgbClr val="1E1208"/>
            </a:solidFill>
            <a:prstDash val="solid"/>
          </a:ln>
        </p:spPr>
      </p:sp>
      <p:sp>
        <p:nvSpPr>
          <p:cNvPr id="21" name="Text 18"/>
          <p:cNvSpPr/>
          <p:nvPr/>
        </p:nvSpPr>
        <p:spPr>
          <a:xfrm>
            <a:off x="5074920" y="5349240"/>
            <a:ext cx="164592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PRACTISE</a:t>
            </a:r>
            <a:endParaRPr lang="en-US" sz="1000" dirty="0"/>
          </a:p>
        </p:txBody>
      </p:sp>
      <p:sp>
        <p:nvSpPr>
          <p:cNvPr id="22" name="Text 19"/>
          <p:cNvSpPr/>
          <p:nvPr/>
        </p:nvSpPr>
        <p:spPr>
          <a:xfrm>
            <a:off x="1417320" y="5943600"/>
            <a:ext cx="9144000" cy="365760"/>
          </a:xfrm>
          <a:prstGeom prst="rect">
            <a:avLst/>
          </a:prstGeom>
          <a:noFill/>
          <a:ln/>
        </p:spPr>
        <p:txBody>
          <a:bodyPr wrap="square" lIns="0" tIns="0" rIns="0" bIns="0" rtlCol="0" anchor="t"/>
          <a:lstStyle/>
          <a:p>
            <a:pPr marL="0" indent="0" algn="l">
              <a:lnSpc>
                <a:spcPct val="110000"/>
              </a:lnSpc>
              <a:buNone/>
            </a:pPr>
            <a:r>
              <a:rPr lang="en-US" sz="1600" dirty="0">
                <a:solidFill>
                  <a:srgbClr val="555555"/>
                </a:solidFill>
                <a:latin typeface="Arial" pitchFamily="34" charset="0"/>
                <a:ea typeface="Arial" pitchFamily="34" charset="-122"/>
                <a:cs typeface="Arial" pitchFamily="34" charset="-120"/>
              </a:rPr>
              <a:t>One school. One </a:t>
            </a:r>
            <a:r>
              <a:rPr lang="en-US" sz="1600" dirty="0" smtClean="0">
                <a:solidFill>
                  <a:srgbClr val="555555"/>
                </a:solidFill>
                <a:latin typeface="Arial" pitchFamily="34" charset="0"/>
                <a:ea typeface="Arial" pitchFamily="34" charset="-122"/>
                <a:cs typeface="Arial" pitchFamily="34" charset="-120"/>
              </a:rPr>
              <a:t>group</a:t>
            </a:r>
            <a:r>
              <a:rPr lang="en-US" sz="1600" dirty="0" smtClean="0">
                <a:solidFill>
                  <a:srgbClr val="555555"/>
                </a:solidFill>
                <a:latin typeface="Arial" pitchFamily="34" charset="0"/>
                <a:ea typeface="Arial" pitchFamily="34" charset="-122"/>
                <a:cs typeface="Arial" pitchFamily="34" charset="-120"/>
              </a:rPr>
              <a:t>. </a:t>
            </a:r>
            <a:r>
              <a:rPr lang="en-US" sz="1600" dirty="0">
                <a:solidFill>
                  <a:srgbClr val="555555"/>
                </a:solidFill>
                <a:latin typeface="Arial" pitchFamily="34" charset="0"/>
                <a:ea typeface="Arial" pitchFamily="34" charset="-122"/>
                <a:cs typeface="Arial" pitchFamily="34" charset="-120"/>
              </a:rPr>
              <a:t>One </a:t>
            </a:r>
            <a:r>
              <a:rPr lang="en-US" sz="1600" dirty="0" smtClean="0">
                <a:solidFill>
                  <a:srgbClr val="555555"/>
                </a:solidFill>
                <a:latin typeface="Arial" pitchFamily="34" charset="0"/>
                <a:ea typeface="Arial" pitchFamily="34" charset="-122"/>
                <a:cs typeface="Arial" pitchFamily="34" charset="-120"/>
              </a:rPr>
              <a:t>platform.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59773"/>
            <a:ext cx="9144000" cy="274320"/>
          </a:xfrm>
          <a:prstGeom prst="rect">
            <a:avLst/>
          </a:prstGeom>
          <a:noFill/>
          <a:ln/>
        </p:spPr>
        <p:txBody>
          <a:bodyPr wrap="square" lIns="0" tIns="0" rIns="0" bIns="0" rtlCol="0" anchor="ctr"/>
          <a:lstStyle/>
          <a:p>
            <a:pPr marL="0" indent="0">
              <a:buNone/>
            </a:pPr>
            <a:r>
              <a:rPr lang="en-US" sz="1600" b="1" kern="0" spc="300" dirty="0">
                <a:solidFill>
                  <a:srgbClr val="1E1208"/>
                </a:solidFill>
                <a:latin typeface="Courier New" pitchFamily="34" charset="0"/>
                <a:ea typeface="Courier New" pitchFamily="34" charset="-122"/>
                <a:cs typeface="Courier New" pitchFamily="34" charset="-120"/>
              </a:rPr>
              <a:t>THE PROBLEM</a:t>
            </a:r>
            <a:endParaRPr lang="en-US" sz="16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300" dirty="0">
                <a:solidFill>
                  <a:srgbClr val="1E1208"/>
                </a:solidFill>
                <a:latin typeface="Impact" pitchFamily="34" charset="0"/>
                <a:ea typeface="Impact" pitchFamily="34" charset="-122"/>
                <a:cs typeface="Impact" pitchFamily="34" charset="-120"/>
              </a:rPr>
              <a:t>EVERY </a:t>
            </a:r>
            <a:r>
              <a:rPr lang="en-US" sz="4300" dirty="0" smtClean="0">
                <a:solidFill>
                  <a:srgbClr val="1E1208"/>
                </a:solidFill>
                <a:latin typeface="Impact" pitchFamily="34" charset="0"/>
                <a:ea typeface="Impact" pitchFamily="34" charset="-122"/>
                <a:cs typeface="Impact" pitchFamily="34" charset="-120"/>
              </a:rPr>
              <a:t>YEAR</a:t>
            </a:r>
            <a:r>
              <a:rPr lang="en-US" sz="4300" dirty="0" smtClean="0">
                <a:solidFill>
                  <a:srgbClr val="1E1208"/>
                </a:solidFill>
                <a:latin typeface="Impact" pitchFamily="34" charset="0"/>
                <a:ea typeface="Impact" pitchFamily="34" charset="-122"/>
                <a:cs typeface="Impact" pitchFamily="34" charset="-120"/>
              </a:rPr>
              <a:t>, </a:t>
            </a:r>
            <a:r>
              <a:rPr lang="en-US" sz="4300" dirty="0">
                <a:solidFill>
                  <a:srgbClr val="1E1208"/>
                </a:solidFill>
                <a:latin typeface="Impact" pitchFamily="34" charset="0"/>
                <a:ea typeface="Impact" pitchFamily="34" charset="-122"/>
                <a:cs typeface="Impact" pitchFamily="34" charset="-120"/>
              </a:rPr>
              <a:t>LEARNING TRAVELS ONTO </a:t>
            </a:r>
            <a:r>
              <a:rPr lang="en-US" sz="4300" dirty="0" smtClean="0">
                <a:solidFill>
                  <a:srgbClr val="1E1208"/>
                </a:solidFill>
                <a:latin typeface="Impact" pitchFamily="34" charset="0"/>
                <a:ea typeface="Impact" pitchFamily="34" charset="-122"/>
                <a:cs typeface="Impact" pitchFamily="34" charset="-120"/>
              </a:rPr>
              <a:t>PAPER</a:t>
            </a:r>
            <a:r>
              <a:rPr lang="en-US" sz="4300" dirty="0">
                <a:solidFill>
                  <a:srgbClr val="1E1208"/>
                </a:solidFill>
                <a:latin typeface="Impact" pitchFamily="34" charset="0"/>
                <a:ea typeface="Impact" pitchFamily="34" charset="-122"/>
                <a:cs typeface="Impact" pitchFamily="34" charset="-120"/>
              </a:rPr>
              <a:t>.</a:t>
            </a:r>
            <a:endParaRPr lang="en-US" sz="4300" dirty="0"/>
          </a:p>
        </p:txBody>
      </p:sp>
      <p:sp>
        <p:nvSpPr>
          <p:cNvPr id="15" name="Shape 12"/>
          <p:cNvSpPr/>
          <p:nvPr/>
        </p:nvSpPr>
        <p:spPr>
          <a:xfrm>
            <a:off x="1417320" y="2148840"/>
            <a:ext cx="2240280" cy="1508760"/>
          </a:xfrm>
          <a:prstGeom prst="rect">
            <a:avLst/>
          </a:prstGeom>
          <a:solidFill>
            <a:srgbClr val="FFFFFF"/>
          </a:solidFill>
          <a:ln w="25400">
            <a:solidFill>
              <a:srgbClr val="1E1208"/>
            </a:solidFill>
            <a:prstDash val="solid"/>
          </a:ln>
        </p:spPr>
      </p:sp>
      <p:sp>
        <p:nvSpPr>
          <p:cNvPr id="16" name="Shape 13"/>
          <p:cNvSpPr/>
          <p:nvPr/>
        </p:nvSpPr>
        <p:spPr>
          <a:xfrm>
            <a:off x="1417320" y="2148840"/>
            <a:ext cx="640080" cy="1508760"/>
          </a:xfrm>
          <a:prstGeom prst="rect">
            <a:avLst/>
          </a:prstGeom>
          <a:solidFill>
            <a:srgbClr val="FBE9D6"/>
          </a:solidFill>
          <a:ln w="25400">
            <a:solidFill>
              <a:srgbClr val="1E1208"/>
            </a:solidFill>
            <a:prstDash val="solid"/>
          </a:ln>
        </p:spPr>
      </p:sp>
      <p:sp>
        <p:nvSpPr>
          <p:cNvPr id="17" name="Text 14"/>
          <p:cNvSpPr/>
          <p:nvPr/>
        </p:nvSpPr>
        <p:spPr>
          <a:xfrm>
            <a:off x="1417320" y="214884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1</a:t>
            </a:r>
            <a:endParaRPr lang="en-US" sz="3600" dirty="0"/>
          </a:p>
        </p:txBody>
      </p:sp>
      <p:sp>
        <p:nvSpPr>
          <p:cNvPr id="18" name="Text 15"/>
          <p:cNvSpPr/>
          <p:nvPr/>
        </p:nvSpPr>
        <p:spPr>
          <a:xfrm>
            <a:off x="2167128" y="237744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CREATE</a:t>
            </a:r>
            <a:endParaRPr lang="en-US" sz="2000" dirty="0"/>
          </a:p>
        </p:txBody>
      </p:sp>
      <p:sp>
        <p:nvSpPr>
          <p:cNvPr id="19" name="Text 16"/>
          <p:cNvSpPr/>
          <p:nvPr/>
        </p:nvSpPr>
        <p:spPr>
          <a:xfrm>
            <a:off x="2167128" y="283464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Teacher creates the exam</a:t>
            </a:r>
            <a:endParaRPr lang="en-US" sz="1250" dirty="0"/>
          </a:p>
        </p:txBody>
      </p:sp>
      <p:sp>
        <p:nvSpPr>
          <p:cNvPr id="20" name="Shape 17"/>
          <p:cNvSpPr/>
          <p:nvPr/>
        </p:nvSpPr>
        <p:spPr>
          <a:xfrm>
            <a:off x="3813048" y="2148840"/>
            <a:ext cx="2240280" cy="1508760"/>
          </a:xfrm>
          <a:prstGeom prst="rect">
            <a:avLst/>
          </a:prstGeom>
          <a:solidFill>
            <a:srgbClr val="FFFFFF"/>
          </a:solidFill>
          <a:ln w="25400">
            <a:solidFill>
              <a:srgbClr val="1E1208"/>
            </a:solidFill>
            <a:prstDash val="solid"/>
          </a:ln>
        </p:spPr>
      </p:sp>
      <p:sp>
        <p:nvSpPr>
          <p:cNvPr id="21" name="Shape 18"/>
          <p:cNvSpPr/>
          <p:nvPr/>
        </p:nvSpPr>
        <p:spPr>
          <a:xfrm>
            <a:off x="3813048" y="2148840"/>
            <a:ext cx="640080" cy="1508760"/>
          </a:xfrm>
          <a:prstGeom prst="rect">
            <a:avLst/>
          </a:prstGeom>
          <a:solidFill>
            <a:srgbClr val="FBE9D6"/>
          </a:solidFill>
          <a:ln w="25400">
            <a:solidFill>
              <a:srgbClr val="1E1208"/>
            </a:solidFill>
            <a:prstDash val="solid"/>
          </a:ln>
        </p:spPr>
      </p:sp>
      <p:sp>
        <p:nvSpPr>
          <p:cNvPr id="22" name="Text 19"/>
          <p:cNvSpPr/>
          <p:nvPr/>
        </p:nvSpPr>
        <p:spPr>
          <a:xfrm>
            <a:off x="3813048" y="214884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2</a:t>
            </a:r>
            <a:endParaRPr lang="en-US" sz="3600" dirty="0"/>
          </a:p>
        </p:txBody>
      </p:sp>
      <p:sp>
        <p:nvSpPr>
          <p:cNvPr id="23" name="Text 20"/>
          <p:cNvSpPr/>
          <p:nvPr/>
        </p:nvSpPr>
        <p:spPr>
          <a:xfrm>
            <a:off x="4562856" y="237744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PRINT</a:t>
            </a:r>
            <a:endParaRPr lang="en-US" sz="2000" dirty="0"/>
          </a:p>
        </p:txBody>
      </p:sp>
      <p:sp>
        <p:nvSpPr>
          <p:cNvPr id="24" name="Text 21"/>
          <p:cNvSpPr/>
          <p:nvPr/>
        </p:nvSpPr>
        <p:spPr>
          <a:xfrm>
            <a:off x="4562856" y="283464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Copies are printed</a:t>
            </a:r>
            <a:endParaRPr lang="en-US" sz="1250" dirty="0"/>
          </a:p>
        </p:txBody>
      </p:sp>
      <p:sp>
        <p:nvSpPr>
          <p:cNvPr id="25" name="Shape 22"/>
          <p:cNvSpPr/>
          <p:nvPr/>
        </p:nvSpPr>
        <p:spPr>
          <a:xfrm>
            <a:off x="6208776" y="2148840"/>
            <a:ext cx="2240280" cy="1508760"/>
          </a:xfrm>
          <a:prstGeom prst="rect">
            <a:avLst/>
          </a:prstGeom>
          <a:solidFill>
            <a:srgbClr val="FFFFFF"/>
          </a:solidFill>
          <a:ln w="25400">
            <a:solidFill>
              <a:srgbClr val="1E1208"/>
            </a:solidFill>
            <a:prstDash val="solid"/>
          </a:ln>
        </p:spPr>
      </p:sp>
      <p:sp>
        <p:nvSpPr>
          <p:cNvPr id="26" name="Shape 23"/>
          <p:cNvSpPr/>
          <p:nvPr/>
        </p:nvSpPr>
        <p:spPr>
          <a:xfrm>
            <a:off x="6208776" y="2148840"/>
            <a:ext cx="640080" cy="1508760"/>
          </a:xfrm>
          <a:prstGeom prst="rect">
            <a:avLst/>
          </a:prstGeom>
          <a:solidFill>
            <a:srgbClr val="FBE9D6"/>
          </a:solidFill>
          <a:ln w="25400">
            <a:solidFill>
              <a:srgbClr val="1E1208"/>
            </a:solidFill>
            <a:prstDash val="solid"/>
          </a:ln>
        </p:spPr>
      </p:sp>
      <p:sp>
        <p:nvSpPr>
          <p:cNvPr id="27" name="Text 24"/>
          <p:cNvSpPr/>
          <p:nvPr/>
        </p:nvSpPr>
        <p:spPr>
          <a:xfrm>
            <a:off x="6208776" y="214884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3</a:t>
            </a:r>
            <a:endParaRPr lang="en-US" sz="3600" dirty="0"/>
          </a:p>
        </p:txBody>
      </p:sp>
      <p:sp>
        <p:nvSpPr>
          <p:cNvPr id="28" name="Text 25"/>
          <p:cNvSpPr/>
          <p:nvPr/>
        </p:nvSpPr>
        <p:spPr>
          <a:xfrm>
            <a:off x="6958584" y="237744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COPY</a:t>
            </a:r>
            <a:endParaRPr lang="en-US" sz="2000" dirty="0"/>
          </a:p>
        </p:txBody>
      </p:sp>
      <p:sp>
        <p:nvSpPr>
          <p:cNvPr id="29" name="Text 26"/>
          <p:cNvSpPr/>
          <p:nvPr/>
        </p:nvSpPr>
        <p:spPr>
          <a:xfrm>
            <a:off x="6958584" y="283464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Enough papers are prepared</a:t>
            </a:r>
            <a:endParaRPr lang="en-US" sz="1250" dirty="0"/>
          </a:p>
        </p:txBody>
      </p:sp>
      <p:sp>
        <p:nvSpPr>
          <p:cNvPr id="30" name="Shape 27"/>
          <p:cNvSpPr/>
          <p:nvPr/>
        </p:nvSpPr>
        <p:spPr>
          <a:xfrm>
            <a:off x="8604504" y="2148840"/>
            <a:ext cx="2240280" cy="1508760"/>
          </a:xfrm>
          <a:prstGeom prst="rect">
            <a:avLst/>
          </a:prstGeom>
          <a:solidFill>
            <a:srgbClr val="FFFFFF"/>
          </a:solidFill>
          <a:ln w="25400">
            <a:solidFill>
              <a:srgbClr val="1E1208"/>
            </a:solidFill>
            <a:prstDash val="solid"/>
          </a:ln>
        </p:spPr>
      </p:sp>
      <p:sp>
        <p:nvSpPr>
          <p:cNvPr id="31" name="Shape 28"/>
          <p:cNvSpPr/>
          <p:nvPr/>
        </p:nvSpPr>
        <p:spPr>
          <a:xfrm>
            <a:off x="8604504" y="2148840"/>
            <a:ext cx="640080" cy="1508760"/>
          </a:xfrm>
          <a:prstGeom prst="rect">
            <a:avLst/>
          </a:prstGeom>
          <a:solidFill>
            <a:srgbClr val="FBE9D6"/>
          </a:solidFill>
          <a:ln w="25400">
            <a:solidFill>
              <a:srgbClr val="1E1208"/>
            </a:solidFill>
            <a:prstDash val="solid"/>
          </a:ln>
        </p:spPr>
      </p:sp>
      <p:sp>
        <p:nvSpPr>
          <p:cNvPr id="32" name="Text 29"/>
          <p:cNvSpPr/>
          <p:nvPr/>
        </p:nvSpPr>
        <p:spPr>
          <a:xfrm>
            <a:off x="8604504" y="214884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4</a:t>
            </a:r>
            <a:endParaRPr lang="en-US" sz="3600" dirty="0"/>
          </a:p>
        </p:txBody>
      </p:sp>
      <p:sp>
        <p:nvSpPr>
          <p:cNvPr id="33" name="Text 30"/>
          <p:cNvSpPr/>
          <p:nvPr/>
        </p:nvSpPr>
        <p:spPr>
          <a:xfrm>
            <a:off x="9354312" y="237744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ADMINISTER</a:t>
            </a:r>
            <a:endParaRPr lang="en-US" sz="2000" dirty="0"/>
          </a:p>
        </p:txBody>
      </p:sp>
      <p:sp>
        <p:nvSpPr>
          <p:cNvPr id="34" name="Text 31"/>
          <p:cNvSpPr/>
          <p:nvPr/>
        </p:nvSpPr>
        <p:spPr>
          <a:xfrm>
            <a:off x="9354312" y="283464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Students sit the exam</a:t>
            </a:r>
            <a:endParaRPr lang="en-US" sz="1250" dirty="0"/>
          </a:p>
        </p:txBody>
      </p:sp>
      <p:sp>
        <p:nvSpPr>
          <p:cNvPr id="35" name="Shape 32"/>
          <p:cNvSpPr/>
          <p:nvPr/>
        </p:nvSpPr>
        <p:spPr>
          <a:xfrm>
            <a:off x="1417320" y="3840480"/>
            <a:ext cx="2240280" cy="1508760"/>
          </a:xfrm>
          <a:prstGeom prst="rect">
            <a:avLst/>
          </a:prstGeom>
          <a:solidFill>
            <a:srgbClr val="FFFFFF"/>
          </a:solidFill>
          <a:ln w="25400">
            <a:solidFill>
              <a:srgbClr val="1E1208"/>
            </a:solidFill>
            <a:prstDash val="solid"/>
          </a:ln>
        </p:spPr>
      </p:sp>
      <p:sp>
        <p:nvSpPr>
          <p:cNvPr id="36" name="Shape 33"/>
          <p:cNvSpPr/>
          <p:nvPr/>
        </p:nvSpPr>
        <p:spPr>
          <a:xfrm>
            <a:off x="1417320" y="3840480"/>
            <a:ext cx="640080" cy="1508760"/>
          </a:xfrm>
          <a:prstGeom prst="rect">
            <a:avLst/>
          </a:prstGeom>
          <a:solidFill>
            <a:srgbClr val="FBE9D6"/>
          </a:solidFill>
          <a:ln w="25400">
            <a:solidFill>
              <a:srgbClr val="1E1208"/>
            </a:solidFill>
            <a:prstDash val="solid"/>
          </a:ln>
        </p:spPr>
      </p:sp>
      <p:sp>
        <p:nvSpPr>
          <p:cNvPr id="37" name="Text 34"/>
          <p:cNvSpPr/>
          <p:nvPr/>
        </p:nvSpPr>
        <p:spPr>
          <a:xfrm>
            <a:off x="1417320" y="384048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5</a:t>
            </a:r>
            <a:endParaRPr lang="en-US" sz="3600" dirty="0"/>
          </a:p>
        </p:txBody>
      </p:sp>
      <p:sp>
        <p:nvSpPr>
          <p:cNvPr id="38" name="Text 35"/>
          <p:cNvSpPr/>
          <p:nvPr/>
        </p:nvSpPr>
        <p:spPr>
          <a:xfrm>
            <a:off x="2167128" y="406908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COLLECT</a:t>
            </a:r>
            <a:endParaRPr lang="en-US" sz="2000" dirty="0"/>
          </a:p>
        </p:txBody>
      </p:sp>
      <p:sp>
        <p:nvSpPr>
          <p:cNvPr id="39" name="Text 36"/>
          <p:cNvSpPr/>
          <p:nvPr/>
        </p:nvSpPr>
        <p:spPr>
          <a:xfrm>
            <a:off x="2167128" y="452628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Papers come back</a:t>
            </a:r>
            <a:endParaRPr lang="en-US" sz="1250" dirty="0"/>
          </a:p>
        </p:txBody>
      </p:sp>
      <p:sp>
        <p:nvSpPr>
          <p:cNvPr id="40" name="Shape 37"/>
          <p:cNvSpPr/>
          <p:nvPr/>
        </p:nvSpPr>
        <p:spPr>
          <a:xfrm>
            <a:off x="3813048" y="3840480"/>
            <a:ext cx="2240280" cy="1508760"/>
          </a:xfrm>
          <a:prstGeom prst="rect">
            <a:avLst/>
          </a:prstGeom>
          <a:solidFill>
            <a:srgbClr val="FFFFFF"/>
          </a:solidFill>
          <a:ln w="25400">
            <a:solidFill>
              <a:srgbClr val="1E1208"/>
            </a:solidFill>
            <a:prstDash val="solid"/>
          </a:ln>
        </p:spPr>
      </p:sp>
      <p:sp>
        <p:nvSpPr>
          <p:cNvPr id="41" name="Shape 38"/>
          <p:cNvSpPr/>
          <p:nvPr/>
        </p:nvSpPr>
        <p:spPr>
          <a:xfrm>
            <a:off x="3813048" y="3840480"/>
            <a:ext cx="640080" cy="1508760"/>
          </a:xfrm>
          <a:prstGeom prst="rect">
            <a:avLst/>
          </a:prstGeom>
          <a:solidFill>
            <a:srgbClr val="FBE9D6"/>
          </a:solidFill>
          <a:ln w="25400">
            <a:solidFill>
              <a:srgbClr val="1E1208"/>
            </a:solidFill>
            <a:prstDash val="solid"/>
          </a:ln>
        </p:spPr>
      </p:sp>
      <p:sp>
        <p:nvSpPr>
          <p:cNvPr id="42" name="Text 39"/>
          <p:cNvSpPr/>
          <p:nvPr/>
        </p:nvSpPr>
        <p:spPr>
          <a:xfrm>
            <a:off x="3813048" y="384048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6</a:t>
            </a:r>
            <a:endParaRPr lang="en-US" sz="3600" dirty="0"/>
          </a:p>
        </p:txBody>
      </p:sp>
      <p:sp>
        <p:nvSpPr>
          <p:cNvPr id="43" name="Text 40"/>
          <p:cNvSpPr/>
          <p:nvPr/>
        </p:nvSpPr>
        <p:spPr>
          <a:xfrm>
            <a:off x="4562856" y="406908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MARK</a:t>
            </a:r>
            <a:endParaRPr lang="en-US" sz="2000" dirty="0"/>
          </a:p>
        </p:txBody>
      </p:sp>
      <p:sp>
        <p:nvSpPr>
          <p:cNvPr id="44" name="Text 41"/>
          <p:cNvSpPr/>
          <p:nvPr/>
        </p:nvSpPr>
        <p:spPr>
          <a:xfrm>
            <a:off x="4562856" y="452628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Teacher marks</a:t>
            </a:r>
            <a:endParaRPr lang="en-US" sz="1250" dirty="0"/>
          </a:p>
        </p:txBody>
      </p:sp>
      <p:sp>
        <p:nvSpPr>
          <p:cNvPr id="45" name="Shape 42"/>
          <p:cNvSpPr/>
          <p:nvPr/>
        </p:nvSpPr>
        <p:spPr>
          <a:xfrm>
            <a:off x="6208776" y="3840480"/>
            <a:ext cx="2240280" cy="1508760"/>
          </a:xfrm>
          <a:prstGeom prst="rect">
            <a:avLst/>
          </a:prstGeom>
          <a:solidFill>
            <a:srgbClr val="FFFFFF"/>
          </a:solidFill>
          <a:ln w="25400">
            <a:solidFill>
              <a:srgbClr val="1E1208"/>
            </a:solidFill>
            <a:prstDash val="solid"/>
          </a:ln>
        </p:spPr>
      </p:sp>
      <p:sp>
        <p:nvSpPr>
          <p:cNvPr id="46" name="Shape 43"/>
          <p:cNvSpPr/>
          <p:nvPr/>
        </p:nvSpPr>
        <p:spPr>
          <a:xfrm>
            <a:off x="6208776" y="3840480"/>
            <a:ext cx="640080" cy="1508760"/>
          </a:xfrm>
          <a:prstGeom prst="rect">
            <a:avLst/>
          </a:prstGeom>
          <a:solidFill>
            <a:srgbClr val="FBE9D6"/>
          </a:solidFill>
          <a:ln w="25400">
            <a:solidFill>
              <a:srgbClr val="1E1208"/>
            </a:solidFill>
            <a:prstDash val="solid"/>
          </a:ln>
        </p:spPr>
      </p:sp>
      <p:sp>
        <p:nvSpPr>
          <p:cNvPr id="47" name="Text 44"/>
          <p:cNvSpPr/>
          <p:nvPr/>
        </p:nvSpPr>
        <p:spPr>
          <a:xfrm>
            <a:off x="6208776" y="384048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7</a:t>
            </a:r>
            <a:endParaRPr lang="en-US" sz="3600" dirty="0"/>
          </a:p>
        </p:txBody>
      </p:sp>
      <p:sp>
        <p:nvSpPr>
          <p:cNvPr id="48" name="Text 45"/>
          <p:cNvSpPr/>
          <p:nvPr/>
        </p:nvSpPr>
        <p:spPr>
          <a:xfrm>
            <a:off x="6958584" y="406908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RECORD</a:t>
            </a:r>
            <a:endParaRPr lang="en-US" sz="2000" dirty="0"/>
          </a:p>
        </p:txBody>
      </p:sp>
      <p:sp>
        <p:nvSpPr>
          <p:cNvPr id="49" name="Text 46"/>
          <p:cNvSpPr/>
          <p:nvPr/>
        </p:nvSpPr>
        <p:spPr>
          <a:xfrm>
            <a:off x="6958584" y="452628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Grades are entered</a:t>
            </a:r>
            <a:endParaRPr lang="en-US" sz="1250" dirty="0"/>
          </a:p>
        </p:txBody>
      </p:sp>
      <p:sp>
        <p:nvSpPr>
          <p:cNvPr id="50" name="Shape 47"/>
          <p:cNvSpPr/>
          <p:nvPr/>
        </p:nvSpPr>
        <p:spPr>
          <a:xfrm>
            <a:off x="8604504" y="3840480"/>
            <a:ext cx="2240280" cy="1508760"/>
          </a:xfrm>
          <a:prstGeom prst="rect">
            <a:avLst/>
          </a:prstGeom>
          <a:solidFill>
            <a:srgbClr val="FFFFFF"/>
          </a:solidFill>
          <a:ln w="25400">
            <a:solidFill>
              <a:srgbClr val="1E1208"/>
            </a:solidFill>
            <a:prstDash val="solid"/>
          </a:ln>
        </p:spPr>
      </p:sp>
      <p:sp>
        <p:nvSpPr>
          <p:cNvPr id="51" name="Shape 48"/>
          <p:cNvSpPr/>
          <p:nvPr/>
        </p:nvSpPr>
        <p:spPr>
          <a:xfrm>
            <a:off x="8604504" y="3840480"/>
            <a:ext cx="640080" cy="1508760"/>
          </a:xfrm>
          <a:prstGeom prst="rect">
            <a:avLst/>
          </a:prstGeom>
          <a:solidFill>
            <a:srgbClr val="D4762A"/>
          </a:solidFill>
          <a:ln w="25400">
            <a:solidFill>
              <a:srgbClr val="1E1208"/>
            </a:solidFill>
            <a:prstDash val="solid"/>
          </a:ln>
        </p:spPr>
      </p:sp>
      <p:sp>
        <p:nvSpPr>
          <p:cNvPr id="52" name="Text 49"/>
          <p:cNvSpPr/>
          <p:nvPr/>
        </p:nvSpPr>
        <p:spPr>
          <a:xfrm>
            <a:off x="8604504" y="3840480"/>
            <a:ext cx="640080" cy="1508760"/>
          </a:xfrm>
          <a:prstGeom prst="rect">
            <a:avLst/>
          </a:prstGeom>
          <a:noFill/>
          <a:ln/>
        </p:spPr>
        <p:txBody>
          <a:bodyPr wrap="square" lIns="0" tIns="0" rIns="0" bIns="0" rtlCol="0" anchor="ctr"/>
          <a:lstStyle/>
          <a:p>
            <a:pPr marL="0" indent="0" algn="ctr">
              <a:lnSpc>
                <a:spcPct val="110000"/>
              </a:lnSpc>
              <a:buNone/>
            </a:pPr>
            <a:r>
              <a:rPr lang="en-US" sz="3600" dirty="0">
                <a:solidFill>
                  <a:srgbClr val="1E1208"/>
                </a:solidFill>
                <a:latin typeface="Impact" pitchFamily="34" charset="0"/>
                <a:ea typeface="Impact" pitchFamily="34" charset="-122"/>
                <a:cs typeface="Impact" pitchFamily="34" charset="-120"/>
              </a:rPr>
              <a:t>8</a:t>
            </a:r>
            <a:endParaRPr lang="en-US" sz="3600" dirty="0"/>
          </a:p>
        </p:txBody>
      </p:sp>
      <p:sp>
        <p:nvSpPr>
          <p:cNvPr id="53" name="Text 50"/>
          <p:cNvSpPr/>
          <p:nvPr/>
        </p:nvSpPr>
        <p:spPr>
          <a:xfrm>
            <a:off x="9354312" y="4069080"/>
            <a:ext cx="1417320" cy="36576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ANALYSE</a:t>
            </a:r>
            <a:endParaRPr lang="en-US" sz="2000" dirty="0"/>
          </a:p>
        </p:txBody>
      </p:sp>
      <p:sp>
        <p:nvSpPr>
          <p:cNvPr id="54" name="Text 51"/>
          <p:cNvSpPr/>
          <p:nvPr/>
        </p:nvSpPr>
        <p:spPr>
          <a:xfrm>
            <a:off x="9354312" y="4526280"/>
            <a:ext cx="141732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Results are interpreted</a:t>
            </a:r>
            <a:endParaRPr lang="en-US" sz="1250" dirty="0"/>
          </a:p>
        </p:txBody>
      </p:sp>
      <p:sp>
        <p:nvSpPr>
          <p:cNvPr id="55" name="Shape 52"/>
          <p:cNvSpPr/>
          <p:nvPr/>
        </p:nvSpPr>
        <p:spPr>
          <a:xfrm>
            <a:off x="1417320" y="5623560"/>
            <a:ext cx="9509760" cy="502920"/>
          </a:xfrm>
          <a:prstGeom prst="rect">
            <a:avLst/>
          </a:prstGeom>
          <a:solidFill>
            <a:srgbClr val="1E1208"/>
          </a:solidFill>
          <a:ln/>
        </p:spPr>
      </p:sp>
      <p:sp>
        <p:nvSpPr>
          <p:cNvPr id="56" name="Text 53"/>
          <p:cNvSpPr/>
          <p:nvPr/>
        </p:nvSpPr>
        <p:spPr>
          <a:xfrm>
            <a:off x="1600200" y="5623560"/>
            <a:ext cx="9144000" cy="502920"/>
          </a:xfrm>
          <a:prstGeom prst="rect">
            <a:avLst/>
          </a:prstGeom>
          <a:noFill/>
          <a:ln/>
        </p:spPr>
        <p:txBody>
          <a:bodyPr wrap="square" lIns="0" tIns="0" rIns="0" bIns="0" rtlCol="0" anchor="ctr"/>
          <a:lstStyle/>
          <a:p>
            <a:pPr marL="0" indent="0" algn="l">
              <a:lnSpc>
                <a:spcPct val="110000"/>
              </a:lnSpc>
              <a:buNone/>
            </a:pPr>
            <a:r>
              <a:rPr lang="en-US" sz="1500" b="1" dirty="0">
                <a:solidFill>
                  <a:srgbClr val="FFFFFF"/>
                </a:solidFill>
                <a:latin typeface="Arial" pitchFamily="34" charset="0"/>
                <a:ea typeface="Arial" pitchFamily="34" charset="-122"/>
                <a:cs typeface="Arial" pitchFamily="34" charset="-120"/>
              </a:rPr>
              <a:t>This consumes time, money, paper and administrative effort.</a:t>
            </a:r>
            <a:endParaRPr lang="en-US" sz="1500" dirty="0"/>
          </a:p>
        </p:txBody>
      </p:sp>
      <p:sp>
        <p:nvSpPr>
          <p:cNvPr id="57" name="Text 54"/>
          <p:cNvSpPr/>
          <p:nvPr/>
        </p:nvSpPr>
        <p:spPr>
          <a:xfrm>
            <a:off x="1417320" y="6217920"/>
            <a:ext cx="9509760" cy="320040"/>
          </a:xfrm>
          <a:prstGeom prst="rect">
            <a:avLst/>
          </a:prstGeom>
          <a:noFill/>
          <a:ln/>
        </p:spPr>
        <p:txBody>
          <a:bodyPr wrap="square" lIns="0" tIns="0" rIns="0" bIns="0" rtlCol="0" anchor="t"/>
          <a:lstStyle/>
          <a:p>
            <a:pPr marL="0" indent="0" algn="l">
              <a:lnSpc>
                <a:spcPct val="110000"/>
              </a:lnSpc>
              <a:buNone/>
            </a:pPr>
            <a:r>
              <a:rPr lang="en-US" sz="1400" dirty="0">
                <a:solidFill>
                  <a:srgbClr val="555555"/>
                </a:solidFill>
                <a:latin typeface="Arial" pitchFamily="34" charset="0"/>
                <a:ea typeface="Arial" pitchFamily="34" charset="-122"/>
                <a:cs typeface="Arial" pitchFamily="34" charset="-120"/>
              </a:rPr>
              <a:t>The assessment itself may take one hour. The work around it </a:t>
            </a:r>
            <a:r>
              <a:rPr lang="en-US" sz="1400" dirty="0" smtClean="0">
                <a:solidFill>
                  <a:srgbClr val="555555"/>
                </a:solidFill>
                <a:latin typeface="Arial" pitchFamily="34" charset="0"/>
                <a:ea typeface="Arial" pitchFamily="34" charset="-122"/>
                <a:cs typeface="Arial" pitchFamily="34" charset="-120"/>
              </a:rPr>
              <a:t>will take longer</a:t>
            </a:r>
            <a:r>
              <a:rPr lang="en-US" sz="1400" dirty="0">
                <a:solidFill>
                  <a:srgbClr val="555555"/>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97674"/>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YOUR SCHOOL</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fontScale="92500" lnSpcReduction="20000"/>
          </a:bodyPr>
          <a:lstStyle/>
          <a:p>
            <a:pPr marL="0" indent="0">
              <a:buNone/>
            </a:pPr>
            <a:r>
              <a:rPr lang="en-US" sz="4300" dirty="0">
                <a:solidFill>
                  <a:srgbClr val="1E1208"/>
                </a:solidFill>
                <a:latin typeface="Impact" pitchFamily="34" charset="0"/>
                <a:ea typeface="Impact" pitchFamily="34" charset="-122"/>
                <a:cs typeface="Impact" pitchFamily="34" charset="-120"/>
              </a:rPr>
              <a:t>ONE SCHOOL OF ABOUT 1,800 STUDENTS AND 100+ STAFF</a:t>
            </a:r>
            <a:endParaRPr lang="en-US" sz="4300" dirty="0"/>
          </a:p>
        </p:txBody>
      </p:sp>
      <p:sp>
        <p:nvSpPr>
          <p:cNvPr id="15" name="Shape 12"/>
          <p:cNvSpPr/>
          <p:nvPr/>
        </p:nvSpPr>
        <p:spPr>
          <a:xfrm>
            <a:off x="1417320" y="1965960"/>
            <a:ext cx="3840480" cy="3749040"/>
          </a:xfrm>
          <a:prstGeom prst="rect">
            <a:avLst/>
          </a:prstGeom>
          <a:solidFill>
            <a:srgbClr val="D4762A"/>
          </a:solidFill>
          <a:ln w="25400">
            <a:solidFill>
              <a:srgbClr val="1E1208"/>
            </a:solidFill>
            <a:prstDash val="solid"/>
          </a:ln>
        </p:spPr>
      </p:sp>
      <p:sp>
        <p:nvSpPr>
          <p:cNvPr id="16" name="Text 13"/>
          <p:cNvSpPr/>
          <p:nvPr/>
        </p:nvSpPr>
        <p:spPr>
          <a:xfrm>
            <a:off x="1645920" y="2057400"/>
            <a:ext cx="3474720" cy="1005840"/>
          </a:xfrm>
          <a:prstGeom prst="rect">
            <a:avLst/>
          </a:prstGeom>
          <a:noFill/>
          <a:ln/>
        </p:spPr>
        <p:txBody>
          <a:bodyPr wrap="square" lIns="0" tIns="0" rIns="0" bIns="0" rtlCol="0" anchor="t"/>
          <a:lstStyle/>
          <a:p>
            <a:pPr marL="0" indent="0" algn="l">
              <a:lnSpc>
                <a:spcPct val="110000"/>
              </a:lnSpc>
              <a:buNone/>
            </a:pPr>
            <a:r>
              <a:rPr lang="en-US" sz="6600" dirty="0">
                <a:solidFill>
                  <a:srgbClr val="1E1208"/>
                </a:solidFill>
                <a:latin typeface="Impact" pitchFamily="34" charset="0"/>
                <a:ea typeface="Impact" pitchFamily="34" charset="-122"/>
                <a:cs typeface="Impact" pitchFamily="34" charset="-120"/>
              </a:rPr>
              <a:t>≈1,800</a:t>
            </a:r>
            <a:endParaRPr lang="en-US" sz="6600" dirty="0"/>
          </a:p>
        </p:txBody>
      </p:sp>
      <p:sp>
        <p:nvSpPr>
          <p:cNvPr id="17" name="Text 14"/>
          <p:cNvSpPr/>
          <p:nvPr/>
        </p:nvSpPr>
        <p:spPr>
          <a:xfrm>
            <a:off x="1645920" y="3017520"/>
            <a:ext cx="3383280" cy="411480"/>
          </a:xfrm>
          <a:prstGeom prst="rect">
            <a:avLst/>
          </a:prstGeom>
          <a:noFill/>
          <a:ln/>
        </p:spPr>
        <p:txBody>
          <a:bodyPr wrap="square" lIns="0" tIns="0" rIns="0" bIns="0" rtlCol="0" anchor="t"/>
          <a:lstStyle/>
          <a:p>
            <a:pPr marL="0" indent="0" algn="l">
              <a:lnSpc>
                <a:spcPct val="110000"/>
              </a:lnSpc>
              <a:buNone/>
            </a:pPr>
            <a:r>
              <a:rPr lang="en-US" sz="2400" dirty="0">
                <a:solidFill>
                  <a:srgbClr val="1E1208"/>
                </a:solidFill>
                <a:latin typeface="Impact" pitchFamily="34" charset="0"/>
                <a:ea typeface="Impact" pitchFamily="34" charset="-122"/>
                <a:cs typeface="Impact" pitchFamily="34" charset="-120"/>
              </a:rPr>
              <a:t>STUDENTS</a:t>
            </a:r>
            <a:endParaRPr lang="en-US" sz="2400" dirty="0"/>
          </a:p>
        </p:txBody>
      </p:sp>
      <p:sp>
        <p:nvSpPr>
          <p:cNvPr id="18" name="Text 15"/>
          <p:cNvSpPr/>
          <p:nvPr/>
        </p:nvSpPr>
        <p:spPr>
          <a:xfrm>
            <a:off x="1645920" y="3474720"/>
            <a:ext cx="3474720" cy="914400"/>
          </a:xfrm>
          <a:prstGeom prst="rect">
            <a:avLst/>
          </a:prstGeom>
          <a:noFill/>
          <a:ln/>
        </p:spPr>
        <p:txBody>
          <a:bodyPr wrap="square" lIns="0" tIns="0" rIns="0" bIns="0" rtlCol="0" anchor="t"/>
          <a:lstStyle/>
          <a:p>
            <a:pPr marL="0" indent="0" algn="l">
              <a:lnSpc>
                <a:spcPct val="110000"/>
              </a:lnSpc>
              <a:buNone/>
            </a:pPr>
            <a:r>
              <a:rPr lang="en-US" sz="6600" dirty="0">
                <a:solidFill>
                  <a:srgbClr val="1E1208"/>
                </a:solidFill>
                <a:latin typeface="Impact" pitchFamily="34" charset="0"/>
                <a:ea typeface="Impact" pitchFamily="34" charset="-122"/>
                <a:cs typeface="Impact" pitchFamily="34" charset="-120"/>
              </a:rPr>
              <a:t>100+</a:t>
            </a:r>
            <a:endParaRPr lang="en-US" sz="6600" dirty="0"/>
          </a:p>
        </p:txBody>
      </p:sp>
      <p:sp>
        <p:nvSpPr>
          <p:cNvPr id="19" name="Text 16"/>
          <p:cNvSpPr/>
          <p:nvPr/>
        </p:nvSpPr>
        <p:spPr>
          <a:xfrm>
            <a:off x="1645920" y="4389120"/>
            <a:ext cx="3383280" cy="411480"/>
          </a:xfrm>
          <a:prstGeom prst="rect">
            <a:avLst/>
          </a:prstGeom>
          <a:noFill/>
          <a:ln/>
        </p:spPr>
        <p:txBody>
          <a:bodyPr wrap="square" lIns="0" tIns="0" rIns="0" bIns="0" rtlCol="0" anchor="t"/>
          <a:lstStyle/>
          <a:p>
            <a:pPr marL="0" indent="0" algn="l">
              <a:lnSpc>
                <a:spcPct val="110000"/>
              </a:lnSpc>
              <a:buNone/>
            </a:pPr>
            <a:r>
              <a:rPr lang="en-US" sz="2400" dirty="0">
                <a:solidFill>
                  <a:srgbClr val="1E1208"/>
                </a:solidFill>
                <a:latin typeface="Impact" pitchFamily="34" charset="0"/>
                <a:ea typeface="Impact" pitchFamily="34" charset="-122"/>
                <a:cs typeface="Impact" pitchFamily="34" charset="-120"/>
              </a:rPr>
              <a:t>MEMBERS OF STAFF</a:t>
            </a:r>
            <a:endParaRPr lang="en-US" sz="2400" dirty="0"/>
          </a:p>
        </p:txBody>
      </p:sp>
      <p:sp>
        <p:nvSpPr>
          <p:cNvPr id="20" name="Text 17"/>
          <p:cNvSpPr/>
          <p:nvPr/>
        </p:nvSpPr>
        <p:spPr>
          <a:xfrm>
            <a:off x="1645920" y="4937760"/>
            <a:ext cx="3383280" cy="731520"/>
          </a:xfrm>
          <a:prstGeom prst="rect">
            <a:avLst/>
          </a:prstGeom>
          <a:noFill/>
          <a:ln/>
        </p:spPr>
        <p:txBody>
          <a:bodyPr wrap="square" lIns="0" tIns="0" rIns="0" bIns="0" rtlCol="0" anchor="t"/>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Every test, lesson and class creates </a:t>
            </a:r>
            <a:r>
              <a:rPr lang="en-US" sz="1300" b="1" dirty="0" smtClean="0">
                <a:solidFill>
                  <a:srgbClr val="1E1208"/>
                </a:solidFill>
                <a:latin typeface="Arial" pitchFamily="34" charset="0"/>
                <a:ea typeface="Arial" pitchFamily="34" charset="-122"/>
                <a:cs typeface="Arial" pitchFamily="34" charset="-120"/>
              </a:rPr>
              <a:t>information</a:t>
            </a:r>
            <a:r>
              <a:rPr lang="en-US" sz="1300" b="1" dirty="0">
                <a:solidFill>
                  <a:srgbClr val="1E1208"/>
                </a:solidFill>
                <a:latin typeface="Arial" pitchFamily="34" charset="0"/>
                <a:ea typeface="Arial" pitchFamily="34" charset="-122"/>
                <a:cs typeface="Arial" pitchFamily="34" charset="-120"/>
              </a:rPr>
              <a:t>. Can teachers and leaders </a:t>
            </a:r>
            <a:r>
              <a:rPr lang="en-US" sz="1300" b="1" dirty="0" smtClean="0">
                <a:solidFill>
                  <a:srgbClr val="1E1208"/>
                </a:solidFill>
                <a:latin typeface="Arial" pitchFamily="34" charset="0"/>
                <a:ea typeface="Arial" pitchFamily="34" charset="-122"/>
                <a:cs typeface="Arial" pitchFamily="34" charset="-120"/>
              </a:rPr>
              <a:t>really see </a:t>
            </a:r>
            <a:r>
              <a:rPr lang="en-US" sz="1300" b="1" dirty="0">
                <a:solidFill>
                  <a:srgbClr val="1E1208"/>
                </a:solidFill>
                <a:latin typeface="Arial" pitchFamily="34" charset="0"/>
                <a:ea typeface="Arial" pitchFamily="34" charset="-122"/>
                <a:cs typeface="Arial" pitchFamily="34" charset="-120"/>
              </a:rPr>
              <a:t>it?</a:t>
            </a:r>
            <a:endParaRPr lang="en-US" sz="1300" dirty="0"/>
          </a:p>
        </p:txBody>
      </p:sp>
      <p:sp>
        <p:nvSpPr>
          <p:cNvPr id="21" name="Shape 18"/>
          <p:cNvSpPr/>
          <p:nvPr/>
        </p:nvSpPr>
        <p:spPr>
          <a:xfrm>
            <a:off x="5486400" y="1976351"/>
            <a:ext cx="5440680" cy="841248"/>
          </a:xfrm>
          <a:prstGeom prst="rect">
            <a:avLst/>
          </a:prstGeom>
          <a:solidFill>
            <a:srgbClr val="FFFFFF"/>
          </a:solidFill>
          <a:ln w="25400">
            <a:solidFill>
              <a:srgbClr val="1E1208"/>
            </a:solidFill>
            <a:prstDash val="solid"/>
          </a:ln>
        </p:spPr>
      </p:sp>
      <p:sp>
        <p:nvSpPr>
          <p:cNvPr id="22" name="Text 19"/>
          <p:cNvSpPr/>
          <p:nvPr/>
        </p:nvSpPr>
        <p:spPr>
          <a:xfrm>
            <a:off x="5669280" y="2075688"/>
            <a:ext cx="5120640" cy="32004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STUDENTS</a:t>
            </a:r>
            <a:endParaRPr lang="en-US" sz="2000" dirty="0"/>
          </a:p>
        </p:txBody>
      </p:sp>
      <p:sp>
        <p:nvSpPr>
          <p:cNvPr id="23" name="Text 20"/>
          <p:cNvSpPr/>
          <p:nvPr/>
        </p:nvSpPr>
        <p:spPr>
          <a:xfrm>
            <a:off x="5669280" y="2423160"/>
            <a:ext cx="5120640" cy="320040"/>
          </a:xfrm>
          <a:prstGeom prst="rect">
            <a:avLst/>
          </a:prstGeom>
          <a:noFill/>
          <a:ln/>
        </p:spPr>
        <p:txBody>
          <a:bodyPr wrap="square" lIns="0" tIns="0" rIns="0" bIns="0" rtlCol="0" anchor="t"/>
          <a:lstStyle/>
          <a:p>
            <a:pPr marL="0" indent="0" algn="l">
              <a:lnSpc>
                <a:spcPct val="110000"/>
              </a:lnSpc>
              <a:buNone/>
            </a:pPr>
            <a:r>
              <a:rPr lang="en-US" sz="1300" dirty="0">
                <a:solidFill>
                  <a:srgbClr val="555555"/>
                </a:solidFill>
                <a:latin typeface="Arial" pitchFamily="34" charset="0"/>
                <a:ea typeface="Arial" pitchFamily="34" charset="-122"/>
                <a:cs typeface="Arial" pitchFamily="34" charset="-120"/>
              </a:rPr>
              <a:t>Take work, see results, catch up</a:t>
            </a:r>
            <a:endParaRPr lang="en-US" sz="1300" dirty="0"/>
          </a:p>
        </p:txBody>
      </p:sp>
      <p:sp>
        <p:nvSpPr>
          <p:cNvPr id="24" name="Shape 21"/>
          <p:cNvSpPr/>
          <p:nvPr/>
        </p:nvSpPr>
        <p:spPr>
          <a:xfrm>
            <a:off x="5486400" y="2926080"/>
            <a:ext cx="5440680" cy="841248"/>
          </a:xfrm>
          <a:prstGeom prst="rect">
            <a:avLst/>
          </a:prstGeom>
          <a:solidFill>
            <a:srgbClr val="FFFFFF"/>
          </a:solidFill>
          <a:ln w="25400">
            <a:solidFill>
              <a:srgbClr val="1E1208"/>
            </a:solidFill>
            <a:prstDash val="solid"/>
          </a:ln>
        </p:spPr>
      </p:sp>
      <p:sp>
        <p:nvSpPr>
          <p:cNvPr id="25" name="Text 22"/>
          <p:cNvSpPr/>
          <p:nvPr/>
        </p:nvSpPr>
        <p:spPr>
          <a:xfrm>
            <a:off x="5669280" y="3035808"/>
            <a:ext cx="5120640" cy="32004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TEACHERS</a:t>
            </a:r>
            <a:endParaRPr lang="en-US" sz="2000" dirty="0"/>
          </a:p>
        </p:txBody>
      </p:sp>
      <p:sp>
        <p:nvSpPr>
          <p:cNvPr id="26" name="Text 23"/>
          <p:cNvSpPr/>
          <p:nvPr/>
        </p:nvSpPr>
        <p:spPr>
          <a:xfrm>
            <a:off x="5669280" y="3383280"/>
            <a:ext cx="5120640" cy="320040"/>
          </a:xfrm>
          <a:prstGeom prst="rect">
            <a:avLst/>
          </a:prstGeom>
          <a:noFill/>
          <a:ln/>
        </p:spPr>
        <p:txBody>
          <a:bodyPr wrap="square" lIns="0" tIns="0" rIns="0" bIns="0" rtlCol="0" anchor="t"/>
          <a:lstStyle/>
          <a:p>
            <a:pPr marL="0" indent="0" algn="l">
              <a:lnSpc>
                <a:spcPct val="110000"/>
              </a:lnSpc>
              <a:buNone/>
            </a:pPr>
            <a:r>
              <a:rPr lang="en-US" sz="1300" dirty="0">
                <a:solidFill>
                  <a:srgbClr val="555555"/>
                </a:solidFill>
                <a:latin typeface="Arial" pitchFamily="34" charset="0"/>
                <a:ea typeface="Arial" pitchFamily="34" charset="-122"/>
                <a:cs typeface="Arial" pitchFamily="34" charset="-120"/>
              </a:rPr>
              <a:t>Set, mark and teach</a:t>
            </a:r>
            <a:endParaRPr lang="en-US" sz="1300" dirty="0"/>
          </a:p>
        </p:txBody>
      </p:sp>
      <p:sp>
        <p:nvSpPr>
          <p:cNvPr id="27" name="Shape 24"/>
          <p:cNvSpPr/>
          <p:nvPr/>
        </p:nvSpPr>
        <p:spPr>
          <a:xfrm>
            <a:off x="5486400" y="3886200"/>
            <a:ext cx="5440680" cy="841248"/>
          </a:xfrm>
          <a:prstGeom prst="rect">
            <a:avLst/>
          </a:prstGeom>
          <a:solidFill>
            <a:srgbClr val="FFFFFF"/>
          </a:solidFill>
          <a:ln w="25400">
            <a:solidFill>
              <a:srgbClr val="1E1208"/>
            </a:solidFill>
            <a:prstDash val="solid"/>
          </a:ln>
        </p:spPr>
      </p:sp>
      <p:sp>
        <p:nvSpPr>
          <p:cNvPr id="28" name="Text 25"/>
          <p:cNvSpPr/>
          <p:nvPr/>
        </p:nvSpPr>
        <p:spPr>
          <a:xfrm>
            <a:off x="5669280" y="3995928"/>
            <a:ext cx="5120640" cy="32004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HEADS OF DEPARTMENT</a:t>
            </a:r>
            <a:endParaRPr lang="en-US" sz="2000" dirty="0"/>
          </a:p>
        </p:txBody>
      </p:sp>
      <p:sp>
        <p:nvSpPr>
          <p:cNvPr id="29" name="Text 26"/>
          <p:cNvSpPr/>
          <p:nvPr/>
        </p:nvSpPr>
        <p:spPr>
          <a:xfrm>
            <a:off x="5669280" y="4343400"/>
            <a:ext cx="5120640" cy="320040"/>
          </a:xfrm>
          <a:prstGeom prst="rect">
            <a:avLst/>
          </a:prstGeom>
          <a:noFill/>
          <a:ln/>
        </p:spPr>
        <p:txBody>
          <a:bodyPr wrap="square" lIns="0" tIns="0" rIns="0" bIns="0" rtlCol="0" anchor="t"/>
          <a:lstStyle/>
          <a:p>
            <a:pPr marL="0" indent="0" algn="l">
              <a:lnSpc>
                <a:spcPct val="110000"/>
              </a:lnSpc>
              <a:buNone/>
            </a:pPr>
            <a:r>
              <a:rPr lang="en-US" sz="1300" dirty="0">
                <a:solidFill>
                  <a:srgbClr val="555555"/>
                </a:solidFill>
                <a:latin typeface="Arial" pitchFamily="34" charset="0"/>
                <a:ea typeface="Arial" pitchFamily="34" charset="-122"/>
                <a:cs typeface="Arial" pitchFamily="34" charset="-120"/>
              </a:rPr>
              <a:t>See a whole department</a:t>
            </a:r>
            <a:endParaRPr lang="en-US" sz="1300" dirty="0"/>
          </a:p>
        </p:txBody>
      </p:sp>
      <p:sp>
        <p:nvSpPr>
          <p:cNvPr id="30" name="Shape 27"/>
          <p:cNvSpPr/>
          <p:nvPr/>
        </p:nvSpPr>
        <p:spPr>
          <a:xfrm>
            <a:off x="5486400" y="4846320"/>
            <a:ext cx="5440680" cy="841248"/>
          </a:xfrm>
          <a:prstGeom prst="rect">
            <a:avLst/>
          </a:prstGeom>
          <a:solidFill>
            <a:srgbClr val="FFFFFF"/>
          </a:solidFill>
          <a:ln w="25400">
            <a:solidFill>
              <a:srgbClr val="1E1208"/>
            </a:solidFill>
            <a:prstDash val="solid"/>
          </a:ln>
        </p:spPr>
      </p:sp>
      <p:sp>
        <p:nvSpPr>
          <p:cNvPr id="31" name="Text 28"/>
          <p:cNvSpPr/>
          <p:nvPr/>
        </p:nvSpPr>
        <p:spPr>
          <a:xfrm>
            <a:off x="5669280" y="4956048"/>
            <a:ext cx="5120640" cy="32004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PRINCIPAL AND ADMINISTRATORS</a:t>
            </a:r>
            <a:endParaRPr lang="en-US" sz="2000" dirty="0"/>
          </a:p>
        </p:txBody>
      </p:sp>
      <p:sp>
        <p:nvSpPr>
          <p:cNvPr id="32" name="Text 29"/>
          <p:cNvSpPr/>
          <p:nvPr/>
        </p:nvSpPr>
        <p:spPr>
          <a:xfrm>
            <a:off x="5669280" y="5303520"/>
            <a:ext cx="5120640" cy="320040"/>
          </a:xfrm>
          <a:prstGeom prst="rect">
            <a:avLst/>
          </a:prstGeom>
          <a:noFill/>
          <a:ln/>
        </p:spPr>
        <p:txBody>
          <a:bodyPr wrap="square" lIns="0" tIns="0" rIns="0" bIns="0" rtlCol="0" anchor="t"/>
          <a:lstStyle/>
          <a:p>
            <a:pPr marL="0" indent="0" algn="l">
              <a:lnSpc>
                <a:spcPct val="110000"/>
              </a:lnSpc>
              <a:buNone/>
            </a:pPr>
            <a:r>
              <a:rPr lang="en-US" sz="1300" dirty="0">
                <a:solidFill>
                  <a:srgbClr val="555555"/>
                </a:solidFill>
                <a:latin typeface="Arial" pitchFamily="34" charset="0"/>
                <a:ea typeface="Arial" pitchFamily="34" charset="-122"/>
                <a:cs typeface="Arial" pitchFamily="34" charset="-120"/>
              </a:rPr>
              <a:t>See the whole school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368735" y="502920"/>
            <a:ext cx="822960" cy="1152144"/>
          </a:xfrm>
          <a:prstGeom prst="rect">
            <a:avLst/>
          </a:prstGeom>
          <a:solidFill>
            <a:srgbClr val="FDFDFB"/>
          </a:solidFill>
          <a:ln w="25400">
            <a:solidFill>
              <a:srgbClr val="1E1208"/>
            </a:solidFill>
            <a:prstDash val="solid"/>
          </a:ln>
        </p:spPr>
      </p:sp>
      <p:sp>
        <p:nvSpPr>
          <p:cNvPr id="3" name="Text 1"/>
          <p:cNvSpPr/>
          <p:nvPr/>
        </p:nvSpPr>
        <p:spPr>
          <a:xfrm>
            <a:off x="11368735" y="502920"/>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59773"/>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WHAT </a:t>
            </a:r>
            <a:r>
              <a:rPr lang="en-US" sz="1400" b="1" kern="0" spc="300" dirty="0" smtClean="0">
                <a:solidFill>
                  <a:srgbClr val="1E1208"/>
                </a:solidFill>
                <a:latin typeface="Courier New" pitchFamily="34" charset="0"/>
                <a:ea typeface="Courier New" pitchFamily="34" charset="-122"/>
                <a:cs typeface="Courier New" pitchFamily="34" charset="-120"/>
              </a:rPr>
              <a:t>MANCHESTER HIGH SCHOOL </a:t>
            </a:r>
            <a:r>
              <a:rPr lang="en-US" sz="1400" b="1" kern="0" spc="300" dirty="0">
                <a:solidFill>
                  <a:srgbClr val="1E1208"/>
                </a:solidFill>
                <a:latin typeface="Courier New" pitchFamily="34" charset="0"/>
                <a:ea typeface="Courier New" pitchFamily="34" charset="-122"/>
                <a:cs typeface="Courier New" pitchFamily="34" charset="-120"/>
              </a:rPr>
              <a:t>STUDENTS TOLD US</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STUDENTS WANT TO BE SHOWN HOW</a:t>
            </a:r>
            <a:endParaRPr lang="en-US" sz="4600" dirty="0"/>
          </a:p>
        </p:txBody>
      </p:sp>
      <p:sp>
        <p:nvSpPr>
          <p:cNvPr id="15" name="Text 12"/>
          <p:cNvSpPr/>
          <p:nvPr/>
        </p:nvSpPr>
        <p:spPr>
          <a:xfrm>
            <a:off x="1417320" y="1874520"/>
            <a:ext cx="4754880" cy="274320"/>
          </a:xfrm>
          <a:prstGeom prst="rect">
            <a:avLst/>
          </a:prstGeom>
          <a:noFill/>
          <a:ln/>
        </p:spPr>
        <p:txBody>
          <a:bodyPr wrap="square" lIns="0" tIns="0" rIns="0" bIns="0" rtlCol="0" anchor="t"/>
          <a:lstStyle/>
          <a:p>
            <a:pPr marL="0" indent="0" algn="l">
              <a:lnSpc>
                <a:spcPct val="110000"/>
              </a:lnSpc>
              <a:buNone/>
            </a:pPr>
            <a:r>
              <a:rPr lang="en-US" sz="1050" b="1" kern="0" spc="100" dirty="0">
                <a:solidFill>
                  <a:srgbClr val="1E1208"/>
                </a:solidFill>
                <a:latin typeface="Courier New" pitchFamily="34" charset="0"/>
                <a:ea typeface="Courier New" pitchFamily="34" charset="-122"/>
                <a:cs typeface="Courier New" pitchFamily="34" charset="-120"/>
              </a:rPr>
              <a:t>WHAT WOULD HELP YOU LEARN A DIFFICULT TOPIC?</a:t>
            </a:r>
            <a:endParaRPr lang="en-US" sz="1050" dirty="0"/>
          </a:p>
        </p:txBody>
      </p:sp>
      <p:graphicFrame>
        <p:nvGraphicFramePr>
          <p:cNvPr id="16" name="Chart 0"/>
          <p:cNvGraphicFramePr/>
          <p:nvPr/>
        </p:nvGraphicFramePr>
        <p:xfrm>
          <a:off x="1325880" y="2148840"/>
          <a:ext cx="493776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13"/>
          <p:cNvSpPr/>
          <p:nvPr/>
        </p:nvSpPr>
        <p:spPr>
          <a:xfrm>
            <a:off x="6400800" y="1874520"/>
            <a:ext cx="4572000" cy="274320"/>
          </a:xfrm>
          <a:prstGeom prst="rect">
            <a:avLst/>
          </a:prstGeom>
          <a:noFill/>
          <a:ln/>
        </p:spPr>
        <p:txBody>
          <a:bodyPr wrap="square" lIns="0" tIns="0" rIns="0" bIns="0" rtlCol="0" anchor="t"/>
          <a:lstStyle/>
          <a:p>
            <a:pPr marL="0" indent="0" algn="l">
              <a:lnSpc>
                <a:spcPct val="110000"/>
              </a:lnSpc>
              <a:buNone/>
            </a:pPr>
            <a:r>
              <a:rPr lang="en-US" sz="1050" b="1" kern="0" spc="100" dirty="0">
                <a:solidFill>
                  <a:srgbClr val="1E1208"/>
                </a:solidFill>
                <a:latin typeface="Courier New" pitchFamily="34" charset="0"/>
                <a:ea typeface="Courier New" pitchFamily="34" charset="-122"/>
                <a:cs typeface="Courier New" pitchFamily="34" charset="-120"/>
              </a:rPr>
              <a:t>WHAT WOULD YOU WANT TO SEE ABOUT YOUR PROGRESS?</a:t>
            </a:r>
            <a:endParaRPr lang="en-US" sz="1050" dirty="0"/>
          </a:p>
        </p:txBody>
      </p:sp>
      <p:graphicFrame>
        <p:nvGraphicFramePr>
          <p:cNvPr id="18" name="Chart 1"/>
          <p:cNvGraphicFramePr/>
          <p:nvPr/>
        </p:nvGraphicFramePr>
        <p:xfrm>
          <a:off x="6309360" y="2148840"/>
          <a:ext cx="4663440" cy="3200400"/>
        </p:xfrm>
        <a:graphic>
          <a:graphicData uri="http://schemas.openxmlformats.org/drawingml/2006/chart">
            <c:chart xmlns:c="http://schemas.openxmlformats.org/drawingml/2006/chart" xmlns:r="http://schemas.openxmlformats.org/officeDocument/2006/relationships" r:id="rId5"/>
          </a:graphicData>
        </a:graphic>
      </p:graphicFrame>
      <p:sp>
        <p:nvSpPr>
          <p:cNvPr id="19" name="Shape 14"/>
          <p:cNvSpPr/>
          <p:nvPr/>
        </p:nvSpPr>
        <p:spPr>
          <a:xfrm>
            <a:off x="1417320" y="5968538"/>
            <a:ext cx="9509760" cy="502920"/>
          </a:xfrm>
          <a:prstGeom prst="rect">
            <a:avLst/>
          </a:prstGeom>
          <a:solidFill>
            <a:srgbClr val="1E1208"/>
          </a:solidFill>
          <a:ln/>
        </p:spPr>
      </p:sp>
      <p:sp>
        <p:nvSpPr>
          <p:cNvPr id="20" name="Text 15"/>
          <p:cNvSpPr/>
          <p:nvPr/>
        </p:nvSpPr>
        <p:spPr>
          <a:xfrm>
            <a:off x="1600200" y="5968538"/>
            <a:ext cx="9144000" cy="502920"/>
          </a:xfrm>
          <a:prstGeom prst="rect">
            <a:avLst/>
          </a:prstGeom>
          <a:noFill/>
          <a:ln/>
        </p:spPr>
        <p:txBody>
          <a:bodyPr wrap="square" lIns="0" tIns="0" rIns="0" bIns="0" rtlCol="0" anchor="ctr"/>
          <a:lstStyle/>
          <a:p>
            <a:pPr marL="0" indent="0" algn="l">
              <a:lnSpc>
                <a:spcPct val="110000"/>
              </a:lnSpc>
              <a:buNone/>
            </a:pPr>
            <a:r>
              <a:rPr lang="en-US" sz="1500" b="1" dirty="0">
                <a:solidFill>
                  <a:srgbClr val="FFFFFF"/>
                </a:solidFill>
                <a:latin typeface="Arial" pitchFamily="34" charset="0"/>
                <a:ea typeface="Arial" pitchFamily="34" charset="-122"/>
                <a:cs typeface="Arial" pitchFamily="34" charset="-120"/>
              </a:rPr>
              <a:t>83% want help studying for exams. 58% chose flashcards for </a:t>
            </a:r>
            <a:r>
              <a:rPr lang="en-US" sz="1500" b="1" dirty="0" smtClean="0">
                <a:solidFill>
                  <a:srgbClr val="FFFFFF"/>
                </a:solidFill>
                <a:latin typeface="Arial" pitchFamily="34" charset="0"/>
                <a:ea typeface="Arial" pitchFamily="34" charset="-122"/>
                <a:cs typeface="Arial" pitchFamily="34" charset="-120"/>
              </a:rPr>
              <a:t>practice; we bui</a:t>
            </a:r>
            <a:r>
              <a:rPr lang="en-US" sz="1500" b="1" dirty="0" smtClean="0">
                <a:solidFill>
                  <a:srgbClr val="FFFFFF"/>
                </a:solidFill>
                <a:latin typeface="Arial" pitchFamily="34" charset="0"/>
                <a:ea typeface="Arial" pitchFamily="34" charset="-122"/>
                <a:cs typeface="Arial" pitchFamily="34" charset="-120"/>
              </a:rPr>
              <a:t>lt it</a:t>
            </a:r>
            <a:r>
              <a:rPr lang="en-US" sz="1500" b="1" dirty="0" smtClean="0">
                <a:solidFill>
                  <a:srgbClr val="FFFFFF"/>
                </a:solidFill>
                <a:latin typeface="Arial" pitchFamily="34" charset="0"/>
                <a:ea typeface="Arial" pitchFamily="34" charset="-122"/>
                <a:cs typeface="Arial" pitchFamily="34" charset="-120"/>
              </a:rPr>
              <a:t>.</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368735" y="502920"/>
            <a:ext cx="822960" cy="1152144"/>
          </a:xfrm>
          <a:prstGeom prst="rect">
            <a:avLst/>
          </a:prstGeom>
          <a:solidFill>
            <a:srgbClr val="FDFDFB"/>
          </a:solidFill>
          <a:ln w="25400">
            <a:solidFill>
              <a:srgbClr val="1E1208"/>
            </a:solidFill>
            <a:prstDash val="solid"/>
          </a:ln>
        </p:spPr>
      </p:sp>
      <p:sp>
        <p:nvSpPr>
          <p:cNvPr id="3" name="Text 1"/>
          <p:cNvSpPr/>
          <p:nvPr/>
        </p:nvSpPr>
        <p:spPr>
          <a:xfrm>
            <a:off x="11368735" y="502920"/>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48493" y="249381"/>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WHAT </a:t>
            </a:r>
            <a:r>
              <a:rPr lang="en-US" sz="1400" b="1" kern="0" spc="300" dirty="0" smtClean="0">
                <a:solidFill>
                  <a:srgbClr val="1E1208"/>
                </a:solidFill>
                <a:latin typeface="Courier New" pitchFamily="34" charset="0"/>
                <a:ea typeface="Courier New" pitchFamily="34" charset="-122"/>
                <a:cs typeface="Courier New" pitchFamily="34" charset="-120"/>
              </a:rPr>
              <a:t>MANCHESTER HIGH SCHOOL </a:t>
            </a:r>
            <a:r>
              <a:rPr lang="en-US" sz="1400" b="1" kern="0" spc="300" dirty="0">
                <a:solidFill>
                  <a:srgbClr val="1E1208"/>
                </a:solidFill>
                <a:latin typeface="Courier New" pitchFamily="34" charset="0"/>
                <a:ea typeface="Courier New" pitchFamily="34" charset="-122"/>
                <a:cs typeface="Courier New" pitchFamily="34" charset="-120"/>
              </a:rPr>
              <a:t>TEACHERS TOLD US</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MARKING IS WHERE </a:t>
            </a:r>
            <a:r>
              <a:rPr lang="en-US" sz="4600" dirty="0" smtClean="0">
                <a:solidFill>
                  <a:srgbClr val="1E1208"/>
                </a:solidFill>
                <a:latin typeface="Impact" pitchFamily="34" charset="0"/>
                <a:ea typeface="Impact" pitchFamily="34" charset="-122"/>
                <a:cs typeface="Impact" pitchFamily="34" charset="-120"/>
              </a:rPr>
              <a:t>THE </a:t>
            </a:r>
            <a:r>
              <a:rPr lang="en-US" sz="4600" dirty="0">
                <a:solidFill>
                  <a:srgbClr val="1E1208"/>
                </a:solidFill>
                <a:latin typeface="Impact" pitchFamily="34" charset="0"/>
                <a:ea typeface="Impact" pitchFamily="34" charset="-122"/>
                <a:cs typeface="Impact" pitchFamily="34" charset="-120"/>
              </a:rPr>
              <a:t>TIME GOES</a:t>
            </a:r>
            <a:endParaRPr lang="en-US" sz="4600" dirty="0"/>
          </a:p>
        </p:txBody>
      </p:sp>
      <p:sp>
        <p:nvSpPr>
          <p:cNvPr id="15" name="Text 12"/>
          <p:cNvSpPr/>
          <p:nvPr/>
        </p:nvSpPr>
        <p:spPr>
          <a:xfrm>
            <a:off x="1417320" y="1874520"/>
            <a:ext cx="5669280" cy="274320"/>
          </a:xfrm>
          <a:prstGeom prst="rect">
            <a:avLst/>
          </a:prstGeom>
          <a:noFill/>
          <a:ln/>
        </p:spPr>
        <p:txBody>
          <a:bodyPr wrap="square" lIns="0" tIns="0" rIns="0" bIns="0" rtlCol="0" anchor="t"/>
          <a:lstStyle/>
          <a:p>
            <a:pPr marL="0" indent="0" algn="l">
              <a:lnSpc>
                <a:spcPct val="110000"/>
              </a:lnSpc>
              <a:buNone/>
            </a:pPr>
            <a:r>
              <a:rPr lang="en-US" sz="1050" b="1" kern="0" spc="100" dirty="0">
                <a:solidFill>
                  <a:srgbClr val="1E1208"/>
                </a:solidFill>
                <a:latin typeface="Courier New" pitchFamily="34" charset="0"/>
                <a:ea typeface="Courier New" pitchFamily="34" charset="-122"/>
                <a:cs typeface="Courier New" pitchFamily="34" charset="-120"/>
              </a:rPr>
              <a:t>WHICH PARTS OF ASSESSMENT TAKE THE MOST TIME OR EFFORT?</a:t>
            </a:r>
            <a:endParaRPr lang="en-US" sz="1050" dirty="0"/>
          </a:p>
        </p:txBody>
      </p:sp>
      <p:graphicFrame>
        <p:nvGraphicFramePr>
          <p:cNvPr id="16" name="Chart 0"/>
          <p:cNvGraphicFramePr/>
          <p:nvPr/>
        </p:nvGraphicFramePr>
        <p:xfrm>
          <a:off x="1325880" y="2148840"/>
          <a:ext cx="566928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7" name="Shape 13"/>
          <p:cNvSpPr/>
          <p:nvPr/>
        </p:nvSpPr>
        <p:spPr>
          <a:xfrm>
            <a:off x="7315200" y="1965960"/>
            <a:ext cx="3611880" cy="960120"/>
          </a:xfrm>
          <a:prstGeom prst="rect">
            <a:avLst/>
          </a:prstGeom>
          <a:solidFill>
            <a:srgbClr val="D4762A"/>
          </a:solidFill>
          <a:ln w="25400">
            <a:solidFill>
              <a:srgbClr val="1E1208"/>
            </a:solidFill>
            <a:prstDash val="solid"/>
          </a:ln>
        </p:spPr>
      </p:sp>
      <p:sp>
        <p:nvSpPr>
          <p:cNvPr id="18" name="Text 14"/>
          <p:cNvSpPr/>
          <p:nvPr/>
        </p:nvSpPr>
        <p:spPr>
          <a:xfrm>
            <a:off x="7452360" y="1965960"/>
            <a:ext cx="1325880" cy="960120"/>
          </a:xfrm>
          <a:prstGeom prst="rect">
            <a:avLst/>
          </a:prstGeom>
          <a:noFill/>
          <a:ln/>
        </p:spPr>
        <p:txBody>
          <a:bodyPr wrap="square" lIns="0" tIns="0" rIns="0" bIns="0" rtlCol="0" anchor="ctr"/>
          <a:lstStyle/>
          <a:p>
            <a:pPr marL="0" indent="0" algn="l">
              <a:lnSpc>
                <a:spcPct val="110000"/>
              </a:lnSpc>
              <a:buNone/>
            </a:pPr>
            <a:r>
              <a:rPr lang="en-US" sz="4000" dirty="0">
                <a:solidFill>
                  <a:srgbClr val="1E1208"/>
                </a:solidFill>
                <a:latin typeface="Impact" pitchFamily="34" charset="0"/>
                <a:ea typeface="Impact" pitchFamily="34" charset="-122"/>
                <a:cs typeface="Impact" pitchFamily="34" charset="-120"/>
              </a:rPr>
              <a:t>90%</a:t>
            </a:r>
            <a:endParaRPr lang="en-US" sz="4000" dirty="0"/>
          </a:p>
        </p:txBody>
      </p:sp>
      <p:sp>
        <p:nvSpPr>
          <p:cNvPr id="19" name="Text 15"/>
          <p:cNvSpPr/>
          <p:nvPr/>
        </p:nvSpPr>
        <p:spPr>
          <a:xfrm>
            <a:off x="8778240" y="1965960"/>
            <a:ext cx="2057400" cy="960120"/>
          </a:xfrm>
          <a:prstGeom prst="rect">
            <a:avLst/>
          </a:prstGeom>
          <a:noFill/>
          <a:ln/>
        </p:spPr>
        <p:txBody>
          <a:bodyPr wrap="square" lIns="0" tIns="0" rIns="0" bIns="0" rtlCol="0" anchor="ctr"/>
          <a:lstStyle/>
          <a:p>
            <a:pPr marL="0" indent="0" algn="l">
              <a:lnSpc>
                <a:spcPct val="110000"/>
              </a:lnSpc>
              <a:buNone/>
            </a:pPr>
            <a:r>
              <a:rPr lang="en-US" sz="1100" b="1" dirty="0" smtClean="0">
                <a:solidFill>
                  <a:srgbClr val="1E1208"/>
                </a:solidFill>
                <a:latin typeface="Arial" pitchFamily="34" charset="0"/>
                <a:ea typeface="Arial" pitchFamily="34" charset="-122"/>
                <a:cs typeface="Arial" pitchFamily="34" charset="-120"/>
              </a:rPr>
              <a:t>Wants a system </a:t>
            </a:r>
            <a:r>
              <a:rPr lang="en-US" sz="1100" b="1" dirty="0">
                <a:solidFill>
                  <a:srgbClr val="1E1208"/>
                </a:solidFill>
                <a:latin typeface="Arial" pitchFamily="34" charset="0"/>
                <a:ea typeface="Arial" pitchFamily="34" charset="-122"/>
                <a:cs typeface="Arial" pitchFamily="34" charset="-120"/>
              </a:rPr>
              <a:t>to show what an absent student missed</a:t>
            </a:r>
            <a:endParaRPr lang="en-US" sz="1100" dirty="0"/>
          </a:p>
        </p:txBody>
      </p:sp>
      <p:sp>
        <p:nvSpPr>
          <p:cNvPr id="20" name="Shape 16"/>
          <p:cNvSpPr/>
          <p:nvPr/>
        </p:nvSpPr>
        <p:spPr>
          <a:xfrm>
            <a:off x="7315200" y="3063240"/>
            <a:ext cx="3611880" cy="960120"/>
          </a:xfrm>
          <a:prstGeom prst="rect">
            <a:avLst/>
          </a:prstGeom>
          <a:solidFill>
            <a:srgbClr val="E3B51E"/>
          </a:solidFill>
          <a:ln w="25400">
            <a:solidFill>
              <a:srgbClr val="1E1208"/>
            </a:solidFill>
            <a:prstDash val="solid"/>
          </a:ln>
        </p:spPr>
      </p:sp>
      <p:sp>
        <p:nvSpPr>
          <p:cNvPr id="21" name="Text 17"/>
          <p:cNvSpPr/>
          <p:nvPr/>
        </p:nvSpPr>
        <p:spPr>
          <a:xfrm>
            <a:off x="7452360" y="3063240"/>
            <a:ext cx="1325880" cy="960120"/>
          </a:xfrm>
          <a:prstGeom prst="rect">
            <a:avLst/>
          </a:prstGeom>
          <a:noFill/>
          <a:ln/>
        </p:spPr>
        <p:txBody>
          <a:bodyPr wrap="square" lIns="0" tIns="0" rIns="0" bIns="0" rtlCol="0" anchor="ctr"/>
          <a:lstStyle/>
          <a:p>
            <a:pPr marL="0" indent="0" algn="l">
              <a:lnSpc>
                <a:spcPct val="110000"/>
              </a:lnSpc>
              <a:buNone/>
            </a:pPr>
            <a:r>
              <a:rPr lang="en-US" sz="4000" dirty="0">
                <a:solidFill>
                  <a:srgbClr val="1E1208"/>
                </a:solidFill>
                <a:latin typeface="Impact" pitchFamily="34" charset="0"/>
                <a:ea typeface="Impact" pitchFamily="34" charset="-122"/>
                <a:cs typeface="Impact" pitchFamily="34" charset="-120"/>
              </a:rPr>
              <a:t>90%</a:t>
            </a:r>
            <a:endParaRPr lang="en-US" sz="4000" dirty="0"/>
          </a:p>
        </p:txBody>
      </p:sp>
      <p:sp>
        <p:nvSpPr>
          <p:cNvPr id="22" name="Text 18"/>
          <p:cNvSpPr/>
          <p:nvPr/>
        </p:nvSpPr>
        <p:spPr>
          <a:xfrm>
            <a:off x="8778240" y="3063240"/>
            <a:ext cx="2057400" cy="960120"/>
          </a:xfrm>
          <a:prstGeom prst="rect">
            <a:avLst/>
          </a:prstGeom>
          <a:noFill/>
          <a:ln/>
        </p:spPr>
        <p:txBody>
          <a:bodyPr wrap="square" lIns="0" tIns="0" rIns="0" bIns="0" rtlCol="0" anchor="ctr"/>
          <a:lstStyle/>
          <a:p>
            <a:pPr marL="0" indent="0" algn="l">
              <a:lnSpc>
                <a:spcPct val="110000"/>
              </a:lnSpc>
              <a:buNone/>
            </a:pPr>
            <a:r>
              <a:rPr lang="en-US" sz="1100" b="1" dirty="0" smtClean="0">
                <a:solidFill>
                  <a:srgbClr val="1E1208"/>
                </a:solidFill>
                <a:latin typeface="Arial" pitchFamily="34" charset="0"/>
                <a:ea typeface="Arial" pitchFamily="34" charset="-122"/>
                <a:cs typeface="Arial" pitchFamily="34" charset="-120"/>
              </a:rPr>
              <a:t>want </a:t>
            </a:r>
            <a:r>
              <a:rPr lang="en-US" sz="1100" b="1" dirty="0">
                <a:solidFill>
                  <a:srgbClr val="1E1208"/>
                </a:solidFill>
                <a:latin typeface="Arial" pitchFamily="34" charset="0"/>
                <a:ea typeface="Arial" pitchFamily="34" charset="-122"/>
                <a:cs typeface="Arial" pitchFamily="34" charset="-120"/>
              </a:rPr>
              <a:t>different activities for different ability levels</a:t>
            </a:r>
            <a:endParaRPr lang="en-US" sz="1100" dirty="0"/>
          </a:p>
        </p:txBody>
      </p:sp>
      <p:sp>
        <p:nvSpPr>
          <p:cNvPr id="23" name="Shape 19"/>
          <p:cNvSpPr/>
          <p:nvPr/>
        </p:nvSpPr>
        <p:spPr>
          <a:xfrm>
            <a:off x="7315200" y="4160520"/>
            <a:ext cx="3611880" cy="960120"/>
          </a:xfrm>
          <a:prstGeom prst="rect">
            <a:avLst/>
          </a:prstGeom>
          <a:solidFill>
            <a:srgbClr val="FBE9D6"/>
          </a:solidFill>
          <a:ln w="25400">
            <a:solidFill>
              <a:srgbClr val="1E1208"/>
            </a:solidFill>
            <a:prstDash val="solid"/>
          </a:ln>
        </p:spPr>
      </p:sp>
      <p:sp>
        <p:nvSpPr>
          <p:cNvPr id="24" name="Text 20"/>
          <p:cNvSpPr/>
          <p:nvPr/>
        </p:nvSpPr>
        <p:spPr>
          <a:xfrm>
            <a:off x="7452360" y="4160520"/>
            <a:ext cx="1325880" cy="960120"/>
          </a:xfrm>
          <a:prstGeom prst="rect">
            <a:avLst/>
          </a:prstGeom>
          <a:noFill/>
          <a:ln/>
        </p:spPr>
        <p:txBody>
          <a:bodyPr wrap="square" lIns="0" tIns="0" rIns="0" bIns="0" rtlCol="0" anchor="ctr"/>
          <a:lstStyle/>
          <a:p>
            <a:pPr marL="0" indent="0" algn="l">
              <a:lnSpc>
                <a:spcPct val="110000"/>
              </a:lnSpc>
              <a:buNone/>
            </a:pPr>
            <a:r>
              <a:rPr lang="en-US" sz="4000" dirty="0">
                <a:solidFill>
                  <a:srgbClr val="1E1208"/>
                </a:solidFill>
                <a:latin typeface="Impact" pitchFamily="34" charset="0"/>
                <a:ea typeface="Impact" pitchFamily="34" charset="-122"/>
                <a:cs typeface="Impact" pitchFamily="34" charset="-120"/>
              </a:rPr>
              <a:t>80%</a:t>
            </a:r>
            <a:endParaRPr lang="en-US" sz="4000" dirty="0"/>
          </a:p>
        </p:txBody>
      </p:sp>
      <p:sp>
        <p:nvSpPr>
          <p:cNvPr id="25" name="Text 21"/>
          <p:cNvSpPr/>
          <p:nvPr/>
        </p:nvSpPr>
        <p:spPr>
          <a:xfrm>
            <a:off x="8778240" y="4160520"/>
            <a:ext cx="2057400" cy="960120"/>
          </a:xfrm>
          <a:prstGeom prst="rect">
            <a:avLst/>
          </a:prstGeom>
          <a:noFill/>
          <a:ln/>
        </p:spPr>
        <p:txBody>
          <a:bodyPr wrap="square" lIns="0" tIns="0" rIns="0" bIns="0" rtlCol="0" anchor="ctr"/>
          <a:lstStyle/>
          <a:p>
            <a:pPr marL="0" indent="0" algn="l">
              <a:lnSpc>
                <a:spcPct val="110000"/>
              </a:lnSpc>
              <a:buNone/>
            </a:pPr>
            <a:r>
              <a:rPr lang="en-US" sz="1100" b="1" dirty="0">
                <a:solidFill>
                  <a:srgbClr val="1E1208"/>
                </a:solidFill>
                <a:latin typeface="Arial" pitchFamily="34" charset="0"/>
                <a:ea typeface="Arial" pitchFamily="34" charset="-122"/>
                <a:cs typeface="Arial" pitchFamily="34" charset="-120"/>
              </a:rPr>
              <a:t>want AI-assisted lesson planning</a:t>
            </a:r>
            <a:endParaRPr lang="en-US" sz="1100" dirty="0"/>
          </a:p>
        </p:txBody>
      </p:sp>
      <p:sp>
        <p:nvSpPr>
          <p:cNvPr id="26" name="Shape 22"/>
          <p:cNvSpPr/>
          <p:nvPr/>
        </p:nvSpPr>
        <p:spPr>
          <a:xfrm>
            <a:off x="1417320" y="5394960"/>
            <a:ext cx="9509760" cy="502920"/>
          </a:xfrm>
          <a:prstGeom prst="rect">
            <a:avLst/>
          </a:prstGeom>
          <a:solidFill>
            <a:srgbClr val="1E1208"/>
          </a:solidFill>
          <a:ln/>
        </p:spPr>
      </p:sp>
      <p:sp>
        <p:nvSpPr>
          <p:cNvPr id="27" name="Text 23"/>
          <p:cNvSpPr/>
          <p:nvPr/>
        </p:nvSpPr>
        <p:spPr>
          <a:xfrm>
            <a:off x="1600200" y="5394960"/>
            <a:ext cx="9144000" cy="502920"/>
          </a:xfrm>
          <a:prstGeom prst="rect">
            <a:avLst/>
          </a:prstGeom>
          <a:noFill/>
          <a:ln/>
        </p:spPr>
        <p:txBody>
          <a:bodyPr wrap="square" lIns="0" tIns="0" rIns="0" bIns="0" rtlCol="0" anchor="ctr"/>
          <a:lstStyle/>
          <a:p>
            <a:pPr marL="0" indent="0" algn="l">
              <a:lnSpc>
                <a:spcPct val="110000"/>
              </a:lnSpc>
              <a:buNone/>
            </a:pPr>
            <a:r>
              <a:rPr lang="en-US" sz="1300" b="1" dirty="0">
                <a:solidFill>
                  <a:srgbClr val="FFFFFF"/>
                </a:solidFill>
                <a:latin typeface="Arial" pitchFamily="34" charset="0"/>
                <a:ea typeface="Arial" pitchFamily="34" charset="-122"/>
                <a:cs typeface="Arial" pitchFamily="34" charset="-120"/>
              </a:rPr>
              <a:t>"A learning gap tracker that analyses assessment results and suggests activities for reteaching and practice."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7432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ONE PLATFORM, THREE PRODUCTS</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5000" dirty="0">
                <a:solidFill>
                  <a:srgbClr val="1E1208"/>
                </a:solidFill>
                <a:latin typeface="Impact" pitchFamily="34" charset="0"/>
                <a:ea typeface="Impact" pitchFamily="34" charset="-122"/>
                <a:cs typeface="Impact" pitchFamily="34" charset="-120"/>
              </a:rPr>
              <a:t>ALREADY BUILT. READY TO USE.</a:t>
            </a:r>
            <a:endParaRPr lang="en-US" sz="5000" dirty="0"/>
          </a:p>
        </p:txBody>
      </p:sp>
      <p:sp>
        <p:nvSpPr>
          <p:cNvPr id="15" name="Shape 12"/>
          <p:cNvSpPr/>
          <p:nvPr/>
        </p:nvSpPr>
        <p:spPr>
          <a:xfrm>
            <a:off x="1417320" y="2011680"/>
            <a:ext cx="9509760" cy="1188720"/>
          </a:xfrm>
          <a:prstGeom prst="rect">
            <a:avLst/>
          </a:prstGeom>
          <a:solidFill>
            <a:srgbClr val="FFFFFF"/>
          </a:solidFill>
          <a:ln w="25400">
            <a:solidFill>
              <a:srgbClr val="1E1208"/>
            </a:solidFill>
            <a:prstDash val="solid"/>
          </a:ln>
        </p:spPr>
      </p:sp>
      <p:sp>
        <p:nvSpPr>
          <p:cNvPr id="16" name="Shape 13"/>
          <p:cNvSpPr/>
          <p:nvPr/>
        </p:nvSpPr>
        <p:spPr>
          <a:xfrm>
            <a:off x="1417320" y="2011680"/>
            <a:ext cx="1188720" cy="1188720"/>
          </a:xfrm>
          <a:prstGeom prst="rect">
            <a:avLst/>
          </a:prstGeom>
          <a:solidFill>
            <a:srgbClr val="D4762A"/>
          </a:solidFill>
          <a:ln w="25400">
            <a:solidFill>
              <a:srgbClr val="1E1208"/>
            </a:solidFill>
            <a:prstDash val="solid"/>
          </a:ln>
        </p:spPr>
      </p:sp>
      <p:sp>
        <p:nvSpPr>
          <p:cNvPr id="17" name="Text 14"/>
          <p:cNvSpPr/>
          <p:nvPr/>
        </p:nvSpPr>
        <p:spPr>
          <a:xfrm>
            <a:off x="1417320" y="2011680"/>
            <a:ext cx="1188720" cy="1188720"/>
          </a:xfrm>
          <a:prstGeom prst="rect">
            <a:avLst/>
          </a:prstGeom>
          <a:noFill/>
          <a:ln/>
        </p:spPr>
        <p:txBody>
          <a:bodyPr wrap="square" lIns="0" tIns="0" rIns="0" bIns="0" rtlCol="0" anchor="ctr"/>
          <a:lstStyle/>
          <a:p>
            <a:pPr marL="0" indent="0" algn="ctr">
              <a:lnSpc>
                <a:spcPct val="110000"/>
              </a:lnSpc>
              <a:buNone/>
            </a:pPr>
            <a:r>
              <a:rPr lang="en-US" sz="5600" dirty="0">
                <a:solidFill>
                  <a:srgbClr val="1E1208"/>
                </a:solidFill>
                <a:latin typeface="Impact" pitchFamily="34" charset="0"/>
                <a:ea typeface="Impact" pitchFamily="34" charset="-122"/>
                <a:cs typeface="Impact" pitchFamily="34" charset="-120"/>
              </a:rPr>
              <a:t>1</a:t>
            </a:r>
            <a:endParaRPr lang="en-US" sz="5600" dirty="0"/>
          </a:p>
        </p:txBody>
      </p:sp>
      <p:sp>
        <p:nvSpPr>
          <p:cNvPr id="18" name="Text 15"/>
          <p:cNvSpPr/>
          <p:nvPr/>
        </p:nvSpPr>
        <p:spPr>
          <a:xfrm>
            <a:off x="2834640" y="2176272"/>
            <a:ext cx="4937760" cy="457200"/>
          </a:xfrm>
          <a:prstGeom prst="rect">
            <a:avLst/>
          </a:prstGeom>
          <a:noFill/>
          <a:ln/>
        </p:spPr>
        <p:txBody>
          <a:bodyPr wrap="square" lIns="0" tIns="0" rIns="0" bIns="0" rtlCol="0" anchor="t"/>
          <a:lstStyle/>
          <a:p>
            <a:pPr marL="0" indent="0" algn="l">
              <a:lnSpc>
                <a:spcPct val="110000"/>
              </a:lnSpc>
              <a:buNone/>
            </a:pPr>
            <a:r>
              <a:rPr lang="en-US" sz="2800" dirty="0">
                <a:solidFill>
                  <a:srgbClr val="1E1208"/>
                </a:solidFill>
                <a:latin typeface="Impact" pitchFamily="34" charset="0"/>
                <a:ea typeface="Impact" pitchFamily="34" charset="-122"/>
                <a:cs typeface="Impact" pitchFamily="34" charset="-120"/>
              </a:rPr>
              <a:t>SMART ASSESS</a:t>
            </a:r>
            <a:endParaRPr lang="en-US" sz="2800" dirty="0"/>
          </a:p>
        </p:txBody>
      </p:sp>
      <p:sp>
        <p:nvSpPr>
          <p:cNvPr id="19" name="Text 16"/>
          <p:cNvSpPr/>
          <p:nvPr/>
        </p:nvSpPr>
        <p:spPr>
          <a:xfrm>
            <a:off x="2834640" y="2670048"/>
            <a:ext cx="5760720" cy="457200"/>
          </a:xfrm>
          <a:prstGeom prst="rect">
            <a:avLst/>
          </a:prstGeom>
          <a:noFill/>
          <a:ln/>
        </p:spPr>
        <p:txBody>
          <a:bodyPr wrap="square" lIns="0" tIns="0" rIns="0" bIns="0" rtlCol="0" anchor="t"/>
          <a:lstStyle/>
          <a:p>
            <a:pPr marL="0" indent="0" algn="l">
              <a:lnSpc>
                <a:spcPct val="110000"/>
              </a:lnSpc>
              <a:buNone/>
            </a:pPr>
            <a:r>
              <a:rPr lang="en-US" sz="1450" dirty="0">
                <a:solidFill>
                  <a:srgbClr val="555555"/>
                </a:solidFill>
                <a:latin typeface="Arial" pitchFamily="34" charset="0"/>
                <a:ea typeface="Arial" pitchFamily="34" charset="-122"/>
                <a:cs typeface="Arial" pitchFamily="34" charset="-120"/>
              </a:rPr>
              <a:t>Measure learning. Set, sit, mark and understand tests, exams and results.</a:t>
            </a:r>
            <a:endParaRPr lang="en-US" sz="1450" dirty="0"/>
          </a:p>
        </p:txBody>
      </p:sp>
      <p:sp>
        <p:nvSpPr>
          <p:cNvPr id="20" name="Shape 17"/>
          <p:cNvSpPr/>
          <p:nvPr/>
        </p:nvSpPr>
        <p:spPr>
          <a:xfrm>
            <a:off x="8823960" y="2450592"/>
            <a:ext cx="1920240" cy="310896"/>
          </a:xfrm>
          <a:prstGeom prst="rect">
            <a:avLst/>
          </a:prstGeom>
          <a:solidFill>
            <a:srgbClr val="1E1208"/>
          </a:solidFill>
          <a:ln w="19050">
            <a:solidFill>
              <a:srgbClr val="1E1208"/>
            </a:solidFill>
            <a:prstDash val="solid"/>
          </a:ln>
        </p:spPr>
      </p:sp>
      <p:sp>
        <p:nvSpPr>
          <p:cNvPr id="21" name="Text 18"/>
          <p:cNvSpPr/>
          <p:nvPr/>
        </p:nvSpPr>
        <p:spPr>
          <a:xfrm>
            <a:off x="8823960" y="2450592"/>
            <a:ext cx="192024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ALREADY BUILT</a:t>
            </a:r>
            <a:endParaRPr lang="en-US" sz="1000" dirty="0"/>
          </a:p>
        </p:txBody>
      </p:sp>
      <p:sp>
        <p:nvSpPr>
          <p:cNvPr id="22" name="Shape 19"/>
          <p:cNvSpPr/>
          <p:nvPr/>
        </p:nvSpPr>
        <p:spPr>
          <a:xfrm>
            <a:off x="1417320" y="3337560"/>
            <a:ext cx="9509760" cy="1188720"/>
          </a:xfrm>
          <a:prstGeom prst="rect">
            <a:avLst/>
          </a:prstGeom>
          <a:solidFill>
            <a:srgbClr val="FFFFFF"/>
          </a:solidFill>
          <a:ln w="25400">
            <a:solidFill>
              <a:srgbClr val="1E1208"/>
            </a:solidFill>
            <a:prstDash val="solid"/>
          </a:ln>
        </p:spPr>
      </p:sp>
      <p:sp>
        <p:nvSpPr>
          <p:cNvPr id="23" name="Shape 20"/>
          <p:cNvSpPr/>
          <p:nvPr/>
        </p:nvSpPr>
        <p:spPr>
          <a:xfrm>
            <a:off x="1417320" y="3337560"/>
            <a:ext cx="1188720" cy="1188720"/>
          </a:xfrm>
          <a:prstGeom prst="rect">
            <a:avLst/>
          </a:prstGeom>
          <a:solidFill>
            <a:srgbClr val="E3B51E"/>
          </a:solidFill>
          <a:ln w="25400">
            <a:solidFill>
              <a:srgbClr val="1E1208"/>
            </a:solidFill>
            <a:prstDash val="solid"/>
          </a:ln>
        </p:spPr>
      </p:sp>
      <p:sp>
        <p:nvSpPr>
          <p:cNvPr id="24" name="Text 21"/>
          <p:cNvSpPr/>
          <p:nvPr/>
        </p:nvSpPr>
        <p:spPr>
          <a:xfrm>
            <a:off x="1417320" y="3337560"/>
            <a:ext cx="1188720" cy="1188720"/>
          </a:xfrm>
          <a:prstGeom prst="rect">
            <a:avLst/>
          </a:prstGeom>
          <a:noFill/>
          <a:ln/>
        </p:spPr>
        <p:txBody>
          <a:bodyPr wrap="square" lIns="0" tIns="0" rIns="0" bIns="0" rtlCol="0" anchor="ctr"/>
          <a:lstStyle/>
          <a:p>
            <a:pPr marL="0" indent="0" algn="ctr">
              <a:lnSpc>
                <a:spcPct val="110000"/>
              </a:lnSpc>
              <a:buNone/>
            </a:pPr>
            <a:r>
              <a:rPr lang="en-US" sz="5600" dirty="0">
                <a:solidFill>
                  <a:srgbClr val="1E1208"/>
                </a:solidFill>
                <a:latin typeface="Impact" pitchFamily="34" charset="0"/>
                <a:ea typeface="Impact" pitchFamily="34" charset="-122"/>
                <a:cs typeface="Impact" pitchFamily="34" charset="-120"/>
              </a:rPr>
              <a:t>2</a:t>
            </a:r>
            <a:endParaRPr lang="en-US" sz="5600" dirty="0"/>
          </a:p>
        </p:txBody>
      </p:sp>
      <p:sp>
        <p:nvSpPr>
          <p:cNvPr id="25" name="Text 22"/>
          <p:cNvSpPr/>
          <p:nvPr/>
        </p:nvSpPr>
        <p:spPr>
          <a:xfrm>
            <a:off x="2834640" y="3502152"/>
            <a:ext cx="4937760" cy="457200"/>
          </a:xfrm>
          <a:prstGeom prst="rect">
            <a:avLst/>
          </a:prstGeom>
          <a:noFill/>
          <a:ln/>
        </p:spPr>
        <p:txBody>
          <a:bodyPr wrap="square" lIns="0" tIns="0" rIns="0" bIns="0" rtlCol="0" anchor="t"/>
          <a:lstStyle/>
          <a:p>
            <a:pPr marL="0" indent="0" algn="l">
              <a:lnSpc>
                <a:spcPct val="110000"/>
              </a:lnSpc>
              <a:buNone/>
            </a:pPr>
            <a:r>
              <a:rPr lang="en-US" sz="2800" dirty="0">
                <a:solidFill>
                  <a:srgbClr val="1E1208"/>
                </a:solidFill>
                <a:latin typeface="Impact" pitchFamily="34" charset="0"/>
                <a:ea typeface="Impact" pitchFamily="34" charset="-122"/>
                <a:cs typeface="Impact" pitchFamily="34" charset="-120"/>
              </a:rPr>
              <a:t>SMART LEARNING</a:t>
            </a:r>
            <a:endParaRPr lang="en-US" sz="2800" dirty="0"/>
          </a:p>
        </p:txBody>
      </p:sp>
      <p:sp>
        <p:nvSpPr>
          <p:cNvPr id="26" name="Text 23"/>
          <p:cNvSpPr/>
          <p:nvPr/>
        </p:nvSpPr>
        <p:spPr>
          <a:xfrm>
            <a:off x="2834640" y="3995928"/>
            <a:ext cx="5760720" cy="457200"/>
          </a:xfrm>
          <a:prstGeom prst="rect">
            <a:avLst/>
          </a:prstGeom>
          <a:noFill/>
          <a:ln/>
        </p:spPr>
        <p:txBody>
          <a:bodyPr wrap="square" lIns="0" tIns="0" rIns="0" bIns="0" rtlCol="0" anchor="t"/>
          <a:lstStyle/>
          <a:p>
            <a:pPr marL="0" indent="0" algn="l">
              <a:lnSpc>
                <a:spcPct val="110000"/>
              </a:lnSpc>
              <a:buNone/>
            </a:pPr>
            <a:r>
              <a:rPr lang="en-US" sz="1450" dirty="0">
                <a:solidFill>
                  <a:srgbClr val="555555"/>
                </a:solidFill>
                <a:latin typeface="Arial" pitchFamily="34" charset="0"/>
                <a:ea typeface="Arial" pitchFamily="34" charset="-122"/>
                <a:cs typeface="Arial" pitchFamily="34" charset="-120"/>
              </a:rPr>
              <a:t>Deliver and recover learning. Lessons, plans, study support and catch-up.</a:t>
            </a:r>
            <a:endParaRPr lang="en-US" sz="1450" dirty="0"/>
          </a:p>
        </p:txBody>
      </p:sp>
      <p:sp>
        <p:nvSpPr>
          <p:cNvPr id="27" name="Shape 24"/>
          <p:cNvSpPr/>
          <p:nvPr/>
        </p:nvSpPr>
        <p:spPr>
          <a:xfrm>
            <a:off x="8823960" y="3776472"/>
            <a:ext cx="1920240" cy="310896"/>
          </a:xfrm>
          <a:prstGeom prst="rect">
            <a:avLst/>
          </a:prstGeom>
          <a:solidFill>
            <a:srgbClr val="1E1208"/>
          </a:solidFill>
          <a:ln w="19050">
            <a:solidFill>
              <a:srgbClr val="1E1208"/>
            </a:solidFill>
            <a:prstDash val="solid"/>
          </a:ln>
        </p:spPr>
      </p:sp>
      <p:sp>
        <p:nvSpPr>
          <p:cNvPr id="28" name="Text 25"/>
          <p:cNvSpPr/>
          <p:nvPr/>
        </p:nvSpPr>
        <p:spPr>
          <a:xfrm>
            <a:off x="8823960" y="3776472"/>
            <a:ext cx="192024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ALREADY BUILT</a:t>
            </a:r>
            <a:endParaRPr lang="en-US" sz="1000" dirty="0"/>
          </a:p>
        </p:txBody>
      </p:sp>
      <p:sp>
        <p:nvSpPr>
          <p:cNvPr id="29" name="Shape 26"/>
          <p:cNvSpPr/>
          <p:nvPr/>
        </p:nvSpPr>
        <p:spPr>
          <a:xfrm>
            <a:off x="1417320" y="4663440"/>
            <a:ext cx="9509760" cy="1188720"/>
          </a:xfrm>
          <a:prstGeom prst="rect">
            <a:avLst/>
          </a:prstGeom>
          <a:solidFill>
            <a:srgbClr val="FFFFFF"/>
          </a:solidFill>
          <a:ln w="25400">
            <a:solidFill>
              <a:srgbClr val="1E1208"/>
            </a:solidFill>
            <a:prstDash val="dash"/>
          </a:ln>
        </p:spPr>
      </p:sp>
      <p:sp>
        <p:nvSpPr>
          <p:cNvPr id="30" name="Shape 27"/>
          <p:cNvSpPr/>
          <p:nvPr/>
        </p:nvSpPr>
        <p:spPr>
          <a:xfrm>
            <a:off x="1417320" y="4663440"/>
            <a:ext cx="1188720" cy="1188720"/>
          </a:xfrm>
          <a:prstGeom prst="rect">
            <a:avLst/>
          </a:prstGeom>
          <a:solidFill>
            <a:srgbClr val="FDFDFB"/>
          </a:solidFill>
          <a:ln w="25400">
            <a:solidFill>
              <a:srgbClr val="1E1208"/>
            </a:solidFill>
            <a:prstDash val="solid"/>
          </a:ln>
        </p:spPr>
      </p:sp>
      <p:sp>
        <p:nvSpPr>
          <p:cNvPr id="31" name="Text 28"/>
          <p:cNvSpPr/>
          <p:nvPr/>
        </p:nvSpPr>
        <p:spPr>
          <a:xfrm>
            <a:off x="1417320" y="4663440"/>
            <a:ext cx="1188720" cy="1188720"/>
          </a:xfrm>
          <a:prstGeom prst="rect">
            <a:avLst/>
          </a:prstGeom>
          <a:noFill/>
          <a:ln/>
        </p:spPr>
        <p:txBody>
          <a:bodyPr wrap="square" lIns="0" tIns="0" rIns="0" bIns="0" rtlCol="0" anchor="ctr"/>
          <a:lstStyle/>
          <a:p>
            <a:pPr marL="0" indent="0" algn="ctr">
              <a:lnSpc>
                <a:spcPct val="110000"/>
              </a:lnSpc>
              <a:buNone/>
            </a:pPr>
            <a:r>
              <a:rPr lang="en-US" sz="5600" dirty="0">
                <a:solidFill>
                  <a:srgbClr val="BBBBBB"/>
                </a:solidFill>
                <a:latin typeface="Impact" pitchFamily="34" charset="0"/>
                <a:ea typeface="Impact" pitchFamily="34" charset="-122"/>
                <a:cs typeface="Impact" pitchFamily="34" charset="-120"/>
              </a:rPr>
              <a:t>3</a:t>
            </a:r>
            <a:endParaRPr lang="en-US" sz="5600" dirty="0"/>
          </a:p>
        </p:txBody>
      </p:sp>
      <p:sp>
        <p:nvSpPr>
          <p:cNvPr id="32" name="Text 29"/>
          <p:cNvSpPr/>
          <p:nvPr/>
        </p:nvSpPr>
        <p:spPr>
          <a:xfrm>
            <a:off x="2834640" y="4828032"/>
            <a:ext cx="4937760" cy="457200"/>
          </a:xfrm>
          <a:prstGeom prst="rect">
            <a:avLst/>
          </a:prstGeom>
          <a:noFill/>
          <a:ln/>
        </p:spPr>
        <p:txBody>
          <a:bodyPr wrap="square" lIns="0" tIns="0" rIns="0" bIns="0" rtlCol="0" anchor="t"/>
          <a:lstStyle/>
          <a:p>
            <a:pPr marL="0" indent="0" algn="l">
              <a:lnSpc>
                <a:spcPct val="110000"/>
              </a:lnSpc>
              <a:buNone/>
            </a:pPr>
            <a:r>
              <a:rPr lang="en-US" sz="2800" dirty="0">
                <a:solidFill>
                  <a:srgbClr val="1E1208"/>
                </a:solidFill>
                <a:latin typeface="Impact" pitchFamily="34" charset="0"/>
                <a:ea typeface="Impact" pitchFamily="34" charset="-122"/>
                <a:cs typeface="Impact" pitchFamily="34" charset="-120"/>
              </a:rPr>
              <a:t>SMART PLAY</a:t>
            </a:r>
            <a:endParaRPr lang="en-US" sz="2800" dirty="0"/>
          </a:p>
        </p:txBody>
      </p:sp>
      <p:sp>
        <p:nvSpPr>
          <p:cNvPr id="33" name="Text 30"/>
          <p:cNvSpPr/>
          <p:nvPr/>
        </p:nvSpPr>
        <p:spPr>
          <a:xfrm>
            <a:off x="2834640" y="5321808"/>
            <a:ext cx="5760720" cy="457200"/>
          </a:xfrm>
          <a:prstGeom prst="rect">
            <a:avLst/>
          </a:prstGeom>
          <a:noFill/>
          <a:ln/>
        </p:spPr>
        <p:txBody>
          <a:bodyPr wrap="square" lIns="0" tIns="0" rIns="0" bIns="0" rtlCol="0" anchor="t"/>
          <a:lstStyle/>
          <a:p>
            <a:pPr marL="0" indent="0" algn="l">
              <a:lnSpc>
                <a:spcPct val="110000"/>
              </a:lnSpc>
              <a:buNone/>
            </a:pPr>
            <a:r>
              <a:rPr lang="en-US" sz="1450" dirty="0">
                <a:solidFill>
                  <a:srgbClr val="555555"/>
                </a:solidFill>
                <a:latin typeface="Arial" pitchFamily="34" charset="0"/>
                <a:ea typeface="Arial" pitchFamily="34" charset="-122"/>
                <a:cs typeface="Arial" pitchFamily="34" charset="-120"/>
              </a:rPr>
              <a:t>Engage and reinforce learning. Quick games, duels and rewards.</a:t>
            </a:r>
            <a:endParaRPr lang="en-US" sz="1450" dirty="0"/>
          </a:p>
        </p:txBody>
      </p:sp>
      <p:sp>
        <p:nvSpPr>
          <p:cNvPr id="34" name="Shape 31"/>
          <p:cNvSpPr/>
          <p:nvPr/>
        </p:nvSpPr>
        <p:spPr>
          <a:xfrm>
            <a:off x="8823960" y="5102352"/>
            <a:ext cx="1920240" cy="310896"/>
          </a:xfrm>
          <a:prstGeom prst="rect">
            <a:avLst/>
          </a:prstGeom>
          <a:solidFill>
            <a:srgbClr val="FDFDFB"/>
          </a:solidFill>
          <a:ln w="19050">
            <a:solidFill>
              <a:srgbClr val="1E1208"/>
            </a:solidFill>
            <a:prstDash val="solid"/>
          </a:ln>
        </p:spPr>
      </p:sp>
      <p:sp>
        <p:nvSpPr>
          <p:cNvPr id="35" name="Text 32"/>
          <p:cNvSpPr/>
          <p:nvPr/>
        </p:nvSpPr>
        <p:spPr>
          <a:xfrm>
            <a:off x="8823960" y="5102352"/>
            <a:ext cx="192024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COMING SOON</a:t>
            </a:r>
            <a:endParaRPr lang="en-US" sz="1000" dirty="0"/>
          </a:p>
        </p:txBody>
      </p:sp>
      <p:sp>
        <p:nvSpPr>
          <p:cNvPr id="36" name="Text 33"/>
          <p:cNvSpPr/>
          <p:nvPr/>
        </p:nvSpPr>
        <p:spPr>
          <a:xfrm>
            <a:off x="1417320" y="6080760"/>
            <a:ext cx="9509760" cy="365760"/>
          </a:xfrm>
          <a:prstGeom prst="rect">
            <a:avLst/>
          </a:prstGeom>
          <a:noFill/>
          <a:ln/>
        </p:spPr>
        <p:txBody>
          <a:bodyPr wrap="square" lIns="0" tIns="0" rIns="0" bIns="0" rtlCol="0" anchor="t"/>
          <a:lstStyle/>
          <a:p>
            <a:pPr marL="0" indent="0" algn="l">
              <a:lnSpc>
                <a:spcPct val="110000"/>
              </a:lnSpc>
              <a:buNone/>
            </a:pPr>
            <a:r>
              <a:rPr lang="en-US" sz="1500" b="1" dirty="0">
                <a:solidFill>
                  <a:srgbClr val="1E1208"/>
                </a:solidFill>
                <a:latin typeface="Arial" pitchFamily="34" charset="0"/>
                <a:ea typeface="Arial" pitchFamily="34" charset="-122"/>
                <a:cs typeface="Arial" pitchFamily="34" charset="-120"/>
              </a:rPr>
              <a:t>They share one school, one set of people and </a:t>
            </a:r>
            <a:r>
              <a:rPr lang="en-US" sz="1500" b="1" dirty="0" smtClean="0">
                <a:solidFill>
                  <a:srgbClr val="1E1208"/>
                </a:solidFill>
                <a:latin typeface="Arial" pitchFamily="34" charset="0"/>
                <a:ea typeface="Arial" pitchFamily="34" charset="-122"/>
                <a:cs typeface="Arial" pitchFamily="34" charset="-120"/>
              </a:rPr>
              <a:t>one platform.</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marL="0" indent="0">
              <a:buNone/>
            </a:pPr>
            <a:r>
              <a:rPr lang="en-US" sz="2000" b="1" kern="0" spc="300" dirty="0">
                <a:solidFill>
                  <a:srgbClr val="1E1208"/>
                </a:solidFill>
                <a:latin typeface="Courier New" pitchFamily="34" charset="0"/>
                <a:ea typeface="Courier New" pitchFamily="34" charset="-122"/>
                <a:cs typeface="Courier New" pitchFamily="34" charset="-120"/>
              </a:rPr>
              <a:t>MEET THE PRODUCT</a:t>
            </a:r>
            <a:endParaRPr lang="en-US" sz="2000" dirty="0"/>
          </a:p>
        </p:txBody>
      </p:sp>
      <p:sp>
        <p:nvSpPr>
          <p:cNvPr id="14" name="Shape 11"/>
          <p:cNvSpPr/>
          <p:nvPr/>
        </p:nvSpPr>
        <p:spPr>
          <a:xfrm>
            <a:off x="1417320" y="1920240"/>
            <a:ext cx="3931920" cy="3931920"/>
          </a:xfrm>
          <a:prstGeom prst="rect">
            <a:avLst/>
          </a:prstGeom>
          <a:solidFill>
            <a:srgbClr val="D4762A"/>
          </a:solidFill>
          <a:ln w="25400">
            <a:solidFill>
              <a:srgbClr val="1E1208"/>
            </a:solidFill>
            <a:prstDash val="solid"/>
          </a:ln>
        </p:spPr>
      </p:sp>
      <p:sp>
        <p:nvSpPr>
          <p:cNvPr id="15" name="Text 12"/>
          <p:cNvSpPr/>
          <p:nvPr/>
        </p:nvSpPr>
        <p:spPr>
          <a:xfrm>
            <a:off x="1645920" y="2011680"/>
            <a:ext cx="3474720" cy="1463040"/>
          </a:xfrm>
          <a:prstGeom prst="rect">
            <a:avLst/>
          </a:prstGeom>
          <a:noFill/>
          <a:ln/>
        </p:spPr>
        <p:txBody>
          <a:bodyPr wrap="square" lIns="0" tIns="0" rIns="0" bIns="0" rtlCol="0" anchor="t"/>
          <a:lstStyle/>
          <a:p>
            <a:pPr marL="0" indent="0" algn="l">
              <a:lnSpc>
                <a:spcPct val="110000"/>
              </a:lnSpc>
              <a:buNone/>
            </a:pPr>
            <a:r>
              <a:rPr lang="en-US" sz="9600" dirty="0">
                <a:solidFill>
                  <a:srgbClr val="1E1208"/>
                </a:solidFill>
                <a:latin typeface="Impact" pitchFamily="34" charset="0"/>
                <a:ea typeface="Impact" pitchFamily="34" charset="-122"/>
                <a:cs typeface="Impact" pitchFamily="34" charset="-120"/>
              </a:rPr>
              <a:t>1</a:t>
            </a:r>
            <a:endParaRPr lang="en-US" sz="9600" dirty="0"/>
          </a:p>
        </p:txBody>
      </p:sp>
      <p:sp>
        <p:nvSpPr>
          <p:cNvPr id="16" name="Text 13"/>
          <p:cNvSpPr/>
          <p:nvPr/>
        </p:nvSpPr>
        <p:spPr>
          <a:xfrm>
            <a:off x="1645920" y="3429000"/>
            <a:ext cx="3474720" cy="1371600"/>
          </a:xfrm>
          <a:prstGeom prst="rect">
            <a:avLst/>
          </a:prstGeom>
          <a:noFill/>
          <a:ln/>
        </p:spPr>
        <p:txBody>
          <a:bodyPr wrap="square" lIns="0" tIns="0" rIns="0" bIns="0" rtlCol="0" anchor="t"/>
          <a:lstStyle/>
          <a:p>
            <a:pPr marL="0" indent="0" algn="l">
              <a:lnSpc>
                <a:spcPct val="95000"/>
              </a:lnSpc>
              <a:buNone/>
            </a:pPr>
            <a:r>
              <a:rPr lang="en-US" sz="4400" dirty="0">
                <a:solidFill>
                  <a:srgbClr val="1E1208"/>
                </a:solidFill>
                <a:latin typeface="Impact" pitchFamily="34" charset="0"/>
                <a:ea typeface="Impact" pitchFamily="34" charset="-122"/>
                <a:cs typeface="Impact" pitchFamily="34" charset="-120"/>
              </a:rPr>
              <a:t>SMART</a:t>
            </a:r>
            <a:endParaRPr lang="en-US" sz="4400" dirty="0"/>
          </a:p>
          <a:p>
            <a:pPr marL="0" indent="0" algn="l">
              <a:lnSpc>
                <a:spcPct val="95000"/>
              </a:lnSpc>
              <a:buNone/>
            </a:pPr>
            <a:r>
              <a:rPr lang="en-US" sz="4400" dirty="0">
                <a:solidFill>
                  <a:srgbClr val="1E1208"/>
                </a:solidFill>
                <a:latin typeface="Impact" pitchFamily="34" charset="0"/>
                <a:ea typeface="Impact" pitchFamily="34" charset="-122"/>
                <a:cs typeface="Impact" pitchFamily="34" charset="-120"/>
              </a:rPr>
              <a:t>ASSESS</a:t>
            </a:r>
            <a:endParaRPr lang="en-US" sz="4400" dirty="0"/>
          </a:p>
        </p:txBody>
      </p:sp>
      <p:sp>
        <p:nvSpPr>
          <p:cNvPr id="17" name="Text 14"/>
          <p:cNvSpPr/>
          <p:nvPr/>
        </p:nvSpPr>
        <p:spPr>
          <a:xfrm>
            <a:off x="1645920" y="4937760"/>
            <a:ext cx="3474720" cy="822960"/>
          </a:xfrm>
          <a:prstGeom prst="rect">
            <a:avLst/>
          </a:prstGeom>
          <a:noFill/>
          <a:ln/>
        </p:spPr>
        <p:txBody>
          <a:bodyPr wrap="square" lIns="0" tIns="0" rIns="0" bIns="0" rtlCol="0" anchor="t"/>
          <a:lstStyle/>
          <a:p>
            <a:pPr marL="0" indent="0" algn="l">
              <a:lnSpc>
                <a:spcPct val="110000"/>
              </a:lnSpc>
              <a:buNone/>
            </a:pPr>
            <a:r>
              <a:rPr lang="en-US" sz="1800" b="1" dirty="0">
                <a:solidFill>
                  <a:srgbClr val="1E1208"/>
                </a:solidFill>
                <a:latin typeface="Arial" pitchFamily="34" charset="0"/>
                <a:ea typeface="Arial" pitchFamily="34" charset="-122"/>
                <a:cs typeface="Arial" pitchFamily="34" charset="-120"/>
              </a:rPr>
              <a:t>Measure learning.</a:t>
            </a:r>
            <a:endParaRPr lang="en-US" sz="1800" dirty="0"/>
          </a:p>
        </p:txBody>
      </p:sp>
      <p:sp>
        <p:nvSpPr>
          <p:cNvPr id="19" name="Text 16"/>
          <p:cNvSpPr/>
          <p:nvPr/>
        </p:nvSpPr>
        <p:spPr>
          <a:xfrm>
            <a:off x="5623560" y="3703320"/>
            <a:ext cx="5303520" cy="274320"/>
          </a:xfrm>
          <a:prstGeom prst="rect">
            <a:avLst/>
          </a:prstGeom>
          <a:noFill/>
          <a:ln/>
        </p:spPr>
        <p:txBody>
          <a:bodyPr wrap="square" lIns="0" tIns="0" rIns="0" bIns="0" rtlCol="0" anchor="t"/>
          <a:lstStyle/>
          <a:p>
            <a:pPr marL="0" indent="0" algn="l">
              <a:lnSpc>
                <a:spcPct val="110000"/>
              </a:lnSpc>
              <a:buNone/>
            </a:pPr>
            <a:r>
              <a:rPr lang="en-US" sz="1400" b="1" kern="0" spc="200" dirty="0">
                <a:solidFill>
                  <a:srgbClr val="1E1208"/>
                </a:solidFill>
                <a:latin typeface="Courier New" pitchFamily="34" charset="0"/>
                <a:ea typeface="Courier New" pitchFamily="34" charset="-122"/>
                <a:cs typeface="Courier New" pitchFamily="34" charset="-120"/>
              </a:rPr>
              <a:t>WHAT IT DOES</a:t>
            </a:r>
            <a:endParaRPr lang="en-US" sz="1400" dirty="0"/>
          </a:p>
        </p:txBody>
      </p:sp>
      <p:sp>
        <p:nvSpPr>
          <p:cNvPr id="20" name="Shape 17"/>
          <p:cNvSpPr/>
          <p:nvPr/>
        </p:nvSpPr>
        <p:spPr>
          <a:xfrm>
            <a:off x="5623560" y="4041648"/>
            <a:ext cx="5303520" cy="475488"/>
          </a:xfrm>
          <a:prstGeom prst="rect">
            <a:avLst/>
          </a:prstGeom>
          <a:solidFill>
            <a:srgbClr val="FFFFFF"/>
          </a:solidFill>
          <a:ln w="25400">
            <a:solidFill>
              <a:srgbClr val="1E1208"/>
            </a:solidFill>
            <a:prstDash val="solid"/>
          </a:ln>
        </p:spPr>
      </p:sp>
      <p:sp>
        <p:nvSpPr>
          <p:cNvPr id="21" name="Text 18"/>
          <p:cNvSpPr/>
          <p:nvPr/>
        </p:nvSpPr>
        <p:spPr>
          <a:xfrm>
            <a:off x="5806440" y="404164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Build tests and exams, with </a:t>
            </a:r>
            <a:r>
              <a:rPr lang="en-US" sz="1300" b="1" dirty="0" smtClean="0">
                <a:solidFill>
                  <a:srgbClr val="1E1208"/>
                </a:solidFill>
                <a:latin typeface="Arial" pitchFamily="34" charset="0"/>
                <a:ea typeface="Arial" pitchFamily="34" charset="-122"/>
                <a:cs typeface="Arial" pitchFamily="34" charset="-120"/>
              </a:rPr>
              <a:t>the help of AI.</a:t>
            </a:r>
            <a:endParaRPr lang="en-US" sz="1300" dirty="0"/>
          </a:p>
        </p:txBody>
      </p:sp>
      <p:sp>
        <p:nvSpPr>
          <p:cNvPr id="22" name="Shape 19"/>
          <p:cNvSpPr/>
          <p:nvPr/>
        </p:nvSpPr>
        <p:spPr>
          <a:xfrm>
            <a:off x="5623560" y="4590288"/>
            <a:ext cx="5303520" cy="475488"/>
          </a:xfrm>
          <a:prstGeom prst="rect">
            <a:avLst/>
          </a:prstGeom>
          <a:solidFill>
            <a:srgbClr val="FBE9D6"/>
          </a:solidFill>
          <a:ln w="25400">
            <a:solidFill>
              <a:srgbClr val="1E1208"/>
            </a:solidFill>
            <a:prstDash val="solid"/>
          </a:ln>
        </p:spPr>
      </p:sp>
      <p:sp>
        <p:nvSpPr>
          <p:cNvPr id="23" name="Text 20"/>
          <p:cNvSpPr/>
          <p:nvPr/>
        </p:nvSpPr>
        <p:spPr>
          <a:xfrm>
            <a:off x="5806440" y="459028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Mark automatically, </a:t>
            </a:r>
            <a:r>
              <a:rPr lang="en-US" sz="1300" b="1" dirty="0" smtClean="0">
                <a:solidFill>
                  <a:srgbClr val="1E1208"/>
                </a:solidFill>
                <a:latin typeface="Arial" pitchFamily="34" charset="0"/>
                <a:ea typeface="Arial" pitchFamily="34" charset="-122"/>
                <a:cs typeface="Arial" pitchFamily="34" charset="-120"/>
              </a:rPr>
              <a:t>give assignments / homework from one system</a:t>
            </a:r>
            <a:endParaRPr lang="en-US" sz="1300" dirty="0"/>
          </a:p>
        </p:txBody>
      </p:sp>
      <p:sp>
        <p:nvSpPr>
          <p:cNvPr id="24" name="Shape 21"/>
          <p:cNvSpPr/>
          <p:nvPr/>
        </p:nvSpPr>
        <p:spPr>
          <a:xfrm>
            <a:off x="5623560" y="5138928"/>
            <a:ext cx="5303520" cy="475488"/>
          </a:xfrm>
          <a:prstGeom prst="rect">
            <a:avLst/>
          </a:prstGeom>
          <a:solidFill>
            <a:srgbClr val="FFFFFF"/>
          </a:solidFill>
          <a:ln w="25400">
            <a:solidFill>
              <a:srgbClr val="1E1208"/>
            </a:solidFill>
            <a:prstDash val="solid"/>
          </a:ln>
        </p:spPr>
      </p:sp>
      <p:sp>
        <p:nvSpPr>
          <p:cNvPr id="25" name="Text 22"/>
          <p:cNvSpPr/>
          <p:nvPr/>
        </p:nvSpPr>
        <p:spPr>
          <a:xfrm>
            <a:off x="5806440" y="513892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See what the class </a:t>
            </a:r>
            <a:r>
              <a:rPr lang="en-US" sz="1300" b="1" dirty="0" smtClean="0">
                <a:solidFill>
                  <a:srgbClr val="1E1208"/>
                </a:solidFill>
                <a:latin typeface="Arial" pitchFamily="34" charset="0"/>
                <a:ea typeface="Arial" pitchFamily="34" charset="-122"/>
                <a:cs typeface="Arial" pitchFamily="34" charset="-120"/>
              </a:rPr>
              <a:t>is lacking</a:t>
            </a:r>
            <a:r>
              <a:rPr lang="en-US" sz="1300" b="1" dirty="0" smtClean="0">
                <a:solidFill>
                  <a:srgbClr val="1E1208"/>
                </a:solidFill>
                <a:latin typeface="Arial" pitchFamily="34" charset="0"/>
                <a:ea typeface="Arial" pitchFamily="34" charset="-122"/>
                <a:cs typeface="Arial" pitchFamily="34" charset="-120"/>
              </a:rPr>
              <a:t> </a:t>
            </a:r>
            <a:r>
              <a:rPr lang="en-US" sz="1300" b="1" dirty="0">
                <a:solidFill>
                  <a:srgbClr val="1E1208"/>
                </a:solidFill>
                <a:latin typeface="Arial" pitchFamily="34" charset="0"/>
                <a:ea typeface="Arial" pitchFamily="34" charset="-122"/>
                <a:cs typeface="Arial" pitchFamily="34" charset="-120"/>
              </a:rPr>
              <a:t>and who needs support</a:t>
            </a:r>
            <a:endParaRPr lang="en-US" sz="1300" dirty="0"/>
          </a:p>
        </p:txBody>
      </p:sp>
      <p:sp>
        <p:nvSpPr>
          <p:cNvPr id="26" name="Text 23"/>
          <p:cNvSpPr/>
          <p:nvPr/>
        </p:nvSpPr>
        <p:spPr>
          <a:xfrm>
            <a:off x="5623560" y="5760720"/>
            <a:ext cx="3291840" cy="457200"/>
          </a:xfrm>
          <a:prstGeom prst="rect">
            <a:avLst/>
          </a:prstGeom>
          <a:noFill/>
          <a:ln/>
        </p:spPr>
        <p:txBody>
          <a:bodyPr wrap="square" lIns="0" tIns="0" rIns="0" bIns="0" rtlCol="0" anchor="ctr"/>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For teachers, students, heads of department and leaders.</a:t>
            </a:r>
            <a:endParaRPr lang="en-US" sz="1200" dirty="0"/>
          </a:p>
        </p:txBody>
      </p:sp>
      <p:sp>
        <p:nvSpPr>
          <p:cNvPr id="27" name="Shape 24"/>
          <p:cNvSpPr/>
          <p:nvPr/>
        </p:nvSpPr>
        <p:spPr>
          <a:xfrm>
            <a:off x="9006840" y="5824728"/>
            <a:ext cx="1920240" cy="310896"/>
          </a:xfrm>
          <a:prstGeom prst="rect">
            <a:avLst/>
          </a:prstGeom>
          <a:solidFill>
            <a:srgbClr val="1E1208"/>
          </a:solidFill>
          <a:ln w="19050">
            <a:solidFill>
              <a:srgbClr val="1E1208"/>
            </a:solidFill>
            <a:prstDash val="solid"/>
          </a:ln>
        </p:spPr>
      </p:sp>
      <p:sp>
        <p:nvSpPr>
          <p:cNvPr id="28" name="Text 25"/>
          <p:cNvSpPr/>
          <p:nvPr/>
        </p:nvSpPr>
        <p:spPr>
          <a:xfrm>
            <a:off x="9006840" y="5824728"/>
            <a:ext cx="192024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ALREADY BUILT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20040"/>
            <a:ext cx="9144000" cy="274320"/>
          </a:xfrm>
          <a:prstGeom prst="rect">
            <a:avLst/>
          </a:prstGeom>
          <a:noFill/>
          <a:ln/>
        </p:spPr>
        <p:txBody>
          <a:bodyPr wrap="square" lIns="0" tIns="0" rIns="0" bIns="0" rtlCol="0" anchor="ctr"/>
          <a:lstStyle/>
          <a:p>
            <a:pPr marL="0" indent="0">
              <a:buNone/>
            </a:pPr>
            <a:r>
              <a:rPr lang="en-US" sz="1200" b="1" kern="0" spc="300" dirty="0">
                <a:solidFill>
                  <a:srgbClr val="1E1208"/>
                </a:solidFill>
                <a:latin typeface="Courier New" pitchFamily="34" charset="0"/>
                <a:ea typeface="Courier New" pitchFamily="34" charset="-122"/>
                <a:cs typeface="Courier New" pitchFamily="34" charset="-120"/>
              </a:rPr>
              <a:t>SMART ASSESS</a:t>
            </a:r>
            <a:endParaRPr lang="en-US" sz="1200" dirty="0"/>
          </a:p>
        </p:txBody>
      </p:sp>
      <p:sp>
        <p:nvSpPr>
          <p:cNvPr id="14" name="Text 11"/>
          <p:cNvSpPr/>
          <p:nvPr/>
        </p:nvSpPr>
        <p:spPr>
          <a:xfrm>
            <a:off x="1417320" y="1078992"/>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EVERY ASSESSMENT, ONE SECURE RECORD</a:t>
            </a:r>
            <a:endParaRPr lang="en-US" sz="4600" dirty="0"/>
          </a:p>
        </p:txBody>
      </p:sp>
      <p:sp>
        <p:nvSpPr>
          <p:cNvPr id="15" name="Shape 12"/>
          <p:cNvSpPr/>
          <p:nvPr/>
        </p:nvSpPr>
        <p:spPr>
          <a:xfrm>
            <a:off x="9144000" y="502920"/>
            <a:ext cx="1737360" cy="310896"/>
          </a:xfrm>
          <a:prstGeom prst="rect">
            <a:avLst/>
          </a:prstGeom>
          <a:solidFill>
            <a:srgbClr val="D4762A"/>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Shape 14"/>
          <p:cNvSpPr/>
          <p:nvPr/>
        </p:nvSpPr>
        <p:spPr>
          <a:xfrm>
            <a:off x="1417320" y="2322576"/>
            <a:ext cx="3017520" cy="1783080"/>
          </a:xfrm>
          <a:prstGeom prst="rect">
            <a:avLst/>
          </a:prstGeom>
          <a:solidFill>
            <a:srgbClr val="FFFFFF"/>
          </a:solidFill>
          <a:ln w="25400">
            <a:solidFill>
              <a:srgbClr val="1E1208"/>
            </a:solidFill>
            <a:prstDash val="solid"/>
          </a:ln>
        </p:spPr>
      </p:sp>
      <p:sp>
        <p:nvSpPr>
          <p:cNvPr id="18" name="Shape 15"/>
          <p:cNvSpPr/>
          <p:nvPr/>
        </p:nvSpPr>
        <p:spPr>
          <a:xfrm>
            <a:off x="1417320" y="2322576"/>
            <a:ext cx="3017520" cy="109728"/>
          </a:xfrm>
          <a:prstGeom prst="rect">
            <a:avLst/>
          </a:prstGeom>
          <a:solidFill>
            <a:srgbClr val="D4762A"/>
          </a:solidFill>
          <a:ln/>
        </p:spPr>
      </p:sp>
      <p:sp>
        <p:nvSpPr>
          <p:cNvPr id="19" name="Text 16"/>
          <p:cNvSpPr/>
          <p:nvPr/>
        </p:nvSpPr>
        <p:spPr>
          <a:xfrm>
            <a:off x="1600200" y="2596896"/>
            <a:ext cx="2651760" cy="5943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EXAMS, TESTS AND TASKS</a:t>
            </a:r>
            <a:endParaRPr lang="en-US" sz="1700" dirty="0"/>
          </a:p>
        </p:txBody>
      </p:sp>
      <p:sp>
        <p:nvSpPr>
          <p:cNvPr id="20" name="Text 17"/>
          <p:cNvSpPr/>
          <p:nvPr/>
        </p:nvSpPr>
        <p:spPr>
          <a:xfrm>
            <a:off x="1600200" y="3191256"/>
            <a:ext cx="2651760" cy="86868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Pop quizzes to end-of-year exams, plus assignments and homework. Five question types, with images and audio.</a:t>
            </a:r>
            <a:endParaRPr lang="en-US" sz="1250" dirty="0"/>
          </a:p>
        </p:txBody>
      </p:sp>
      <p:sp>
        <p:nvSpPr>
          <p:cNvPr id="21" name="Shape 18"/>
          <p:cNvSpPr/>
          <p:nvPr/>
        </p:nvSpPr>
        <p:spPr>
          <a:xfrm>
            <a:off x="4617720" y="2322576"/>
            <a:ext cx="3017520" cy="1783080"/>
          </a:xfrm>
          <a:prstGeom prst="rect">
            <a:avLst/>
          </a:prstGeom>
          <a:solidFill>
            <a:srgbClr val="FFFFFF"/>
          </a:solidFill>
          <a:ln w="25400">
            <a:solidFill>
              <a:srgbClr val="1E1208"/>
            </a:solidFill>
            <a:prstDash val="solid"/>
          </a:ln>
        </p:spPr>
      </p:sp>
      <p:sp>
        <p:nvSpPr>
          <p:cNvPr id="22" name="Shape 19"/>
          <p:cNvSpPr/>
          <p:nvPr/>
        </p:nvSpPr>
        <p:spPr>
          <a:xfrm>
            <a:off x="4617720" y="2322576"/>
            <a:ext cx="3017520" cy="109728"/>
          </a:xfrm>
          <a:prstGeom prst="rect">
            <a:avLst/>
          </a:prstGeom>
          <a:solidFill>
            <a:srgbClr val="D4762A"/>
          </a:solidFill>
          <a:ln/>
        </p:spPr>
      </p:sp>
      <p:sp>
        <p:nvSpPr>
          <p:cNvPr id="23" name="Text 20"/>
          <p:cNvSpPr/>
          <p:nvPr/>
        </p:nvSpPr>
        <p:spPr>
          <a:xfrm>
            <a:off x="4800600" y="2596896"/>
            <a:ext cx="2651760" cy="5943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QUESTION BANK</a:t>
            </a:r>
            <a:endParaRPr lang="en-US" sz="1700" dirty="0"/>
          </a:p>
        </p:txBody>
      </p:sp>
      <p:sp>
        <p:nvSpPr>
          <p:cNvPr id="24" name="Text 21"/>
          <p:cNvSpPr/>
          <p:nvPr/>
        </p:nvSpPr>
        <p:spPr>
          <a:xfrm>
            <a:off x="4800600" y="3191256"/>
            <a:ext cx="2651760" cy="86868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Save a question once, tag it to a topic, reuse it in future tests.</a:t>
            </a:r>
            <a:endParaRPr lang="en-US" sz="1250" dirty="0"/>
          </a:p>
        </p:txBody>
      </p:sp>
      <p:sp>
        <p:nvSpPr>
          <p:cNvPr id="25" name="Shape 22"/>
          <p:cNvSpPr/>
          <p:nvPr/>
        </p:nvSpPr>
        <p:spPr>
          <a:xfrm>
            <a:off x="7818120" y="2322576"/>
            <a:ext cx="3017520" cy="1783080"/>
          </a:xfrm>
          <a:prstGeom prst="rect">
            <a:avLst/>
          </a:prstGeom>
          <a:solidFill>
            <a:srgbClr val="FFFFFF"/>
          </a:solidFill>
          <a:ln w="25400">
            <a:solidFill>
              <a:srgbClr val="1E1208"/>
            </a:solidFill>
            <a:prstDash val="solid"/>
          </a:ln>
        </p:spPr>
      </p:sp>
      <p:sp>
        <p:nvSpPr>
          <p:cNvPr id="26" name="Shape 23"/>
          <p:cNvSpPr/>
          <p:nvPr/>
        </p:nvSpPr>
        <p:spPr>
          <a:xfrm>
            <a:off x="7818120" y="2322576"/>
            <a:ext cx="3017520" cy="109728"/>
          </a:xfrm>
          <a:prstGeom prst="rect">
            <a:avLst/>
          </a:prstGeom>
          <a:solidFill>
            <a:srgbClr val="D4762A"/>
          </a:solidFill>
          <a:ln/>
        </p:spPr>
      </p:sp>
      <p:sp>
        <p:nvSpPr>
          <p:cNvPr id="27" name="Text 24"/>
          <p:cNvSpPr/>
          <p:nvPr/>
        </p:nvSpPr>
        <p:spPr>
          <a:xfrm>
            <a:off x="8001000" y="2596896"/>
            <a:ext cx="2651760" cy="5943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SUBJECT TOOLS</a:t>
            </a:r>
            <a:endParaRPr lang="en-US" sz="1700" dirty="0"/>
          </a:p>
        </p:txBody>
      </p:sp>
      <p:sp>
        <p:nvSpPr>
          <p:cNvPr id="28" name="Text 25"/>
          <p:cNvSpPr/>
          <p:nvPr/>
        </p:nvSpPr>
        <p:spPr>
          <a:xfrm>
            <a:off x="8001000" y="3191256"/>
            <a:ext cx="2651760" cy="86868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Built for each subject, starting with an equation toolbar and calculator for maths.</a:t>
            </a:r>
            <a:endParaRPr lang="en-US" sz="1250" dirty="0"/>
          </a:p>
        </p:txBody>
      </p:sp>
      <p:sp>
        <p:nvSpPr>
          <p:cNvPr id="29" name="Shape 26"/>
          <p:cNvSpPr/>
          <p:nvPr/>
        </p:nvSpPr>
        <p:spPr>
          <a:xfrm>
            <a:off x="1417320" y="4288536"/>
            <a:ext cx="3017520" cy="1783080"/>
          </a:xfrm>
          <a:prstGeom prst="rect">
            <a:avLst/>
          </a:prstGeom>
          <a:solidFill>
            <a:srgbClr val="FFFFFF"/>
          </a:solidFill>
          <a:ln w="25400">
            <a:solidFill>
              <a:srgbClr val="1E1208"/>
            </a:solidFill>
            <a:prstDash val="solid"/>
          </a:ln>
        </p:spPr>
      </p:sp>
      <p:sp>
        <p:nvSpPr>
          <p:cNvPr id="30" name="Shape 27"/>
          <p:cNvSpPr/>
          <p:nvPr/>
        </p:nvSpPr>
        <p:spPr>
          <a:xfrm>
            <a:off x="1417320" y="4288536"/>
            <a:ext cx="3017520" cy="109728"/>
          </a:xfrm>
          <a:prstGeom prst="rect">
            <a:avLst/>
          </a:prstGeom>
          <a:solidFill>
            <a:srgbClr val="D4762A"/>
          </a:solidFill>
          <a:ln/>
        </p:spPr>
      </p:sp>
      <p:sp>
        <p:nvSpPr>
          <p:cNvPr id="31" name="Text 28"/>
          <p:cNvSpPr/>
          <p:nvPr/>
        </p:nvSpPr>
        <p:spPr>
          <a:xfrm>
            <a:off x="1600200" y="4562856"/>
            <a:ext cx="2651760" cy="5943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PDF IMPORT AND AI DRAFTING</a:t>
            </a:r>
            <a:endParaRPr lang="en-US" sz="1700" dirty="0"/>
          </a:p>
        </p:txBody>
      </p:sp>
      <p:sp>
        <p:nvSpPr>
          <p:cNvPr id="32" name="Text 29"/>
          <p:cNvSpPr/>
          <p:nvPr/>
        </p:nvSpPr>
        <p:spPr>
          <a:xfrm>
            <a:off x="1600200" y="5157216"/>
            <a:ext cx="2651760" cy="86868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Turn an exam PDF into questions, or draft questions from a topic. You review every one.</a:t>
            </a:r>
            <a:endParaRPr lang="en-US" sz="1250" dirty="0"/>
          </a:p>
        </p:txBody>
      </p:sp>
      <p:sp>
        <p:nvSpPr>
          <p:cNvPr id="33" name="Shape 30"/>
          <p:cNvSpPr/>
          <p:nvPr/>
        </p:nvSpPr>
        <p:spPr>
          <a:xfrm>
            <a:off x="4617720" y="4288536"/>
            <a:ext cx="3017520" cy="1783080"/>
          </a:xfrm>
          <a:prstGeom prst="rect">
            <a:avLst/>
          </a:prstGeom>
          <a:solidFill>
            <a:srgbClr val="FFFFFF"/>
          </a:solidFill>
          <a:ln w="25400">
            <a:solidFill>
              <a:srgbClr val="1E1208"/>
            </a:solidFill>
            <a:prstDash val="solid"/>
          </a:ln>
        </p:spPr>
      </p:sp>
      <p:sp>
        <p:nvSpPr>
          <p:cNvPr id="34" name="Shape 31"/>
          <p:cNvSpPr/>
          <p:nvPr/>
        </p:nvSpPr>
        <p:spPr>
          <a:xfrm>
            <a:off x="4617720" y="4288536"/>
            <a:ext cx="3017520" cy="109728"/>
          </a:xfrm>
          <a:prstGeom prst="rect">
            <a:avLst/>
          </a:prstGeom>
          <a:solidFill>
            <a:srgbClr val="D4762A"/>
          </a:solidFill>
          <a:ln/>
        </p:spPr>
      </p:sp>
      <p:sp>
        <p:nvSpPr>
          <p:cNvPr id="35" name="Text 32"/>
          <p:cNvSpPr/>
          <p:nvPr/>
        </p:nvSpPr>
        <p:spPr>
          <a:xfrm>
            <a:off x="4800600" y="4562856"/>
            <a:ext cx="2651760" cy="5943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SECURE SITTING</a:t>
            </a:r>
            <a:endParaRPr lang="en-US" sz="1700" dirty="0"/>
          </a:p>
        </p:txBody>
      </p:sp>
      <p:sp>
        <p:nvSpPr>
          <p:cNvPr id="36" name="Text 33"/>
          <p:cNvSpPr/>
          <p:nvPr/>
        </p:nvSpPr>
        <p:spPr>
          <a:xfrm>
            <a:off x="4800600" y="5157216"/>
            <a:ext cx="2651760" cy="86868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One device, tab-switch logging, blocked pasting, a desktop lock-down app, saved answers.</a:t>
            </a:r>
            <a:endParaRPr lang="en-US" sz="1250" dirty="0"/>
          </a:p>
        </p:txBody>
      </p:sp>
      <p:sp>
        <p:nvSpPr>
          <p:cNvPr id="37" name="Shape 34"/>
          <p:cNvSpPr/>
          <p:nvPr/>
        </p:nvSpPr>
        <p:spPr>
          <a:xfrm>
            <a:off x="7818120" y="4288536"/>
            <a:ext cx="3017520" cy="1783080"/>
          </a:xfrm>
          <a:prstGeom prst="rect">
            <a:avLst/>
          </a:prstGeom>
          <a:solidFill>
            <a:srgbClr val="FFFFFF"/>
          </a:solidFill>
          <a:ln w="25400">
            <a:solidFill>
              <a:srgbClr val="1E1208"/>
            </a:solidFill>
            <a:prstDash val="solid"/>
          </a:ln>
        </p:spPr>
      </p:sp>
      <p:sp>
        <p:nvSpPr>
          <p:cNvPr id="38" name="Shape 35"/>
          <p:cNvSpPr/>
          <p:nvPr/>
        </p:nvSpPr>
        <p:spPr>
          <a:xfrm>
            <a:off x="7818120" y="4288536"/>
            <a:ext cx="3017520" cy="109728"/>
          </a:xfrm>
          <a:prstGeom prst="rect">
            <a:avLst/>
          </a:prstGeom>
          <a:solidFill>
            <a:srgbClr val="D4762A"/>
          </a:solidFill>
          <a:ln/>
        </p:spPr>
      </p:sp>
      <p:sp>
        <p:nvSpPr>
          <p:cNvPr id="39" name="Text 36"/>
          <p:cNvSpPr/>
          <p:nvPr/>
        </p:nvSpPr>
        <p:spPr>
          <a:xfrm>
            <a:off x="8001000" y="4562856"/>
            <a:ext cx="2651760" cy="5943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MARKING AND RESULTS</a:t>
            </a:r>
            <a:endParaRPr lang="en-US" sz="1700" dirty="0"/>
          </a:p>
        </p:txBody>
      </p:sp>
      <p:sp>
        <p:nvSpPr>
          <p:cNvPr id="40" name="Text 37"/>
          <p:cNvSpPr/>
          <p:nvPr/>
        </p:nvSpPr>
        <p:spPr>
          <a:xfrm>
            <a:off x="8001000" y="5157216"/>
            <a:ext cx="2651760" cy="86868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Automatic marking, essay marking points, controlled release and report cards.</a:t>
            </a:r>
            <a:endParaRPr lang="en-US" sz="1250" dirty="0"/>
          </a:p>
        </p:txBody>
      </p:sp>
      <p:sp>
        <p:nvSpPr>
          <p:cNvPr id="42" name="Text 39"/>
          <p:cNvSpPr/>
          <p:nvPr/>
        </p:nvSpPr>
        <p:spPr>
          <a:xfrm>
            <a:off x="1600200" y="5943600"/>
            <a:ext cx="9144000" cy="502920"/>
          </a:xfrm>
          <a:prstGeom prst="rect">
            <a:avLst/>
          </a:prstGeom>
          <a:noFill/>
          <a:ln/>
        </p:spPr>
        <p:txBody>
          <a:bodyPr wrap="square" lIns="0" tIns="0" rIns="0" bIns="0" rtlCol="0" anchor="ctr"/>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For assessment only. Lessons belong to Smart Learning, games to </a:t>
            </a:r>
            <a:r>
              <a:rPr lang="en-US" sz="1400" b="1" dirty="0" smtClean="0">
                <a:solidFill>
                  <a:srgbClr val="FFFFFF"/>
                </a:solidFill>
                <a:latin typeface="Arial" pitchFamily="34" charset="0"/>
                <a:ea typeface="Arial" pitchFamily="34" charset="-122"/>
                <a:cs typeface="Arial" pitchFamily="34" charset="-120"/>
              </a:rPr>
              <a:t>mart </a:t>
            </a:r>
            <a:r>
              <a:rPr lang="en-US" sz="1400" b="1" dirty="0">
                <a:solidFill>
                  <a:srgbClr val="FFFFFF"/>
                </a:solidFill>
                <a:latin typeface="Arial" pitchFamily="34" charset="0"/>
                <a:ea typeface="Arial" pitchFamily="34" charset="-122"/>
                <a:cs typeface="Arial" pitchFamily="34" charset="-120"/>
              </a:rPr>
              <a:t>Play.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2004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ASSESS</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800" dirty="0">
                <a:solidFill>
                  <a:srgbClr val="1E1208"/>
                </a:solidFill>
                <a:latin typeface="Impact" pitchFamily="34" charset="0"/>
                <a:ea typeface="Impact" pitchFamily="34" charset="-122"/>
                <a:cs typeface="Impact" pitchFamily="34" charset="-120"/>
              </a:rPr>
              <a:t>MARKING THAT SAVES TIME</a:t>
            </a:r>
            <a:endParaRPr lang="en-US" sz="4800" dirty="0"/>
          </a:p>
        </p:txBody>
      </p:sp>
      <p:sp>
        <p:nvSpPr>
          <p:cNvPr id="15" name="Shape 12"/>
          <p:cNvSpPr/>
          <p:nvPr/>
        </p:nvSpPr>
        <p:spPr>
          <a:xfrm>
            <a:off x="1417320" y="2011680"/>
            <a:ext cx="1783080" cy="2468880"/>
          </a:xfrm>
          <a:prstGeom prst="rect">
            <a:avLst/>
          </a:prstGeom>
          <a:solidFill>
            <a:srgbClr val="FFFFFF"/>
          </a:solidFill>
          <a:ln w="25400">
            <a:solidFill>
              <a:srgbClr val="1E1208"/>
            </a:solidFill>
            <a:prstDash val="solid"/>
          </a:ln>
        </p:spPr>
      </p:sp>
      <p:sp>
        <p:nvSpPr>
          <p:cNvPr id="16" name="Shape 13"/>
          <p:cNvSpPr/>
          <p:nvPr/>
        </p:nvSpPr>
        <p:spPr>
          <a:xfrm>
            <a:off x="1417320" y="2011680"/>
            <a:ext cx="1783080" cy="822960"/>
          </a:xfrm>
          <a:prstGeom prst="rect">
            <a:avLst/>
          </a:prstGeom>
          <a:solidFill>
            <a:srgbClr val="E3B51E"/>
          </a:solidFill>
          <a:ln w="25400">
            <a:solidFill>
              <a:srgbClr val="1E1208"/>
            </a:solidFill>
            <a:prstDash val="solid"/>
          </a:ln>
        </p:spPr>
      </p:sp>
      <p:sp>
        <p:nvSpPr>
          <p:cNvPr id="17" name="Text 14"/>
          <p:cNvSpPr/>
          <p:nvPr/>
        </p:nvSpPr>
        <p:spPr>
          <a:xfrm>
            <a:off x="1417320" y="2011680"/>
            <a:ext cx="1783080" cy="82296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8" name="Text 15"/>
          <p:cNvSpPr/>
          <p:nvPr/>
        </p:nvSpPr>
        <p:spPr>
          <a:xfrm>
            <a:off x="1545336" y="2971800"/>
            <a:ext cx="1554480" cy="640080"/>
          </a:xfrm>
          <a:prstGeom prst="rect">
            <a:avLst/>
          </a:prstGeom>
          <a:noFill/>
          <a:ln/>
        </p:spPr>
        <p:txBody>
          <a:bodyPr wrap="square" lIns="0" tIns="0" rIns="0" bIns="0" rtlCol="0" anchor="t"/>
          <a:lstStyle/>
          <a:p>
            <a:pPr marL="0" indent="0" algn="l">
              <a:lnSpc>
                <a:spcPct val="110000"/>
              </a:lnSpc>
              <a:buNone/>
            </a:pPr>
            <a:r>
              <a:rPr lang="en-US" sz="1500" dirty="0">
                <a:solidFill>
                  <a:srgbClr val="1E1208"/>
                </a:solidFill>
                <a:latin typeface="Impact" pitchFamily="34" charset="0"/>
                <a:ea typeface="Impact" pitchFamily="34" charset="-122"/>
                <a:cs typeface="Impact" pitchFamily="34" charset="-120"/>
              </a:rPr>
              <a:t>STUDENT SUBMITS</a:t>
            </a:r>
            <a:endParaRPr lang="en-US" sz="1500" dirty="0"/>
          </a:p>
        </p:txBody>
      </p:sp>
      <p:sp>
        <p:nvSpPr>
          <p:cNvPr id="19" name="Text 16"/>
          <p:cNvSpPr/>
          <p:nvPr/>
        </p:nvSpPr>
        <p:spPr>
          <a:xfrm>
            <a:off x="1545336" y="3657600"/>
            <a:ext cx="1554480" cy="77724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Answers are saved as they go</a:t>
            </a:r>
            <a:endParaRPr lang="en-US" sz="1100" dirty="0"/>
          </a:p>
        </p:txBody>
      </p:sp>
      <p:sp>
        <p:nvSpPr>
          <p:cNvPr id="20" name="Shape 17"/>
          <p:cNvSpPr/>
          <p:nvPr/>
        </p:nvSpPr>
        <p:spPr>
          <a:xfrm>
            <a:off x="3337560" y="2011680"/>
            <a:ext cx="1783080" cy="2468880"/>
          </a:xfrm>
          <a:prstGeom prst="rect">
            <a:avLst/>
          </a:prstGeom>
          <a:solidFill>
            <a:srgbClr val="FFFFFF"/>
          </a:solidFill>
          <a:ln w="25400">
            <a:solidFill>
              <a:srgbClr val="1E1208"/>
            </a:solidFill>
            <a:prstDash val="solid"/>
          </a:ln>
        </p:spPr>
      </p:sp>
      <p:sp>
        <p:nvSpPr>
          <p:cNvPr id="21" name="Shape 18"/>
          <p:cNvSpPr/>
          <p:nvPr/>
        </p:nvSpPr>
        <p:spPr>
          <a:xfrm>
            <a:off x="3337560" y="2011680"/>
            <a:ext cx="1783080" cy="822960"/>
          </a:xfrm>
          <a:prstGeom prst="rect">
            <a:avLst/>
          </a:prstGeom>
          <a:solidFill>
            <a:srgbClr val="E3B51E"/>
          </a:solidFill>
          <a:ln w="25400">
            <a:solidFill>
              <a:srgbClr val="1E1208"/>
            </a:solidFill>
            <a:prstDash val="solid"/>
          </a:ln>
        </p:spPr>
      </p:sp>
      <p:sp>
        <p:nvSpPr>
          <p:cNvPr id="22" name="Text 19"/>
          <p:cNvSpPr/>
          <p:nvPr/>
        </p:nvSpPr>
        <p:spPr>
          <a:xfrm>
            <a:off x="3337560" y="2011680"/>
            <a:ext cx="1783080" cy="82296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3" name="Text 20"/>
          <p:cNvSpPr/>
          <p:nvPr/>
        </p:nvSpPr>
        <p:spPr>
          <a:xfrm>
            <a:off x="3465576" y="2971800"/>
            <a:ext cx="1554480" cy="640080"/>
          </a:xfrm>
          <a:prstGeom prst="rect">
            <a:avLst/>
          </a:prstGeom>
          <a:noFill/>
          <a:ln/>
        </p:spPr>
        <p:txBody>
          <a:bodyPr wrap="square" lIns="0" tIns="0" rIns="0" bIns="0" rtlCol="0" anchor="t"/>
          <a:lstStyle/>
          <a:p>
            <a:pPr marL="0" indent="0" algn="l">
              <a:lnSpc>
                <a:spcPct val="110000"/>
              </a:lnSpc>
              <a:buNone/>
            </a:pPr>
            <a:r>
              <a:rPr lang="en-US" sz="1500" dirty="0">
                <a:solidFill>
                  <a:srgbClr val="1E1208"/>
                </a:solidFill>
                <a:latin typeface="Impact" pitchFamily="34" charset="0"/>
                <a:ea typeface="Impact" pitchFamily="34" charset="-122"/>
                <a:cs typeface="Impact" pitchFamily="34" charset="-120"/>
              </a:rPr>
              <a:t>OBJECTIVE ITEMS MARKED</a:t>
            </a:r>
            <a:endParaRPr lang="en-US" sz="1500" dirty="0"/>
          </a:p>
        </p:txBody>
      </p:sp>
      <p:sp>
        <p:nvSpPr>
          <p:cNvPr id="24" name="Text 21"/>
          <p:cNvSpPr/>
          <p:nvPr/>
        </p:nvSpPr>
        <p:spPr>
          <a:xfrm>
            <a:off x="3465576" y="3657600"/>
            <a:ext cx="1554480" cy="77724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Instantly, with no teacher time</a:t>
            </a:r>
            <a:endParaRPr lang="en-US" sz="1100" dirty="0"/>
          </a:p>
        </p:txBody>
      </p:sp>
      <p:sp>
        <p:nvSpPr>
          <p:cNvPr id="25" name="Shape 22"/>
          <p:cNvSpPr/>
          <p:nvPr/>
        </p:nvSpPr>
        <p:spPr>
          <a:xfrm>
            <a:off x="5257800" y="2011680"/>
            <a:ext cx="1783080" cy="2468880"/>
          </a:xfrm>
          <a:prstGeom prst="rect">
            <a:avLst/>
          </a:prstGeom>
          <a:solidFill>
            <a:srgbClr val="FFFFFF"/>
          </a:solidFill>
          <a:ln w="25400">
            <a:solidFill>
              <a:srgbClr val="1E1208"/>
            </a:solidFill>
            <a:prstDash val="solid"/>
          </a:ln>
        </p:spPr>
      </p:sp>
      <p:sp>
        <p:nvSpPr>
          <p:cNvPr id="26" name="Shape 23"/>
          <p:cNvSpPr/>
          <p:nvPr/>
        </p:nvSpPr>
        <p:spPr>
          <a:xfrm>
            <a:off x="5257800" y="2011680"/>
            <a:ext cx="1783080" cy="822960"/>
          </a:xfrm>
          <a:prstGeom prst="rect">
            <a:avLst/>
          </a:prstGeom>
          <a:solidFill>
            <a:srgbClr val="E3B51E"/>
          </a:solidFill>
          <a:ln w="25400">
            <a:solidFill>
              <a:srgbClr val="1E1208"/>
            </a:solidFill>
            <a:prstDash val="solid"/>
          </a:ln>
        </p:spPr>
      </p:sp>
      <p:sp>
        <p:nvSpPr>
          <p:cNvPr id="27" name="Text 24"/>
          <p:cNvSpPr/>
          <p:nvPr/>
        </p:nvSpPr>
        <p:spPr>
          <a:xfrm>
            <a:off x="5257800" y="2011680"/>
            <a:ext cx="1783080" cy="82296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8" name="Text 25"/>
          <p:cNvSpPr/>
          <p:nvPr/>
        </p:nvSpPr>
        <p:spPr>
          <a:xfrm>
            <a:off x="5385816" y="2971800"/>
            <a:ext cx="1554480" cy="640080"/>
          </a:xfrm>
          <a:prstGeom prst="rect">
            <a:avLst/>
          </a:prstGeom>
          <a:noFill/>
          <a:ln/>
        </p:spPr>
        <p:txBody>
          <a:bodyPr wrap="square" lIns="0" tIns="0" rIns="0" bIns="0" rtlCol="0" anchor="t"/>
          <a:lstStyle/>
          <a:p>
            <a:pPr marL="0" indent="0" algn="l">
              <a:lnSpc>
                <a:spcPct val="110000"/>
              </a:lnSpc>
              <a:buNone/>
            </a:pPr>
            <a:r>
              <a:rPr lang="en-US" sz="1500" dirty="0">
                <a:solidFill>
                  <a:srgbClr val="1E1208"/>
                </a:solidFill>
                <a:latin typeface="Impact" pitchFamily="34" charset="0"/>
                <a:ea typeface="Impact" pitchFamily="34" charset="-122"/>
                <a:cs typeface="Impact" pitchFamily="34" charset="-120"/>
              </a:rPr>
              <a:t>ESSAYS: MARKING POINTS</a:t>
            </a:r>
            <a:endParaRPr lang="en-US" sz="1500" dirty="0"/>
          </a:p>
        </p:txBody>
      </p:sp>
      <p:sp>
        <p:nvSpPr>
          <p:cNvPr id="29" name="Text 26"/>
          <p:cNvSpPr/>
          <p:nvPr/>
        </p:nvSpPr>
        <p:spPr>
          <a:xfrm>
            <a:off x="5385816" y="3657600"/>
            <a:ext cx="1554480" cy="77724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The teacher writes what earns marks</a:t>
            </a:r>
            <a:endParaRPr lang="en-US" sz="1100" dirty="0"/>
          </a:p>
        </p:txBody>
      </p:sp>
      <p:sp>
        <p:nvSpPr>
          <p:cNvPr id="30" name="Shape 27"/>
          <p:cNvSpPr/>
          <p:nvPr/>
        </p:nvSpPr>
        <p:spPr>
          <a:xfrm>
            <a:off x="7178040" y="2011680"/>
            <a:ext cx="1783080" cy="2468880"/>
          </a:xfrm>
          <a:prstGeom prst="rect">
            <a:avLst/>
          </a:prstGeom>
          <a:solidFill>
            <a:srgbClr val="FBE9D6"/>
          </a:solidFill>
          <a:ln w="25400">
            <a:solidFill>
              <a:srgbClr val="1E1208"/>
            </a:solidFill>
            <a:prstDash val="solid"/>
          </a:ln>
        </p:spPr>
      </p:sp>
      <p:sp>
        <p:nvSpPr>
          <p:cNvPr id="31" name="Shape 28"/>
          <p:cNvSpPr/>
          <p:nvPr/>
        </p:nvSpPr>
        <p:spPr>
          <a:xfrm>
            <a:off x="7178040" y="2011680"/>
            <a:ext cx="1783080" cy="822960"/>
          </a:xfrm>
          <a:prstGeom prst="rect">
            <a:avLst/>
          </a:prstGeom>
          <a:solidFill>
            <a:srgbClr val="D4762A"/>
          </a:solidFill>
          <a:ln w="25400">
            <a:solidFill>
              <a:srgbClr val="1E1208"/>
            </a:solidFill>
            <a:prstDash val="solid"/>
          </a:ln>
        </p:spPr>
      </p:sp>
      <p:sp>
        <p:nvSpPr>
          <p:cNvPr id="32" name="Text 29"/>
          <p:cNvSpPr/>
          <p:nvPr/>
        </p:nvSpPr>
        <p:spPr>
          <a:xfrm>
            <a:off x="7178040" y="2011680"/>
            <a:ext cx="1783080" cy="82296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3" name="Text 30"/>
          <p:cNvSpPr/>
          <p:nvPr/>
        </p:nvSpPr>
        <p:spPr>
          <a:xfrm>
            <a:off x="7306056" y="2971800"/>
            <a:ext cx="1554480" cy="640080"/>
          </a:xfrm>
          <a:prstGeom prst="rect">
            <a:avLst/>
          </a:prstGeom>
          <a:noFill/>
          <a:ln/>
        </p:spPr>
        <p:txBody>
          <a:bodyPr wrap="square" lIns="0" tIns="0" rIns="0" bIns="0" rtlCol="0" anchor="t"/>
          <a:lstStyle/>
          <a:p>
            <a:pPr marL="0" indent="0" algn="l">
              <a:lnSpc>
                <a:spcPct val="110000"/>
              </a:lnSpc>
              <a:buNone/>
            </a:pPr>
            <a:r>
              <a:rPr lang="en-US" sz="1500" dirty="0">
                <a:solidFill>
                  <a:srgbClr val="1E1208"/>
                </a:solidFill>
                <a:latin typeface="Impact" pitchFamily="34" charset="0"/>
                <a:ea typeface="Impact" pitchFamily="34" charset="-122"/>
                <a:cs typeface="Impact" pitchFamily="34" charset="-120"/>
              </a:rPr>
              <a:t>AI SUGGESTS, YOU DECIDE</a:t>
            </a:r>
            <a:endParaRPr lang="en-US" sz="1500" dirty="0"/>
          </a:p>
        </p:txBody>
      </p:sp>
      <p:sp>
        <p:nvSpPr>
          <p:cNvPr id="34" name="Text 31"/>
          <p:cNvSpPr/>
          <p:nvPr/>
        </p:nvSpPr>
        <p:spPr>
          <a:xfrm>
            <a:off x="7306056" y="3657600"/>
            <a:ext cx="1554480" cy="77724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Words that earned each mark, flagged where unsure</a:t>
            </a:r>
            <a:endParaRPr lang="en-US" sz="1100" dirty="0"/>
          </a:p>
        </p:txBody>
      </p:sp>
      <p:sp>
        <p:nvSpPr>
          <p:cNvPr id="35" name="Shape 32"/>
          <p:cNvSpPr/>
          <p:nvPr/>
        </p:nvSpPr>
        <p:spPr>
          <a:xfrm>
            <a:off x="9098280" y="2011680"/>
            <a:ext cx="1783080" cy="2468880"/>
          </a:xfrm>
          <a:prstGeom prst="rect">
            <a:avLst/>
          </a:prstGeom>
          <a:solidFill>
            <a:srgbClr val="FFFFFF"/>
          </a:solidFill>
          <a:ln w="25400">
            <a:solidFill>
              <a:srgbClr val="1E1208"/>
            </a:solidFill>
            <a:prstDash val="solid"/>
          </a:ln>
        </p:spPr>
      </p:sp>
      <p:sp>
        <p:nvSpPr>
          <p:cNvPr id="36" name="Shape 33"/>
          <p:cNvSpPr/>
          <p:nvPr/>
        </p:nvSpPr>
        <p:spPr>
          <a:xfrm>
            <a:off x="9098280" y="2011680"/>
            <a:ext cx="1783080" cy="822960"/>
          </a:xfrm>
          <a:prstGeom prst="rect">
            <a:avLst/>
          </a:prstGeom>
          <a:solidFill>
            <a:srgbClr val="E3B51E"/>
          </a:solidFill>
          <a:ln w="25400">
            <a:solidFill>
              <a:srgbClr val="1E1208"/>
            </a:solidFill>
            <a:prstDash val="solid"/>
          </a:ln>
        </p:spPr>
      </p:sp>
      <p:sp>
        <p:nvSpPr>
          <p:cNvPr id="37" name="Text 34"/>
          <p:cNvSpPr/>
          <p:nvPr/>
        </p:nvSpPr>
        <p:spPr>
          <a:xfrm>
            <a:off x="9098280" y="2011680"/>
            <a:ext cx="1783080" cy="82296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8" name="Text 35"/>
          <p:cNvSpPr/>
          <p:nvPr/>
        </p:nvSpPr>
        <p:spPr>
          <a:xfrm>
            <a:off x="9226296" y="2971800"/>
            <a:ext cx="1554480" cy="640080"/>
          </a:xfrm>
          <a:prstGeom prst="rect">
            <a:avLst/>
          </a:prstGeom>
          <a:noFill/>
          <a:ln/>
        </p:spPr>
        <p:txBody>
          <a:bodyPr wrap="square" lIns="0" tIns="0" rIns="0" bIns="0" rtlCol="0" anchor="t"/>
          <a:lstStyle/>
          <a:p>
            <a:pPr marL="0" indent="0" algn="l">
              <a:lnSpc>
                <a:spcPct val="110000"/>
              </a:lnSpc>
              <a:buNone/>
            </a:pPr>
            <a:r>
              <a:rPr lang="en-US" sz="1500" dirty="0">
                <a:solidFill>
                  <a:srgbClr val="1E1208"/>
                </a:solidFill>
                <a:latin typeface="Impact" pitchFamily="34" charset="0"/>
                <a:ea typeface="Impact" pitchFamily="34" charset="-122"/>
                <a:cs typeface="Impact" pitchFamily="34" charset="-120"/>
              </a:rPr>
              <a:t>RELEASE WHEN READY</a:t>
            </a:r>
            <a:endParaRPr lang="en-US" sz="1500" dirty="0"/>
          </a:p>
        </p:txBody>
      </p:sp>
      <p:sp>
        <p:nvSpPr>
          <p:cNvPr id="39" name="Text 36"/>
          <p:cNvSpPr/>
          <p:nvPr/>
        </p:nvSpPr>
        <p:spPr>
          <a:xfrm>
            <a:off x="9226296" y="3657600"/>
            <a:ext cx="1554480" cy="77724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Students are emailed</a:t>
            </a:r>
            <a:endParaRPr lang="en-US" sz="1100" dirty="0"/>
          </a:p>
        </p:txBody>
      </p:sp>
      <p:sp>
        <p:nvSpPr>
          <p:cNvPr id="40" name="Shape 37"/>
          <p:cNvSpPr/>
          <p:nvPr/>
        </p:nvSpPr>
        <p:spPr>
          <a:xfrm>
            <a:off x="1417320" y="4709160"/>
            <a:ext cx="9509760" cy="1051560"/>
          </a:xfrm>
          <a:prstGeom prst="rect">
            <a:avLst/>
          </a:prstGeom>
          <a:solidFill>
            <a:srgbClr val="1E1208"/>
          </a:solidFill>
          <a:ln w="25400">
            <a:solidFill>
              <a:srgbClr val="1E1208"/>
            </a:solidFill>
            <a:prstDash val="solid"/>
          </a:ln>
        </p:spPr>
      </p:sp>
      <p:sp>
        <p:nvSpPr>
          <p:cNvPr id="41" name="Text 38"/>
          <p:cNvSpPr/>
          <p:nvPr/>
        </p:nvSpPr>
        <p:spPr>
          <a:xfrm>
            <a:off x="1645920" y="4818888"/>
            <a:ext cx="9052560" cy="365760"/>
          </a:xfrm>
          <a:prstGeom prst="rect">
            <a:avLst/>
          </a:prstGeom>
          <a:noFill/>
          <a:ln/>
        </p:spPr>
        <p:txBody>
          <a:bodyPr wrap="square" lIns="0" tIns="0" rIns="0" bIns="0" rtlCol="0" anchor="t"/>
          <a:lstStyle/>
          <a:p>
            <a:pPr marL="0" indent="0" algn="l">
              <a:lnSpc>
                <a:spcPct val="110000"/>
              </a:lnSpc>
              <a:buNone/>
            </a:pPr>
            <a:r>
              <a:rPr lang="en-US" sz="2200" dirty="0">
                <a:solidFill>
                  <a:srgbClr val="E3B51E"/>
                </a:solidFill>
                <a:latin typeface="Impact" pitchFamily="34" charset="0"/>
                <a:ea typeface="Impact" pitchFamily="34" charset="-122"/>
                <a:cs typeface="Impact" pitchFamily="34" charset="-120"/>
              </a:rPr>
              <a:t>THE AI NEVER SAVES A MARK.</a:t>
            </a:r>
            <a:endParaRPr lang="en-US" sz="2200" dirty="0"/>
          </a:p>
        </p:txBody>
      </p:sp>
      <p:sp>
        <p:nvSpPr>
          <p:cNvPr id="42" name="Text 39"/>
          <p:cNvSpPr/>
          <p:nvPr/>
        </p:nvSpPr>
        <p:spPr>
          <a:xfrm>
            <a:off x="1645920" y="5212080"/>
            <a:ext cx="9052560" cy="457200"/>
          </a:xfrm>
          <a:prstGeom prst="rect">
            <a:avLst/>
          </a:prstGeom>
          <a:noFill/>
          <a:ln/>
        </p:spPr>
        <p:txBody>
          <a:bodyPr wrap="square" lIns="0" tIns="0" rIns="0" bIns="0" rtlCol="0" anchor="t"/>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It never sees a student's name, and it runs only when a teacher asks</a:t>
            </a:r>
            <a:r>
              <a:rPr lang="en-US" sz="1400" b="1" dirty="0" smtClean="0">
                <a:solidFill>
                  <a:srgbClr val="FFFFFF"/>
                </a:solidFill>
                <a:latin typeface="Arial" pitchFamily="34" charset="0"/>
                <a:ea typeface="Arial" pitchFamily="34" charset="-122"/>
                <a:cs typeface="Arial" pitchFamily="34" charset="-120"/>
              </a:rPr>
              <a:t>.</a:t>
            </a:r>
            <a:endParaRPr lang="en-US" sz="1400" dirty="0"/>
          </a:p>
        </p:txBody>
      </p:sp>
      <p:sp>
        <p:nvSpPr>
          <p:cNvPr id="43" name="Text 40"/>
          <p:cNvSpPr/>
          <p:nvPr/>
        </p:nvSpPr>
        <p:spPr>
          <a:xfrm>
            <a:off x="1417320" y="5989320"/>
            <a:ext cx="9509760" cy="365760"/>
          </a:xfrm>
          <a:prstGeom prst="rect">
            <a:avLst/>
          </a:prstGeom>
          <a:noFill/>
          <a:ln/>
        </p:spPr>
        <p:txBody>
          <a:bodyPr wrap="square" lIns="0" tIns="0" rIns="0" bIns="0" rtlCol="0" anchor="t"/>
          <a:lstStyle/>
          <a:p>
            <a:pPr marL="0" indent="0" algn="l">
              <a:lnSpc>
                <a:spcPct val="110000"/>
              </a:lnSpc>
              <a:buNone/>
            </a:pPr>
            <a:r>
              <a:rPr lang="en-US" sz="1400" dirty="0">
                <a:solidFill>
                  <a:srgbClr val="555555"/>
                </a:solidFill>
                <a:latin typeface="Arial" pitchFamily="34" charset="0"/>
                <a:ea typeface="Arial" pitchFamily="34" charset="-122"/>
                <a:cs typeface="Arial" pitchFamily="34" charset="-120"/>
              </a:rPr>
              <a:t>80% of teachers named marking as the biggest drain on their time.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38991"/>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a:t>
            </a:r>
            <a:r>
              <a:rPr lang="en-US" sz="1150" b="1" kern="0" spc="300" dirty="0">
                <a:solidFill>
                  <a:srgbClr val="1E1208"/>
                </a:solidFill>
                <a:latin typeface="Courier New" pitchFamily="34" charset="0"/>
                <a:ea typeface="Courier New" pitchFamily="34" charset="-122"/>
                <a:cs typeface="Courier New" pitchFamily="34" charset="-120"/>
              </a:rPr>
              <a:t> </a:t>
            </a:r>
            <a:r>
              <a:rPr lang="en-US" sz="1400" b="1" kern="0" spc="300" dirty="0">
                <a:solidFill>
                  <a:srgbClr val="1E1208"/>
                </a:solidFill>
                <a:latin typeface="Courier New" pitchFamily="34" charset="0"/>
                <a:ea typeface="Courier New" pitchFamily="34" charset="-122"/>
                <a:cs typeface="Courier New" pitchFamily="34" charset="-120"/>
              </a:rPr>
              <a:t>ASSESS</a:t>
            </a:r>
            <a:endParaRPr lang="en-US" sz="115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RESULTS THAT TELL YOU WHAT TO DO</a:t>
            </a:r>
            <a:endParaRPr lang="en-US" sz="4600" dirty="0"/>
          </a:p>
        </p:txBody>
      </p:sp>
      <p:sp>
        <p:nvSpPr>
          <p:cNvPr id="15" name="Shape 12"/>
          <p:cNvSpPr/>
          <p:nvPr/>
        </p:nvSpPr>
        <p:spPr>
          <a:xfrm>
            <a:off x="1417320" y="1965960"/>
            <a:ext cx="3017520" cy="3840480"/>
          </a:xfrm>
          <a:prstGeom prst="rect">
            <a:avLst/>
          </a:prstGeom>
          <a:solidFill>
            <a:srgbClr val="FFFFFF"/>
          </a:solidFill>
          <a:ln w="25400">
            <a:solidFill>
              <a:srgbClr val="1E1208"/>
            </a:solidFill>
            <a:prstDash val="solid"/>
          </a:ln>
        </p:spPr>
      </p:sp>
      <p:sp>
        <p:nvSpPr>
          <p:cNvPr id="16" name="Shape 13"/>
          <p:cNvSpPr/>
          <p:nvPr/>
        </p:nvSpPr>
        <p:spPr>
          <a:xfrm>
            <a:off x="1417320" y="1965960"/>
            <a:ext cx="3017520" cy="822960"/>
          </a:xfrm>
          <a:prstGeom prst="rect">
            <a:avLst/>
          </a:prstGeom>
          <a:solidFill>
            <a:srgbClr val="D4762A"/>
          </a:solidFill>
          <a:ln w="25400">
            <a:solidFill>
              <a:srgbClr val="1E1208"/>
            </a:solidFill>
            <a:prstDash val="solid"/>
          </a:ln>
        </p:spPr>
      </p:sp>
      <p:sp>
        <p:nvSpPr>
          <p:cNvPr id="17" name="Text 14"/>
          <p:cNvSpPr/>
          <p:nvPr/>
        </p:nvSpPr>
        <p:spPr>
          <a:xfrm>
            <a:off x="1600200" y="1965960"/>
            <a:ext cx="2651760" cy="822960"/>
          </a:xfrm>
          <a:prstGeom prst="rect">
            <a:avLst/>
          </a:prstGeom>
          <a:noFill/>
          <a:ln/>
        </p:spPr>
        <p:txBody>
          <a:bodyPr wrap="square" lIns="0" tIns="0" rIns="0" bIns="0" rtlCol="0" anchor="ctr"/>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EXAM INSIGHT</a:t>
            </a:r>
            <a:endParaRPr lang="en-US" sz="2200" dirty="0"/>
          </a:p>
        </p:txBody>
      </p:sp>
      <p:sp>
        <p:nvSpPr>
          <p:cNvPr id="18" name="Text 15"/>
          <p:cNvSpPr/>
          <p:nvPr/>
        </p:nvSpPr>
        <p:spPr>
          <a:xfrm>
            <a:off x="1600200" y="2971800"/>
            <a:ext cx="2651760" cy="2011680"/>
          </a:xfrm>
          <a:prstGeom prst="rect">
            <a:avLst/>
          </a:prstGeom>
          <a:noFill/>
          <a:ln/>
        </p:spPr>
        <p:txBody>
          <a:bodyPr wrap="square" lIns="0" tIns="0" rIns="0" bIns="0" rtlCol="0" anchor="t"/>
          <a:lstStyle/>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Which questions the class missed</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The wrong answer most students chose</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Who may need support, and why</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Compared with the last five tests</a:t>
            </a:r>
            <a:endParaRPr lang="en-US" sz="1350" dirty="0"/>
          </a:p>
        </p:txBody>
      </p:sp>
      <p:sp>
        <p:nvSpPr>
          <p:cNvPr id="19" name="Shape 16"/>
          <p:cNvSpPr/>
          <p:nvPr/>
        </p:nvSpPr>
        <p:spPr>
          <a:xfrm>
            <a:off x="1600200" y="5257800"/>
            <a:ext cx="2651760" cy="310896"/>
          </a:xfrm>
          <a:prstGeom prst="rect">
            <a:avLst/>
          </a:prstGeom>
          <a:solidFill>
            <a:srgbClr val="1E1208"/>
          </a:solidFill>
          <a:ln w="19050">
            <a:solidFill>
              <a:srgbClr val="1E1208"/>
            </a:solidFill>
            <a:prstDash val="solid"/>
          </a:ln>
        </p:spPr>
      </p:sp>
      <p:sp>
        <p:nvSpPr>
          <p:cNvPr id="20" name="Text 17"/>
          <p:cNvSpPr/>
          <p:nvPr/>
        </p:nvSpPr>
        <p:spPr>
          <a:xfrm>
            <a:off x="1600200" y="5257800"/>
            <a:ext cx="26517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FOR TEACHERS</a:t>
            </a:r>
            <a:endParaRPr lang="en-US" sz="1000" dirty="0"/>
          </a:p>
        </p:txBody>
      </p:sp>
      <p:sp>
        <p:nvSpPr>
          <p:cNvPr id="21" name="Shape 18"/>
          <p:cNvSpPr/>
          <p:nvPr/>
        </p:nvSpPr>
        <p:spPr>
          <a:xfrm>
            <a:off x="4617720" y="1965960"/>
            <a:ext cx="3017520" cy="3840480"/>
          </a:xfrm>
          <a:prstGeom prst="rect">
            <a:avLst/>
          </a:prstGeom>
          <a:solidFill>
            <a:srgbClr val="FFFFFF"/>
          </a:solidFill>
          <a:ln w="25400">
            <a:solidFill>
              <a:srgbClr val="1E1208"/>
            </a:solidFill>
            <a:prstDash val="solid"/>
          </a:ln>
        </p:spPr>
      </p:sp>
      <p:sp>
        <p:nvSpPr>
          <p:cNvPr id="22" name="Shape 19"/>
          <p:cNvSpPr/>
          <p:nvPr/>
        </p:nvSpPr>
        <p:spPr>
          <a:xfrm>
            <a:off x="4617720" y="1965960"/>
            <a:ext cx="3017520" cy="822960"/>
          </a:xfrm>
          <a:prstGeom prst="rect">
            <a:avLst/>
          </a:prstGeom>
          <a:solidFill>
            <a:srgbClr val="E3B51E"/>
          </a:solidFill>
          <a:ln w="25400">
            <a:solidFill>
              <a:srgbClr val="1E1208"/>
            </a:solidFill>
            <a:prstDash val="solid"/>
          </a:ln>
        </p:spPr>
      </p:sp>
      <p:sp>
        <p:nvSpPr>
          <p:cNvPr id="23" name="Text 20"/>
          <p:cNvSpPr/>
          <p:nvPr/>
        </p:nvSpPr>
        <p:spPr>
          <a:xfrm>
            <a:off x="4800600" y="1965960"/>
            <a:ext cx="2651760" cy="822960"/>
          </a:xfrm>
          <a:prstGeom prst="rect">
            <a:avLst/>
          </a:prstGeom>
          <a:noFill/>
          <a:ln/>
        </p:spPr>
        <p:txBody>
          <a:bodyPr wrap="square" lIns="0" tIns="0" rIns="0" bIns="0" rtlCol="0" anchor="ctr"/>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MY TOPICS</a:t>
            </a:r>
            <a:endParaRPr lang="en-US" sz="2200" dirty="0"/>
          </a:p>
        </p:txBody>
      </p:sp>
      <p:sp>
        <p:nvSpPr>
          <p:cNvPr id="24" name="Text 21"/>
          <p:cNvSpPr/>
          <p:nvPr/>
        </p:nvSpPr>
        <p:spPr>
          <a:xfrm>
            <a:off x="4800600" y="2971800"/>
            <a:ext cx="2651760" cy="2011680"/>
          </a:xfrm>
          <a:prstGeom prst="rect">
            <a:avLst/>
          </a:prstGeom>
          <a:noFill/>
          <a:ln/>
        </p:spPr>
        <p:txBody>
          <a:bodyPr wrap="square" lIns="0" tIns="0" rIns="0" bIns="0" rtlCol="0" anchor="t"/>
          <a:lstStyle/>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Students see which topics need work</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Built from released, marked results</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‘One tap’ to practise a weak topic</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Links to lessons on that topic</a:t>
            </a:r>
            <a:endParaRPr lang="en-US" sz="1350" dirty="0"/>
          </a:p>
        </p:txBody>
      </p:sp>
      <p:sp>
        <p:nvSpPr>
          <p:cNvPr id="25" name="Shape 22"/>
          <p:cNvSpPr/>
          <p:nvPr/>
        </p:nvSpPr>
        <p:spPr>
          <a:xfrm>
            <a:off x="4800600" y="5257800"/>
            <a:ext cx="2651760" cy="310896"/>
          </a:xfrm>
          <a:prstGeom prst="rect">
            <a:avLst/>
          </a:prstGeom>
          <a:solidFill>
            <a:srgbClr val="1E1208"/>
          </a:solidFill>
          <a:ln w="19050">
            <a:solidFill>
              <a:srgbClr val="1E1208"/>
            </a:solidFill>
            <a:prstDash val="solid"/>
          </a:ln>
        </p:spPr>
      </p:sp>
      <p:sp>
        <p:nvSpPr>
          <p:cNvPr id="26" name="Text 23"/>
          <p:cNvSpPr/>
          <p:nvPr/>
        </p:nvSpPr>
        <p:spPr>
          <a:xfrm>
            <a:off x="4800600" y="5257800"/>
            <a:ext cx="26517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FOR STUDENTS</a:t>
            </a:r>
            <a:endParaRPr lang="en-US" sz="1000" dirty="0"/>
          </a:p>
        </p:txBody>
      </p:sp>
      <p:sp>
        <p:nvSpPr>
          <p:cNvPr id="27" name="Shape 24"/>
          <p:cNvSpPr/>
          <p:nvPr/>
        </p:nvSpPr>
        <p:spPr>
          <a:xfrm>
            <a:off x="7818120" y="1965960"/>
            <a:ext cx="3017520" cy="3840480"/>
          </a:xfrm>
          <a:prstGeom prst="rect">
            <a:avLst/>
          </a:prstGeom>
          <a:solidFill>
            <a:srgbClr val="FFFFFF"/>
          </a:solidFill>
          <a:ln w="25400">
            <a:solidFill>
              <a:srgbClr val="1E1208"/>
            </a:solidFill>
            <a:prstDash val="solid"/>
          </a:ln>
        </p:spPr>
      </p:sp>
      <p:sp>
        <p:nvSpPr>
          <p:cNvPr id="28" name="Shape 25"/>
          <p:cNvSpPr/>
          <p:nvPr/>
        </p:nvSpPr>
        <p:spPr>
          <a:xfrm>
            <a:off x="7818120" y="1965960"/>
            <a:ext cx="3017520" cy="822960"/>
          </a:xfrm>
          <a:prstGeom prst="rect">
            <a:avLst/>
          </a:prstGeom>
          <a:solidFill>
            <a:srgbClr val="FBE9D6"/>
          </a:solidFill>
          <a:ln w="25400">
            <a:solidFill>
              <a:srgbClr val="1E1208"/>
            </a:solidFill>
            <a:prstDash val="solid"/>
          </a:ln>
        </p:spPr>
      </p:sp>
      <p:sp>
        <p:nvSpPr>
          <p:cNvPr id="29" name="Text 26"/>
          <p:cNvSpPr/>
          <p:nvPr/>
        </p:nvSpPr>
        <p:spPr>
          <a:xfrm>
            <a:off x="8001000" y="1965960"/>
            <a:ext cx="2651760" cy="822960"/>
          </a:xfrm>
          <a:prstGeom prst="rect">
            <a:avLst/>
          </a:prstGeom>
          <a:noFill/>
          <a:ln/>
        </p:spPr>
        <p:txBody>
          <a:bodyPr wrap="square" lIns="0" tIns="0" rIns="0" bIns="0" rtlCol="0" anchor="ctr"/>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SCHOOL ANALYTICS</a:t>
            </a:r>
            <a:endParaRPr lang="en-US" sz="2200" dirty="0"/>
          </a:p>
        </p:txBody>
      </p:sp>
      <p:sp>
        <p:nvSpPr>
          <p:cNvPr id="30" name="Text 27"/>
          <p:cNvSpPr/>
          <p:nvPr/>
        </p:nvSpPr>
        <p:spPr>
          <a:xfrm>
            <a:off x="8001000" y="2971800"/>
            <a:ext cx="2651760" cy="2011680"/>
          </a:xfrm>
          <a:prstGeom prst="rect">
            <a:avLst/>
          </a:prstGeom>
          <a:noFill/>
          <a:ln/>
        </p:spPr>
        <p:txBody>
          <a:bodyPr wrap="square" lIns="0" tIns="0" rIns="0" bIns="0" rtlCol="0" anchor="t"/>
          <a:lstStyle/>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Pass rates by subject and department</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Flagged exam sessions in one place</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Report cards for every student</a:t>
            </a:r>
            <a:endParaRPr lang="en-US" sz="1350" dirty="0"/>
          </a:p>
          <a:p>
            <a:pPr marL="342900" indent="-342900" algn="l">
              <a:lnSpc>
                <a:spcPct val="110000"/>
              </a:lnSpc>
              <a:buSzPct val="100000"/>
              <a:buChar char="■"/>
            </a:pPr>
            <a:r>
              <a:rPr lang="en-US" sz="1350" dirty="0">
                <a:solidFill>
                  <a:srgbClr val="1E1208"/>
                </a:solidFill>
                <a:latin typeface="Arial" pitchFamily="34" charset="0"/>
                <a:ea typeface="Arial" pitchFamily="34" charset="-122"/>
                <a:cs typeface="Arial" pitchFamily="34" charset="-120"/>
              </a:rPr>
              <a:t>Downloadable as a spreadsheet</a:t>
            </a:r>
            <a:endParaRPr lang="en-US" sz="1350" dirty="0"/>
          </a:p>
        </p:txBody>
      </p:sp>
      <p:sp>
        <p:nvSpPr>
          <p:cNvPr id="31" name="Shape 28"/>
          <p:cNvSpPr/>
          <p:nvPr/>
        </p:nvSpPr>
        <p:spPr>
          <a:xfrm>
            <a:off x="8001000" y="5257800"/>
            <a:ext cx="2651760" cy="310896"/>
          </a:xfrm>
          <a:prstGeom prst="rect">
            <a:avLst/>
          </a:prstGeom>
          <a:solidFill>
            <a:srgbClr val="1E1208"/>
          </a:solidFill>
          <a:ln w="19050">
            <a:solidFill>
              <a:srgbClr val="1E1208"/>
            </a:solidFill>
            <a:prstDash val="solid"/>
          </a:ln>
        </p:spPr>
      </p:sp>
      <p:sp>
        <p:nvSpPr>
          <p:cNvPr id="32" name="Text 29"/>
          <p:cNvSpPr/>
          <p:nvPr/>
        </p:nvSpPr>
        <p:spPr>
          <a:xfrm>
            <a:off x="8001000" y="5257800"/>
            <a:ext cx="26517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FOR HODS AND LEADERS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368735" y="1764792"/>
            <a:ext cx="822960" cy="1152144"/>
          </a:xfrm>
          <a:prstGeom prst="rect">
            <a:avLst/>
          </a:prstGeom>
          <a:solidFill>
            <a:srgbClr val="D4762A"/>
          </a:solidFill>
          <a:ln w="25400">
            <a:solidFill>
              <a:srgbClr val="1E1208"/>
            </a:solidFill>
            <a:prstDash val="solid"/>
          </a:ln>
        </p:spPr>
      </p:sp>
      <p:sp>
        <p:nvSpPr>
          <p:cNvPr id="5" name="Text 3"/>
          <p:cNvSpPr/>
          <p:nvPr/>
        </p:nvSpPr>
        <p:spPr>
          <a:xfrm>
            <a:off x="11368735" y="1764792"/>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59773"/>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ASSESS</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lnSpcReduction="10000"/>
          </a:bodyPr>
          <a:lstStyle/>
          <a:p>
            <a:pPr marL="0" indent="0">
              <a:buNone/>
            </a:pPr>
            <a:r>
              <a:rPr lang="en-US" sz="3600" dirty="0">
                <a:solidFill>
                  <a:srgbClr val="1E1208"/>
                </a:solidFill>
                <a:latin typeface="Impact" pitchFamily="34" charset="0"/>
                <a:ea typeface="Impact" pitchFamily="34" charset="-122"/>
                <a:cs typeface="Impact" pitchFamily="34" charset="-120"/>
              </a:rPr>
              <a:t>FAIR, SECURE AND SUPPORTIVE OF EACH STUDENT'S ACCESSIBILITY</a:t>
            </a:r>
            <a:endParaRPr lang="en-US" sz="3600" dirty="0"/>
          </a:p>
        </p:txBody>
      </p:sp>
      <p:sp>
        <p:nvSpPr>
          <p:cNvPr id="15" name="Shape 12"/>
          <p:cNvSpPr/>
          <p:nvPr/>
        </p:nvSpPr>
        <p:spPr>
          <a:xfrm>
            <a:off x="1417320" y="1965960"/>
            <a:ext cx="4663440" cy="1737360"/>
          </a:xfrm>
          <a:prstGeom prst="rect">
            <a:avLst/>
          </a:prstGeom>
          <a:solidFill>
            <a:srgbClr val="FFFFFF"/>
          </a:solidFill>
          <a:ln w="25400">
            <a:solidFill>
              <a:srgbClr val="1E1208"/>
            </a:solidFill>
            <a:prstDash val="solid"/>
          </a:ln>
        </p:spPr>
      </p:sp>
      <p:sp>
        <p:nvSpPr>
          <p:cNvPr id="16" name="Shape 13"/>
          <p:cNvSpPr/>
          <p:nvPr/>
        </p:nvSpPr>
        <p:spPr>
          <a:xfrm>
            <a:off x="1417320" y="1965960"/>
            <a:ext cx="128016" cy="1737360"/>
          </a:xfrm>
          <a:prstGeom prst="rect">
            <a:avLst/>
          </a:prstGeom>
          <a:solidFill>
            <a:srgbClr val="D4762A"/>
          </a:solidFill>
          <a:ln/>
        </p:spPr>
      </p:sp>
      <p:sp>
        <p:nvSpPr>
          <p:cNvPr id="17" name="Text 14"/>
          <p:cNvSpPr/>
          <p:nvPr/>
        </p:nvSpPr>
        <p:spPr>
          <a:xfrm>
            <a:off x="1737360" y="2148840"/>
            <a:ext cx="4206240" cy="41148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LOCK-DOWN AND TAB LOGGING</a:t>
            </a:r>
            <a:endParaRPr lang="en-US" sz="2000" dirty="0"/>
          </a:p>
        </p:txBody>
      </p:sp>
      <p:sp>
        <p:nvSpPr>
          <p:cNvPr id="18" name="Text 15"/>
          <p:cNvSpPr/>
          <p:nvPr/>
        </p:nvSpPr>
        <p:spPr>
          <a:xfrm>
            <a:off x="1737360" y="2651760"/>
            <a:ext cx="4206240" cy="100584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 desktop app for Windows and Mac locks the screen to the exam. Tab switches are logged and pasting is blocked.</a:t>
            </a:r>
            <a:endParaRPr lang="en-US" sz="1250" dirty="0"/>
          </a:p>
        </p:txBody>
      </p:sp>
      <p:sp>
        <p:nvSpPr>
          <p:cNvPr id="19" name="Shape 16"/>
          <p:cNvSpPr/>
          <p:nvPr/>
        </p:nvSpPr>
        <p:spPr>
          <a:xfrm>
            <a:off x="6217920" y="1965960"/>
            <a:ext cx="4663440" cy="1737360"/>
          </a:xfrm>
          <a:prstGeom prst="rect">
            <a:avLst/>
          </a:prstGeom>
          <a:solidFill>
            <a:srgbClr val="FFFFFF"/>
          </a:solidFill>
          <a:ln w="25400">
            <a:solidFill>
              <a:srgbClr val="1E1208"/>
            </a:solidFill>
            <a:prstDash val="solid"/>
          </a:ln>
        </p:spPr>
      </p:sp>
      <p:sp>
        <p:nvSpPr>
          <p:cNvPr id="20" name="Shape 17"/>
          <p:cNvSpPr/>
          <p:nvPr/>
        </p:nvSpPr>
        <p:spPr>
          <a:xfrm>
            <a:off x="6217920" y="1965960"/>
            <a:ext cx="128016" cy="1737360"/>
          </a:xfrm>
          <a:prstGeom prst="rect">
            <a:avLst/>
          </a:prstGeom>
          <a:solidFill>
            <a:srgbClr val="D4762A"/>
          </a:solidFill>
          <a:ln/>
        </p:spPr>
      </p:sp>
      <p:sp>
        <p:nvSpPr>
          <p:cNvPr id="21" name="Text 18"/>
          <p:cNvSpPr/>
          <p:nvPr/>
        </p:nvSpPr>
        <p:spPr>
          <a:xfrm>
            <a:off x="6537960" y="2148840"/>
            <a:ext cx="4206240" cy="41148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ONE DEVICE AT A TIME</a:t>
            </a:r>
            <a:endParaRPr lang="en-US" sz="2000" dirty="0"/>
          </a:p>
        </p:txBody>
      </p:sp>
      <p:sp>
        <p:nvSpPr>
          <p:cNvPr id="22" name="Text 19"/>
          <p:cNvSpPr/>
          <p:nvPr/>
        </p:nvSpPr>
        <p:spPr>
          <a:xfrm>
            <a:off x="6537960" y="2651760"/>
            <a:ext cx="4206240" cy="100584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 student is signed in on one </a:t>
            </a:r>
            <a:r>
              <a:rPr lang="en-US" sz="1250" dirty="0" smtClean="0">
                <a:solidFill>
                  <a:srgbClr val="555555"/>
                </a:solidFill>
                <a:latin typeface="Arial" pitchFamily="34" charset="0"/>
                <a:ea typeface="Arial" pitchFamily="34" charset="-122"/>
                <a:cs typeface="Arial" pitchFamily="34" charset="-120"/>
              </a:rPr>
              <a:t>device at a time.</a:t>
            </a:r>
            <a:endParaRPr lang="en-US" sz="1250" dirty="0"/>
          </a:p>
        </p:txBody>
      </p:sp>
      <p:sp>
        <p:nvSpPr>
          <p:cNvPr id="23" name="Shape 20"/>
          <p:cNvSpPr/>
          <p:nvPr/>
        </p:nvSpPr>
        <p:spPr>
          <a:xfrm>
            <a:off x="1417320" y="3886200"/>
            <a:ext cx="4663440" cy="1737360"/>
          </a:xfrm>
          <a:prstGeom prst="rect">
            <a:avLst/>
          </a:prstGeom>
          <a:solidFill>
            <a:srgbClr val="FFFFFF"/>
          </a:solidFill>
          <a:ln w="25400">
            <a:solidFill>
              <a:srgbClr val="1E1208"/>
            </a:solidFill>
            <a:prstDash val="solid"/>
          </a:ln>
        </p:spPr>
      </p:sp>
      <p:sp>
        <p:nvSpPr>
          <p:cNvPr id="24" name="Shape 21"/>
          <p:cNvSpPr/>
          <p:nvPr/>
        </p:nvSpPr>
        <p:spPr>
          <a:xfrm>
            <a:off x="1417320" y="3886200"/>
            <a:ext cx="128016" cy="1737360"/>
          </a:xfrm>
          <a:prstGeom prst="rect">
            <a:avLst/>
          </a:prstGeom>
          <a:solidFill>
            <a:srgbClr val="D4762A"/>
          </a:solidFill>
          <a:ln/>
        </p:spPr>
      </p:sp>
      <p:sp>
        <p:nvSpPr>
          <p:cNvPr id="25" name="Text 22"/>
          <p:cNvSpPr/>
          <p:nvPr/>
        </p:nvSpPr>
        <p:spPr>
          <a:xfrm>
            <a:off x="1737360" y="4069080"/>
            <a:ext cx="4206240" cy="41148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SAFE IF THE CONNECTION DROPS</a:t>
            </a:r>
            <a:endParaRPr lang="en-US" sz="2000" dirty="0"/>
          </a:p>
        </p:txBody>
      </p:sp>
      <p:sp>
        <p:nvSpPr>
          <p:cNvPr id="26" name="Text 23"/>
          <p:cNvSpPr/>
          <p:nvPr/>
        </p:nvSpPr>
        <p:spPr>
          <a:xfrm>
            <a:off x="1737360" y="4572000"/>
            <a:ext cx="4206240" cy="100584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Answers are kept on the device and sent when the connection returns. Late work is flagged, not lost.</a:t>
            </a:r>
            <a:endParaRPr lang="en-US" sz="1250" dirty="0"/>
          </a:p>
        </p:txBody>
      </p:sp>
      <p:sp>
        <p:nvSpPr>
          <p:cNvPr id="27" name="Shape 24"/>
          <p:cNvSpPr/>
          <p:nvPr/>
        </p:nvSpPr>
        <p:spPr>
          <a:xfrm>
            <a:off x="6217920" y="3886200"/>
            <a:ext cx="4663440" cy="1737360"/>
          </a:xfrm>
          <a:prstGeom prst="rect">
            <a:avLst/>
          </a:prstGeom>
          <a:solidFill>
            <a:srgbClr val="FFFFFF"/>
          </a:solidFill>
          <a:ln w="25400">
            <a:solidFill>
              <a:srgbClr val="1E1208"/>
            </a:solidFill>
            <a:prstDash val="solid"/>
          </a:ln>
        </p:spPr>
      </p:sp>
      <p:sp>
        <p:nvSpPr>
          <p:cNvPr id="28" name="Shape 25"/>
          <p:cNvSpPr/>
          <p:nvPr/>
        </p:nvSpPr>
        <p:spPr>
          <a:xfrm>
            <a:off x="6217920" y="3886200"/>
            <a:ext cx="128016" cy="1737360"/>
          </a:xfrm>
          <a:prstGeom prst="rect">
            <a:avLst/>
          </a:prstGeom>
          <a:solidFill>
            <a:srgbClr val="D4762A"/>
          </a:solidFill>
          <a:ln/>
        </p:spPr>
      </p:sp>
      <p:sp>
        <p:nvSpPr>
          <p:cNvPr id="29" name="Text 26"/>
          <p:cNvSpPr/>
          <p:nvPr/>
        </p:nvSpPr>
        <p:spPr>
          <a:xfrm>
            <a:off x="6537960" y="4069080"/>
            <a:ext cx="4206240" cy="411480"/>
          </a:xfrm>
          <a:prstGeom prst="rect">
            <a:avLst/>
          </a:prstGeom>
          <a:noFill/>
          <a:ln/>
        </p:spPr>
        <p:txBody>
          <a:bodyPr wrap="square" lIns="0" tIns="0" rIns="0" bIns="0" rtlCol="0" anchor="t"/>
          <a:lstStyle/>
          <a:p>
            <a:pPr marL="0" indent="0" algn="l">
              <a:lnSpc>
                <a:spcPct val="110000"/>
              </a:lnSpc>
              <a:buNone/>
            </a:pPr>
            <a:r>
              <a:rPr lang="en-US" sz="2000" dirty="0" smtClean="0">
                <a:solidFill>
                  <a:srgbClr val="1E1208"/>
                </a:solidFill>
                <a:latin typeface="Impact" pitchFamily="34" charset="0"/>
                <a:ea typeface="Impact" pitchFamily="34" charset="-122"/>
                <a:cs typeface="Impact" pitchFamily="34" charset="-120"/>
              </a:rPr>
              <a:t>ACCESSIBILITY</a:t>
            </a:r>
            <a:endParaRPr lang="en-US" sz="2000" dirty="0"/>
          </a:p>
        </p:txBody>
      </p:sp>
      <p:sp>
        <p:nvSpPr>
          <p:cNvPr id="30" name="Text 27"/>
          <p:cNvSpPr/>
          <p:nvPr/>
        </p:nvSpPr>
        <p:spPr>
          <a:xfrm>
            <a:off x="6537960" y="4572000"/>
            <a:ext cx="4206240" cy="100584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 teacher can switch on read-aloud and other accommodations for a student who needs them.</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61722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MEET THE PRODUCT</a:t>
            </a:r>
            <a:endParaRPr lang="en-US" sz="1400" dirty="0"/>
          </a:p>
        </p:txBody>
      </p:sp>
      <p:sp>
        <p:nvSpPr>
          <p:cNvPr id="14" name="Shape 11"/>
          <p:cNvSpPr/>
          <p:nvPr/>
        </p:nvSpPr>
        <p:spPr>
          <a:xfrm>
            <a:off x="1417320" y="1920240"/>
            <a:ext cx="3931920" cy="3931920"/>
          </a:xfrm>
          <a:prstGeom prst="rect">
            <a:avLst/>
          </a:prstGeom>
          <a:solidFill>
            <a:srgbClr val="E3B51E"/>
          </a:solidFill>
          <a:ln w="25400">
            <a:solidFill>
              <a:srgbClr val="1E1208"/>
            </a:solidFill>
            <a:prstDash val="solid"/>
          </a:ln>
        </p:spPr>
      </p:sp>
      <p:sp>
        <p:nvSpPr>
          <p:cNvPr id="15" name="Text 12"/>
          <p:cNvSpPr/>
          <p:nvPr/>
        </p:nvSpPr>
        <p:spPr>
          <a:xfrm>
            <a:off x="1645920" y="2011680"/>
            <a:ext cx="3474720" cy="1463040"/>
          </a:xfrm>
          <a:prstGeom prst="rect">
            <a:avLst/>
          </a:prstGeom>
          <a:noFill/>
          <a:ln/>
        </p:spPr>
        <p:txBody>
          <a:bodyPr wrap="square" lIns="0" tIns="0" rIns="0" bIns="0" rtlCol="0" anchor="t"/>
          <a:lstStyle/>
          <a:p>
            <a:pPr marL="0" indent="0" algn="l">
              <a:lnSpc>
                <a:spcPct val="110000"/>
              </a:lnSpc>
              <a:buNone/>
            </a:pPr>
            <a:r>
              <a:rPr lang="en-US" sz="9600" dirty="0">
                <a:solidFill>
                  <a:srgbClr val="1E1208"/>
                </a:solidFill>
                <a:latin typeface="Impact" pitchFamily="34" charset="0"/>
                <a:ea typeface="Impact" pitchFamily="34" charset="-122"/>
                <a:cs typeface="Impact" pitchFamily="34" charset="-120"/>
              </a:rPr>
              <a:t>2</a:t>
            </a:r>
            <a:endParaRPr lang="en-US" sz="9600" dirty="0"/>
          </a:p>
        </p:txBody>
      </p:sp>
      <p:sp>
        <p:nvSpPr>
          <p:cNvPr id="16" name="Text 13"/>
          <p:cNvSpPr/>
          <p:nvPr/>
        </p:nvSpPr>
        <p:spPr>
          <a:xfrm>
            <a:off x="1645920" y="3429000"/>
            <a:ext cx="3474720" cy="1371600"/>
          </a:xfrm>
          <a:prstGeom prst="rect">
            <a:avLst/>
          </a:prstGeom>
          <a:noFill/>
          <a:ln/>
        </p:spPr>
        <p:txBody>
          <a:bodyPr wrap="square" lIns="0" tIns="0" rIns="0" bIns="0" rtlCol="0" anchor="t"/>
          <a:lstStyle/>
          <a:p>
            <a:pPr marL="0" indent="0" algn="l">
              <a:lnSpc>
                <a:spcPct val="95000"/>
              </a:lnSpc>
              <a:buNone/>
            </a:pPr>
            <a:r>
              <a:rPr lang="en-US" sz="4400" dirty="0">
                <a:solidFill>
                  <a:srgbClr val="1E1208"/>
                </a:solidFill>
                <a:latin typeface="Impact" pitchFamily="34" charset="0"/>
                <a:ea typeface="Impact" pitchFamily="34" charset="-122"/>
                <a:cs typeface="Impact" pitchFamily="34" charset="-120"/>
              </a:rPr>
              <a:t>SMART</a:t>
            </a:r>
            <a:endParaRPr lang="en-US" sz="4400" dirty="0"/>
          </a:p>
          <a:p>
            <a:pPr marL="0" indent="0" algn="l">
              <a:lnSpc>
                <a:spcPct val="95000"/>
              </a:lnSpc>
              <a:buNone/>
            </a:pPr>
            <a:r>
              <a:rPr lang="en-US" sz="4400" dirty="0">
                <a:solidFill>
                  <a:srgbClr val="1E1208"/>
                </a:solidFill>
                <a:latin typeface="Impact" pitchFamily="34" charset="0"/>
                <a:ea typeface="Impact" pitchFamily="34" charset="-122"/>
                <a:cs typeface="Impact" pitchFamily="34" charset="-120"/>
              </a:rPr>
              <a:t>LEARNING</a:t>
            </a:r>
            <a:endParaRPr lang="en-US" sz="4400" dirty="0"/>
          </a:p>
        </p:txBody>
      </p:sp>
      <p:sp>
        <p:nvSpPr>
          <p:cNvPr id="17" name="Text 14"/>
          <p:cNvSpPr/>
          <p:nvPr/>
        </p:nvSpPr>
        <p:spPr>
          <a:xfrm>
            <a:off x="1645920" y="4937760"/>
            <a:ext cx="3474720" cy="822960"/>
          </a:xfrm>
          <a:prstGeom prst="rect">
            <a:avLst/>
          </a:prstGeom>
          <a:noFill/>
          <a:ln/>
        </p:spPr>
        <p:txBody>
          <a:bodyPr wrap="square" lIns="0" tIns="0" rIns="0" bIns="0" rtlCol="0" anchor="t"/>
          <a:lstStyle/>
          <a:p>
            <a:pPr marL="0" indent="0" algn="l">
              <a:lnSpc>
                <a:spcPct val="110000"/>
              </a:lnSpc>
              <a:buNone/>
            </a:pPr>
            <a:r>
              <a:rPr lang="en-US" sz="1800" b="1" dirty="0">
                <a:solidFill>
                  <a:srgbClr val="1E1208"/>
                </a:solidFill>
                <a:latin typeface="Arial" pitchFamily="34" charset="0"/>
                <a:ea typeface="Arial" pitchFamily="34" charset="-122"/>
                <a:cs typeface="Arial" pitchFamily="34" charset="-120"/>
              </a:rPr>
              <a:t>Deliver and recover learning.</a:t>
            </a:r>
            <a:endParaRPr lang="en-US" sz="1800" dirty="0"/>
          </a:p>
        </p:txBody>
      </p:sp>
      <p:sp>
        <p:nvSpPr>
          <p:cNvPr id="19" name="Text 16"/>
          <p:cNvSpPr/>
          <p:nvPr/>
        </p:nvSpPr>
        <p:spPr>
          <a:xfrm>
            <a:off x="5602778" y="3572395"/>
            <a:ext cx="5303520" cy="274320"/>
          </a:xfrm>
          <a:prstGeom prst="rect">
            <a:avLst/>
          </a:prstGeom>
          <a:noFill/>
          <a:ln/>
        </p:spPr>
        <p:txBody>
          <a:bodyPr wrap="square" lIns="0" tIns="0" rIns="0" bIns="0" rtlCol="0" anchor="t"/>
          <a:lstStyle/>
          <a:p>
            <a:pPr marL="0" indent="0" algn="l">
              <a:lnSpc>
                <a:spcPct val="110000"/>
              </a:lnSpc>
              <a:buNone/>
            </a:pPr>
            <a:r>
              <a:rPr lang="en-US" sz="1400" b="1" kern="0" spc="200" dirty="0">
                <a:solidFill>
                  <a:srgbClr val="1E1208"/>
                </a:solidFill>
                <a:latin typeface="Courier New" pitchFamily="34" charset="0"/>
                <a:ea typeface="Courier New" pitchFamily="34" charset="-122"/>
                <a:cs typeface="Courier New" pitchFamily="34" charset="-120"/>
              </a:rPr>
              <a:t>WHAT IT DOES</a:t>
            </a:r>
            <a:endParaRPr lang="en-US" sz="1400" dirty="0"/>
          </a:p>
        </p:txBody>
      </p:sp>
      <p:sp>
        <p:nvSpPr>
          <p:cNvPr id="20" name="Shape 17"/>
          <p:cNvSpPr/>
          <p:nvPr/>
        </p:nvSpPr>
        <p:spPr>
          <a:xfrm>
            <a:off x="5623560" y="4041648"/>
            <a:ext cx="5303520" cy="475488"/>
          </a:xfrm>
          <a:prstGeom prst="rect">
            <a:avLst/>
          </a:prstGeom>
          <a:solidFill>
            <a:srgbClr val="FFFFFF"/>
          </a:solidFill>
          <a:ln w="25400">
            <a:solidFill>
              <a:srgbClr val="1E1208"/>
            </a:solidFill>
            <a:prstDash val="solid"/>
          </a:ln>
        </p:spPr>
      </p:sp>
      <p:sp>
        <p:nvSpPr>
          <p:cNvPr id="21" name="Text 18"/>
          <p:cNvSpPr/>
          <p:nvPr/>
        </p:nvSpPr>
        <p:spPr>
          <a:xfrm>
            <a:off x="5806440" y="4041648"/>
            <a:ext cx="4983480" cy="475488"/>
          </a:xfrm>
          <a:prstGeom prst="rect">
            <a:avLst/>
          </a:prstGeom>
          <a:noFill/>
          <a:ln/>
        </p:spPr>
        <p:txBody>
          <a:bodyPr wrap="square" lIns="0" tIns="0" rIns="0" bIns="0" rtlCol="0" anchor="ctr"/>
          <a:lstStyle/>
          <a:p>
            <a:pPr marL="0" indent="0" algn="l">
              <a:lnSpc>
                <a:spcPct val="110000"/>
              </a:lnSpc>
              <a:buNone/>
            </a:pPr>
            <a:r>
              <a:rPr lang="en-US" sz="1300" b="1" dirty="0" smtClean="0">
                <a:solidFill>
                  <a:srgbClr val="1E1208"/>
                </a:solidFill>
                <a:latin typeface="Arial" pitchFamily="34" charset="0"/>
                <a:ea typeface="Arial" pitchFamily="34" charset="-122"/>
                <a:cs typeface="Arial" pitchFamily="34" charset="-120"/>
              </a:rPr>
              <a:t>5E Lesson Plan, 4 Level DOK, YouTube Short’s Style Learning</a:t>
            </a:r>
            <a:endParaRPr lang="en-US" sz="1300" dirty="0"/>
          </a:p>
        </p:txBody>
      </p:sp>
      <p:sp>
        <p:nvSpPr>
          <p:cNvPr id="22" name="Shape 19"/>
          <p:cNvSpPr/>
          <p:nvPr/>
        </p:nvSpPr>
        <p:spPr>
          <a:xfrm>
            <a:off x="5623560" y="4590288"/>
            <a:ext cx="5303520" cy="475488"/>
          </a:xfrm>
          <a:prstGeom prst="rect">
            <a:avLst/>
          </a:prstGeom>
          <a:solidFill>
            <a:srgbClr val="FBE9D6"/>
          </a:solidFill>
          <a:ln w="25400">
            <a:solidFill>
              <a:srgbClr val="1E1208"/>
            </a:solidFill>
            <a:prstDash val="solid"/>
          </a:ln>
        </p:spPr>
      </p:sp>
      <p:sp>
        <p:nvSpPr>
          <p:cNvPr id="23" name="Text 20"/>
          <p:cNvSpPr/>
          <p:nvPr/>
        </p:nvSpPr>
        <p:spPr>
          <a:xfrm>
            <a:off x="5806440" y="459028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Catch-up for absent students, flashcards and the Library</a:t>
            </a:r>
            <a:endParaRPr lang="en-US" sz="1300" dirty="0"/>
          </a:p>
        </p:txBody>
      </p:sp>
      <p:sp>
        <p:nvSpPr>
          <p:cNvPr id="24" name="Shape 21"/>
          <p:cNvSpPr/>
          <p:nvPr/>
        </p:nvSpPr>
        <p:spPr>
          <a:xfrm>
            <a:off x="5623560" y="5138928"/>
            <a:ext cx="5303520" cy="475488"/>
          </a:xfrm>
          <a:prstGeom prst="rect">
            <a:avLst/>
          </a:prstGeom>
          <a:solidFill>
            <a:srgbClr val="FFFFFF"/>
          </a:solidFill>
          <a:ln w="25400">
            <a:solidFill>
              <a:srgbClr val="1E1208"/>
            </a:solidFill>
            <a:prstDash val="solid"/>
          </a:ln>
        </p:spPr>
      </p:sp>
      <p:sp>
        <p:nvSpPr>
          <p:cNvPr id="25" name="Text 22"/>
          <p:cNvSpPr/>
          <p:nvPr/>
        </p:nvSpPr>
        <p:spPr>
          <a:xfrm>
            <a:off x="5806440" y="513892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AI lesson plans shaped by Jamaica and the national curriculum</a:t>
            </a:r>
            <a:endParaRPr lang="en-US" sz="1300" dirty="0"/>
          </a:p>
        </p:txBody>
      </p:sp>
      <p:sp>
        <p:nvSpPr>
          <p:cNvPr id="26" name="Text 23"/>
          <p:cNvSpPr/>
          <p:nvPr/>
        </p:nvSpPr>
        <p:spPr>
          <a:xfrm>
            <a:off x="5623560" y="5760720"/>
            <a:ext cx="3291840" cy="457200"/>
          </a:xfrm>
          <a:prstGeom prst="rect">
            <a:avLst/>
          </a:prstGeom>
          <a:noFill/>
          <a:ln/>
        </p:spPr>
        <p:txBody>
          <a:bodyPr wrap="square" lIns="0" tIns="0" rIns="0" bIns="0" rtlCol="0" anchor="ctr"/>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For teachers, students, heads of department and leaders.</a:t>
            </a:r>
            <a:endParaRPr lang="en-US" sz="1200" dirty="0"/>
          </a:p>
        </p:txBody>
      </p:sp>
      <p:sp>
        <p:nvSpPr>
          <p:cNvPr id="27" name="Shape 24"/>
          <p:cNvSpPr/>
          <p:nvPr/>
        </p:nvSpPr>
        <p:spPr>
          <a:xfrm>
            <a:off x="9006840" y="5824728"/>
            <a:ext cx="1920240" cy="310896"/>
          </a:xfrm>
          <a:prstGeom prst="rect">
            <a:avLst/>
          </a:prstGeom>
          <a:solidFill>
            <a:srgbClr val="1E1208"/>
          </a:solidFill>
          <a:ln w="19050">
            <a:solidFill>
              <a:srgbClr val="1E1208"/>
            </a:solidFill>
            <a:prstDash val="solid"/>
          </a:ln>
        </p:spPr>
      </p:sp>
      <p:sp>
        <p:nvSpPr>
          <p:cNvPr id="28" name="Text 25"/>
          <p:cNvSpPr/>
          <p:nvPr/>
        </p:nvSpPr>
        <p:spPr>
          <a:xfrm>
            <a:off x="9006840" y="5824728"/>
            <a:ext cx="192024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ALREADY BUILT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27711" y="340822"/>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800" dirty="0">
                <a:solidFill>
                  <a:srgbClr val="1E1208"/>
                </a:solidFill>
                <a:latin typeface="Impact" pitchFamily="34" charset="0"/>
                <a:ea typeface="Impact" pitchFamily="34" charset="-122"/>
                <a:cs typeface="Impact" pitchFamily="34" charset="-120"/>
              </a:rPr>
              <a:t>DELIVER AND RECOVER LEARNING</a:t>
            </a:r>
            <a:endParaRPr lang="en-US" sz="4800" dirty="0"/>
          </a:p>
        </p:txBody>
      </p:sp>
      <p:sp>
        <p:nvSpPr>
          <p:cNvPr id="15" name="Shape 12"/>
          <p:cNvSpPr/>
          <p:nvPr/>
        </p:nvSpPr>
        <p:spPr>
          <a:xfrm>
            <a:off x="9144000" y="502920"/>
            <a:ext cx="1737360" cy="310896"/>
          </a:xfrm>
          <a:prstGeom prst="rect">
            <a:avLst/>
          </a:prstGeom>
          <a:solidFill>
            <a:srgbClr val="E3B51E"/>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Text 14"/>
          <p:cNvSpPr/>
          <p:nvPr/>
        </p:nvSpPr>
        <p:spPr>
          <a:xfrm>
            <a:off x="1417320" y="1783080"/>
            <a:ext cx="9509760" cy="365760"/>
          </a:xfrm>
          <a:prstGeom prst="rect">
            <a:avLst/>
          </a:prstGeom>
          <a:noFill/>
          <a:ln/>
        </p:spPr>
        <p:txBody>
          <a:bodyPr wrap="square" lIns="0" tIns="0" rIns="0" bIns="0" rtlCol="0" anchor="t"/>
          <a:lstStyle/>
          <a:p>
            <a:pPr marL="0" indent="0" algn="l">
              <a:lnSpc>
                <a:spcPct val="110000"/>
              </a:lnSpc>
              <a:buNone/>
            </a:pPr>
            <a:r>
              <a:rPr lang="en-US" sz="1500" b="1" dirty="0">
                <a:solidFill>
                  <a:srgbClr val="1F8A84"/>
                </a:solidFill>
                <a:latin typeface="Arial" pitchFamily="34" charset="0"/>
                <a:ea typeface="Arial" pitchFamily="34" charset="-122"/>
                <a:cs typeface="Arial" pitchFamily="34" charset="-120"/>
              </a:rPr>
              <a:t>Assessment tells you what happened. Learning helps you act on what </a:t>
            </a:r>
            <a:r>
              <a:rPr lang="en-US" sz="1500" b="1" dirty="0" smtClean="0">
                <a:solidFill>
                  <a:srgbClr val="1F8A84"/>
                </a:solidFill>
                <a:latin typeface="Arial" pitchFamily="34" charset="0"/>
                <a:ea typeface="Arial" pitchFamily="34" charset="-122"/>
                <a:cs typeface="Arial" pitchFamily="34" charset="-120"/>
              </a:rPr>
              <a:t>we found</a:t>
            </a:r>
            <a:r>
              <a:rPr lang="en-US" sz="1500" b="1" dirty="0">
                <a:solidFill>
                  <a:srgbClr val="1F8A84"/>
                </a:solidFill>
                <a:latin typeface="Arial" pitchFamily="34" charset="0"/>
                <a:ea typeface="Arial" pitchFamily="34" charset="-122"/>
                <a:cs typeface="Arial" pitchFamily="34" charset="-120"/>
              </a:rPr>
              <a:t>.</a:t>
            </a:r>
            <a:endParaRPr lang="en-US" sz="1500" dirty="0"/>
          </a:p>
        </p:txBody>
      </p:sp>
      <p:sp>
        <p:nvSpPr>
          <p:cNvPr id="18" name="Shape 15"/>
          <p:cNvSpPr/>
          <p:nvPr/>
        </p:nvSpPr>
        <p:spPr>
          <a:xfrm>
            <a:off x="1417320" y="2286000"/>
            <a:ext cx="640080" cy="640080"/>
          </a:xfrm>
          <a:prstGeom prst="rect">
            <a:avLst/>
          </a:prstGeom>
          <a:solidFill>
            <a:srgbClr val="E3B51E"/>
          </a:solidFill>
          <a:ln w="25400">
            <a:solidFill>
              <a:srgbClr val="1E1208"/>
            </a:solidFill>
            <a:prstDash val="solid"/>
          </a:ln>
        </p:spPr>
      </p:sp>
      <p:sp>
        <p:nvSpPr>
          <p:cNvPr id="19" name="Text 16"/>
          <p:cNvSpPr/>
          <p:nvPr/>
        </p:nvSpPr>
        <p:spPr>
          <a:xfrm>
            <a:off x="1417320" y="2286000"/>
            <a:ext cx="640080" cy="64008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20" name="Shape 17"/>
          <p:cNvSpPr/>
          <p:nvPr/>
        </p:nvSpPr>
        <p:spPr>
          <a:xfrm>
            <a:off x="2057400" y="2286000"/>
            <a:ext cx="1143000" cy="640080"/>
          </a:xfrm>
          <a:prstGeom prst="rect">
            <a:avLst/>
          </a:prstGeom>
          <a:solidFill>
            <a:srgbClr val="FFFFFF"/>
          </a:solidFill>
          <a:ln w="25400">
            <a:solidFill>
              <a:srgbClr val="1E1208"/>
            </a:solidFill>
            <a:prstDash val="solid"/>
          </a:ln>
        </p:spPr>
      </p:sp>
      <p:sp>
        <p:nvSpPr>
          <p:cNvPr id="21" name="Text 18"/>
          <p:cNvSpPr/>
          <p:nvPr/>
        </p:nvSpPr>
        <p:spPr>
          <a:xfrm>
            <a:off x="2130552" y="2286000"/>
            <a:ext cx="1051560" cy="640080"/>
          </a:xfrm>
          <a:prstGeom prst="rect">
            <a:avLst/>
          </a:prstGeom>
          <a:noFill/>
          <a:ln/>
        </p:spPr>
        <p:txBody>
          <a:bodyPr wrap="square" lIns="0" tIns="0" rIns="0" bIns="0" rtlCol="0" anchor="ctr"/>
          <a:lstStyle/>
          <a:p>
            <a:pPr marL="0" indent="0" algn="l">
              <a:lnSpc>
                <a:spcPct val="110000"/>
              </a:lnSpc>
              <a:buNone/>
            </a:pPr>
            <a:r>
              <a:rPr lang="en-US" sz="1300" dirty="0">
                <a:solidFill>
                  <a:srgbClr val="1E1208"/>
                </a:solidFill>
                <a:latin typeface="Impact" pitchFamily="34" charset="0"/>
                <a:ea typeface="Impact" pitchFamily="34" charset="-122"/>
                <a:cs typeface="Impact" pitchFamily="34" charset="-120"/>
              </a:rPr>
              <a:t>ENGAGE</a:t>
            </a:r>
            <a:endParaRPr lang="en-US" sz="1300" dirty="0"/>
          </a:p>
        </p:txBody>
      </p:sp>
      <p:sp>
        <p:nvSpPr>
          <p:cNvPr id="22" name="Shape 19"/>
          <p:cNvSpPr/>
          <p:nvPr/>
        </p:nvSpPr>
        <p:spPr>
          <a:xfrm>
            <a:off x="3337560" y="2286000"/>
            <a:ext cx="640080" cy="640080"/>
          </a:xfrm>
          <a:prstGeom prst="rect">
            <a:avLst/>
          </a:prstGeom>
          <a:solidFill>
            <a:srgbClr val="E3B51E"/>
          </a:solidFill>
          <a:ln w="25400">
            <a:solidFill>
              <a:srgbClr val="1E1208"/>
            </a:solidFill>
            <a:prstDash val="solid"/>
          </a:ln>
        </p:spPr>
      </p:sp>
      <p:sp>
        <p:nvSpPr>
          <p:cNvPr id="23" name="Text 20"/>
          <p:cNvSpPr/>
          <p:nvPr/>
        </p:nvSpPr>
        <p:spPr>
          <a:xfrm>
            <a:off x="3337560" y="2286000"/>
            <a:ext cx="640080" cy="64008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4" name="Shape 21"/>
          <p:cNvSpPr/>
          <p:nvPr/>
        </p:nvSpPr>
        <p:spPr>
          <a:xfrm>
            <a:off x="3977640" y="2286000"/>
            <a:ext cx="1143000" cy="640080"/>
          </a:xfrm>
          <a:prstGeom prst="rect">
            <a:avLst/>
          </a:prstGeom>
          <a:solidFill>
            <a:srgbClr val="FFFFFF"/>
          </a:solidFill>
          <a:ln w="25400">
            <a:solidFill>
              <a:srgbClr val="1E1208"/>
            </a:solidFill>
            <a:prstDash val="solid"/>
          </a:ln>
        </p:spPr>
      </p:sp>
      <p:sp>
        <p:nvSpPr>
          <p:cNvPr id="25" name="Text 22"/>
          <p:cNvSpPr/>
          <p:nvPr/>
        </p:nvSpPr>
        <p:spPr>
          <a:xfrm>
            <a:off x="4050792" y="2286000"/>
            <a:ext cx="1051560" cy="640080"/>
          </a:xfrm>
          <a:prstGeom prst="rect">
            <a:avLst/>
          </a:prstGeom>
          <a:noFill/>
          <a:ln/>
        </p:spPr>
        <p:txBody>
          <a:bodyPr wrap="square" lIns="0" tIns="0" rIns="0" bIns="0" rtlCol="0" anchor="ctr"/>
          <a:lstStyle/>
          <a:p>
            <a:pPr marL="0" indent="0" algn="l">
              <a:lnSpc>
                <a:spcPct val="110000"/>
              </a:lnSpc>
              <a:buNone/>
            </a:pPr>
            <a:r>
              <a:rPr lang="en-US" sz="1300" dirty="0">
                <a:solidFill>
                  <a:srgbClr val="1E1208"/>
                </a:solidFill>
                <a:latin typeface="Impact" pitchFamily="34" charset="0"/>
                <a:ea typeface="Impact" pitchFamily="34" charset="-122"/>
                <a:cs typeface="Impact" pitchFamily="34" charset="-120"/>
              </a:rPr>
              <a:t>EXPLORE</a:t>
            </a:r>
            <a:endParaRPr lang="en-US" sz="1300" dirty="0"/>
          </a:p>
        </p:txBody>
      </p:sp>
      <p:sp>
        <p:nvSpPr>
          <p:cNvPr id="26" name="Shape 23"/>
          <p:cNvSpPr/>
          <p:nvPr/>
        </p:nvSpPr>
        <p:spPr>
          <a:xfrm>
            <a:off x="5257800" y="2286000"/>
            <a:ext cx="640080" cy="640080"/>
          </a:xfrm>
          <a:prstGeom prst="rect">
            <a:avLst/>
          </a:prstGeom>
          <a:solidFill>
            <a:srgbClr val="E3B51E"/>
          </a:solidFill>
          <a:ln w="25400">
            <a:solidFill>
              <a:srgbClr val="1E1208"/>
            </a:solidFill>
            <a:prstDash val="solid"/>
          </a:ln>
        </p:spPr>
      </p:sp>
      <p:sp>
        <p:nvSpPr>
          <p:cNvPr id="27" name="Text 24"/>
          <p:cNvSpPr/>
          <p:nvPr/>
        </p:nvSpPr>
        <p:spPr>
          <a:xfrm>
            <a:off x="5257800" y="2286000"/>
            <a:ext cx="640080" cy="64008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8" name="Shape 25"/>
          <p:cNvSpPr/>
          <p:nvPr/>
        </p:nvSpPr>
        <p:spPr>
          <a:xfrm>
            <a:off x="5897880" y="2286000"/>
            <a:ext cx="1143000" cy="640080"/>
          </a:xfrm>
          <a:prstGeom prst="rect">
            <a:avLst/>
          </a:prstGeom>
          <a:solidFill>
            <a:srgbClr val="FFFFFF"/>
          </a:solidFill>
          <a:ln w="25400">
            <a:solidFill>
              <a:srgbClr val="1E1208"/>
            </a:solidFill>
            <a:prstDash val="solid"/>
          </a:ln>
        </p:spPr>
      </p:sp>
      <p:sp>
        <p:nvSpPr>
          <p:cNvPr id="29" name="Text 26"/>
          <p:cNvSpPr/>
          <p:nvPr/>
        </p:nvSpPr>
        <p:spPr>
          <a:xfrm>
            <a:off x="5971032" y="2286000"/>
            <a:ext cx="1051560" cy="640080"/>
          </a:xfrm>
          <a:prstGeom prst="rect">
            <a:avLst/>
          </a:prstGeom>
          <a:noFill/>
          <a:ln/>
        </p:spPr>
        <p:txBody>
          <a:bodyPr wrap="square" lIns="0" tIns="0" rIns="0" bIns="0" rtlCol="0" anchor="ctr"/>
          <a:lstStyle/>
          <a:p>
            <a:pPr marL="0" indent="0" algn="l">
              <a:lnSpc>
                <a:spcPct val="110000"/>
              </a:lnSpc>
              <a:buNone/>
            </a:pPr>
            <a:r>
              <a:rPr lang="en-US" sz="1300" dirty="0">
                <a:solidFill>
                  <a:srgbClr val="1E1208"/>
                </a:solidFill>
                <a:latin typeface="Impact" pitchFamily="34" charset="0"/>
                <a:ea typeface="Impact" pitchFamily="34" charset="-122"/>
                <a:cs typeface="Impact" pitchFamily="34" charset="-120"/>
              </a:rPr>
              <a:t>EXPLAIN</a:t>
            </a:r>
            <a:endParaRPr lang="en-US" sz="1300" dirty="0"/>
          </a:p>
        </p:txBody>
      </p:sp>
      <p:sp>
        <p:nvSpPr>
          <p:cNvPr id="30" name="Shape 27"/>
          <p:cNvSpPr/>
          <p:nvPr/>
        </p:nvSpPr>
        <p:spPr>
          <a:xfrm>
            <a:off x="7178040" y="2286000"/>
            <a:ext cx="640080" cy="640080"/>
          </a:xfrm>
          <a:prstGeom prst="rect">
            <a:avLst/>
          </a:prstGeom>
          <a:solidFill>
            <a:srgbClr val="E3B51E"/>
          </a:solidFill>
          <a:ln w="25400">
            <a:solidFill>
              <a:srgbClr val="1E1208"/>
            </a:solidFill>
            <a:prstDash val="solid"/>
          </a:ln>
        </p:spPr>
      </p:sp>
      <p:sp>
        <p:nvSpPr>
          <p:cNvPr id="31" name="Text 28"/>
          <p:cNvSpPr/>
          <p:nvPr/>
        </p:nvSpPr>
        <p:spPr>
          <a:xfrm>
            <a:off x="7178040" y="2286000"/>
            <a:ext cx="640080" cy="64008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2" name="Shape 29"/>
          <p:cNvSpPr/>
          <p:nvPr/>
        </p:nvSpPr>
        <p:spPr>
          <a:xfrm>
            <a:off x="7818120" y="2286000"/>
            <a:ext cx="1143000" cy="640080"/>
          </a:xfrm>
          <a:prstGeom prst="rect">
            <a:avLst/>
          </a:prstGeom>
          <a:solidFill>
            <a:srgbClr val="FFFFFF"/>
          </a:solidFill>
          <a:ln w="25400">
            <a:solidFill>
              <a:srgbClr val="1E1208"/>
            </a:solidFill>
            <a:prstDash val="solid"/>
          </a:ln>
        </p:spPr>
      </p:sp>
      <p:sp>
        <p:nvSpPr>
          <p:cNvPr id="33" name="Text 30"/>
          <p:cNvSpPr/>
          <p:nvPr/>
        </p:nvSpPr>
        <p:spPr>
          <a:xfrm>
            <a:off x="7891272" y="2286000"/>
            <a:ext cx="1051560" cy="640080"/>
          </a:xfrm>
          <a:prstGeom prst="rect">
            <a:avLst/>
          </a:prstGeom>
          <a:noFill/>
          <a:ln/>
        </p:spPr>
        <p:txBody>
          <a:bodyPr wrap="square" lIns="0" tIns="0" rIns="0" bIns="0" rtlCol="0" anchor="ctr"/>
          <a:lstStyle/>
          <a:p>
            <a:pPr marL="0" indent="0" algn="l">
              <a:lnSpc>
                <a:spcPct val="110000"/>
              </a:lnSpc>
              <a:buNone/>
            </a:pPr>
            <a:r>
              <a:rPr lang="en-US" sz="1300" dirty="0">
                <a:solidFill>
                  <a:srgbClr val="1E1208"/>
                </a:solidFill>
                <a:latin typeface="Impact" pitchFamily="34" charset="0"/>
                <a:ea typeface="Impact" pitchFamily="34" charset="-122"/>
                <a:cs typeface="Impact" pitchFamily="34" charset="-120"/>
              </a:rPr>
              <a:t>ELABORATE</a:t>
            </a:r>
            <a:endParaRPr lang="en-US" sz="1300" dirty="0"/>
          </a:p>
        </p:txBody>
      </p:sp>
      <p:sp>
        <p:nvSpPr>
          <p:cNvPr id="34" name="Shape 31"/>
          <p:cNvSpPr/>
          <p:nvPr/>
        </p:nvSpPr>
        <p:spPr>
          <a:xfrm>
            <a:off x="9098280" y="2286000"/>
            <a:ext cx="640080" cy="640080"/>
          </a:xfrm>
          <a:prstGeom prst="rect">
            <a:avLst/>
          </a:prstGeom>
          <a:solidFill>
            <a:srgbClr val="E3B51E"/>
          </a:solidFill>
          <a:ln w="25400">
            <a:solidFill>
              <a:srgbClr val="1E1208"/>
            </a:solidFill>
            <a:prstDash val="solid"/>
          </a:ln>
        </p:spPr>
      </p:sp>
      <p:sp>
        <p:nvSpPr>
          <p:cNvPr id="35" name="Text 32"/>
          <p:cNvSpPr/>
          <p:nvPr/>
        </p:nvSpPr>
        <p:spPr>
          <a:xfrm>
            <a:off x="9098280" y="2286000"/>
            <a:ext cx="640080" cy="64008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6" name="Shape 33"/>
          <p:cNvSpPr/>
          <p:nvPr/>
        </p:nvSpPr>
        <p:spPr>
          <a:xfrm>
            <a:off x="9738360" y="2286000"/>
            <a:ext cx="1143000" cy="640080"/>
          </a:xfrm>
          <a:prstGeom prst="rect">
            <a:avLst/>
          </a:prstGeom>
          <a:solidFill>
            <a:srgbClr val="FFFFFF"/>
          </a:solidFill>
          <a:ln w="25400">
            <a:solidFill>
              <a:srgbClr val="1E1208"/>
            </a:solidFill>
            <a:prstDash val="solid"/>
          </a:ln>
        </p:spPr>
      </p:sp>
      <p:sp>
        <p:nvSpPr>
          <p:cNvPr id="37" name="Text 34"/>
          <p:cNvSpPr/>
          <p:nvPr/>
        </p:nvSpPr>
        <p:spPr>
          <a:xfrm>
            <a:off x="9811512" y="2286000"/>
            <a:ext cx="1051560" cy="640080"/>
          </a:xfrm>
          <a:prstGeom prst="rect">
            <a:avLst/>
          </a:prstGeom>
          <a:noFill/>
          <a:ln/>
        </p:spPr>
        <p:txBody>
          <a:bodyPr wrap="square" lIns="0" tIns="0" rIns="0" bIns="0" rtlCol="0" anchor="ctr"/>
          <a:lstStyle/>
          <a:p>
            <a:pPr marL="0" indent="0" algn="l">
              <a:lnSpc>
                <a:spcPct val="110000"/>
              </a:lnSpc>
              <a:buNone/>
            </a:pPr>
            <a:r>
              <a:rPr lang="en-US" sz="1300" dirty="0">
                <a:solidFill>
                  <a:srgbClr val="1E1208"/>
                </a:solidFill>
                <a:latin typeface="Impact" pitchFamily="34" charset="0"/>
                <a:ea typeface="Impact" pitchFamily="34" charset="-122"/>
                <a:cs typeface="Impact" pitchFamily="34" charset="-120"/>
              </a:rPr>
              <a:t>EVALUATE</a:t>
            </a:r>
            <a:endParaRPr lang="en-US" sz="1300" dirty="0"/>
          </a:p>
        </p:txBody>
      </p:sp>
      <p:sp>
        <p:nvSpPr>
          <p:cNvPr id="38" name="Shape 35"/>
          <p:cNvSpPr/>
          <p:nvPr/>
        </p:nvSpPr>
        <p:spPr>
          <a:xfrm>
            <a:off x="1417320" y="3703320"/>
            <a:ext cx="3017520" cy="1325880"/>
          </a:xfrm>
          <a:prstGeom prst="rect">
            <a:avLst/>
          </a:prstGeom>
          <a:solidFill>
            <a:srgbClr val="FFFFFF"/>
          </a:solidFill>
          <a:ln w="25400">
            <a:solidFill>
              <a:srgbClr val="1E1208"/>
            </a:solidFill>
            <a:prstDash val="solid"/>
          </a:ln>
        </p:spPr>
      </p:sp>
      <p:sp>
        <p:nvSpPr>
          <p:cNvPr id="39" name="Text 36"/>
          <p:cNvSpPr/>
          <p:nvPr/>
        </p:nvSpPr>
        <p:spPr>
          <a:xfrm>
            <a:off x="1581912" y="3840480"/>
            <a:ext cx="274320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CHECK YOUR UNDERSTANDING</a:t>
            </a:r>
            <a:endParaRPr lang="en-US" sz="1600" dirty="0"/>
          </a:p>
        </p:txBody>
      </p:sp>
      <p:sp>
        <p:nvSpPr>
          <p:cNvPr id="40" name="Text 37"/>
          <p:cNvSpPr/>
          <p:nvPr/>
        </p:nvSpPr>
        <p:spPr>
          <a:xfrm>
            <a:off x="1581912" y="4251960"/>
            <a:ext cx="274320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Short questions in each lesson, at support, core and stretch levels.</a:t>
            </a:r>
            <a:endParaRPr lang="en-US" sz="1250" dirty="0"/>
          </a:p>
        </p:txBody>
      </p:sp>
      <p:sp>
        <p:nvSpPr>
          <p:cNvPr id="41" name="Shape 38"/>
          <p:cNvSpPr/>
          <p:nvPr/>
        </p:nvSpPr>
        <p:spPr>
          <a:xfrm>
            <a:off x="4617720" y="3703320"/>
            <a:ext cx="3017520" cy="1325880"/>
          </a:xfrm>
          <a:prstGeom prst="rect">
            <a:avLst/>
          </a:prstGeom>
          <a:solidFill>
            <a:srgbClr val="FFFFFF"/>
          </a:solidFill>
          <a:ln w="25400">
            <a:solidFill>
              <a:srgbClr val="1E1208"/>
            </a:solidFill>
            <a:prstDash val="solid"/>
          </a:ln>
        </p:spPr>
      </p:sp>
      <p:sp>
        <p:nvSpPr>
          <p:cNvPr id="42" name="Text 39"/>
          <p:cNvSpPr/>
          <p:nvPr/>
        </p:nvSpPr>
        <p:spPr>
          <a:xfrm>
            <a:off x="4782312" y="3840480"/>
            <a:ext cx="274320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AI LESSON PLANS</a:t>
            </a:r>
            <a:endParaRPr lang="en-US" sz="1600" dirty="0"/>
          </a:p>
        </p:txBody>
      </p:sp>
      <p:sp>
        <p:nvSpPr>
          <p:cNvPr id="43" name="Text 40"/>
          <p:cNvSpPr/>
          <p:nvPr/>
        </p:nvSpPr>
        <p:spPr>
          <a:xfrm>
            <a:off x="4782312" y="4251960"/>
            <a:ext cx="274320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 full 5E plan with objectives and a DOK level, shaped by Jamaica. You review it.</a:t>
            </a:r>
            <a:endParaRPr lang="en-US" sz="1250" dirty="0"/>
          </a:p>
        </p:txBody>
      </p:sp>
      <p:sp>
        <p:nvSpPr>
          <p:cNvPr id="44" name="Shape 41"/>
          <p:cNvSpPr/>
          <p:nvPr/>
        </p:nvSpPr>
        <p:spPr>
          <a:xfrm>
            <a:off x="7818120" y="3703320"/>
            <a:ext cx="3017520" cy="1325880"/>
          </a:xfrm>
          <a:prstGeom prst="rect">
            <a:avLst/>
          </a:prstGeom>
          <a:solidFill>
            <a:srgbClr val="FFFFFF"/>
          </a:solidFill>
          <a:ln w="25400">
            <a:solidFill>
              <a:srgbClr val="1E1208"/>
            </a:solidFill>
            <a:prstDash val="solid"/>
          </a:ln>
        </p:spPr>
      </p:sp>
      <p:sp>
        <p:nvSpPr>
          <p:cNvPr id="45" name="Text 42"/>
          <p:cNvSpPr/>
          <p:nvPr/>
        </p:nvSpPr>
        <p:spPr>
          <a:xfrm>
            <a:off x="7982712" y="3840480"/>
            <a:ext cx="274320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SHARED PLAN LIBRARY</a:t>
            </a:r>
            <a:endParaRPr lang="en-US" sz="1600" dirty="0"/>
          </a:p>
        </p:txBody>
      </p:sp>
      <p:sp>
        <p:nvSpPr>
          <p:cNvPr id="46" name="Text 43"/>
          <p:cNvSpPr/>
          <p:nvPr/>
        </p:nvSpPr>
        <p:spPr>
          <a:xfrm>
            <a:off x="7982712" y="4251960"/>
            <a:ext cx="274320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Browse and copy published plans from teachers at other schools.</a:t>
            </a:r>
            <a:endParaRPr lang="en-US" sz="1250" dirty="0"/>
          </a:p>
        </p:txBody>
      </p:sp>
      <p:sp>
        <p:nvSpPr>
          <p:cNvPr id="47" name="Shape 44"/>
          <p:cNvSpPr/>
          <p:nvPr/>
        </p:nvSpPr>
        <p:spPr>
          <a:xfrm>
            <a:off x="1417320" y="5166360"/>
            <a:ext cx="3017520" cy="1325880"/>
          </a:xfrm>
          <a:prstGeom prst="rect">
            <a:avLst/>
          </a:prstGeom>
          <a:solidFill>
            <a:srgbClr val="FFFFFF"/>
          </a:solidFill>
          <a:ln w="25400">
            <a:solidFill>
              <a:srgbClr val="1E1208"/>
            </a:solidFill>
            <a:prstDash val="solid"/>
          </a:ln>
        </p:spPr>
      </p:sp>
      <p:sp>
        <p:nvSpPr>
          <p:cNvPr id="48" name="Text 45"/>
          <p:cNvSpPr/>
          <p:nvPr/>
        </p:nvSpPr>
        <p:spPr>
          <a:xfrm>
            <a:off x="1581912" y="5303520"/>
            <a:ext cx="274320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COVERAGE GRID</a:t>
            </a:r>
            <a:endParaRPr lang="en-US" sz="1600" dirty="0"/>
          </a:p>
        </p:txBody>
      </p:sp>
      <p:sp>
        <p:nvSpPr>
          <p:cNvPr id="49" name="Text 46"/>
          <p:cNvSpPr/>
          <p:nvPr/>
        </p:nvSpPr>
        <p:spPr>
          <a:xfrm>
            <a:off x="1581912" y="5715000"/>
            <a:ext cx="274320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Which topics each class has been taught, and where gaps remain.</a:t>
            </a:r>
            <a:endParaRPr lang="en-US" sz="1250" dirty="0"/>
          </a:p>
        </p:txBody>
      </p:sp>
      <p:sp>
        <p:nvSpPr>
          <p:cNvPr id="50" name="Shape 47"/>
          <p:cNvSpPr/>
          <p:nvPr/>
        </p:nvSpPr>
        <p:spPr>
          <a:xfrm>
            <a:off x="4617720" y="5166360"/>
            <a:ext cx="3017520" cy="1325880"/>
          </a:xfrm>
          <a:prstGeom prst="rect">
            <a:avLst/>
          </a:prstGeom>
          <a:solidFill>
            <a:srgbClr val="FFFFFF"/>
          </a:solidFill>
          <a:ln w="25400">
            <a:solidFill>
              <a:srgbClr val="1E1208"/>
            </a:solidFill>
            <a:prstDash val="solid"/>
          </a:ln>
        </p:spPr>
      </p:sp>
      <p:sp>
        <p:nvSpPr>
          <p:cNvPr id="51" name="Text 48"/>
          <p:cNvSpPr/>
          <p:nvPr/>
        </p:nvSpPr>
        <p:spPr>
          <a:xfrm>
            <a:off x="4782312" y="5303520"/>
            <a:ext cx="274320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CATCH-UP</a:t>
            </a:r>
            <a:endParaRPr lang="en-US" sz="1600" dirty="0"/>
          </a:p>
        </p:txBody>
      </p:sp>
      <p:sp>
        <p:nvSpPr>
          <p:cNvPr id="52" name="Text 49"/>
          <p:cNvSpPr/>
          <p:nvPr/>
        </p:nvSpPr>
        <p:spPr>
          <a:xfrm>
            <a:off x="4782312" y="5715000"/>
            <a:ext cx="274320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Absent students are offered the lesson they missed.</a:t>
            </a:r>
            <a:endParaRPr lang="en-US" sz="1250" dirty="0"/>
          </a:p>
        </p:txBody>
      </p:sp>
      <p:sp>
        <p:nvSpPr>
          <p:cNvPr id="53" name="Shape 50"/>
          <p:cNvSpPr/>
          <p:nvPr/>
        </p:nvSpPr>
        <p:spPr>
          <a:xfrm>
            <a:off x="7818120" y="5166360"/>
            <a:ext cx="3017520" cy="1325880"/>
          </a:xfrm>
          <a:prstGeom prst="rect">
            <a:avLst/>
          </a:prstGeom>
          <a:solidFill>
            <a:srgbClr val="FFFFFF"/>
          </a:solidFill>
          <a:ln w="25400">
            <a:solidFill>
              <a:srgbClr val="1E1208"/>
            </a:solidFill>
            <a:prstDash val="solid"/>
          </a:ln>
        </p:spPr>
      </p:sp>
      <p:sp>
        <p:nvSpPr>
          <p:cNvPr id="54" name="Text 51"/>
          <p:cNvSpPr/>
          <p:nvPr/>
        </p:nvSpPr>
        <p:spPr>
          <a:xfrm>
            <a:off x="7982712" y="5303520"/>
            <a:ext cx="274320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TEACHER RESOURCES</a:t>
            </a:r>
            <a:endParaRPr lang="en-US" sz="1600" dirty="0"/>
          </a:p>
        </p:txBody>
      </p:sp>
      <p:sp>
        <p:nvSpPr>
          <p:cNvPr id="55" name="Text 52"/>
          <p:cNvSpPr/>
          <p:nvPr/>
        </p:nvSpPr>
        <p:spPr>
          <a:xfrm>
            <a:off x="7982712" y="5715000"/>
            <a:ext cx="274320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Share links and files with your department, tagged by subject and topic.</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81328" y="22860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800" dirty="0">
                <a:solidFill>
                  <a:srgbClr val="1E1208"/>
                </a:solidFill>
                <a:latin typeface="Impact" pitchFamily="34" charset="0"/>
                <a:ea typeface="Impact" pitchFamily="34" charset="-122"/>
                <a:cs typeface="Impact" pitchFamily="34" charset="-120"/>
              </a:rPr>
              <a:t>DOK: HOW DEEPLY STUDENTS THINK</a:t>
            </a:r>
            <a:endParaRPr lang="en-US" sz="4800" dirty="0"/>
          </a:p>
        </p:txBody>
      </p:sp>
      <p:sp>
        <p:nvSpPr>
          <p:cNvPr id="15" name="Shape 12"/>
          <p:cNvSpPr/>
          <p:nvPr/>
        </p:nvSpPr>
        <p:spPr>
          <a:xfrm>
            <a:off x="9144000" y="502920"/>
            <a:ext cx="1737360" cy="310896"/>
          </a:xfrm>
          <a:prstGeom prst="rect">
            <a:avLst/>
          </a:prstGeom>
          <a:solidFill>
            <a:srgbClr val="E3B51E"/>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Text 14"/>
          <p:cNvSpPr/>
          <p:nvPr/>
        </p:nvSpPr>
        <p:spPr>
          <a:xfrm>
            <a:off x="1417320" y="1755648"/>
            <a:ext cx="9509760" cy="365760"/>
          </a:xfrm>
          <a:prstGeom prst="rect">
            <a:avLst/>
          </a:prstGeom>
          <a:noFill/>
          <a:ln/>
        </p:spPr>
        <p:txBody>
          <a:bodyPr wrap="square" lIns="0" tIns="0" rIns="0" bIns="0" rtlCol="0" anchor="t"/>
          <a:lstStyle/>
          <a:p>
            <a:pPr marL="0" indent="0" algn="l">
              <a:lnSpc>
                <a:spcPct val="110000"/>
              </a:lnSpc>
              <a:buNone/>
            </a:pPr>
            <a:r>
              <a:rPr lang="en-US" sz="1500" b="1" dirty="0">
                <a:solidFill>
                  <a:srgbClr val="1F8A84"/>
                </a:solidFill>
                <a:latin typeface="Arial" pitchFamily="34" charset="0"/>
                <a:ea typeface="Arial" pitchFamily="34" charset="-122"/>
                <a:cs typeface="Arial" pitchFamily="34" charset="-120"/>
              </a:rPr>
              <a:t>Every lesson plan has a general objective, specific objectives and a DOK level from 1 to 4.</a:t>
            </a:r>
            <a:endParaRPr lang="en-US" sz="1500" dirty="0"/>
          </a:p>
        </p:txBody>
      </p:sp>
      <p:sp>
        <p:nvSpPr>
          <p:cNvPr id="18" name="Shape 15"/>
          <p:cNvSpPr/>
          <p:nvPr/>
        </p:nvSpPr>
        <p:spPr>
          <a:xfrm>
            <a:off x="1417320" y="2834640"/>
            <a:ext cx="2240280" cy="2788920"/>
          </a:xfrm>
          <a:prstGeom prst="rect">
            <a:avLst/>
          </a:prstGeom>
          <a:solidFill>
            <a:srgbClr val="FFFFFF"/>
          </a:solidFill>
          <a:ln w="25400">
            <a:solidFill>
              <a:srgbClr val="1E1208"/>
            </a:solidFill>
            <a:prstDash val="solid"/>
          </a:ln>
        </p:spPr>
      </p:sp>
      <p:sp>
        <p:nvSpPr>
          <p:cNvPr id="19" name="Shape 16"/>
          <p:cNvSpPr/>
          <p:nvPr/>
        </p:nvSpPr>
        <p:spPr>
          <a:xfrm>
            <a:off x="1417320" y="2834640"/>
            <a:ext cx="2240280" cy="731520"/>
          </a:xfrm>
          <a:prstGeom prst="rect">
            <a:avLst/>
          </a:prstGeom>
          <a:solidFill>
            <a:srgbClr val="FBE9D6"/>
          </a:solidFill>
          <a:ln w="25400">
            <a:solidFill>
              <a:srgbClr val="1E1208"/>
            </a:solidFill>
            <a:prstDash val="solid"/>
          </a:ln>
        </p:spPr>
      </p:sp>
      <p:sp>
        <p:nvSpPr>
          <p:cNvPr id="20" name="Text 17"/>
          <p:cNvSpPr/>
          <p:nvPr/>
        </p:nvSpPr>
        <p:spPr>
          <a:xfrm>
            <a:off x="1554480" y="2834640"/>
            <a:ext cx="2011680" cy="731520"/>
          </a:xfrm>
          <a:prstGeom prst="rect">
            <a:avLst/>
          </a:prstGeom>
          <a:noFill/>
          <a:ln/>
        </p:spPr>
        <p:txBody>
          <a:bodyPr wrap="square" lIns="0" tIns="0" rIns="0" bIns="0" rtlCol="0" anchor="ctr"/>
          <a:lstStyle/>
          <a:p>
            <a:pPr marL="0" indent="0" algn="l">
              <a:lnSpc>
                <a:spcPct val="110000"/>
              </a:lnSpc>
              <a:buNone/>
            </a:pPr>
            <a:r>
              <a:rPr lang="en-US" sz="2600" dirty="0">
                <a:solidFill>
                  <a:srgbClr val="1E1208"/>
                </a:solidFill>
                <a:latin typeface="Impact" pitchFamily="34" charset="0"/>
                <a:ea typeface="Impact" pitchFamily="34" charset="-122"/>
                <a:cs typeface="Impact" pitchFamily="34" charset="-120"/>
              </a:rPr>
              <a:t>LEVEL 1</a:t>
            </a:r>
            <a:endParaRPr lang="en-US" sz="2600" dirty="0"/>
          </a:p>
        </p:txBody>
      </p:sp>
      <p:sp>
        <p:nvSpPr>
          <p:cNvPr id="21" name="Text 18"/>
          <p:cNvSpPr/>
          <p:nvPr/>
        </p:nvSpPr>
        <p:spPr>
          <a:xfrm>
            <a:off x="1554480" y="3675888"/>
            <a:ext cx="201168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RECALL</a:t>
            </a:r>
            <a:endParaRPr lang="en-US" sz="1800" dirty="0"/>
          </a:p>
        </p:txBody>
      </p:sp>
      <p:sp>
        <p:nvSpPr>
          <p:cNvPr id="22" name="Text 19"/>
          <p:cNvSpPr/>
          <p:nvPr/>
        </p:nvSpPr>
        <p:spPr>
          <a:xfrm>
            <a:off x="1554480" y="4096512"/>
            <a:ext cx="2011680" cy="685800"/>
          </a:xfrm>
          <a:prstGeom prst="rect">
            <a:avLst/>
          </a:prstGeom>
          <a:noFill/>
          <a:ln/>
        </p:spPr>
        <p:txBody>
          <a:bodyPr wrap="square" lIns="0" tIns="0" rIns="0" bIns="0" rtlCol="0" anchor="t"/>
          <a:lstStyle/>
          <a:p>
            <a:pPr marL="0" indent="0" algn="l">
              <a:lnSpc>
                <a:spcPct val="110000"/>
              </a:lnSpc>
              <a:buNone/>
            </a:pPr>
            <a:r>
              <a:rPr lang="en-US" sz="1150" b="1" dirty="0">
                <a:solidFill>
                  <a:srgbClr val="1E1208"/>
                </a:solidFill>
                <a:latin typeface="Arial" pitchFamily="34" charset="0"/>
                <a:ea typeface="Arial" pitchFamily="34" charset="-122"/>
                <a:cs typeface="Arial" pitchFamily="34" charset="-120"/>
              </a:rPr>
              <a:t>Remember a fact, a term or a step.</a:t>
            </a:r>
            <a:endParaRPr lang="en-US" sz="1150" dirty="0"/>
          </a:p>
        </p:txBody>
      </p:sp>
      <p:sp>
        <p:nvSpPr>
          <p:cNvPr id="23" name="Text 20"/>
          <p:cNvSpPr/>
          <p:nvPr/>
        </p:nvSpPr>
        <p:spPr>
          <a:xfrm>
            <a:off x="1554480" y="4526280"/>
            <a:ext cx="2011680" cy="228600"/>
          </a:xfrm>
          <a:prstGeom prst="rect">
            <a:avLst/>
          </a:prstGeom>
          <a:noFill/>
          <a:ln/>
        </p:spPr>
        <p:txBody>
          <a:bodyPr wrap="square" lIns="0" tIns="0" rIns="0" bIns="0" rtlCol="0" anchor="t"/>
          <a:lstStyle/>
          <a:p>
            <a:pPr marL="0" indent="0" algn="l">
              <a:lnSpc>
                <a:spcPct val="110000"/>
              </a:lnSpc>
              <a:buNone/>
            </a:pPr>
            <a:r>
              <a:rPr lang="en-US" sz="950" b="1" kern="0" spc="200" dirty="0">
                <a:solidFill>
                  <a:srgbClr val="8A7A62"/>
                </a:solidFill>
                <a:latin typeface="Courier New" pitchFamily="34" charset="0"/>
                <a:ea typeface="Courier New" pitchFamily="34" charset="-122"/>
                <a:cs typeface="Courier New" pitchFamily="34" charset="-120"/>
              </a:rPr>
              <a:t>EXAMPLE</a:t>
            </a:r>
            <a:endParaRPr lang="en-US" sz="950" dirty="0"/>
          </a:p>
        </p:txBody>
      </p:sp>
      <p:sp>
        <p:nvSpPr>
          <p:cNvPr id="24" name="Text 21"/>
          <p:cNvSpPr/>
          <p:nvPr/>
        </p:nvSpPr>
        <p:spPr>
          <a:xfrm>
            <a:off x="1554480" y="4754880"/>
            <a:ext cx="2011680" cy="822960"/>
          </a:xfrm>
          <a:prstGeom prst="rect">
            <a:avLst/>
          </a:prstGeom>
          <a:noFill/>
          <a:ln/>
        </p:spPr>
        <p:txBody>
          <a:bodyPr wrap="square" lIns="0" tIns="0" rIns="0" bIns="0" rtlCol="0" anchor="t"/>
          <a:lstStyle/>
          <a:p>
            <a:pPr marL="0" indent="0" algn="l">
              <a:lnSpc>
                <a:spcPct val="110000"/>
              </a:lnSpc>
              <a:buNone/>
            </a:pPr>
            <a:r>
              <a:rPr lang="en-US" sz="1200" i="1" dirty="0">
                <a:solidFill>
                  <a:srgbClr val="555555"/>
                </a:solidFill>
                <a:latin typeface="Arial" pitchFamily="34" charset="0"/>
                <a:ea typeface="Arial" pitchFamily="34" charset="-122"/>
                <a:cs typeface="Arial" pitchFamily="34" charset="-120"/>
              </a:rPr>
              <a:t>State the formula for simple interest.</a:t>
            </a:r>
            <a:endParaRPr lang="en-US" sz="1200" dirty="0"/>
          </a:p>
        </p:txBody>
      </p:sp>
      <p:sp>
        <p:nvSpPr>
          <p:cNvPr id="25" name="Shape 22"/>
          <p:cNvSpPr/>
          <p:nvPr/>
        </p:nvSpPr>
        <p:spPr>
          <a:xfrm>
            <a:off x="3813048" y="2697480"/>
            <a:ext cx="2240280" cy="2926080"/>
          </a:xfrm>
          <a:prstGeom prst="rect">
            <a:avLst/>
          </a:prstGeom>
          <a:solidFill>
            <a:srgbClr val="FFFFFF"/>
          </a:solidFill>
          <a:ln w="25400">
            <a:solidFill>
              <a:srgbClr val="1E1208"/>
            </a:solidFill>
            <a:prstDash val="solid"/>
          </a:ln>
        </p:spPr>
      </p:sp>
      <p:sp>
        <p:nvSpPr>
          <p:cNvPr id="26" name="Shape 23"/>
          <p:cNvSpPr/>
          <p:nvPr/>
        </p:nvSpPr>
        <p:spPr>
          <a:xfrm>
            <a:off x="3813048" y="2697480"/>
            <a:ext cx="2240280" cy="731520"/>
          </a:xfrm>
          <a:prstGeom prst="rect">
            <a:avLst/>
          </a:prstGeom>
          <a:solidFill>
            <a:srgbClr val="E3B51E"/>
          </a:solidFill>
          <a:ln w="25400">
            <a:solidFill>
              <a:srgbClr val="1E1208"/>
            </a:solidFill>
            <a:prstDash val="solid"/>
          </a:ln>
        </p:spPr>
      </p:sp>
      <p:sp>
        <p:nvSpPr>
          <p:cNvPr id="27" name="Text 24"/>
          <p:cNvSpPr/>
          <p:nvPr/>
        </p:nvSpPr>
        <p:spPr>
          <a:xfrm>
            <a:off x="3950208" y="2697480"/>
            <a:ext cx="2011680" cy="731520"/>
          </a:xfrm>
          <a:prstGeom prst="rect">
            <a:avLst/>
          </a:prstGeom>
          <a:noFill/>
          <a:ln/>
        </p:spPr>
        <p:txBody>
          <a:bodyPr wrap="square" lIns="0" tIns="0" rIns="0" bIns="0" rtlCol="0" anchor="ctr"/>
          <a:lstStyle/>
          <a:p>
            <a:pPr marL="0" indent="0" algn="l">
              <a:lnSpc>
                <a:spcPct val="110000"/>
              </a:lnSpc>
              <a:buNone/>
            </a:pPr>
            <a:r>
              <a:rPr lang="en-US" sz="2600" dirty="0">
                <a:solidFill>
                  <a:srgbClr val="1E1208"/>
                </a:solidFill>
                <a:latin typeface="Impact" pitchFamily="34" charset="0"/>
                <a:ea typeface="Impact" pitchFamily="34" charset="-122"/>
                <a:cs typeface="Impact" pitchFamily="34" charset="-120"/>
              </a:rPr>
              <a:t>LEVEL 2</a:t>
            </a:r>
            <a:endParaRPr lang="en-US" sz="2600" dirty="0"/>
          </a:p>
        </p:txBody>
      </p:sp>
      <p:sp>
        <p:nvSpPr>
          <p:cNvPr id="28" name="Text 25"/>
          <p:cNvSpPr/>
          <p:nvPr/>
        </p:nvSpPr>
        <p:spPr>
          <a:xfrm>
            <a:off x="3950208" y="3538728"/>
            <a:ext cx="201168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SKILL</a:t>
            </a:r>
            <a:endParaRPr lang="en-US" sz="1800" dirty="0"/>
          </a:p>
        </p:txBody>
      </p:sp>
      <p:sp>
        <p:nvSpPr>
          <p:cNvPr id="29" name="Text 26"/>
          <p:cNvSpPr/>
          <p:nvPr/>
        </p:nvSpPr>
        <p:spPr>
          <a:xfrm>
            <a:off x="3950208" y="3959352"/>
            <a:ext cx="2011680" cy="685800"/>
          </a:xfrm>
          <a:prstGeom prst="rect">
            <a:avLst/>
          </a:prstGeom>
          <a:noFill/>
          <a:ln/>
        </p:spPr>
        <p:txBody>
          <a:bodyPr wrap="square" lIns="0" tIns="0" rIns="0" bIns="0" rtlCol="0" anchor="t"/>
          <a:lstStyle/>
          <a:p>
            <a:pPr marL="0" indent="0" algn="l">
              <a:lnSpc>
                <a:spcPct val="110000"/>
              </a:lnSpc>
              <a:buNone/>
            </a:pPr>
            <a:r>
              <a:rPr lang="en-US" sz="1150" b="1" dirty="0">
                <a:solidFill>
                  <a:srgbClr val="1E1208"/>
                </a:solidFill>
                <a:latin typeface="Arial" pitchFamily="34" charset="0"/>
                <a:ea typeface="Arial" pitchFamily="34" charset="-122"/>
                <a:cs typeface="Arial" pitchFamily="34" charset="-120"/>
              </a:rPr>
              <a:t>Use a method on a familiar problem.</a:t>
            </a:r>
            <a:endParaRPr lang="en-US" sz="1150" dirty="0"/>
          </a:p>
        </p:txBody>
      </p:sp>
      <p:sp>
        <p:nvSpPr>
          <p:cNvPr id="30" name="Text 27"/>
          <p:cNvSpPr/>
          <p:nvPr/>
        </p:nvSpPr>
        <p:spPr>
          <a:xfrm>
            <a:off x="3950208" y="4526280"/>
            <a:ext cx="2011680" cy="228600"/>
          </a:xfrm>
          <a:prstGeom prst="rect">
            <a:avLst/>
          </a:prstGeom>
          <a:noFill/>
          <a:ln/>
        </p:spPr>
        <p:txBody>
          <a:bodyPr wrap="square" lIns="0" tIns="0" rIns="0" bIns="0" rtlCol="0" anchor="t"/>
          <a:lstStyle/>
          <a:p>
            <a:pPr marL="0" indent="0" algn="l">
              <a:lnSpc>
                <a:spcPct val="110000"/>
              </a:lnSpc>
              <a:buNone/>
            </a:pPr>
            <a:r>
              <a:rPr lang="en-US" sz="950" b="1" kern="0" spc="200" dirty="0">
                <a:solidFill>
                  <a:srgbClr val="8A7A62"/>
                </a:solidFill>
                <a:latin typeface="Courier New" pitchFamily="34" charset="0"/>
                <a:ea typeface="Courier New" pitchFamily="34" charset="-122"/>
                <a:cs typeface="Courier New" pitchFamily="34" charset="-120"/>
              </a:rPr>
              <a:t>EXAMPLE</a:t>
            </a:r>
            <a:endParaRPr lang="en-US" sz="950" dirty="0"/>
          </a:p>
        </p:txBody>
      </p:sp>
      <p:sp>
        <p:nvSpPr>
          <p:cNvPr id="31" name="Text 28"/>
          <p:cNvSpPr/>
          <p:nvPr/>
        </p:nvSpPr>
        <p:spPr>
          <a:xfrm>
            <a:off x="3950208" y="4754880"/>
            <a:ext cx="2011680" cy="822960"/>
          </a:xfrm>
          <a:prstGeom prst="rect">
            <a:avLst/>
          </a:prstGeom>
          <a:noFill/>
          <a:ln/>
        </p:spPr>
        <p:txBody>
          <a:bodyPr wrap="square" lIns="0" tIns="0" rIns="0" bIns="0" rtlCol="0" anchor="t"/>
          <a:lstStyle/>
          <a:p>
            <a:pPr marL="0" indent="0" algn="l">
              <a:lnSpc>
                <a:spcPct val="110000"/>
              </a:lnSpc>
              <a:buNone/>
            </a:pPr>
            <a:r>
              <a:rPr lang="en-US" sz="1200" i="1" dirty="0">
                <a:solidFill>
                  <a:srgbClr val="555555"/>
                </a:solidFill>
                <a:latin typeface="Arial" pitchFamily="34" charset="0"/>
                <a:ea typeface="Arial" pitchFamily="34" charset="-122"/>
                <a:cs typeface="Arial" pitchFamily="34" charset="-120"/>
              </a:rPr>
              <a:t>Find the interest on J$20,000 saved for 2 years at 5%.</a:t>
            </a:r>
            <a:endParaRPr lang="en-US" sz="1200" dirty="0"/>
          </a:p>
        </p:txBody>
      </p:sp>
      <p:sp>
        <p:nvSpPr>
          <p:cNvPr id="32" name="Shape 29"/>
          <p:cNvSpPr/>
          <p:nvPr/>
        </p:nvSpPr>
        <p:spPr>
          <a:xfrm>
            <a:off x="6208776" y="2560320"/>
            <a:ext cx="2240280" cy="3063240"/>
          </a:xfrm>
          <a:prstGeom prst="rect">
            <a:avLst/>
          </a:prstGeom>
          <a:solidFill>
            <a:srgbClr val="FFFFFF"/>
          </a:solidFill>
          <a:ln w="25400">
            <a:solidFill>
              <a:srgbClr val="1E1208"/>
            </a:solidFill>
            <a:prstDash val="solid"/>
          </a:ln>
        </p:spPr>
      </p:sp>
      <p:sp>
        <p:nvSpPr>
          <p:cNvPr id="33" name="Shape 30"/>
          <p:cNvSpPr/>
          <p:nvPr/>
        </p:nvSpPr>
        <p:spPr>
          <a:xfrm>
            <a:off x="6208776" y="2560320"/>
            <a:ext cx="2240280" cy="731520"/>
          </a:xfrm>
          <a:prstGeom prst="rect">
            <a:avLst/>
          </a:prstGeom>
          <a:solidFill>
            <a:srgbClr val="D4762A"/>
          </a:solidFill>
          <a:ln w="25400">
            <a:solidFill>
              <a:srgbClr val="1E1208"/>
            </a:solidFill>
            <a:prstDash val="solid"/>
          </a:ln>
        </p:spPr>
      </p:sp>
      <p:sp>
        <p:nvSpPr>
          <p:cNvPr id="34" name="Text 31"/>
          <p:cNvSpPr/>
          <p:nvPr/>
        </p:nvSpPr>
        <p:spPr>
          <a:xfrm>
            <a:off x="6345936" y="2560320"/>
            <a:ext cx="2011680" cy="731520"/>
          </a:xfrm>
          <a:prstGeom prst="rect">
            <a:avLst/>
          </a:prstGeom>
          <a:noFill/>
          <a:ln/>
        </p:spPr>
        <p:txBody>
          <a:bodyPr wrap="square" lIns="0" tIns="0" rIns="0" bIns="0" rtlCol="0" anchor="ctr"/>
          <a:lstStyle/>
          <a:p>
            <a:pPr marL="0" indent="0" algn="l">
              <a:lnSpc>
                <a:spcPct val="110000"/>
              </a:lnSpc>
              <a:buNone/>
            </a:pPr>
            <a:r>
              <a:rPr lang="en-US" sz="2600" dirty="0">
                <a:solidFill>
                  <a:srgbClr val="1E1208"/>
                </a:solidFill>
                <a:latin typeface="Impact" pitchFamily="34" charset="0"/>
                <a:ea typeface="Impact" pitchFamily="34" charset="-122"/>
                <a:cs typeface="Impact" pitchFamily="34" charset="-120"/>
              </a:rPr>
              <a:t>LEVEL 3</a:t>
            </a:r>
            <a:endParaRPr lang="en-US" sz="2600" dirty="0"/>
          </a:p>
        </p:txBody>
      </p:sp>
      <p:sp>
        <p:nvSpPr>
          <p:cNvPr id="35" name="Text 32"/>
          <p:cNvSpPr/>
          <p:nvPr/>
        </p:nvSpPr>
        <p:spPr>
          <a:xfrm>
            <a:off x="6345936" y="3401568"/>
            <a:ext cx="201168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REASONING</a:t>
            </a:r>
            <a:endParaRPr lang="en-US" sz="1800" dirty="0"/>
          </a:p>
        </p:txBody>
      </p:sp>
      <p:sp>
        <p:nvSpPr>
          <p:cNvPr id="36" name="Text 33"/>
          <p:cNvSpPr/>
          <p:nvPr/>
        </p:nvSpPr>
        <p:spPr>
          <a:xfrm>
            <a:off x="6345936" y="3822192"/>
            <a:ext cx="2011680" cy="685800"/>
          </a:xfrm>
          <a:prstGeom prst="rect">
            <a:avLst/>
          </a:prstGeom>
          <a:noFill/>
          <a:ln/>
        </p:spPr>
        <p:txBody>
          <a:bodyPr wrap="square" lIns="0" tIns="0" rIns="0" bIns="0" rtlCol="0" anchor="t"/>
          <a:lstStyle/>
          <a:p>
            <a:pPr marL="0" indent="0" algn="l">
              <a:lnSpc>
                <a:spcPct val="110000"/>
              </a:lnSpc>
              <a:buNone/>
            </a:pPr>
            <a:r>
              <a:rPr lang="en-US" sz="1150" b="1" dirty="0">
                <a:solidFill>
                  <a:srgbClr val="1E1208"/>
                </a:solidFill>
                <a:latin typeface="Arial" pitchFamily="34" charset="0"/>
                <a:ea typeface="Arial" pitchFamily="34" charset="-122"/>
                <a:cs typeface="Arial" pitchFamily="34" charset="-120"/>
              </a:rPr>
              <a:t>Explain why, compare, and justify an answer.</a:t>
            </a:r>
            <a:endParaRPr lang="en-US" sz="1150" dirty="0"/>
          </a:p>
        </p:txBody>
      </p:sp>
      <p:sp>
        <p:nvSpPr>
          <p:cNvPr id="37" name="Text 34"/>
          <p:cNvSpPr/>
          <p:nvPr/>
        </p:nvSpPr>
        <p:spPr>
          <a:xfrm>
            <a:off x="6345936" y="4526280"/>
            <a:ext cx="2011680" cy="228600"/>
          </a:xfrm>
          <a:prstGeom prst="rect">
            <a:avLst/>
          </a:prstGeom>
          <a:noFill/>
          <a:ln/>
        </p:spPr>
        <p:txBody>
          <a:bodyPr wrap="square" lIns="0" tIns="0" rIns="0" bIns="0" rtlCol="0" anchor="t"/>
          <a:lstStyle/>
          <a:p>
            <a:pPr marL="0" indent="0" algn="l">
              <a:lnSpc>
                <a:spcPct val="110000"/>
              </a:lnSpc>
              <a:buNone/>
            </a:pPr>
            <a:r>
              <a:rPr lang="en-US" sz="950" b="1" kern="0" spc="200" dirty="0">
                <a:solidFill>
                  <a:srgbClr val="8A7A62"/>
                </a:solidFill>
                <a:latin typeface="Courier New" pitchFamily="34" charset="0"/>
                <a:ea typeface="Courier New" pitchFamily="34" charset="-122"/>
                <a:cs typeface="Courier New" pitchFamily="34" charset="-120"/>
              </a:rPr>
              <a:t>EXAMPLE</a:t>
            </a:r>
            <a:endParaRPr lang="en-US" sz="950" dirty="0"/>
          </a:p>
        </p:txBody>
      </p:sp>
      <p:sp>
        <p:nvSpPr>
          <p:cNvPr id="38" name="Text 35"/>
          <p:cNvSpPr/>
          <p:nvPr/>
        </p:nvSpPr>
        <p:spPr>
          <a:xfrm>
            <a:off x="6345936" y="4754880"/>
            <a:ext cx="2011680" cy="822960"/>
          </a:xfrm>
          <a:prstGeom prst="rect">
            <a:avLst/>
          </a:prstGeom>
          <a:noFill/>
          <a:ln/>
        </p:spPr>
        <p:txBody>
          <a:bodyPr wrap="square" lIns="0" tIns="0" rIns="0" bIns="0" rtlCol="0" anchor="t"/>
          <a:lstStyle/>
          <a:p>
            <a:pPr marL="0" indent="0" algn="l">
              <a:lnSpc>
                <a:spcPct val="110000"/>
              </a:lnSpc>
              <a:buNone/>
            </a:pPr>
            <a:r>
              <a:rPr lang="en-US" sz="1200" i="1" dirty="0">
                <a:solidFill>
                  <a:srgbClr val="555555"/>
                </a:solidFill>
                <a:latin typeface="Arial" pitchFamily="34" charset="0"/>
                <a:ea typeface="Arial" pitchFamily="34" charset="-122"/>
                <a:cs typeface="Arial" pitchFamily="34" charset="-120"/>
              </a:rPr>
              <a:t>Compare two savings accounts and justify the better one for a student.</a:t>
            </a:r>
            <a:endParaRPr lang="en-US" sz="1200" dirty="0"/>
          </a:p>
        </p:txBody>
      </p:sp>
      <p:sp>
        <p:nvSpPr>
          <p:cNvPr id="39" name="Shape 36"/>
          <p:cNvSpPr/>
          <p:nvPr/>
        </p:nvSpPr>
        <p:spPr>
          <a:xfrm>
            <a:off x="8604504" y="2423160"/>
            <a:ext cx="2240280" cy="3200400"/>
          </a:xfrm>
          <a:prstGeom prst="rect">
            <a:avLst/>
          </a:prstGeom>
          <a:solidFill>
            <a:srgbClr val="FFFFFF"/>
          </a:solidFill>
          <a:ln w="25400">
            <a:solidFill>
              <a:srgbClr val="1E1208"/>
            </a:solidFill>
            <a:prstDash val="solid"/>
          </a:ln>
        </p:spPr>
      </p:sp>
      <p:sp>
        <p:nvSpPr>
          <p:cNvPr id="40" name="Shape 37"/>
          <p:cNvSpPr/>
          <p:nvPr/>
        </p:nvSpPr>
        <p:spPr>
          <a:xfrm>
            <a:off x="8604504" y="2423160"/>
            <a:ext cx="2240280" cy="731520"/>
          </a:xfrm>
          <a:prstGeom prst="rect">
            <a:avLst/>
          </a:prstGeom>
          <a:solidFill>
            <a:srgbClr val="1E1208"/>
          </a:solidFill>
          <a:ln w="25400">
            <a:solidFill>
              <a:srgbClr val="1E1208"/>
            </a:solidFill>
            <a:prstDash val="solid"/>
          </a:ln>
        </p:spPr>
      </p:sp>
      <p:sp>
        <p:nvSpPr>
          <p:cNvPr id="41" name="Text 38"/>
          <p:cNvSpPr/>
          <p:nvPr/>
        </p:nvSpPr>
        <p:spPr>
          <a:xfrm>
            <a:off x="8741664" y="2423160"/>
            <a:ext cx="2011680" cy="731520"/>
          </a:xfrm>
          <a:prstGeom prst="rect">
            <a:avLst/>
          </a:prstGeom>
          <a:noFill/>
          <a:ln/>
        </p:spPr>
        <p:txBody>
          <a:bodyPr wrap="square" lIns="0" tIns="0" rIns="0" bIns="0" rtlCol="0" anchor="ctr"/>
          <a:lstStyle/>
          <a:p>
            <a:pPr marL="0" indent="0" algn="l">
              <a:lnSpc>
                <a:spcPct val="110000"/>
              </a:lnSpc>
              <a:buNone/>
            </a:pPr>
            <a:r>
              <a:rPr lang="en-US" sz="2600" dirty="0">
                <a:solidFill>
                  <a:srgbClr val="FFFFFF"/>
                </a:solidFill>
                <a:latin typeface="Impact" pitchFamily="34" charset="0"/>
                <a:ea typeface="Impact" pitchFamily="34" charset="-122"/>
                <a:cs typeface="Impact" pitchFamily="34" charset="-120"/>
              </a:rPr>
              <a:t>LEVEL 4</a:t>
            </a:r>
            <a:endParaRPr lang="en-US" sz="2600" dirty="0"/>
          </a:p>
        </p:txBody>
      </p:sp>
      <p:sp>
        <p:nvSpPr>
          <p:cNvPr id="42" name="Text 39"/>
          <p:cNvSpPr/>
          <p:nvPr/>
        </p:nvSpPr>
        <p:spPr>
          <a:xfrm>
            <a:off x="8741664" y="3264408"/>
            <a:ext cx="201168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EXTENDED THINKING</a:t>
            </a:r>
            <a:endParaRPr lang="en-US" sz="1800" dirty="0"/>
          </a:p>
        </p:txBody>
      </p:sp>
      <p:sp>
        <p:nvSpPr>
          <p:cNvPr id="43" name="Text 40"/>
          <p:cNvSpPr/>
          <p:nvPr/>
        </p:nvSpPr>
        <p:spPr>
          <a:xfrm>
            <a:off x="8741664" y="3685032"/>
            <a:ext cx="2011680" cy="685800"/>
          </a:xfrm>
          <a:prstGeom prst="rect">
            <a:avLst/>
          </a:prstGeom>
          <a:noFill/>
          <a:ln/>
        </p:spPr>
        <p:txBody>
          <a:bodyPr wrap="square" lIns="0" tIns="0" rIns="0" bIns="0" rtlCol="0" anchor="t"/>
          <a:lstStyle/>
          <a:p>
            <a:pPr marL="0" indent="0" algn="l">
              <a:lnSpc>
                <a:spcPct val="110000"/>
              </a:lnSpc>
              <a:buNone/>
            </a:pPr>
            <a:r>
              <a:rPr lang="en-US" sz="1150" b="1" dirty="0">
                <a:solidFill>
                  <a:srgbClr val="1E1208"/>
                </a:solidFill>
                <a:latin typeface="Arial" pitchFamily="34" charset="0"/>
                <a:ea typeface="Arial" pitchFamily="34" charset="-122"/>
                <a:cs typeface="Arial" pitchFamily="34" charset="-120"/>
              </a:rPr>
              <a:t>Investigate a real problem over days or weeks.</a:t>
            </a:r>
            <a:endParaRPr lang="en-US" sz="1150" dirty="0"/>
          </a:p>
        </p:txBody>
      </p:sp>
      <p:sp>
        <p:nvSpPr>
          <p:cNvPr id="44" name="Text 41"/>
          <p:cNvSpPr/>
          <p:nvPr/>
        </p:nvSpPr>
        <p:spPr>
          <a:xfrm>
            <a:off x="8741664" y="4526280"/>
            <a:ext cx="2011680" cy="228600"/>
          </a:xfrm>
          <a:prstGeom prst="rect">
            <a:avLst/>
          </a:prstGeom>
          <a:noFill/>
          <a:ln/>
        </p:spPr>
        <p:txBody>
          <a:bodyPr wrap="square" lIns="0" tIns="0" rIns="0" bIns="0" rtlCol="0" anchor="t"/>
          <a:lstStyle/>
          <a:p>
            <a:pPr marL="0" indent="0" algn="l">
              <a:lnSpc>
                <a:spcPct val="110000"/>
              </a:lnSpc>
              <a:buNone/>
            </a:pPr>
            <a:r>
              <a:rPr lang="en-US" sz="950" b="1" kern="0" spc="200" dirty="0">
                <a:solidFill>
                  <a:srgbClr val="8A7A62"/>
                </a:solidFill>
                <a:latin typeface="Courier New" pitchFamily="34" charset="0"/>
                <a:ea typeface="Courier New" pitchFamily="34" charset="-122"/>
                <a:cs typeface="Courier New" pitchFamily="34" charset="-120"/>
              </a:rPr>
              <a:t>EXAMPLE</a:t>
            </a:r>
            <a:endParaRPr lang="en-US" sz="950" dirty="0"/>
          </a:p>
        </p:txBody>
      </p:sp>
      <p:sp>
        <p:nvSpPr>
          <p:cNvPr id="45" name="Text 42"/>
          <p:cNvSpPr/>
          <p:nvPr/>
        </p:nvSpPr>
        <p:spPr>
          <a:xfrm>
            <a:off x="8741664" y="4754880"/>
            <a:ext cx="2011680" cy="822960"/>
          </a:xfrm>
          <a:prstGeom prst="rect">
            <a:avLst/>
          </a:prstGeom>
          <a:noFill/>
          <a:ln/>
        </p:spPr>
        <p:txBody>
          <a:bodyPr wrap="square" lIns="0" tIns="0" rIns="0" bIns="0" rtlCol="0" anchor="t"/>
          <a:lstStyle/>
          <a:p>
            <a:pPr marL="0" indent="0" algn="l">
              <a:lnSpc>
                <a:spcPct val="110000"/>
              </a:lnSpc>
              <a:buNone/>
            </a:pPr>
            <a:r>
              <a:rPr lang="en-US" sz="1200" i="1" dirty="0">
                <a:solidFill>
                  <a:srgbClr val="555555"/>
                </a:solidFill>
                <a:latin typeface="Arial" pitchFamily="34" charset="0"/>
                <a:ea typeface="Arial" pitchFamily="34" charset="-122"/>
                <a:cs typeface="Arial" pitchFamily="34" charset="-120"/>
              </a:rPr>
              <a:t>Plan and present a savings goal for a class trip, using real bank rates.</a:t>
            </a:r>
            <a:endParaRPr lang="en-US" sz="1200" dirty="0"/>
          </a:p>
        </p:txBody>
      </p:sp>
      <p:sp>
        <p:nvSpPr>
          <p:cNvPr id="47" name="Text 44"/>
          <p:cNvSpPr/>
          <p:nvPr/>
        </p:nvSpPr>
        <p:spPr>
          <a:xfrm>
            <a:off x="1600200" y="5989320"/>
            <a:ext cx="9144000" cy="502920"/>
          </a:xfrm>
          <a:prstGeom prst="rect">
            <a:avLst/>
          </a:prstGeom>
          <a:noFill/>
          <a:ln/>
        </p:spPr>
        <p:txBody>
          <a:bodyPr wrap="square" lIns="0" tIns="0" rIns="0" bIns="0" rtlCol="0" anchor="ctr"/>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The AI suggests a level. The teacher reviews it and can change it. Aim for a mix, not all level 4.</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6576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300" dirty="0">
                <a:solidFill>
                  <a:srgbClr val="1E1208"/>
                </a:solidFill>
                <a:latin typeface="Impact" pitchFamily="34" charset="0"/>
                <a:ea typeface="Impact" pitchFamily="34" charset="-122"/>
                <a:cs typeface="Impact" pitchFamily="34" charset="-120"/>
              </a:rPr>
              <a:t>WHEN A STUDENT MISSES </a:t>
            </a:r>
            <a:r>
              <a:rPr lang="en-US" sz="4300" dirty="0" smtClean="0">
                <a:solidFill>
                  <a:srgbClr val="1E1208"/>
                </a:solidFill>
                <a:latin typeface="Impact" pitchFamily="34" charset="0"/>
                <a:ea typeface="Impact" pitchFamily="34" charset="-122"/>
                <a:cs typeface="Impact" pitchFamily="34" charset="-120"/>
              </a:rPr>
              <a:t>ONE OR MORE </a:t>
            </a:r>
            <a:r>
              <a:rPr lang="en-US" sz="4300" dirty="0" smtClean="0">
                <a:solidFill>
                  <a:srgbClr val="1E1208"/>
                </a:solidFill>
                <a:latin typeface="Impact" pitchFamily="34" charset="0"/>
                <a:ea typeface="Impact" pitchFamily="34" charset="-122"/>
                <a:cs typeface="Impact" pitchFamily="34" charset="-120"/>
              </a:rPr>
              <a:t>DAYS</a:t>
            </a:r>
            <a:endParaRPr lang="en-US" sz="4300" dirty="0"/>
          </a:p>
        </p:txBody>
      </p:sp>
      <p:pic>
        <p:nvPicPr>
          <p:cNvPr id="15" name="Image 0" descr="/Users/boxerboychris/exam-platform/marketing/presentation/assets-v2/shot-lesson.png"/>
          <p:cNvPicPr>
            <a:picLocks noChangeAspect="1"/>
          </p:cNvPicPr>
          <p:nvPr/>
        </p:nvPicPr>
        <p:blipFill>
          <a:blip r:embed="rId4"/>
          <a:srcRect/>
          <a:stretch/>
        </p:blipFill>
        <p:spPr>
          <a:xfrm>
            <a:off x="1402773" y="1862351"/>
            <a:ext cx="4769427" cy="3989809"/>
          </a:xfrm>
          <a:prstGeom prst="rect">
            <a:avLst/>
          </a:prstGeom>
        </p:spPr>
      </p:pic>
      <p:sp>
        <p:nvSpPr>
          <p:cNvPr id="16" name="Shape 12"/>
          <p:cNvSpPr/>
          <p:nvPr/>
        </p:nvSpPr>
        <p:spPr>
          <a:xfrm>
            <a:off x="1417320" y="1874520"/>
            <a:ext cx="4754880" cy="3977640"/>
          </a:xfrm>
          <a:prstGeom prst="rect">
            <a:avLst/>
          </a:prstGeom>
          <a:ln w="25400">
            <a:solidFill>
              <a:srgbClr val="1E1208"/>
            </a:solidFill>
            <a:prstDash val="solid"/>
          </a:ln>
        </p:spPr>
      </p:sp>
      <p:sp>
        <p:nvSpPr>
          <p:cNvPr id="17" name="Shape 13"/>
          <p:cNvSpPr/>
          <p:nvPr/>
        </p:nvSpPr>
        <p:spPr>
          <a:xfrm>
            <a:off x="6446520" y="1874520"/>
            <a:ext cx="685800" cy="914400"/>
          </a:xfrm>
          <a:prstGeom prst="rect">
            <a:avLst/>
          </a:prstGeom>
          <a:solidFill>
            <a:srgbClr val="E3B51E"/>
          </a:solidFill>
          <a:ln w="25400">
            <a:solidFill>
              <a:srgbClr val="1E1208"/>
            </a:solidFill>
            <a:prstDash val="solid"/>
          </a:ln>
        </p:spPr>
      </p:sp>
      <p:sp>
        <p:nvSpPr>
          <p:cNvPr id="18" name="Text 14"/>
          <p:cNvSpPr/>
          <p:nvPr/>
        </p:nvSpPr>
        <p:spPr>
          <a:xfrm>
            <a:off x="6446520" y="1874520"/>
            <a:ext cx="685800" cy="91440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9" name="Shape 15"/>
          <p:cNvSpPr/>
          <p:nvPr/>
        </p:nvSpPr>
        <p:spPr>
          <a:xfrm>
            <a:off x="7132320" y="1874520"/>
            <a:ext cx="3794760" cy="914400"/>
          </a:xfrm>
          <a:prstGeom prst="rect">
            <a:avLst/>
          </a:prstGeom>
          <a:solidFill>
            <a:srgbClr val="FFFFFF"/>
          </a:solidFill>
          <a:ln w="25400">
            <a:solidFill>
              <a:srgbClr val="1E1208"/>
            </a:solidFill>
            <a:prstDash val="solid"/>
          </a:ln>
        </p:spPr>
      </p:sp>
      <p:sp>
        <p:nvSpPr>
          <p:cNvPr id="20" name="Text 16"/>
          <p:cNvSpPr/>
          <p:nvPr/>
        </p:nvSpPr>
        <p:spPr>
          <a:xfrm>
            <a:off x="7269480" y="1965960"/>
            <a:ext cx="356616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MON TO WED</a:t>
            </a:r>
            <a:endParaRPr lang="en-US" sz="1600" dirty="0"/>
          </a:p>
        </p:txBody>
      </p:sp>
      <p:sp>
        <p:nvSpPr>
          <p:cNvPr id="21" name="Text 17"/>
          <p:cNvSpPr/>
          <p:nvPr/>
        </p:nvSpPr>
        <p:spPr>
          <a:xfrm>
            <a:off x="7269480" y="2331720"/>
            <a:ext cx="3566160" cy="45720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The student is away. The class moves on.</a:t>
            </a:r>
            <a:endParaRPr lang="en-US" sz="1150" dirty="0"/>
          </a:p>
        </p:txBody>
      </p:sp>
      <p:sp>
        <p:nvSpPr>
          <p:cNvPr id="22" name="Shape 18"/>
          <p:cNvSpPr/>
          <p:nvPr/>
        </p:nvSpPr>
        <p:spPr>
          <a:xfrm>
            <a:off x="6446520" y="2898648"/>
            <a:ext cx="685800" cy="914400"/>
          </a:xfrm>
          <a:prstGeom prst="rect">
            <a:avLst/>
          </a:prstGeom>
          <a:solidFill>
            <a:srgbClr val="E3B51E"/>
          </a:solidFill>
          <a:ln w="25400">
            <a:solidFill>
              <a:srgbClr val="1E1208"/>
            </a:solidFill>
            <a:prstDash val="solid"/>
          </a:ln>
        </p:spPr>
      </p:sp>
      <p:sp>
        <p:nvSpPr>
          <p:cNvPr id="23" name="Text 19"/>
          <p:cNvSpPr/>
          <p:nvPr/>
        </p:nvSpPr>
        <p:spPr>
          <a:xfrm>
            <a:off x="6446520" y="2898648"/>
            <a:ext cx="685800" cy="91440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4" name="Shape 20"/>
          <p:cNvSpPr/>
          <p:nvPr/>
        </p:nvSpPr>
        <p:spPr>
          <a:xfrm>
            <a:off x="7132320" y="2898648"/>
            <a:ext cx="3794760" cy="914400"/>
          </a:xfrm>
          <a:prstGeom prst="rect">
            <a:avLst/>
          </a:prstGeom>
          <a:solidFill>
            <a:srgbClr val="FFFFFF"/>
          </a:solidFill>
          <a:ln w="25400">
            <a:solidFill>
              <a:srgbClr val="1E1208"/>
            </a:solidFill>
            <a:prstDash val="solid"/>
          </a:ln>
        </p:spPr>
      </p:sp>
      <p:sp>
        <p:nvSpPr>
          <p:cNvPr id="25" name="Text 21"/>
          <p:cNvSpPr/>
          <p:nvPr/>
        </p:nvSpPr>
        <p:spPr>
          <a:xfrm>
            <a:off x="7269480" y="2990088"/>
            <a:ext cx="356616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THE LESSON IS WAITING</a:t>
            </a:r>
            <a:endParaRPr lang="en-US" sz="1600" dirty="0"/>
          </a:p>
        </p:txBody>
      </p:sp>
      <p:sp>
        <p:nvSpPr>
          <p:cNvPr id="26" name="Text 22"/>
          <p:cNvSpPr/>
          <p:nvPr/>
        </p:nvSpPr>
        <p:spPr>
          <a:xfrm>
            <a:off x="7269480" y="3355848"/>
            <a:ext cx="3566160" cy="45720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It is offered as a catch-up, the day it was taught.</a:t>
            </a:r>
            <a:endParaRPr lang="en-US" sz="1150" dirty="0"/>
          </a:p>
        </p:txBody>
      </p:sp>
      <p:sp>
        <p:nvSpPr>
          <p:cNvPr id="27" name="Shape 23"/>
          <p:cNvSpPr/>
          <p:nvPr/>
        </p:nvSpPr>
        <p:spPr>
          <a:xfrm>
            <a:off x="6446520" y="3922776"/>
            <a:ext cx="685800" cy="914400"/>
          </a:xfrm>
          <a:prstGeom prst="rect">
            <a:avLst/>
          </a:prstGeom>
          <a:solidFill>
            <a:srgbClr val="E3B51E"/>
          </a:solidFill>
          <a:ln w="25400">
            <a:solidFill>
              <a:srgbClr val="1E1208"/>
            </a:solidFill>
            <a:prstDash val="solid"/>
          </a:ln>
        </p:spPr>
      </p:sp>
      <p:sp>
        <p:nvSpPr>
          <p:cNvPr id="28" name="Text 24"/>
          <p:cNvSpPr/>
          <p:nvPr/>
        </p:nvSpPr>
        <p:spPr>
          <a:xfrm>
            <a:off x="6446520" y="3922776"/>
            <a:ext cx="685800" cy="91440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9" name="Shape 25"/>
          <p:cNvSpPr/>
          <p:nvPr/>
        </p:nvSpPr>
        <p:spPr>
          <a:xfrm>
            <a:off x="7132320" y="3922776"/>
            <a:ext cx="3794760" cy="914400"/>
          </a:xfrm>
          <a:prstGeom prst="rect">
            <a:avLst/>
          </a:prstGeom>
          <a:solidFill>
            <a:srgbClr val="FFFFFF"/>
          </a:solidFill>
          <a:ln w="25400">
            <a:solidFill>
              <a:srgbClr val="1E1208"/>
            </a:solidFill>
            <a:prstDash val="solid"/>
          </a:ln>
        </p:spPr>
      </p:sp>
      <p:sp>
        <p:nvSpPr>
          <p:cNvPr id="30" name="Text 26"/>
          <p:cNvSpPr/>
          <p:nvPr/>
        </p:nvSpPr>
        <p:spPr>
          <a:xfrm>
            <a:off x="7269480" y="4014216"/>
            <a:ext cx="356616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A </a:t>
            </a:r>
            <a:r>
              <a:rPr lang="en-US" sz="1600" dirty="0" smtClean="0">
                <a:solidFill>
                  <a:srgbClr val="1E1208"/>
                </a:solidFill>
                <a:latin typeface="Impact" pitchFamily="34" charset="0"/>
                <a:ea typeface="Impact" pitchFamily="34" charset="-122"/>
                <a:cs typeface="Impact" pitchFamily="34" charset="-120"/>
              </a:rPr>
              <a:t>WAY BACK </a:t>
            </a:r>
            <a:r>
              <a:rPr lang="en-US" sz="1600" dirty="0">
                <a:solidFill>
                  <a:srgbClr val="1E1208"/>
                </a:solidFill>
                <a:latin typeface="Impact" pitchFamily="34" charset="0"/>
                <a:ea typeface="Impact" pitchFamily="34" charset="-122"/>
                <a:cs typeface="Impact" pitchFamily="34" charset="-120"/>
              </a:rPr>
              <a:t>IN</a:t>
            </a:r>
            <a:endParaRPr lang="en-US" sz="1600" dirty="0"/>
          </a:p>
        </p:txBody>
      </p:sp>
      <p:sp>
        <p:nvSpPr>
          <p:cNvPr id="31" name="Text 27"/>
          <p:cNvSpPr/>
          <p:nvPr/>
        </p:nvSpPr>
        <p:spPr>
          <a:xfrm>
            <a:off x="7269480" y="4379976"/>
            <a:ext cx="3566160" cy="45720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Steps, check questions and progress, at their own pace.</a:t>
            </a:r>
            <a:endParaRPr lang="en-US" sz="1150" dirty="0"/>
          </a:p>
        </p:txBody>
      </p:sp>
      <p:sp>
        <p:nvSpPr>
          <p:cNvPr id="32" name="Shape 28"/>
          <p:cNvSpPr/>
          <p:nvPr/>
        </p:nvSpPr>
        <p:spPr>
          <a:xfrm>
            <a:off x="6446520" y="4946904"/>
            <a:ext cx="685800" cy="914400"/>
          </a:xfrm>
          <a:prstGeom prst="rect">
            <a:avLst/>
          </a:prstGeom>
          <a:solidFill>
            <a:srgbClr val="D4762A"/>
          </a:solidFill>
          <a:ln w="25400">
            <a:solidFill>
              <a:srgbClr val="1E1208"/>
            </a:solidFill>
            <a:prstDash val="solid"/>
          </a:ln>
        </p:spPr>
      </p:sp>
      <p:sp>
        <p:nvSpPr>
          <p:cNvPr id="33" name="Text 29"/>
          <p:cNvSpPr/>
          <p:nvPr/>
        </p:nvSpPr>
        <p:spPr>
          <a:xfrm>
            <a:off x="6446520" y="4946904"/>
            <a:ext cx="685800" cy="91440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4" name="Shape 30"/>
          <p:cNvSpPr/>
          <p:nvPr/>
        </p:nvSpPr>
        <p:spPr>
          <a:xfrm>
            <a:off x="7132320" y="4946904"/>
            <a:ext cx="3794760" cy="914400"/>
          </a:xfrm>
          <a:prstGeom prst="rect">
            <a:avLst/>
          </a:prstGeom>
          <a:solidFill>
            <a:srgbClr val="FFFFFF"/>
          </a:solidFill>
          <a:ln w="25400">
            <a:solidFill>
              <a:srgbClr val="1E1208"/>
            </a:solidFill>
            <a:prstDash val="solid"/>
          </a:ln>
        </p:spPr>
      </p:sp>
      <p:sp>
        <p:nvSpPr>
          <p:cNvPr id="35" name="Text 31"/>
          <p:cNvSpPr/>
          <p:nvPr/>
        </p:nvSpPr>
        <p:spPr>
          <a:xfrm>
            <a:off x="7269480" y="5038344"/>
            <a:ext cx="356616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THE TEACHER CAN SEE IT</a:t>
            </a:r>
            <a:endParaRPr lang="en-US" sz="1600" dirty="0"/>
          </a:p>
        </p:txBody>
      </p:sp>
      <p:sp>
        <p:nvSpPr>
          <p:cNvPr id="36" name="Text 32"/>
          <p:cNvSpPr/>
          <p:nvPr/>
        </p:nvSpPr>
        <p:spPr>
          <a:xfrm>
            <a:off x="7269480" y="5404104"/>
            <a:ext cx="3566160" cy="45720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Who has caught up, and where they got stuck.</a:t>
            </a:r>
            <a:endParaRPr lang="en-US" sz="1150" dirty="0"/>
          </a:p>
        </p:txBody>
      </p:sp>
      <p:sp>
        <p:nvSpPr>
          <p:cNvPr id="37" name="Shape 33"/>
          <p:cNvSpPr/>
          <p:nvPr/>
        </p:nvSpPr>
        <p:spPr>
          <a:xfrm>
            <a:off x="1417320" y="6035040"/>
            <a:ext cx="9509760" cy="502920"/>
          </a:xfrm>
          <a:prstGeom prst="rect">
            <a:avLst/>
          </a:prstGeom>
          <a:solidFill>
            <a:srgbClr val="1E1208"/>
          </a:solidFill>
          <a:ln/>
        </p:spPr>
      </p:sp>
      <p:sp>
        <p:nvSpPr>
          <p:cNvPr id="38" name="Text 34"/>
          <p:cNvSpPr/>
          <p:nvPr/>
        </p:nvSpPr>
        <p:spPr>
          <a:xfrm>
            <a:off x="1600200" y="6035040"/>
            <a:ext cx="9144000" cy="502920"/>
          </a:xfrm>
          <a:prstGeom prst="rect">
            <a:avLst/>
          </a:prstGeom>
          <a:noFill/>
          <a:ln/>
        </p:spPr>
        <p:txBody>
          <a:bodyPr wrap="square" lIns="0" tIns="0" rIns="0" bIns="0" rtlCol="0" anchor="ctr"/>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Missing class should not mean losing </a:t>
            </a:r>
            <a:r>
              <a:rPr lang="en-US" sz="1400" b="1" dirty="0" smtClean="0">
                <a:solidFill>
                  <a:srgbClr val="FFFFFF"/>
                </a:solidFill>
                <a:latin typeface="Arial" pitchFamily="34" charset="0"/>
                <a:ea typeface="Arial" pitchFamily="34" charset="-122"/>
                <a:cs typeface="Arial" pitchFamily="34" charset="-120"/>
              </a:rPr>
              <a:t>the opportunity to </a:t>
            </a:r>
            <a:r>
              <a:rPr lang="en-US" sz="1400" b="1" dirty="0" err="1" smtClean="0">
                <a:solidFill>
                  <a:srgbClr val="FFFFFF"/>
                </a:solidFill>
                <a:latin typeface="Arial" pitchFamily="34" charset="0"/>
                <a:ea typeface="Arial" pitchFamily="34" charset="-122"/>
                <a:cs typeface="Arial" pitchFamily="34" charset="-120"/>
              </a:rPr>
              <a:t>adequetly</a:t>
            </a:r>
            <a:r>
              <a:rPr lang="en-US" sz="1400" b="1" dirty="0" smtClean="0">
                <a:solidFill>
                  <a:srgbClr val="FFFFFF"/>
                </a:solidFill>
                <a:latin typeface="Arial" pitchFamily="34" charset="0"/>
                <a:ea typeface="Arial" pitchFamily="34" charset="-122"/>
                <a:cs typeface="Arial" pitchFamily="34" charset="-120"/>
              </a:rPr>
              <a:t> </a:t>
            </a:r>
            <a:r>
              <a:rPr lang="en-US" sz="1400" b="1" dirty="0">
                <a:solidFill>
                  <a:srgbClr val="FFFFFF"/>
                </a:solidFill>
                <a:latin typeface="Arial" pitchFamily="34" charset="0"/>
                <a:ea typeface="Arial" pitchFamily="34" charset="-122"/>
                <a:cs typeface="Arial" pitchFamily="34" charset="-120"/>
              </a:rPr>
              <a:t>learning.</a:t>
            </a:r>
            <a:endParaRPr lang="en-US" sz="1400" dirty="0"/>
          </a:p>
        </p:txBody>
      </p:sp>
      <p:sp>
        <p:nvSpPr>
          <p:cNvPr id="40" name="Shape 36"/>
          <p:cNvSpPr/>
          <p:nvPr/>
        </p:nvSpPr>
        <p:spPr>
          <a:xfrm>
            <a:off x="1417320" y="6035040"/>
            <a:ext cx="9144" cy="9144"/>
          </a:xfrm>
          <a:prstGeom prst="rect">
            <a:avLst/>
          </a:prstGeom>
          <a:solidFill>
            <a:srgbClr val="FDFDFB"/>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70164"/>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300" dirty="0">
                <a:solidFill>
                  <a:srgbClr val="1E1208"/>
                </a:solidFill>
                <a:latin typeface="Impact" pitchFamily="34" charset="0"/>
                <a:ea typeface="Impact" pitchFamily="34" charset="-122"/>
                <a:cs typeface="Impact" pitchFamily="34" charset="-120"/>
              </a:rPr>
              <a:t>STUDY SUPPORT THAT FITS EACH STUDENT</a:t>
            </a:r>
            <a:endParaRPr lang="en-US" sz="4300" dirty="0"/>
          </a:p>
        </p:txBody>
      </p:sp>
      <p:sp>
        <p:nvSpPr>
          <p:cNvPr id="15" name="Shape 12"/>
          <p:cNvSpPr/>
          <p:nvPr/>
        </p:nvSpPr>
        <p:spPr>
          <a:xfrm>
            <a:off x="1417320" y="1874520"/>
            <a:ext cx="4754880" cy="914400"/>
          </a:xfrm>
          <a:prstGeom prst="rect">
            <a:avLst/>
          </a:prstGeom>
          <a:solidFill>
            <a:srgbClr val="FFFFFF"/>
          </a:solidFill>
          <a:ln w="25400">
            <a:solidFill>
              <a:srgbClr val="1E1208"/>
            </a:solidFill>
            <a:prstDash val="solid"/>
          </a:ln>
        </p:spPr>
      </p:sp>
      <p:sp>
        <p:nvSpPr>
          <p:cNvPr id="16" name="Shape 13"/>
          <p:cNvSpPr/>
          <p:nvPr/>
        </p:nvSpPr>
        <p:spPr>
          <a:xfrm>
            <a:off x="1417320" y="1874520"/>
            <a:ext cx="128016" cy="914400"/>
          </a:xfrm>
          <a:prstGeom prst="rect">
            <a:avLst/>
          </a:prstGeom>
          <a:solidFill>
            <a:srgbClr val="E3B51E"/>
          </a:solidFill>
          <a:ln/>
        </p:spPr>
      </p:sp>
      <p:sp>
        <p:nvSpPr>
          <p:cNvPr id="17" name="Text 14"/>
          <p:cNvSpPr/>
          <p:nvPr/>
        </p:nvSpPr>
        <p:spPr>
          <a:xfrm>
            <a:off x="1691640" y="1965960"/>
            <a:ext cx="438912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FLASHCARDS</a:t>
            </a:r>
            <a:endParaRPr lang="en-US" sz="1600" dirty="0"/>
          </a:p>
        </p:txBody>
      </p:sp>
      <p:sp>
        <p:nvSpPr>
          <p:cNvPr id="18" name="Text 15"/>
          <p:cNvSpPr/>
          <p:nvPr/>
        </p:nvSpPr>
        <p:spPr>
          <a:xfrm>
            <a:off x="1691640" y="2304288"/>
            <a:ext cx="4389120" cy="50292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Students build their own decks. Flip, then "Got it" or "Not yet". Cards you miss come back sooner.</a:t>
            </a:r>
            <a:endParaRPr lang="en-US" sz="1100" dirty="0"/>
          </a:p>
        </p:txBody>
      </p:sp>
      <p:sp>
        <p:nvSpPr>
          <p:cNvPr id="19" name="Shape 16"/>
          <p:cNvSpPr/>
          <p:nvPr/>
        </p:nvSpPr>
        <p:spPr>
          <a:xfrm>
            <a:off x="1417320" y="2898648"/>
            <a:ext cx="4754880" cy="914400"/>
          </a:xfrm>
          <a:prstGeom prst="rect">
            <a:avLst/>
          </a:prstGeom>
          <a:solidFill>
            <a:srgbClr val="FFFFFF"/>
          </a:solidFill>
          <a:ln w="25400">
            <a:solidFill>
              <a:srgbClr val="1E1208"/>
            </a:solidFill>
            <a:prstDash val="solid"/>
          </a:ln>
        </p:spPr>
      </p:sp>
      <p:sp>
        <p:nvSpPr>
          <p:cNvPr id="20" name="Shape 17"/>
          <p:cNvSpPr/>
          <p:nvPr/>
        </p:nvSpPr>
        <p:spPr>
          <a:xfrm>
            <a:off x="1417320" y="2898648"/>
            <a:ext cx="128016" cy="914400"/>
          </a:xfrm>
          <a:prstGeom prst="rect">
            <a:avLst/>
          </a:prstGeom>
          <a:solidFill>
            <a:srgbClr val="E3B51E"/>
          </a:solidFill>
          <a:ln/>
        </p:spPr>
      </p:sp>
      <p:sp>
        <p:nvSpPr>
          <p:cNvPr id="21" name="Text 18"/>
          <p:cNvSpPr/>
          <p:nvPr/>
        </p:nvSpPr>
        <p:spPr>
          <a:xfrm>
            <a:off x="1691640" y="2990088"/>
            <a:ext cx="438912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THREE LEVELS OF PRACTICE</a:t>
            </a:r>
            <a:endParaRPr lang="en-US" sz="1600" dirty="0"/>
          </a:p>
        </p:txBody>
      </p:sp>
      <p:sp>
        <p:nvSpPr>
          <p:cNvPr id="22" name="Text 19"/>
          <p:cNvSpPr/>
          <p:nvPr/>
        </p:nvSpPr>
        <p:spPr>
          <a:xfrm>
            <a:off x="1691640" y="3328416"/>
            <a:ext cx="4389120" cy="50292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Support, core and stretch questions for each lesson, suggested from a student's topic results.</a:t>
            </a:r>
            <a:endParaRPr lang="en-US" sz="1100" dirty="0"/>
          </a:p>
        </p:txBody>
      </p:sp>
      <p:sp>
        <p:nvSpPr>
          <p:cNvPr id="23" name="Shape 20"/>
          <p:cNvSpPr/>
          <p:nvPr/>
        </p:nvSpPr>
        <p:spPr>
          <a:xfrm>
            <a:off x="1417320" y="3922776"/>
            <a:ext cx="4754880" cy="914400"/>
          </a:xfrm>
          <a:prstGeom prst="rect">
            <a:avLst/>
          </a:prstGeom>
          <a:solidFill>
            <a:srgbClr val="FFFFFF"/>
          </a:solidFill>
          <a:ln w="25400">
            <a:solidFill>
              <a:srgbClr val="1E1208"/>
            </a:solidFill>
            <a:prstDash val="solid"/>
          </a:ln>
        </p:spPr>
      </p:sp>
      <p:sp>
        <p:nvSpPr>
          <p:cNvPr id="24" name="Shape 21"/>
          <p:cNvSpPr/>
          <p:nvPr/>
        </p:nvSpPr>
        <p:spPr>
          <a:xfrm>
            <a:off x="1417320" y="3922776"/>
            <a:ext cx="128016" cy="914400"/>
          </a:xfrm>
          <a:prstGeom prst="rect">
            <a:avLst/>
          </a:prstGeom>
          <a:solidFill>
            <a:srgbClr val="E3B51E"/>
          </a:solidFill>
          <a:ln/>
        </p:spPr>
      </p:sp>
      <p:sp>
        <p:nvSpPr>
          <p:cNvPr id="25" name="Text 22"/>
          <p:cNvSpPr/>
          <p:nvPr/>
        </p:nvSpPr>
        <p:spPr>
          <a:xfrm>
            <a:off x="1691640" y="4014216"/>
            <a:ext cx="438912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CURRENT AND FUTURE</a:t>
            </a:r>
            <a:endParaRPr lang="en-US" sz="1600" dirty="0"/>
          </a:p>
        </p:txBody>
      </p:sp>
      <p:sp>
        <p:nvSpPr>
          <p:cNvPr id="26" name="Text 23"/>
          <p:cNvSpPr/>
          <p:nvPr/>
        </p:nvSpPr>
        <p:spPr>
          <a:xfrm>
            <a:off x="1691640" y="4352544"/>
            <a:ext cx="4389120" cy="50292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What is happening now and what is coming, for students and teachers, with upcoming assignment reminders. No email.</a:t>
            </a:r>
            <a:endParaRPr lang="en-US" sz="1100" dirty="0"/>
          </a:p>
        </p:txBody>
      </p:sp>
      <p:sp>
        <p:nvSpPr>
          <p:cNvPr id="27" name="Shape 24"/>
          <p:cNvSpPr/>
          <p:nvPr/>
        </p:nvSpPr>
        <p:spPr>
          <a:xfrm>
            <a:off x="1417320" y="4946904"/>
            <a:ext cx="4754880" cy="914400"/>
          </a:xfrm>
          <a:prstGeom prst="rect">
            <a:avLst/>
          </a:prstGeom>
          <a:solidFill>
            <a:srgbClr val="FFFFFF"/>
          </a:solidFill>
          <a:ln w="25400">
            <a:solidFill>
              <a:srgbClr val="1E1208"/>
            </a:solidFill>
            <a:prstDash val="solid"/>
          </a:ln>
        </p:spPr>
      </p:sp>
      <p:sp>
        <p:nvSpPr>
          <p:cNvPr id="28" name="Shape 25"/>
          <p:cNvSpPr/>
          <p:nvPr/>
        </p:nvSpPr>
        <p:spPr>
          <a:xfrm>
            <a:off x="1417320" y="4946904"/>
            <a:ext cx="128016" cy="914400"/>
          </a:xfrm>
          <a:prstGeom prst="rect">
            <a:avLst/>
          </a:prstGeom>
          <a:solidFill>
            <a:srgbClr val="E3B51E"/>
          </a:solidFill>
          <a:ln/>
        </p:spPr>
      </p:sp>
      <p:sp>
        <p:nvSpPr>
          <p:cNvPr id="29" name="Text 26"/>
          <p:cNvSpPr/>
          <p:nvPr/>
        </p:nvSpPr>
        <p:spPr>
          <a:xfrm>
            <a:off x="1691640" y="5038344"/>
            <a:ext cx="4389120" cy="32004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WEAK TOPIC TO LESSON</a:t>
            </a:r>
            <a:endParaRPr lang="en-US" sz="1600" dirty="0"/>
          </a:p>
        </p:txBody>
      </p:sp>
      <p:sp>
        <p:nvSpPr>
          <p:cNvPr id="30" name="Text 27"/>
          <p:cNvSpPr/>
          <p:nvPr/>
        </p:nvSpPr>
        <p:spPr>
          <a:xfrm>
            <a:off x="1691640" y="5376672"/>
            <a:ext cx="4389120" cy="502920"/>
          </a:xfrm>
          <a:prstGeom prst="rect">
            <a:avLst/>
          </a:prstGeom>
          <a:noFill/>
          <a:ln/>
        </p:spPr>
        <p:txBody>
          <a:bodyPr wrap="square" lIns="0" tIns="0" rIns="0" bIns="0" rtlCol="0" anchor="t"/>
          <a:lstStyle/>
          <a:p>
            <a:pPr marL="0" indent="0" algn="l">
              <a:lnSpc>
                <a:spcPct val="110000"/>
              </a:lnSpc>
              <a:buNone/>
            </a:pPr>
            <a:r>
              <a:rPr lang="en-US" sz="1100" dirty="0">
                <a:solidFill>
                  <a:srgbClr val="555555"/>
                </a:solidFill>
                <a:latin typeface="Arial" pitchFamily="34" charset="0"/>
                <a:ea typeface="Arial" pitchFamily="34" charset="-122"/>
                <a:cs typeface="Arial" pitchFamily="34" charset="-120"/>
              </a:rPr>
              <a:t>From a weak topic in Smart Assess, ‘one tap’ to the lessons and practice for it.</a:t>
            </a:r>
            <a:endParaRPr lang="en-US" sz="1100" dirty="0"/>
          </a:p>
        </p:txBody>
      </p:sp>
      <p:pic>
        <p:nvPicPr>
          <p:cNvPr id="31" name="Image 0" descr="/Users/boxerboychris/exam-platform/marketing/presentation/assets-v2/shot-builder.png"/>
          <p:cNvPicPr>
            <a:picLocks noChangeAspect="1"/>
          </p:cNvPicPr>
          <p:nvPr/>
        </p:nvPicPr>
        <p:blipFill>
          <a:blip r:embed="rId4"/>
          <a:srcRect l="-89" r="-89"/>
          <a:stretch/>
        </p:blipFill>
        <p:spPr>
          <a:xfrm>
            <a:off x="6400800" y="1874520"/>
            <a:ext cx="4526280" cy="2926080"/>
          </a:xfrm>
          <a:prstGeom prst="rect">
            <a:avLst/>
          </a:prstGeom>
        </p:spPr>
      </p:pic>
      <p:sp>
        <p:nvSpPr>
          <p:cNvPr id="32" name="Shape 28"/>
          <p:cNvSpPr/>
          <p:nvPr/>
        </p:nvSpPr>
        <p:spPr>
          <a:xfrm>
            <a:off x="6400800" y="1874520"/>
            <a:ext cx="4526280" cy="2926080"/>
          </a:xfrm>
          <a:prstGeom prst="rect">
            <a:avLst/>
          </a:prstGeom>
          <a:ln w="25400">
            <a:solidFill>
              <a:srgbClr val="1E1208"/>
            </a:solidFill>
            <a:prstDash val="solid"/>
          </a:ln>
        </p:spPr>
      </p:sp>
      <p:sp>
        <p:nvSpPr>
          <p:cNvPr id="33" name="Text 29"/>
          <p:cNvSpPr/>
          <p:nvPr/>
        </p:nvSpPr>
        <p:spPr>
          <a:xfrm>
            <a:off x="6400800" y="4864608"/>
            <a:ext cx="4526280" cy="457200"/>
          </a:xfrm>
          <a:prstGeom prst="rect">
            <a:avLst/>
          </a:prstGeom>
          <a:noFill/>
          <a:ln/>
        </p:spPr>
        <p:txBody>
          <a:bodyPr wrap="square" lIns="0" tIns="0" rIns="0" bIns="0" rtlCol="0" anchor="t"/>
          <a:lstStyle/>
          <a:p>
            <a:pPr marL="0" indent="0" algn="l">
              <a:lnSpc>
                <a:spcPct val="110000"/>
              </a:lnSpc>
              <a:buNone/>
            </a:pPr>
            <a:r>
              <a:rPr lang="en-US" sz="1000" dirty="0">
                <a:solidFill>
                  <a:srgbClr val="555555"/>
                </a:solidFill>
                <a:latin typeface="Arial" pitchFamily="34" charset="0"/>
                <a:ea typeface="Arial" pitchFamily="34" charset="-122"/>
                <a:cs typeface="Arial" pitchFamily="34" charset="-120"/>
              </a:rPr>
              <a:t>A teacher's lesson builder, with the optional "Draft with AI" button. Demo data.</a:t>
            </a:r>
            <a:endParaRPr lang="en-US" sz="1000" dirty="0"/>
          </a:p>
        </p:txBody>
      </p:sp>
      <p:sp>
        <p:nvSpPr>
          <p:cNvPr id="35" name="Text 31"/>
          <p:cNvSpPr/>
          <p:nvPr/>
        </p:nvSpPr>
        <p:spPr>
          <a:xfrm>
            <a:off x="1600200" y="5943600"/>
            <a:ext cx="9144000" cy="502920"/>
          </a:xfrm>
          <a:prstGeom prst="rect">
            <a:avLst/>
          </a:prstGeom>
          <a:noFill/>
          <a:ln/>
        </p:spPr>
        <p:txBody>
          <a:bodyPr wrap="square" lIns="0" tIns="0" rIns="0" bIns="0" rtlCol="0" anchor="ctr"/>
          <a:lstStyle/>
          <a:p>
            <a:pPr marL="0" indent="0" algn="l">
              <a:lnSpc>
                <a:spcPct val="110000"/>
              </a:lnSpc>
              <a:buNone/>
            </a:pPr>
            <a:r>
              <a:rPr lang="en-US" sz="1300" b="1" dirty="0">
                <a:solidFill>
                  <a:srgbClr val="FFFFFF"/>
                </a:solidFill>
                <a:latin typeface="Arial" pitchFamily="34" charset="0"/>
                <a:ea typeface="Arial" pitchFamily="34" charset="-122"/>
                <a:cs typeface="Arial" pitchFamily="34" charset="-120"/>
              </a:rPr>
              <a:t>58% of students chose flashcards. 90% of teachers asked for activities at different ability levels.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2860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HEAR FROM EVERY CLASS, EVERY WEEK</a:t>
            </a:r>
            <a:endParaRPr lang="en-US" sz="4600" dirty="0"/>
          </a:p>
        </p:txBody>
      </p:sp>
      <p:sp>
        <p:nvSpPr>
          <p:cNvPr id="15" name="Shape 12"/>
          <p:cNvSpPr/>
          <p:nvPr/>
        </p:nvSpPr>
        <p:spPr>
          <a:xfrm>
            <a:off x="9144000" y="502920"/>
            <a:ext cx="1737360" cy="310896"/>
          </a:xfrm>
          <a:prstGeom prst="rect">
            <a:avLst/>
          </a:prstGeom>
          <a:solidFill>
            <a:srgbClr val="E3B51E"/>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Shape 14"/>
          <p:cNvSpPr/>
          <p:nvPr/>
        </p:nvSpPr>
        <p:spPr>
          <a:xfrm>
            <a:off x="1417320" y="1965960"/>
            <a:ext cx="3017520" cy="2331720"/>
          </a:xfrm>
          <a:prstGeom prst="rect">
            <a:avLst/>
          </a:prstGeom>
          <a:solidFill>
            <a:srgbClr val="FFFFFF"/>
          </a:solidFill>
          <a:ln w="25400">
            <a:solidFill>
              <a:srgbClr val="1E1208"/>
            </a:solidFill>
            <a:prstDash val="solid"/>
          </a:ln>
        </p:spPr>
      </p:sp>
      <p:sp>
        <p:nvSpPr>
          <p:cNvPr id="18" name="Shape 15"/>
          <p:cNvSpPr/>
          <p:nvPr/>
        </p:nvSpPr>
        <p:spPr>
          <a:xfrm>
            <a:off x="1417320" y="1965960"/>
            <a:ext cx="3017520" cy="777240"/>
          </a:xfrm>
          <a:prstGeom prst="rect">
            <a:avLst/>
          </a:prstGeom>
          <a:solidFill>
            <a:srgbClr val="E3B51E"/>
          </a:solidFill>
          <a:ln w="25400">
            <a:solidFill>
              <a:srgbClr val="1E1208"/>
            </a:solidFill>
            <a:prstDash val="solid"/>
          </a:ln>
        </p:spPr>
      </p:sp>
      <p:sp>
        <p:nvSpPr>
          <p:cNvPr id="19" name="Text 16"/>
          <p:cNvSpPr/>
          <p:nvPr/>
        </p:nvSpPr>
        <p:spPr>
          <a:xfrm>
            <a:off x="1417320" y="1965960"/>
            <a:ext cx="301752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20" name="Text 17"/>
          <p:cNvSpPr/>
          <p:nvPr/>
        </p:nvSpPr>
        <p:spPr>
          <a:xfrm>
            <a:off x="1600200" y="2834640"/>
            <a:ext cx="265176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STUDENTS</a:t>
            </a:r>
            <a:endParaRPr lang="en-US" sz="1800" dirty="0"/>
          </a:p>
        </p:txBody>
      </p:sp>
      <p:sp>
        <p:nvSpPr>
          <p:cNvPr id="21" name="Text 18"/>
          <p:cNvSpPr/>
          <p:nvPr/>
        </p:nvSpPr>
        <p:spPr>
          <a:xfrm>
            <a:off x="1600200" y="3273552"/>
            <a:ext cx="2651760" cy="100584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One minute per class. How well did you follow? Which topic was hardest? Was the pace right? Anything that helped?</a:t>
            </a:r>
            <a:endParaRPr lang="en-US" sz="1200" dirty="0"/>
          </a:p>
        </p:txBody>
      </p:sp>
      <p:sp>
        <p:nvSpPr>
          <p:cNvPr id="22" name="Shape 19"/>
          <p:cNvSpPr/>
          <p:nvPr/>
        </p:nvSpPr>
        <p:spPr>
          <a:xfrm>
            <a:off x="4617720" y="1965960"/>
            <a:ext cx="3017520" cy="2331720"/>
          </a:xfrm>
          <a:prstGeom prst="rect">
            <a:avLst/>
          </a:prstGeom>
          <a:solidFill>
            <a:srgbClr val="FFFFFF"/>
          </a:solidFill>
          <a:ln w="25400">
            <a:solidFill>
              <a:srgbClr val="1E1208"/>
            </a:solidFill>
            <a:prstDash val="solid"/>
          </a:ln>
        </p:spPr>
      </p:sp>
      <p:sp>
        <p:nvSpPr>
          <p:cNvPr id="23" name="Shape 20"/>
          <p:cNvSpPr/>
          <p:nvPr/>
        </p:nvSpPr>
        <p:spPr>
          <a:xfrm>
            <a:off x="4617720" y="1965960"/>
            <a:ext cx="3017520" cy="777240"/>
          </a:xfrm>
          <a:prstGeom prst="rect">
            <a:avLst/>
          </a:prstGeom>
          <a:solidFill>
            <a:srgbClr val="E3B51E"/>
          </a:solidFill>
          <a:ln w="25400">
            <a:solidFill>
              <a:srgbClr val="1E1208"/>
            </a:solidFill>
            <a:prstDash val="solid"/>
          </a:ln>
        </p:spPr>
      </p:sp>
      <p:sp>
        <p:nvSpPr>
          <p:cNvPr id="24" name="Text 21"/>
          <p:cNvSpPr/>
          <p:nvPr/>
        </p:nvSpPr>
        <p:spPr>
          <a:xfrm>
            <a:off x="4617720" y="1965960"/>
            <a:ext cx="301752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5" name="Text 22"/>
          <p:cNvSpPr/>
          <p:nvPr/>
        </p:nvSpPr>
        <p:spPr>
          <a:xfrm>
            <a:off x="4800600" y="2834640"/>
            <a:ext cx="265176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TEACHERS</a:t>
            </a:r>
            <a:endParaRPr lang="en-US" sz="1800" dirty="0"/>
          </a:p>
        </p:txBody>
      </p:sp>
      <p:sp>
        <p:nvSpPr>
          <p:cNvPr id="26" name="Text 23"/>
          <p:cNvSpPr/>
          <p:nvPr/>
        </p:nvSpPr>
        <p:spPr>
          <a:xfrm>
            <a:off x="4800600" y="3273552"/>
            <a:ext cx="2651760" cy="100584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A short end-of-week reflection for each class: where you are against plan, what went well, what to do next.</a:t>
            </a:r>
            <a:endParaRPr lang="en-US" sz="1200" dirty="0"/>
          </a:p>
        </p:txBody>
      </p:sp>
      <p:sp>
        <p:nvSpPr>
          <p:cNvPr id="27" name="Shape 24"/>
          <p:cNvSpPr/>
          <p:nvPr/>
        </p:nvSpPr>
        <p:spPr>
          <a:xfrm>
            <a:off x="7818120" y="1965960"/>
            <a:ext cx="3017520" cy="2331720"/>
          </a:xfrm>
          <a:prstGeom prst="rect">
            <a:avLst/>
          </a:prstGeom>
          <a:solidFill>
            <a:srgbClr val="FBE9D6"/>
          </a:solidFill>
          <a:ln w="25400">
            <a:solidFill>
              <a:srgbClr val="1E1208"/>
            </a:solidFill>
            <a:prstDash val="solid"/>
          </a:ln>
        </p:spPr>
      </p:sp>
      <p:sp>
        <p:nvSpPr>
          <p:cNvPr id="28" name="Shape 25"/>
          <p:cNvSpPr/>
          <p:nvPr/>
        </p:nvSpPr>
        <p:spPr>
          <a:xfrm>
            <a:off x="7818120" y="1965960"/>
            <a:ext cx="3017520" cy="777240"/>
          </a:xfrm>
          <a:prstGeom prst="rect">
            <a:avLst/>
          </a:prstGeom>
          <a:solidFill>
            <a:srgbClr val="D4762A"/>
          </a:solidFill>
          <a:ln w="25400">
            <a:solidFill>
              <a:srgbClr val="1E1208"/>
            </a:solidFill>
            <a:prstDash val="solid"/>
          </a:ln>
        </p:spPr>
      </p:sp>
      <p:sp>
        <p:nvSpPr>
          <p:cNvPr id="29" name="Text 26"/>
          <p:cNvSpPr/>
          <p:nvPr/>
        </p:nvSpPr>
        <p:spPr>
          <a:xfrm>
            <a:off x="7818120" y="1965960"/>
            <a:ext cx="301752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30" name="Text 27"/>
          <p:cNvSpPr/>
          <p:nvPr/>
        </p:nvSpPr>
        <p:spPr>
          <a:xfrm>
            <a:off x="8001000" y="2834640"/>
            <a:ext cx="265176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Impact" pitchFamily="34" charset="0"/>
                <a:ea typeface="Impact" pitchFamily="34" charset="-122"/>
                <a:cs typeface="Impact" pitchFamily="34" charset="-120"/>
              </a:rPr>
              <a:t>THE REPORT</a:t>
            </a:r>
            <a:endParaRPr lang="en-US" sz="1800" dirty="0"/>
          </a:p>
        </p:txBody>
      </p:sp>
      <p:sp>
        <p:nvSpPr>
          <p:cNvPr id="31" name="Text 28"/>
          <p:cNvSpPr/>
          <p:nvPr/>
        </p:nvSpPr>
        <p:spPr>
          <a:xfrm>
            <a:off x="8001000" y="3273552"/>
            <a:ext cx="2651760" cy="100584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A progress report for each class, with plain advice and an AI summary you check. Printable.</a:t>
            </a:r>
            <a:endParaRPr lang="en-US" sz="1200" dirty="0"/>
          </a:p>
        </p:txBody>
      </p:sp>
      <p:sp>
        <p:nvSpPr>
          <p:cNvPr id="32" name="Shape 29"/>
          <p:cNvSpPr/>
          <p:nvPr/>
        </p:nvSpPr>
        <p:spPr>
          <a:xfrm>
            <a:off x="1417320" y="4526280"/>
            <a:ext cx="9509760" cy="1280160"/>
          </a:xfrm>
          <a:prstGeom prst="rect">
            <a:avLst/>
          </a:prstGeom>
          <a:solidFill>
            <a:srgbClr val="1E1208"/>
          </a:solidFill>
          <a:ln w="25400">
            <a:solidFill>
              <a:srgbClr val="1E1208"/>
            </a:solidFill>
            <a:prstDash val="solid"/>
          </a:ln>
        </p:spPr>
      </p:sp>
      <p:sp>
        <p:nvSpPr>
          <p:cNvPr id="33" name="Text 30"/>
          <p:cNvSpPr/>
          <p:nvPr/>
        </p:nvSpPr>
        <p:spPr>
          <a:xfrm>
            <a:off x="1645920" y="4617720"/>
            <a:ext cx="9052560" cy="365760"/>
          </a:xfrm>
          <a:prstGeom prst="rect">
            <a:avLst/>
          </a:prstGeom>
          <a:noFill/>
          <a:ln/>
        </p:spPr>
        <p:txBody>
          <a:bodyPr wrap="square" lIns="0" tIns="0" rIns="0" bIns="0" rtlCol="0" anchor="t"/>
          <a:lstStyle/>
          <a:p>
            <a:pPr marL="0" indent="0" algn="l">
              <a:lnSpc>
                <a:spcPct val="110000"/>
              </a:lnSpc>
              <a:buNone/>
            </a:pPr>
            <a:r>
              <a:rPr lang="en-US" sz="2000" dirty="0">
                <a:solidFill>
                  <a:srgbClr val="E3B51E"/>
                </a:solidFill>
                <a:latin typeface="Impact" pitchFamily="34" charset="0"/>
                <a:ea typeface="Impact" pitchFamily="34" charset="-122"/>
                <a:cs typeface="Impact" pitchFamily="34" charset="-120"/>
              </a:rPr>
              <a:t>PRIVATE BY DESIGN</a:t>
            </a:r>
            <a:endParaRPr lang="en-US" sz="2000" dirty="0"/>
          </a:p>
        </p:txBody>
      </p:sp>
      <p:sp>
        <p:nvSpPr>
          <p:cNvPr id="34" name="Text 31"/>
          <p:cNvSpPr/>
          <p:nvPr/>
        </p:nvSpPr>
        <p:spPr>
          <a:xfrm>
            <a:off x="1645920" y="5029200"/>
            <a:ext cx="9052560" cy="731520"/>
          </a:xfrm>
          <a:prstGeom prst="rect">
            <a:avLst/>
          </a:prstGeom>
          <a:noFill/>
          <a:ln/>
        </p:spPr>
        <p:txBody>
          <a:bodyPr wrap="square" lIns="0" tIns="0" rIns="0" bIns="0" rtlCol="0" anchor="t"/>
          <a:lstStyle/>
          <a:p>
            <a:pPr marL="0" indent="0" algn="l">
              <a:lnSpc>
                <a:spcPct val="110000"/>
              </a:lnSpc>
              <a:buNone/>
            </a:pPr>
            <a:r>
              <a:rPr lang="en-US" sz="1300" b="1" dirty="0">
                <a:solidFill>
                  <a:srgbClr val="FFFFFF"/>
                </a:solidFill>
                <a:latin typeface="Arial" pitchFamily="34" charset="0"/>
                <a:ea typeface="Arial" pitchFamily="34" charset="-122"/>
                <a:cs typeface="Arial" pitchFamily="34" charset="-120"/>
              </a:rPr>
              <a:t>Only the class teacher and head of department see names, and only so they can help. Everything else is </a:t>
            </a:r>
            <a:r>
              <a:rPr lang="en-US" sz="1300" b="1" dirty="0" smtClean="0">
                <a:solidFill>
                  <a:srgbClr val="FFFFFF"/>
                </a:solidFill>
                <a:latin typeface="Arial" pitchFamily="34" charset="0"/>
                <a:ea typeface="Arial" pitchFamily="34" charset="-122"/>
                <a:cs typeface="Arial" pitchFamily="34" charset="-120"/>
              </a:rPr>
              <a:t>anonymous. The administrative team </a:t>
            </a:r>
            <a:r>
              <a:rPr lang="en-US" sz="1300" b="1" dirty="0">
                <a:solidFill>
                  <a:srgbClr val="FFFFFF"/>
                </a:solidFill>
                <a:latin typeface="Arial" pitchFamily="34" charset="0"/>
                <a:ea typeface="Arial" pitchFamily="34" charset="-122"/>
                <a:cs typeface="Arial" pitchFamily="34" charset="-120"/>
              </a:rPr>
              <a:t>sees anonymous results.</a:t>
            </a:r>
            <a:endParaRPr lang="en-US" sz="1300" dirty="0"/>
          </a:p>
        </p:txBody>
      </p:sp>
      <p:sp>
        <p:nvSpPr>
          <p:cNvPr id="36" name="Text 33"/>
          <p:cNvSpPr/>
          <p:nvPr/>
        </p:nvSpPr>
        <p:spPr>
          <a:xfrm>
            <a:off x="1600200" y="5989320"/>
            <a:ext cx="9144000" cy="502920"/>
          </a:xfrm>
          <a:prstGeom prst="rect">
            <a:avLst/>
          </a:prstGeom>
          <a:noFill/>
          <a:ln/>
        </p:spPr>
        <p:txBody>
          <a:bodyPr wrap="square" lIns="0" tIns="0" rIns="0" bIns="0" rtlCol="0" anchor="ctr"/>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A teacher with reflections still to write gets one email on Friday afternoon.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40822"/>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300" dirty="0">
                <a:solidFill>
                  <a:srgbClr val="1E1208"/>
                </a:solidFill>
                <a:latin typeface="Impact" pitchFamily="34" charset="0"/>
                <a:ea typeface="Impact" pitchFamily="34" charset="-122"/>
                <a:cs typeface="Impact" pitchFamily="34" charset="-120"/>
              </a:rPr>
              <a:t>HELP STUDENTS BEFORE THEY FALL BEHIND</a:t>
            </a:r>
            <a:endParaRPr lang="en-US" sz="4300" dirty="0"/>
          </a:p>
        </p:txBody>
      </p:sp>
      <p:sp>
        <p:nvSpPr>
          <p:cNvPr id="15" name="Shape 12"/>
          <p:cNvSpPr/>
          <p:nvPr/>
        </p:nvSpPr>
        <p:spPr>
          <a:xfrm>
            <a:off x="9144000" y="502920"/>
            <a:ext cx="1737360" cy="310896"/>
          </a:xfrm>
          <a:prstGeom prst="rect">
            <a:avLst/>
          </a:prstGeom>
          <a:solidFill>
            <a:srgbClr val="E3B51E"/>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Shape 14"/>
          <p:cNvSpPr/>
          <p:nvPr/>
        </p:nvSpPr>
        <p:spPr>
          <a:xfrm>
            <a:off x="1417320" y="1965960"/>
            <a:ext cx="4709160" cy="1463040"/>
          </a:xfrm>
          <a:prstGeom prst="rect">
            <a:avLst/>
          </a:prstGeom>
          <a:solidFill>
            <a:srgbClr val="FFFFFF"/>
          </a:solidFill>
          <a:ln w="25400">
            <a:solidFill>
              <a:srgbClr val="1E1208"/>
            </a:solidFill>
            <a:prstDash val="solid"/>
          </a:ln>
        </p:spPr>
      </p:sp>
      <p:sp>
        <p:nvSpPr>
          <p:cNvPr id="18" name="Shape 15"/>
          <p:cNvSpPr/>
          <p:nvPr/>
        </p:nvSpPr>
        <p:spPr>
          <a:xfrm>
            <a:off x="1417320" y="1965960"/>
            <a:ext cx="128016" cy="1463040"/>
          </a:xfrm>
          <a:prstGeom prst="rect">
            <a:avLst/>
          </a:prstGeom>
          <a:solidFill>
            <a:srgbClr val="E3B51E"/>
          </a:solidFill>
          <a:ln/>
        </p:spPr>
      </p:sp>
      <p:sp>
        <p:nvSpPr>
          <p:cNvPr id="19" name="Text 16"/>
          <p:cNvSpPr/>
          <p:nvPr/>
        </p:nvSpPr>
        <p:spPr>
          <a:xfrm>
            <a:off x="1737360" y="2103120"/>
            <a:ext cx="420624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A CLEAR LIST FOR STAFF</a:t>
            </a:r>
            <a:endParaRPr lang="en-US" sz="1600" dirty="0"/>
          </a:p>
        </p:txBody>
      </p:sp>
      <p:sp>
        <p:nvSpPr>
          <p:cNvPr id="20" name="Text 17"/>
          <p:cNvSpPr/>
          <p:nvPr/>
        </p:nvSpPr>
        <p:spPr>
          <a:xfrm>
            <a:off x="1737360" y="2532888"/>
            <a:ext cx="4206240" cy="86868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Who may need help, and why, in plain words: marks below the school average or falling, absences, unfinished lessons.</a:t>
            </a:r>
            <a:endParaRPr lang="en-US" sz="1200" dirty="0"/>
          </a:p>
        </p:txBody>
      </p:sp>
      <p:sp>
        <p:nvSpPr>
          <p:cNvPr id="21" name="Shape 18"/>
          <p:cNvSpPr/>
          <p:nvPr/>
        </p:nvSpPr>
        <p:spPr>
          <a:xfrm>
            <a:off x="6217920" y="1965960"/>
            <a:ext cx="4709160" cy="1463040"/>
          </a:xfrm>
          <a:prstGeom prst="rect">
            <a:avLst/>
          </a:prstGeom>
          <a:solidFill>
            <a:srgbClr val="FFFFFF"/>
          </a:solidFill>
          <a:ln w="25400">
            <a:solidFill>
              <a:srgbClr val="1E1208"/>
            </a:solidFill>
            <a:prstDash val="solid"/>
          </a:ln>
        </p:spPr>
      </p:sp>
      <p:sp>
        <p:nvSpPr>
          <p:cNvPr id="22" name="Shape 19"/>
          <p:cNvSpPr/>
          <p:nvPr/>
        </p:nvSpPr>
        <p:spPr>
          <a:xfrm>
            <a:off x="6217920" y="1965960"/>
            <a:ext cx="128016" cy="1463040"/>
          </a:xfrm>
          <a:prstGeom prst="rect">
            <a:avLst/>
          </a:prstGeom>
          <a:solidFill>
            <a:srgbClr val="E3B51E"/>
          </a:solidFill>
          <a:ln/>
        </p:spPr>
      </p:sp>
      <p:sp>
        <p:nvSpPr>
          <p:cNvPr id="23" name="Text 20"/>
          <p:cNvSpPr/>
          <p:nvPr/>
        </p:nvSpPr>
        <p:spPr>
          <a:xfrm>
            <a:off x="6537960" y="2103120"/>
            <a:ext cx="420624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SUPPORT PLANS</a:t>
            </a:r>
            <a:endParaRPr lang="en-US" sz="1600" dirty="0"/>
          </a:p>
        </p:txBody>
      </p:sp>
      <p:sp>
        <p:nvSpPr>
          <p:cNvPr id="24" name="Text 21"/>
          <p:cNvSpPr/>
          <p:nvPr/>
        </p:nvSpPr>
        <p:spPr>
          <a:xfrm>
            <a:off x="6537960" y="2532888"/>
            <a:ext cx="4206240" cy="86868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A goal, a review date and what was done. Shows whether results moved: "Up 12 points in Science".</a:t>
            </a:r>
            <a:endParaRPr lang="en-US" sz="1200" dirty="0"/>
          </a:p>
        </p:txBody>
      </p:sp>
      <p:sp>
        <p:nvSpPr>
          <p:cNvPr id="25" name="Shape 22"/>
          <p:cNvSpPr/>
          <p:nvPr/>
        </p:nvSpPr>
        <p:spPr>
          <a:xfrm>
            <a:off x="1417320" y="3566160"/>
            <a:ext cx="4709160" cy="1463040"/>
          </a:xfrm>
          <a:prstGeom prst="rect">
            <a:avLst/>
          </a:prstGeom>
          <a:solidFill>
            <a:srgbClr val="FFFFFF"/>
          </a:solidFill>
          <a:ln w="25400">
            <a:solidFill>
              <a:srgbClr val="1E1208"/>
            </a:solidFill>
            <a:prstDash val="solid"/>
          </a:ln>
        </p:spPr>
      </p:sp>
      <p:sp>
        <p:nvSpPr>
          <p:cNvPr id="26" name="Shape 23"/>
          <p:cNvSpPr/>
          <p:nvPr/>
        </p:nvSpPr>
        <p:spPr>
          <a:xfrm>
            <a:off x="1417320" y="3566160"/>
            <a:ext cx="128016" cy="1463040"/>
          </a:xfrm>
          <a:prstGeom prst="rect">
            <a:avLst/>
          </a:prstGeom>
          <a:solidFill>
            <a:srgbClr val="D4762A"/>
          </a:solidFill>
          <a:ln/>
        </p:spPr>
      </p:sp>
      <p:sp>
        <p:nvSpPr>
          <p:cNvPr id="27" name="Text 24"/>
          <p:cNvSpPr/>
          <p:nvPr/>
        </p:nvSpPr>
        <p:spPr>
          <a:xfrm>
            <a:off x="1737360" y="3703320"/>
            <a:ext cx="420624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MY PROGRESS FOR STUDENTS</a:t>
            </a:r>
            <a:endParaRPr lang="en-US" sz="1600" dirty="0"/>
          </a:p>
        </p:txBody>
      </p:sp>
      <p:sp>
        <p:nvSpPr>
          <p:cNvPr id="28" name="Text 25"/>
          <p:cNvSpPr/>
          <p:nvPr/>
        </p:nvSpPr>
        <p:spPr>
          <a:xfrm>
            <a:off x="1737360" y="4133088"/>
            <a:ext cx="4206240" cy="86868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Compared only with their own earlier results. Never classmates, never the school average.</a:t>
            </a:r>
            <a:endParaRPr lang="en-US" sz="1200" dirty="0"/>
          </a:p>
        </p:txBody>
      </p:sp>
      <p:sp>
        <p:nvSpPr>
          <p:cNvPr id="29" name="Shape 26"/>
          <p:cNvSpPr/>
          <p:nvPr/>
        </p:nvSpPr>
        <p:spPr>
          <a:xfrm>
            <a:off x="6217920" y="3566160"/>
            <a:ext cx="4709160" cy="1463040"/>
          </a:xfrm>
          <a:prstGeom prst="rect">
            <a:avLst/>
          </a:prstGeom>
          <a:solidFill>
            <a:srgbClr val="FFFFFF"/>
          </a:solidFill>
          <a:ln w="25400">
            <a:solidFill>
              <a:srgbClr val="1E1208"/>
            </a:solidFill>
            <a:prstDash val="solid"/>
          </a:ln>
        </p:spPr>
      </p:sp>
      <p:sp>
        <p:nvSpPr>
          <p:cNvPr id="30" name="Shape 27"/>
          <p:cNvSpPr/>
          <p:nvPr/>
        </p:nvSpPr>
        <p:spPr>
          <a:xfrm>
            <a:off x="6217920" y="3566160"/>
            <a:ext cx="128016" cy="1463040"/>
          </a:xfrm>
          <a:prstGeom prst="rect">
            <a:avLst/>
          </a:prstGeom>
          <a:solidFill>
            <a:srgbClr val="E3B51E"/>
          </a:solidFill>
          <a:ln/>
        </p:spPr>
      </p:sp>
      <p:sp>
        <p:nvSpPr>
          <p:cNvPr id="31" name="Text 28"/>
          <p:cNvSpPr/>
          <p:nvPr/>
        </p:nvSpPr>
        <p:spPr>
          <a:xfrm>
            <a:off x="6537960" y="3703320"/>
            <a:ext cx="4206240" cy="365760"/>
          </a:xfrm>
          <a:prstGeom prst="rect">
            <a:avLst/>
          </a:prstGeom>
          <a:noFill/>
          <a:ln/>
        </p:spPr>
        <p:txBody>
          <a:bodyPr wrap="square" lIns="0" tIns="0" rIns="0" bIns="0" rtlCol="0" anchor="t"/>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GENTLE NUDGES</a:t>
            </a:r>
            <a:endParaRPr lang="en-US" sz="1600" dirty="0"/>
          </a:p>
        </p:txBody>
      </p:sp>
      <p:sp>
        <p:nvSpPr>
          <p:cNvPr id="32" name="Text 29"/>
          <p:cNvSpPr/>
          <p:nvPr/>
        </p:nvSpPr>
        <p:spPr>
          <a:xfrm>
            <a:off x="6537960" y="4133088"/>
            <a:ext cx="4206240" cy="868680"/>
          </a:xfrm>
          <a:prstGeom prst="rect">
            <a:avLst/>
          </a:prstGeom>
          <a:noFill/>
          <a:ln/>
        </p:spPr>
        <p:txBody>
          <a:bodyPr wrap="square" lIns="0" tIns="0" rIns="0" bIns="0" rtlCol="0" anchor="t"/>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Away from school? Lessons past their date? A kind prompt with a button to the right place.</a:t>
            </a:r>
            <a:endParaRPr lang="en-US" sz="1200" dirty="0"/>
          </a:p>
        </p:txBody>
      </p:sp>
      <p:sp>
        <p:nvSpPr>
          <p:cNvPr id="33" name="Shape 30"/>
          <p:cNvSpPr/>
          <p:nvPr/>
        </p:nvSpPr>
        <p:spPr>
          <a:xfrm>
            <a:off x="1417320" y="5212080"/>
            <a:ext cx="9509760" cy="685800"/>
          </a:xfrm>
          <a:prstGeom prst="rect">
            <a:avLst/>
          </a:prstGeom>
          <a:solidFill>
            <a:srgbClr val="1E1208"/>
          </a:solidFill>
          <a:ln w="25400">
            <a:solidFill>
              <a:srgbClr val="1E1208"/>
            </a:solidFill>
            <a:prstDash val="solid"/>
          </a:ln>
        </p:spPr>
      </p:sp>
      <p:sp>
        <p:nvSpPr>
          <p:cNvPr id="34" name="Text 31"/>
          <p:cNvSpPr/>
          <p:nvPr/>
        </p:nvSpPr>
        <p:spPr>
          <a:xfrm>
            <a:off x="1645920" y="5212080"/>
            <a:ext cx="9052560" cy="685800"/>
          </a:xfrm>
          <a:prstGeom prst="rect">
            <a:avLst/>
          </a:prstGeom>
          <a:noFill/>
          <a:ln/>
        </p:spPr>
        <p:txBody>
          <a:bodyPr wrap="square" lIns="0" tIns="0" rIns="0" bIns="0" rtlCol="0" anchor="ctr"/>
          <a:lstStyle/>
          <a:p>
            <a:pPr marL="0" indent="0" algn="l">
              <a:lnSpc>
                <a:spcPct val="110000"/>
              </a:lnSpc>
              <a:buNone/>
            </a:pPr>
            <a:r>
              <a:rPr lang="en-US" sz="1350" b="1" dirty="0">
                <a:solidFill>
                  <a:srgbClr val="FFFFFF"/>
                </a:solidFill>
                <a:latin typeface="Arial" pitchFamily="34" charset="0"/>
                <a:ea typeface="Arial" pitchFamily="34" charset="-122"/>
                <a:cs typeface="Arial" pitchFamily="34" charset="-120"/>
              </a:rPr>
              <a:t>Teachers see marks only in the subjects they teach. </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2004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VIDEOS </a:t>
            </a:r>
            <a:r>
              <a:rPr lang="en-US" sz="4600" dirty="0" smtClean="0">
                <a:solidFill>
                  <a:srgbClr val="1E1208"/>
                </a:solidFill>
                <a:latin typeface="Impact" pitchFamily="34" charset="0"/>
                <a:ea typeface="Impact" pitchFamily="34" charset="-122"/>
                <a:cs typeface="Impact" pitchFamily="34" charset="-120"/>
              </a:rPr>
              <a:t>TEACHERS </a:t>
            </a:r>
            <a:r>
              <a:rPr lang="en-US" sz="4600" dirty="0">
                <a:solidFill>
                  <a:srgbClr val="1E1208"/>
                </a:solidFill>
                <a:latin typeface="Impact" pitchFamily="34" charset="0"/>
                <a:ea typeface="Impact" pitchFamily="34" charset="-122"/>
                <a:cs typeface="Impact" pitchFamily="34" charset="-120"/>
              </a:rPr>
              <a:t>HAVE CHOSEN</a:t>
            </a:r>
            <a:endParaRPr lang="en-US" sz="4600" dirty="0"/>
          </a:p>
        </p:txBody>
      </p:sp>
      <p:sp>
        <p:nvSpPr>
          <p:cNvPr id="15" name="Shape 12"/>
          <p:cNvSpPr/>
          <p:nvPr/>
        </p:nvSpPr>
        <p:spPr>
          <a:xfrm>
            <a:off x="9144000" y="502920"/>
            <a:ext cx="1737360" cy="310896"/>
          </a:xfrm>
          <a:prstGeom prst="rect">
            <a:avLst/>
          </a:prstGeom>
          <a:solidFill>
            <a:srgbClr val="E3B51E"/>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ALREADY BUILT</a:t>
            </a:r>
            <a:endParaRPr lang="en-US" sz="1000" dirty="0"/>
          </a:p>
        </p:txBody>
      </p:sp>
      <p:sp>
        <p:nvSpPr>
          <p:cNvPr id="17" name="Shape 14"/>
          <p:cNvSpPr/>
          <p:nvPr/>
        </p:nvSpPr>
        <p:spPr>
          <a:xfrm>
            <a:off x="1417320" y="1920240"/>
            <a:ext cx="685800" cy="676656"/>
          </a:xfrm>
          <a:prstGeom prst="rect">
            <a:avLst/>
          </a:prstGeom>
          <a:solidFill>
            <a:srgbClr val="E3B51E"/>
          </a:solidFill>
          <a:ln w="25400">
            <a:solidFill>
              <a:srgbClr val="1E1208"/>
            </a:solidFill>
            <a:prstDash val="solid"/>
          </a:ln>
        </p:spPr>
      </p:sp>
      <p:sp>
        <p:nvSpPr>
          <p:cNvPr id="18" name="Text 15"/>
          <p:cNvSpPr/>
          <p:nvPr/>
        </p:nvSpPr>
        <p:spPr>
          <a:xfrm>
            <a:off x="1417320" y="1920240"/>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9" name="Shape 16"/>
          <p:cNvSpPr/>
          <p:nvPr/>
        </p:nvSpPr>
        <p:spPr>
          <a:xfrm>
            <a:off x="2103120" y="1920240"/>
            <a:ext cx="8823960" cy="676656"/>
          </a:xfrm>
          <a:prstGeom prst="rect">
            <a:avLst/>
          </a:prstGeom>
          <a:solidFill>
            <a:srgbClr val="FFFFFF"/>
          </a:solidFill>
          <a:ln w="25400">
            <a:solidFill>
              <a:srgbClr val="1E1208"/>
            </a:solidFill>
            <a:prstDash val="solid"/>
          </a:ln>
        </p:spPr>
      </p:sp>
      <p:sp>
        <p:nvSpPr>
          <p:cNvPr id="20" name="Text 17"/>
          <p:cNvSpPr/>
          <p:nvPr/>
        </p:nvSpPr>
        <p:spPr>
          <a:xfrm>
            <a:off x="2286000" y="1920240"/>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ADD A LINK</a:t>
            </a:r>
            <a:endParaRPr lang="en-US" sz="1600" dirty="0"/>
          </a:p>
        </p:txBody>
      </p:sp>
      <p:sp>
        <p:nvSpPr>
          <p:cNvPr id="21" name="Text 18"/>
          <p:cNvSpPr/>
          <p:nvPr/>
        </p:nvSpPr>
        <p:spPr>
          <a:xfrm>
            <a:off x="4846320" y="1920240"/>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YouTube, Vimeo or Khan Academy. Nothing is uploaded, so the school hosts nothing.</a:t>
            </a:r>
            <a:endParaRPr lang="en-US" sz="1250" dirty="0"/>
          </a:p>
        </p:txBody>
      </p:sp>
      <p:sp>
        <p:nvSpPr>
          <p:cNvPr id="22" name="Shape 19"/>
          <p:cNvSpPr/>
          <p:nvPr/>
        </p:nvSpPr>
        <p:spPr>
          <a:xfrm>
            <a:off x="1417320" y="2706624"/>
            <a:ext cx="685800" cy="676656"/>
          </a:xfrm>
          <a:prstGeom prst="rect">
            <a:avLst/>
          </a:prstGeom>
          <a:solidFill>
            <a:srgbClr val="E3B51E"/>
          </a:solidFill>
          <a:ln w="25400">
            <a:solidFill>
              <a:srgbClr val="1E1208"/>
            </a:solidFill>
            <a:prstDash val="solid"/>
          </a:ln>
        </p:spPr>
      </p:sp>
      <p:sp>
        <p:nvSpPr>
          <p:cNvPr id="23" name="Text 20"/>
          <p:cNvSpPr/>
          <p:nvPr/>
        </p:nvSpPr>
        <p:spPr>
          <a:xfrm>
            <a:off x="1417320" y="2706624"/>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4" name="Shape 21"/>
          <p:cNvSpPr/>
          <p:nvPr/>
        </p:nvSpPr>
        <p:spPr>
          <a:xfrm>
            <a:off x="2103120" y="2706624"/>
            <a:ext cx="8823960" cy="676656"/>
          </a:xfrm>
          <a:prstGeom prst="rect">
            <a:avLst/>
          </a:prstGeom>
          <a:solidFill>
            <a:srgbClr val="FFFFFF"/>
          </a:solidFill>
          <a:ln w="25400">
            <a:solidFill>
              <a:srgbClr val="1E1208"/>
            </a:solidFill>
            <a:prstDash val="solid"/>
          </a:ln>
        </p:spPr>
      </p:sp>
      <p:sp>
        <p:nvSpPr>
          <p:cNvPr id="25" name="Text 22"/>
          <p:cNvSpPr/>
          <p:nvPr/>
        </p:nvSpPr>
        <p:spPr>
          <a:xfrm>
            <a:off x="2286000" y="2706624"/>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APPROVED FIRST</a:t>
            </a:r>
            <a:endParaRPr lang="en-US" sz="1600" dirty="0"/>
          </a:p>
        </p:txBody>
      </p:sp>
      <p:sp>
        <p:nvSpPr>
          <p:cNvPr id="26" name="Text 23"/>
          <p:cNvSpPr/>
          <p:nvPr/>
        </p:nvSpPr>
        <p:spPr>
          <a:xfrm>
            <a:off x="4846320" y="2706624"/>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 teacher's video waits for the head of department. A head's video is live at once.</a:t>
            </a:r>
            <a:endParaRPr lang="en-US" sz="1250" dirty="0"/>
          </a:p>
        </p:txBody>
      </p:sp>
      <p:sp>
        <p:nvSpPr>
          <p:cNvPr id="27" name="Shape 24"/>
          <p:cNvSpPr/>
          <p:nvPr/>
        </p:nvSpPr>
        <p:spPr>
          <a:xfrm>
            <a:off x="1417320" y="3493008"/>
            <a:ext cx="685800" cy="676656"/>
          </a:xfrm>
          <a:prstGeom prst="rect">
            <a:avLst/>
          </a:prstGeom>
          <a:solidFill>
            <a:srgbClr val="E3B51E"/>
          </a:solidFill>
          <a:ln w="25400">
            <a:solidFill>
              <a:srgbClr val="1E1208"/>
            </a:solidFill>
            <a:prstDash val="solid"/>
          </a:ln>
        </p:spPr>
      </p:sp>
      <p:sp>
        <p:nvSpPr>
          <p:cNvPr id="28" name="Text 25"/>
          <p:cNvSpPr/>
          <p:nvPr/>
        </p:nvSpPr>
        <p:spPr>
          <a:xfrm>
            <a:off x="1417320" y="3493008"/>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9" name="Shape 26"/>
          <p:cNvSpPr/>
          <p:nvPr/>
        </p:nvSpPr>
        <p:spPr>
          <a:xfrm>
            <a:off x="2103120" y="3493008"/>
            <a:ext cx="8823960" cy="676656"/>
          </a:xfrm>
          <a:prstGeom prst="rect">
            <a:avLst/>
          </a:prstGeom>
          <a:solidFill>
            <a:srgbClr val="FFFFFF"/>
          </a:solidFill>
          <a:ln w="25400">
            <a:solidFill>
              <a:srgbClr val="1E1208"/>
            </a:solidFill>
            <a:prstDash val="solid"/>
          </a:ln>
        </p:spPr>
      </p:sp>
      <p:sp>
        <p:nvSpPr>
          <p:cNvPr id="30" name="Text 27"/>
          <p:cNvSpPr/>
          <p:nvPr/>
        </p:nvSpPr>
        <p:spPr>
          <a:xfrm>
            <a:off x="2286000" y="3493008"/>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A SHORT-VIDEO FEED</a:t>
            </a:r>
            <a:endParaRPr lang="en-US" sz="1600" dirty="0"/>
          </a:p>
        </p:txBody>
      </p:sp>
      <p:sp>
        <p:nvSpPr>
          <p:cNvPr id="31" name="Text 28"/>
          <p:cNvSpPr/>
          <p:nvPr/>
        </p:nvSpPr>
        <p:spPr>
          <a:xfrm>
            <a:off x="4846320" y="3493008"/>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By subject and grade. YouTube and Vimeo play right inside Smart Learning.</a:t>
            </a:r>
            <a:endParaRPr lang="en-US" sz="1250" dirty="0"/>
          </a:p>
        </p:txBody>
      </p:sp>
      <p:sp>
        <p:nvSpPr>
          <p:cNvPr id="32" name="Shape 29"/>
          <p:cNvSpPr/>
          <p:nvPr/>
        </p:nvSpPr>
        <p:spPr>
          <a:xfrm>
            <a:off x="1417320" y="4279392"/>
            <a:ext cx="685800" cy="676656"/>
          </a:xfrm>
          <a:prstGeom prst="rect">
            <a:avLst/>
          </a:prstGeom>
          <a:solidFill>
            <a:srgbClr val="E3B51E"/>
          </a:solidFill>
          <a:ln w="25400">
            <a:solidFill>
              <a:srgbClr val="1E1208"/>
            </a:solidFill>
            <a:prstDash val="solid"/>
          </a:ln>
        </p:spPr>
      </p:sp>
      <p:sp>
        <p:nvSpPr>
          <p:cNvPr id="33" name="Text 30"/>
          <p:cNvSpPr/>
          <p:nvPr/>
        </p:nvSpPr>
        <p:spPr>
          <a:xfrm>
            <a:off x="1417320" y="4279392"/>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4" name="Shape 31"/>
          <p:cNvSpPr/>
          <p:nvPr/>
        </p:nvSpPr>
        <p:spPr>
          <a:xfrm>
            <a:off x="2103120" y="4279392"/>
            <a:ext cx="8823960" cy="676656"/>
          </a:xfrm>
          <a:prstGeom prst="rect">
            <a:avLst/>
          </a:prstGeom>
          <a:solidFill>
            <a:srgbClr val="FFFFFF"/>
          </a:solidFill>
          <a:ln w="25400">
            <a:solidFill>
              <a:srgbClr val="1E1208"/>
            </a:solidFill>
            <a:prstDash val="solid"/>
          </a:ln>
        </p:spPr>
      </p:sp>
      <p:sp>
        <p:nvSpPr>
          <p:cNvPr id="35" name="Text 32"/>
          <p:cNvSpPr/>
          <p:nvPr/>
        </p:nvSpPr>
        <p:spPr>
          <a:xfrm>
            <a:off x="2286000" y="4279392"/>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LOW-DATA MODE</a:t>
            </a:r>
            <a:endParaRPr lang="en-US" sz="1600" dirty="0"/>
          </a:p>
        </p:txBody>
      </p:sp>
      <p:sp>
        <p:nvSpPr>
          <p:cNvPr id="36" name="Text 33"/>
          <p:cNvSpPr/>
          <p:nvPr/>
        </p:nvSpPr>
        <p:spPr>
          <a:xfrm>
            <a:off x="4846320" y="4279392"/>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No pictures, and a video loads only when tapped. On by itself for slow connections.</a:t>
            </a:r>
            <a:endParaRPr lang="en-US" sz="1250" dirty="0"/>
          </a:p>
        </p:txBody>
      </p:sp>
      <p:sp>
        <p:nvSpPr>
          <p:cNvPr id="37" name="Shape 34"/>
          <p:cNvSpPr/>
          <p:nvPr/>
        </p:nvSpPr>
        <p:spPr>
          <a:xfrm>
            <a:off x="1417320" y="5065776"/>
            <a:ext cx="685800" cy="676656"/>
          </a:xfrm>
          <a:prstGeom prst="rect">
            <a:avLst/>
          </a:prstGeom>
          <a:solidFill>
            <a:srgbClr val="E3B51E"/>
          </a:solidFill>
          <a:ln w="25400">
            <a:solidFill>
              <a:srgbClr val="1E1208"/>
            </a:solidFill>
            <a:prstDash val="solid"/>
          </a:ln>
        </p:spPr>
      </p:sp>
      <p:sp>
        <p:nvSpPr>
          <p:cNvPr id="38" name="Text 35"/>
          <p:cNvSpPr/>
          <p:nvPr/>
        </p:nvSpPr>
        <p:spPr>
          <a:xfrm>
            <a:off x="1417320" y="5065776"/>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9" name="Shape 36"/>
          <p:cNvSpPr/>
          <p:nvPr/>
        </p:nvSpPr>
        <p:spPr>
          <a:xfrm>
            <a:off x="2103120" y="5065776"/>
            <a:ext cx="8823960" cy="676656"/>
          </a:xfrm>
          <a:prstGeom prst="rect">
            <a:avLst/>
          </a:prstGeom>
          <a:solidFill>
            <a:srgbClr val="FFFFFF"/>
          </a:solidFill>
          <a:ln w="25400">
            <a:solidFill>
              <a:srgbClr val="1E1208"/>
            </a:solidFill>
            <a:prstDash val="solid"/>
          </a:ln>
        </p:spPr>
      </p:sp>
      <p:sp>
        <p:nvSpPr>
          <p:cNvPr id="40" name="Text 37"/>
          <p:cNvSpPr/>
          <p:nvPr/>
        </p:nvSpPr>
        <p:spPr>
          <a:xfrm>
            <a:off x="2286000" y="5065776"/>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REPORT A PROBLEM</a:t>
            </a:r>
            <a:endParaRPr lang="en-US" sz="1600" dirty="0"/>
          </a:p>
        </p:txBody>
      </p:sp>
      <p:sp>
        <p:nvSpPr>
          <p:cNvPr id="41" name="Text 38"/>
          <p:cNvSpPr/>
          <p:nvPr/>
        </p:nvSpPr>
        <p:spPr>
          <a:xfrm>
            <a:off x="4846320" y="5065776"/>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Two student reports hide a video until a teacher checks it.</a:t>
            </a:r>
            <a:endParaRPr lang="en-US" sz="1250" dirty="0"/>
          </a:p>
        </p:txBody>
      </p:sp>
      <p:sp>
        <p:nvSpPr>
          <p:cNvPr id="42" name="Shape 39"/>
          <p:cNvSpPr/>
          <p:nvPr/>
        </p:nvSpPr>
        <p:spPr>
          <a:xfrm>
            <a:off x="1417320" y="5989320"/>
            <a:ext cx="9509760" cy="502920"/>
          </a:xfrm>
          <a:prstGeom prst="rect">
            <a:avLst/>
          </a:prstGeom>
          <a:solidFill>
            <a:srgbClr val="1E1208"/>
          </a:solidFill>
          <a:ln/>
        </p:spPr>
      </p:sp>
      <p:sp>
        <p:nvSpPr>
          <p:cNvPr id="43" name="Text 40"/>
          <p:cNvSpPr/>
          <p:nvPr/>
        </p:nvSpPr>
        <p:spPr>
          <a:xfrm>
            <a:off x="1600200" y="5989320"/>
            <a:ext cx="9144000" cy="502920"/>
          </a:xfrm>
          <a:prstGeom prst="rect">
            <a:avLst/>
          </a:prstGeom>
          <a:noFill/>
          <a:ln/>
        </p:spPr>
        <p:txBody>
          <a:bodyPr wrap="square" lIns="0" tIns="0" rIns="0" bIns="0" rtlCol="0" anchor="ctr"/>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Videos stay on their own site</a:t>
            </a:r>
            <a:r>
              <a:rPr lang="en-US" sz="1400" b="1" dirty="0" smtClean="0">
                <a:solidFill>
                  <a:srgbClr val="FFFFFF"/>
                </a:solidFill>
                <a:latin typeface="Arial" pitchFamily="34" charset="0"/>
                <a:ea typeface="Arial" pitchFamily="34" charset="-122"/>
                <a:cs typeface="Arial" pitchFamily="34" charset="-120"/>
              </a:rPr>
              <a: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368735" y="3026664"/>
            <a:ext cx="822960" cy="1152144"/>
          </a:xfrm>
          <a:prstGeom prst="rect">
            <a:avLst/>
          </a:prstGeom>
          <a:solidFill>
            <a:srgbClr val="E3B51E"/>
          </a:solidFill>
          <a:ln w="25400">
            <a:solidFill>
              <a:srgbClr val="1E1208"/>
            </a:solidFill>
            <a:prstDash val="solid"/>
          </a:ln>
        </p:spPr>
      </p:sp>
      <p:sp>
        <p:nvSpPr>
          <p:cNvPr id="7" name="Text 5"/>
          <p:cNvSpPr/>
          <p:nvPr/>
        </p:nvSpPr>
        <p:spPr>
          <a:xfrm>
            <a:off x="11368735" y="3026664"/>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21476" y="249382"/>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LEARNING</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300" dirty="0">
                <a:solidFill>
                  <a:srgbClr val="1E1208"/>
                </a:solidFill>
                <a:latin typeface="Impact" pitchFamily="34" charset="0"/>
                <a:ea typeface="Impact" pitchFamily="34" charset="-122"/>
                <a:cs typeface="Impact" pitchFamily="34" charset="-120"/>
              </a:rPr>
              <a:t>THE LIBRARY: READ IT, LISTEN TO </a:t>
            </a:r>
            <a:r>
              <a:rPr lang="en-US" sz="4300" dirty="0" smtClean="0">
                <a:solidFill>
                  <a:srgbClr val="1E1208"/>
                </a:solidFill>
                <a:latin typeface="Impact" pitchFamily="34" charset="0"/>
                <a:ea typeface="Impact" pitchFamily="34" charset="-122"/>
                <a:cs typeface="Impact" pitchFamily="34" charset="-120"/>
              </a:rPr>
              <a:t>IT, ASSIGN IT</a:t>
            </a:r>
            <a:endParaRPr lang="en-US" sz="4300" dirty="0"/>
          </a:p>
        </p:txBody>
      </p:sp>
      <p:sp>
        <p:nvSpPr>
          <p:cNvPr id="15" name="Shape 12"/>
          <p:cNvSpPr/>
          <p:nvPr/>
        </p:nvSpPr>
        <p:spPr>
          <a:xfrm>
            <a:off x="1417320" y="1920240"/>
            <a:ext cx="685800" cy="676656"/>
          </a:xfrm>
          <a:prstGeom prst="rect">
            <a:avLst/>
          </a:prstGeom>
          <a:solidFill>
            <a:srgbClr val="E3B51E"/>
          </a:solidFill>
          <a:ln w="25400">
            <a:solidFill>
              <a:srgbClr val="1E1208"/>
            </a:solidFill>
            <a:prstDash val="solid"/>
          </a:ln>
        </p:spPr>
      </p:sp>
      <p:sp>
        <p:nvSpPr>
          <p:cNvPr id="16" name="Text 13"/>
          <p:cNvSpPr/>
          <p:nvPr/>
        </p:nvSpPr>
        <p:spPr>
          <a:xfrm>
            <a:off x="1417320" y="1920240"/>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7" name="Shape 14"/>
          <p:cNvSpPr/>
          <p:nvPr/>
        </p:nvSpPr>
        <p:spPr>
          <a:xfrm>
            <a:off x="2103120" y="1920240"/>
            <a:ext cx="8823960" cy="676656"/>
          </a:xfrm>
          <a:prstGeom prst="rect">
            <a:avLst/>
          </a:prstGeom>
          <a:solidFill>
            <a:srgbClr val="FFFFFF"/>
          </a:solidFill>
          <a:ln w="25400">
            <a:solidFill>
              <a:srgbClr val="1E1208"/>
            </a:solidFill>
            <a:prstDash val="solid"/>
          </a:ln>
        </p:spPr>
      </p:sp>
      <p:sp>
        <p:nvSpPr>
          <p:cNvPr id="18" name="Text 15"/>
          <p:cNvSpPr/>
          <p:nvPr/>
        </p:nvSpPr>
        <p:spPr>
          <a:xfrm>
            <a:off x="2286000" y="1920240"/>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READ OR LISTEN</a:t>
            </a:r>
            <a:endParaRPr lang="en-US" sz="1600" dirty="0"/>
          </a:p>
        </p:txBody>
      </p:sp>
      <p:sp>
        <p:nvSpPr>
          <p:cNvPr id="19" name="Text 16"/>
          <p:cNvSpPr/>
          <p:nvPr/>
        </p:nvSpPr>
        <p:spPr>
          <a:xfrm>
            <a:off x="4846320" y="1920240"/>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Page by page, or audio that remembers where the student stopped.</a:t>
            </a:r>
            <a:endParaRPr lang="en-US" sz="1250" dirty="0"/>
          </a:p>
        </p:txBody>
      </p:sp>
      <p:sp>
        <p:nvSpPr>
          <p:cNvPr id="20" name="Shape 17"/>
          <p:cNvSpPr/>
          <p:nvPr/>
        </p:nvSpPr>
        <p:spPr>
          <a:xfrm>
            <a:off x="1417320" y="2706624"/>
            <a:ext cx="685800" cy="676656"/>
          </a:xfrm>
          <a:prstGeom prst="rect">
            <a:avLst/>
          </a:prstGeom>
          <a:solidFill>
            <a:srgbClr val="E3B51E"/>
          </a:solidFill>
          <a:ln w="25400">
            <a:solidFill>
              <a:srgbClr val="1E1208"/>
            </a:solidFill>
            <a:prstDash val="solid"/>
          </a:ln>
        </p:spPr>
      </p:sp>
      <p:sp>
        <p:nvSpPr>
          <p:cNvPr id="21" name="Text 18"/>
          <p:cNvSpPr/>
          <p:nvPr/>
        </p:nvSpPr>
        <p:spPr>
          <a:xfrm>
            <a:off x="1417320" y="2706624"/>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2" name="Shape 19"/>
          <p:cNvSpPr/>
          <p:nvPr/>
        </p:nvSpPr>
        <p:spPr>
          <a:xfrm>
            <a:off x="2103120" y="2706624"/>
            <a:ext cx="8823960" cy="676656"/>
          </a:xfrm>
          <a:prstGeom prst="rect">
            <a:avLst/>
          </a:prstGeom>
          <a:solidFill>
            <a:srgbClr val="FFFFFF"/>
          </a:solidFill>
          <a:ln w="25400">
            <a:solidFill>
              <a:srgbClr val="1E1208"/>
            </a:solidFill>
            <a:prstDash val="solid"/>
          </a:ln>
        </p:spPr>
      </p:sp>
      <p:sp>
        <p:nvSpPr>
          <p:cNvPr id="23" name="Text 20"/>
          <p:cNvSpPr/>
          <p:nvPr/>
        </p:nvSpPr>
        <p:spPr>
          <a:xfrm>
            <a:off x="2286000" y="2706624"/>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BROWSE YOUR WAY</a:t>
            </a:r>
            <a:endParaRPr lang="en-US" sz="1600" dirty="0"/>
          </a:p>
        </p:txBody>
      </p:sp>
      <p:sp>
        <p:nvSpPr>
          <p:cNvPr id="24" name="Text 21"/>
          <p:cNvSpPr/>
          <p:nvPr/>
        </p:nvSpPr>
        <p:spPr>
          <a:xfrm>
            <a:off x="4846320" y="2706624"/>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By shelf, genre or subject: curriculum books and reading for fun.</a:t>
            </a:r>
            <a:endParaRPr lang="en-US" sz="1250" dirty="0"/>
          </a:p>
        </p:txBody>
      </p:sp>
      <p:sp>
        <p:nvSpPr>
          <p:cNvPr id="25" name="Shape 22"/>
          <p:cNvSpPr/>
          <p:nvPr/>
        </p:nvSpPr>
        <p:spPr>
          <a:xfrm>
            <a:off x="1417320" y="3493008"/>
            <a:ext cx="685800" cy="676656"/>
          </a:xfrm>
          <a:prstGeom prst="rect">
            <a:avLst/>
          </a:prstGeom>
          <a:solidFill>
            <a:srgbClr val="E3B51E"/>
          </a:solidFill>
          <a:ln w="25400">
            <a:solidFill>
              <a:srgbClr val="1E1208"/>
            </a:solidFill>
            <a:prstDash val="solid"/>
          </a:ln>
        </p:spPr>
      </p:sp>
      <p:sp>
        <p:nvSpPr>
          <p:cNvPr id="26" name="Text 23"/>
          <p:cNvSpPr/>
          <p:nvPr/>
        </p:nvSpPr>
        <p:spPr>
          <a:xfrm>
            <a:off x="1417320" y="3493008"/>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7" name="Shape 24"/>
          <p:cNvSpPr/>
          <p:nvPr/>
        </p:nvSpPr>
        <p:spPr>
          <a:xfrm>
            <a:off x="2103120" y="3493008"/>
            <a:ext cx="8823960" cy="676656"/>
          </a:xfrm>
          <a:prstGeom prst="rect">
            <a:avLst/>
          </a:prstGeom>
          <a:solidFill>
            <a:srgbClr val="FFFFFF"/>
          </a:solidFill>
          <a:ln w="25400">
            <a:solidFill>
              <a:srgbClr val="1E1208"/>
            </a:solidFill>
            <a:prstDash val="solid"/>
          </a:ln>
        </p:spPr>
      </p:sp>
      <p:sp>
        <p:nvSpPr>
          <p:cNvPr id="28" name="Text 25"/>
          <p:cNvSpPr/>
          <p:nvPr/>
        </p:nvSpPr>
        <p:spPr>
          <a:xfrm>
            <a:off x="2286000" y="3493008"/>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TEACHER ASSIGNMENTS</a:t>
            </a:r>
            <a:endParaRPr lang="en-US" sz="1600" dirty="0"/>
          </a:p>
        </p:txBody>
      </p:sp>
      <p:sp>
        <p:nvSpPr>
          <p:cNvPr id="29" name="Text 26"/>
          <p:cNvSpPr/>
          <p:nvPr/>
        </p:nvSpPr>
        <p:spPr>
          <a:xfrm>
            <a:off x="4846320" y="3493008"/>
            <a:ext cx="5943600" cy="676656"/>
          </a:xfrm>
          <a:prstGeom prst="rect">
            <a:avLst/>
          </a:prstGeom>
          <a:noFill/>
          <a:ln/>
        </p:spPr>
        <p:txBody>
          <a:bodyPr wrap="square" lIns="0" tIns="0" rIns="0" bIns="0" rtlCol="0" anchor="ctr"/>
          <a:lstStyle/>
          <a:p>
            <a:pPr marL="0" indent="0" algn="l">
              <a:lnSpc>
                <a:spcPct val="110000"/>
              </a:lnSpc>
              <a:buNone/>
            </a:pPr>
            <a:r>
              <a:rPr lang="en-US" sz="1250" dirty="0" smtClean="0">
                <a:solidFill>
                  <a:srgbClr val="555555"/>
                </a:solidFill>
                <a:latin typeface="Arial" pitchFamily="34" charset="0"/>
                <a:ea typeface="Arial" pitchFamily="34" charset="-122"/>
                <a:cs typeface="Arial" pitchFamily="34" charset="-120"/>
              </a:rPr>
              <a:t>Give assignments on a </a:t>
            </a:r>
            <a:r>
              <a:rPr lang="en-US" sz="1250" dirty="0" smtClean="0">
                <a:solidFill>
                  <a:srgbClr val="555555"/>
                </a:solidFill>
                <a:latin typeface="Arial" pitchFamily="34" charset="0"/>
                <a:ea typeface="Arial" pitchFamily="34" charset="-122"/>
                <a:cs typeface="Arial" pitchFamily="34" charset="-120"/>
              </a:rPr>
              <a:t>book </a:t>
            </a:r>
            <a:r>
              <a:rPr lang="en-US" sz="1250" dirty="0">
                <a:solidFill>
                  <a:srgbClr val="555555"/>
                </a:solidFill>
                <a:latin typeface="Arial" pitchFamily="34" charset="0"/>
                <a:ea typeface="Arial" pitchFamily="34" charset="-122"/>
                <a:cs typeface="Arial" pitchFamily="34" charset="-120"/>
              </a:rPr>
              <a:t>or chapter with a due date and see who finished.</a:t>
            </a:r>
            <a:endParaRPr lang="en-US" sz="1250" dirty="0"/>
          </a:p>
        </p:txBody>
      </p:sp>
      <p:sp>
        <p:nvSpPr>
          <p:cNvPr id="30" name="Shape 27"/>
          <p:cNvSpPr/>
          <p:nvPr/>
        </p:nvSpPr>
        <p:spPr>
          <a:xfrm>
            <a:off x="1417320" y="4279392"/>
            <a:ext cx="685800" cy="676656"/>
          </a:xfrm>
          <a:prstGeom prst="rect">
            <a:avLst/>
          </a:prstGeom>
          <a:solidFill>
            <a:srgbClr val="E3B51E"/>
          </a:solidFill>
          <a:ln w="25400">
            <a:solidFill>
              <a:srgbClr val="1E1208"/>
            </a:solidFill>
            <a:prstDash val="solid"/>
          </a:ln>
        </p:spPr>
      </p:sp>
      <p:sp>
        <p:nvSpPr>
          <p:cNvPr id="31" name="Text 28"/>
          <p:cNvSpPr/>
          <p:nvPr/>
        </p:nvSpPr>
        <p:spPr>
          <a:xfrm>
            <a:off x="1417320" y="4279392"/>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2" name="Shape 29"/>
          <p:cNvSpPr/>
          <p:nvPr/>
        </p:nvSpPr>
        <p:spPr>
          <a:xfrm>
            <a:off x="2103120" y="4279392"/>
            <a:ext cx="8823960" cy="676656"/>
          </a:xfrm>
          <a:prstGeom prst="rect">
            <a:avLst/>
          </a:prstGeom>
          <a:solidFill>
            <a:srgbClr val="FFFFFF"/>
          </a:solidFill>
          <a:ln w="25400">
            <a:solidFill>
              <a:srgbClr val="1E1208"/>
            </a:solidFill>
            <a:prstDash val="solid"/>
          </a:ln>
        </p:spPr>
      </p:sp>
      <p:sp>
        <p:nvSpPr>
          <p:cNvPr id="33" name="Text 30"/>
          <p:cNvSpPr/>
          <p:nvPr/>
        </p:nvSpPr>
        <p:spPr>
          <a:xfrm>
            <a:off x="2286000" y="4279392"/>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BOOKMARKS AND NOTES</a:t>
            </a:r>
            <a:endParaRPr lang="en-US" sz="1600" dirty="0"/>
          </a:p>
        </p:txBody>
      </p:sp>
      <p:sp>
        <p:nvSpPr>
          <p:cNvPr id="34" name="Text 31"/>
          <p:cNvSpPr/>
          <p:nvPr/>
        </p:nvSpPr>
        <p:spPr>
          <a:xfrm>
            <a:off x="4846320" y="4279392"/>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Students keep private bookmarks and notes. Teachers cannot read them.</a:t>
            </a:r>
            <a:endParaRPr lang="en-US" sz="1250" dirty="0"/>
          </a:p>
        </p:txBody>
      </p:sp>
      <p:sp>
        <p:nvSpPr>
          <p:cNvPr id="35" name="Shape 32"/>
          <p:cNvSpPr/>
          <p:nvPr/>
        </p:nvSpPr>
        <p:spPr>
          <a:xfrm>
            <a:off x="1417320" y="5065776"/>
            <a:ext cx="685800" cy="676656"/>
          </a:xfrm>
          <a:prstGeom prst="rect">
            <a:avLst/>
          </a:prstGeom>
          <a:solidFill>
            <a:srgbClr val="E3B51E"/>
          </a:solidFill>
          <a:ln w="25400">
            <a:solidFill>
              <a:srgbClr val="1E1208"/>
            </a:solidFill>
            <a:prstDash val="solid"/>
          </a:ln>
        </p:spPr>
      </p:sp>
      <p:sp>
        <p:nvSpPr>
          <p:cNvPr id="36" name="Text 33"/>
          <p:cNvSpPr/>
          <p:nvPr/>
        </p:nvSpPr>
        <p:spPr>
          <a:xfrm>
            <a:off x="1417320" y="5065776"/>
            <a:ext cx="685800" cy="676656"/>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7" name="Shape 34"/>
          <p:cNvSpPr/>
          <p:nvPr/>
        </p:nvSpPr>
        <p:spPr>
          <a:xfrm>
            <a:off x="2103120" y="5065776"/>
            <a:ext cx="8823960" cy="676656"/>
          </a:xfrm>
          <a:prstGeom prst="rect">
            <a:avLst/>
          </a:prstGeom>
          <a:solidFill>
            <a:srgbClr val="FFFFFF"/>
          </a:solidFill>
          <a:ln w="25400">
            <a:solidFill>
              <a:srgbClr val="1E1208"/>
            </a:solidFill>
            <a:prstDash val="solid"/>
          </a:ln>
        </p:spPr>
      </p:sp>
      <p:sp>
        <p:nvSpPr>
          <p:cNvPr id="38" name="Text 35"/>
          <p:cNvSpPr/>
          <p:nvPr/>
        </p:nvSpPr>
        <p:spPr>
          <a:xfrm>
            <a:off x="2286000" y="5065776"/>
            <a:ext cx="2743200" cy="676656"/>
          </a:xfrm>
          <a:prstGeom prst="rect">
            <a:avLst/>
          </a:prstGeom>
          <a:noFill/>
          <a:ln/>
        </p:spPr>
        <p:txBody>
          <a:bodyPr wrap="square" lIns="0" tIns="0" rIns="0" bIns="0" rtlCol="0" anchor="ctr"/>
          <a:lstStyle/>
          <a:p>
            <a:pPr marL="0" indent="0" algn="l">
              <a:lnSpc>
                <a:spcPct val="110000"/>
              </a:lnSpc>
              <a:buNone/>
            </a:pPr>
            <a:r>
              <a:rPr lang="en-US" sz="1600" dirty="0">
                <a:solidFill>
                  <a:srgbClr val="1E1208"/>
                </a:solidFill>
                <a:latin typeface="Impact" pitchFamily="34" charset="0"/>
                <a:ea typeface="Impact" pitchFamily="34" charset="-122"/>
                <a:cs typeface="Impact" pitchFamily="34" charset="-120"/>
              </a:rPr>
              <a:t>SCHOOL CONTROLS</a:t>
            </a:r>
            <a:endParaRPr lang="en-US" sz="1600" dirty="0"/>
          </a:p>
        </p:txBody>
      </p:sp>
      <p:sp>
        <p:nvSpPr>
          <p:cNvPr id="39" name="Text 36"/>
          <p:cNvSpPr/>
          <p:nvPr/>
        </p:nvSpPr>
        <p:spPr>
          <a:xfrm>
            <a:off x="4846320" y="5065776"/>
            <a:ext cx="5943600" cy="676656"/>
          </a:xfrm>
          <a:prstGeom prst="rect">
            <a:avLst/>
          </a:prstGeom>
          <a:noFill/>
          <a:ln/>
        </p:spPr>
        <p:txBody>
          <a:bodyPr wrap="square" lIns="0" tIns="0" rIns="0" bIns="0" rtlCol="0" anchor="ctr"/>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The school chooses shelves, year groups, audio and which titles are visible.</a:t>
            </a:r>
            <a:endParaRPr lang="en-US" sz="1250" dirty="0"/>
          </a:p>
        </p:txBody>
      </p:sp>
      <p:sp>
        <p:nvSpPr>
          <p:cNvPr id="41" name="Text 38"/>
          <p:cNvSpPr/>
          <p:nvPr/>
        </p:nvSpPr>
        <p:spPr>
          <a:xfrm>
            <a:off x="1600200" y="5989320"/>
            <a:ext cx="9144000" cy="502920"/>
          </a:xfrm>
          <a:prstGeom prst="rect">
            <a:avLst/>
          </a:prstGeom>
          <a:noFill/>
          <a:ln/>
        </p:spPr>
        <p:txBody>
          <a:bodyPr wrap="square" lIns="0" tIns="0" rIns="0" bIns="0" rtlCol="0" anchor="ctr"/>
          <a:lstStyle/>
          <a:p>
            <a:pPr marL="0" indent="0" algn="l">
              <a:lnSpc>
                <a:spcPct val="110000"/>
              </a:lnSpc>
              <a:buNone/>
            </a:pPr>
            <a:r>
              <a:rPr lang="en-US" sz="1400" b="1" dirty="0">
                <a:solidFill>
                  <a:srgbClr val="FFFFFF"/>
                </a:solidFill>
                <a:latin typeface="Arial" pitchFamily="34" charset="0"/>
                <a:ea typeface="Arial" pitchFamily="34" charset="-122"/>
                <a:cs typeface="Arial" pitchFamily="34" charset="-120"/>
              </a:rPr>
              <a:t>Every title is chosen and cleared by Smart </a:t>
            </a:r>
            <a:r>
              <a:rPr lang="en-US" sz="1400" b="1" dirty="0" smtClean="0">
                <a:solidFill>
                  <a:srgbClr val="FFFFFF"/>
                </a:solidFill>
                <a:latin typeface="Arial" pitchFamily="34" charset="0"/>
                <a:ea typeface="Arial" pitchFamily="34" charset="-122"/>
                <a:cs typeface="Arial" pitchFamily="34" charset="-120"/>
              </a:rPr>
              <a:t>Asses </a:t>
            </a:r>
            <a:r>
              <a:rPr lang="en-US" sz="1400" b="1" dirty="0">
                <a:solidFill>
                  <a:srgbClr val="FFFFFF"/>
                </a:solidFill>
                <a:latin typeface="Arial" pitchFamily="34" charset="0"/>
                <a:ea typeface="Arial" pitchFamily="34" charset="-122"/>
                <a:cs typeface="Arial" pitchFamily="34" charset="-120"/>
              </a:rPr>
              <a:t>Ja. Schools do not upload books.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368735" y="4288536"/>
            <a:ext cx="822960" cy="1152144"/>
          </a:xfrm>
          <a:prstGeom prst="rect">
            <a:avLst/>
          </a:prstGeom>
          <a:solidFill>
            <a:srgbClr val="1E1208"/>
          </a:solidFill>
          <a:ln w="25400">
            <a:solidFill>
              <a:srgbClr val="1E1208"/>
            </a:solidFill>
            <a:prstDash val="solid"/>
          </a:ln>
        </p:spPr>
      </p:sp>
      <p:sp>
        <p:nvSpPr>
          <p:cNvPr id="9" name="Text 7"/>
          <p:cNvSpPr/>
          <p:nvPr/>
        </p:nvSpPr>
        <p:spPr>
          <a:xfrm>
            <a:off x="11368735" y="4288536"/>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MEET THE PRODUCT</a:t>
            </a:r>
            <a:endParaRPr lang="en-US" sz="1400" dirty="0"/>
          </a:p>
        </p:txBody>
      </p:sp>
      <p:sp>
        <p:nvSpPr>
          <p:cNvPr id="14" name="Shape 11"/>
          <p:cNvSpPr/>
          <p:nvPr/>
        </p:nvSpPr>
        <p:spPr>
          <a:xfrm>
            <a:off x="1417320" y="1920240"/>
            <a:ext cx="3931920" cy="3931920"/>
          </a:xfrm>
          <a:prstGeom prst="rect">
            <a:avLst/>
          </a:prstGeom>
          <a:solidFill>
            <a:srgbClr val="1E1208"/>
          </a:solidFill>
          <a:ln w="25400">
            <a:solidFill>
              <a:srgbClr val="1E1208"/>
            </a:solidFill>
            <a:prstDash val="solid"/>
          </a:ln>
        </p:spPr>
      </p:sp>
      <p:sp>
        <p:nvSpPr>
          <p:cNvPr id="15" name="Text 12"/>
          <p:cNvSpPr/>
          <p:nvPr/>
        </p:nvSpPr>
        <p:spPr>
          <a:xfrm>
            <a:off x="1645920" y="2011680"/>
            <a:ext cx="3474720" cy="1463040"/>
          </a:xfrm>
          <a:prstGeom prst="rect">
            <a:avLst/>
          </a:prstGeom>
          <a:noFill/>
          <a:ln/>
        </p:spPr>
        <p:txBody>
          <a:bodyPr wrap="square" lIns="0" tIns="0" rIns="0" bIns="0" rtlCol="0" anchor="t"/>
          <a:lstStyle/>
          <a:p>
            <a:pPr marL="0" indent="0" algn="l">
              <a:lnSpc>
                <a:spcPct val="110000"/>
              </a:lnSpc>
              <a:buNone/>
            </a:pPr>
            <a:r>
              <a:rPr lang="en-US" sz="9600" dirty="0">
                <a:solidFill>
                  <a:srgbClr val="FFFFFF"/>
                </a:solidFill>
                <a:latin typeface="Impact" pitchFamily="34" charset="0"/>
                <a:ea typeface="Impact" pitchFamily="34" charset="-122"/>
                <a:cs typeface="Impact" pitchFamily="34" charset="-120"/>
              </a:rPr>
              <a:t>3</a:t>
            </a:r>
            <a:endParaRPr lang="en-US" sz="9600" dirty="0"/>
          </a:p>
        </p:txBody>
      </p:sp>
      <p:sp>
        <p:nvSpPr>
          <p:cNvPr id="16" name="Text 13"/>
          <p:cNvSpPr/>
          <p:nvPr/>
        </p:nvSpPr>
        <p:spPr>
          <a:xfrm>
            <a:off x="1645920" y="3429000"/>
            <a:ext cx="3474720" cy="1371600"/>
          </a:xfrm>
          <a:prstGeom prst="rect">
            <a:avLst/>
          </a:prstGeom>
          <a:noFill/>
          <a:ln/>
        </p:spPr>
        <p:txBody>
          <a:bodyPr wrap="square" lIns="0" tIns="0" rIns="0" bIns="0" rtlCol="0" anchor="t"/>
          <a:lstStyle/>
          <a:p>
            <a:pPr marL="0" indent="0" algn="l">
              <a:lnSpc>
                <a:spcPct val="95000"/>
              </a:lnSpc>
              <a:buNone/>
            </a:pPr>
            <a:r>
              <a:rPr lang="en-US" sz="4400" dirty="0">
                <a:solidFill>
                  <a:srgbClr val="FFFFFF"/>
                </a:solidFill>
                <a:latin typeface="Impact" pitchFamily="34" charset="0"/>
                <a:ea typeface="Impact" pitchFamily="34" charset="-122"/>
                <a:cs typeface="Impact" pitchFamily="34" charset="-120"/>
              </a:rPr>
              <a:t>SMART</a:t>
            </a:r>
            <a:endParaRPr lang="en-US" sz="4400" dirty="0"/>
          </a:p>
          <a:p>
            <a:pPr marL="0" indent="0" algn="l">
              <a:lnSpc>
                <a:spcPct val="95000"/>
              </a:lnSpc>
              <a:buNone/>
            </a:pPr>
            <a:r>
              <a:rPr lang="en-US" sz="4400" dirty="0">
                <a:solidFill>
                  <a:srgbClr val="FFFFFF"/>
                </a:solidFill>
                <a:latin typeface="Impact" pitchFamily="34" charset="0"/>
                <a:ea typeface="Impact" pitchFamily="34" charset="-122"/>
                <a:cs typeface="Impact" pitchFamily="34" charset="-120"/>
              </a:rPr>
              <a:t>PLAY</a:t>
            </a:r>
            <a:endParaRPr lang="en-US" sz="4400" dirty="0"/>
          </a:p>
        </p:txBody>
      </p:sp>
      <p:sp>
        <p:nvSpPr>
          <p:cNvPr id="17" name="Text 14"/>
          <p:cNvSpPr/>
          <p:nvPr/>
        </p:nvSpPr>
        <p:spPr>
          <a:xfrm>
            <a:off x="1645920" y="4937760"/>
            <a:ext cx="3474720" cy="822960"/>
          </a:xfrm>
          <a:prstGeom prst="rect">
            <a:avLst/>
          </a:prstGeom>
          <a:noFill/>
          <a:ln/>
        </p:spPr>
        <p:txBody>
          <a:bodyPr wrap="square" lIns="0" tIns="0" rIns="0" bIns="0" rtlCol="0" anchor="t"/>
          <a:lstStyle/>
          <a:p>
            <a:pPr marL="0" indent="0" algn="l">
              <a:lnSpc>
                <a:spcPct val="110000"/>
              </a:lnSpc>
              <a:buNone/>
            </a:pPr>
            <a:r>
              <a:rPr lang="en-US" sz="1800" b="1" dirty="0">
                <a:solidFill>
                  <a:srgbClr val="FFFFFF"/>
                </a:solidFill>
                <a:latin typeface="Arial" pitchFamily="34" charset="0"/>
                <a:ea typeface="Arial" pitchFamily="34" charset="-122"/>
                <a:cs typeface="Arial" pitchFamily="34" charset="-120"/>
              </a:rPr>
              <a:t>Make practice fun.</a:t>
            </a:r>
            <a:endParaRPr lang="en-US" sz="1800" dirty="0"/>
          </a:p>
        </p:txBody>
      </p:sp>
      <p:sp>
        <p:nvSpPr>
          <p:cNvPr id="19" name="Text 16"/>
          <p:cNvSpPr/>
          <p:nvPr/>
        </p:nvSpPr>
        <p:spPr>
          <a:xfrm>
            <a:off x="5623560" y="3703320"/>
            <a:ext cx="5303520" cy="274320"/>
          </a:xfrm>
          <a:prstGeom prst="rect">
            <a:avLst/>
          </a:prstGeom>
          <a:noFill/>
          <a:ln/>
        </p:spPr>
        <p:txBody>
          <a:bodyPr wrap="square" lIns="0" tIns="0" rIns="0" bIns="0" rtlCol="0" anchor="t"/>
          <a:lstStyle/>
          <a:p>
            <a:pPr marL="0" indent="0" algn="l">
              <a:lnSpc>
                <a:spcPct val="110000"/>
              </a:lnSpc>
              <a:buNone/>
            </a:pPr>
            <a:r>
              <a:rPr lang="en-US" sz="1400" b="1" kern="0" spc="200" dirty="0">
                <a:solidFill>
                  <a:srgbClr val="1E1208"/>
                </a:solidFill>
                <a:latin typeface="Courier New" pitchFamily="34" charset="0"/>
                <a:ea typeface="Courier New" pitchFamily="34" charset="-122"/>
                <a:cs typeface="Courier New" pitchFamily="34" charset="-120"/>
              </a:rPr>
              <a:t>WHAT IT DOES</a:t>
            </a:r>
            <a:endParaRPr lang="en-US" sz="1400" dirty="0"/>
          </a:p>
        </p:txBody>
      </p:sp>
      <p:sp>
        <p:nvSpPr>
          <p:cNvPr id="20" name="Shape 17"/>
          <p:cNvSpPr/>
          <p:nvPr/>
        </p:nvSpPr>
        <p:spPr>
          <a:xfrm>
            <a:off x="5623560" y="4041648"/>
            <a:ext cx="5303520" cy="475488"/>
          </a:xfrm>
          <a:prstGeom prst="rect">
            <a:avLst/>
          </a:prstGeom>
          <a:solidFill>
            <a:srgbClr val="FFFFFF"/>
          </a:solidFill>
          <a:ln w="25400">
            <a:solidFill>
              <a:srgbClr val="1E1208"/>
            </a:solidFill>
            <a:prstDash val="solid"/>
          </a:ln>
        </p:spPr>
      </p:sp>
      <p:sp>
        <p:nvSpPr>
          <p:cNvPr id="21" name="Text 18"/>
          <p:cNvSpPr/>
          <p:nvPr/>
        </p:nvSpPr>
        <p:spPr>
          <a:xfrm>
            <a:off x="5806440" y="404164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Duels, live quizzes, boards and team games</a:t>
            </a:r>
            <a:endParaRPr lang="en-US" sz="1300" dirty="0"/>
          </a:p>
        </p:txBody>
      </p:sp>
      <p:sp>
        <p:nvSpPr>
          <p:cNvPr id="22" name="Shape 19"/>
          <p:cNvSpPr/>
          <p:nvPr/>
        </p:nvSpPr>
        <p:spPr>
          <a:xfrm>
            <a:off x="5623560" y="4590288"/>
            <a:ext cx="5303520" cy="475488"/>
          </a:xfrm>
          <a:prstGeom prst="rect">
            <a:avLst/>
          </a:prstGeom>
          <a:solidFill>
            <a:srgbClr val="FBE9D6"/>
          </a:solidFill>
          <a:ln w="25400">
            <a:solidFill>
              <a:srgbClr val="1E1208"/>
            </a:solidFill>
            <a:prstDash val="solid"/>
          </a:ln>
        </p:spPr>
      </p:sp>
      <p:sp>
        <p:nvSpPr>
          <p:cNvPr id="23" name="Text 20"/>
          <p:cNvSpPr/>
          <p:nvPr/>
        </p:nvSpPr>
        <p:spPr>
          <a:xfrm>
            <a:off x="5806440" y="459028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Points, streaks, badges and class leaderboards</a:t>
            </a:r>
            <a:endParaRPr lang="en-US" sz="1300" dirty="0"/>
          </a:p>
        </p:txBody>
      </p:sp>
      <p:sp>
        <p:nvSpPr>
          <p:cNvPr id="24" name="Shape 21"/>
          <p:cNvSpPr/>
          <p:nvPr/>
        </p:nvSpPr>
        <p:spPr>
          <a:xfrm>
            <a:off x="5623560" y="5138928"/>
            <a:ext cx="5303520" cy="475488"/>
          </a:xfrm>
          <a:prstGeom prst="rect">
            <a:avLst/>
          </a:prstGeom>
          <a:solidFill>
            <a:srgbClr val="FFFFFF"/>
          </a:solidFill>
          <a:ln w="25400">
            <a:solidFill>
              <a:srgbClr val="1E1208"/>
            </a:solidFill>
            <a:prstDash val="solid"/>
          </a:ln>
        </p:spPr>
      </p:sp>
      <p:sp>
        <p:nvSpPr>
          <p:cNvPr id="25" name="Text 22"/>
          <p:cNvSpPr/>
          <p:nvPr/>
        </p:nvSpPr>
        <p:spPr>
          <a:xfrm>
            <a:off x="5806440" y="5138928"/>
            <a:ext cx="4983480" cy="475488"/>
          </a:xfrm>
          <a:prstGeom prst="rect">
            <a:avLst/>
          </a:prstGeom>
          <a:noFill/>
          <a:ln/>
        </p:spPr>
        <p:txBody>
          <a:bodyPr wrap="square" lIns="0" tIns="0" rIns="0" bIns="0" rtlCol="0" anchor="ctr"/>
          <a:lstStyle/>
          <a:p>
            <a:pPr marL="0" indent="0" algn="l">
              <a:lnSpc>
                <a:spcPct val="110000"/>
              </a:lnSpc>
              <a:buNone/>
            </a:pPr>
            <a:r>
              <a:rPr lang="en-US" sz="1300" b="1" dirty="0">
                <a:solidFill>
                  <a:srgbClr val="1E1208"/>
                </a:solidFill>
                <a:latin typeface="Arial" pitchFamily="34" charset="0"/>
                <a:ea typeface="Arial" pitchFamily="34" charset="-122"/>
                <a:cs typeface="Arial" pitchFamily="34" charset="-120"/>
              </a:rPr>
              <a:t>Questions from the same topic list as lessons and tests</a:t>
            </a:r>
            <a:endParaRPr lang="en-US" sz="1300" dirty="0"/>
          </a:p>
        </p:txBody>
      </p:sp>
      <p:sp>
        <p:nvSpPr>
          <p:cNvPr id="26" name="Text 23"/>
          <p:cNvSpPr/>
          <p:nvPr/>
        </p:nvSpPr>
        <p:spPr>
          <a:xfrm>
            <a:off x="5623560" y="5760720"/>
            <a:ext cx="3291840" cy="457200"/>
          </a:xfrm>
          <a:prstGeom prst="rect">
            <a:avLst/>
          </a:prstGeom>
          <a:noFill/>
          <a:ln/>
        </p:spPr>
        <p:txBody>
          <a:bodyPr wrap="square" lIns="0" tIns="0" rIns="0" bIns="0" rtlCol="0" anchor="ctr"/>
          <a:lstStyle/>
          <a:p>
            <a:pPr marL="0" indent="0" algn="l">
              <a:lnSpc>
                <a:spcPct val="110000"/>
              </a:lnSpc>
              <a:buNone/>
            </a:pPr>
            <a:r>
              <a:rPr lang="en-US" sz="1200" dirty="0">
                <a:solidFill>
                  <a:srgbClr val="555555"/>
                </a:solidFill>
                <a:latin typeface="Arial" pitchFamily="34" charset="0"/>
                <a:ea typeface="Arial" pitchFamily="34" charset="-122"/>
                <a:cs typeface="Arial" pitchFamily="34" charset="-120"/>
              </a:rPr>
              <a:t>For students and teachers.</a:t>
            </a:r>
            <a:endParaRPr lang="en-US" sz="1200" dirty="0"/>
          </a:p>
        </p:txBody>
      </p:sp>
      <p:sp>
        <p:nvSpPr>
          <p:cNvPr id="27" name="Shape 24"/>
          <p:cNvSpPr/>
          <p:nvPr/>
        </p:nvSpPr>
        <p:spPr>
          <a:xfrm>
            <a:off x="9006840" y="5824728"/>
            <a:ext cx="1920240" cy="310896"/>
          </a:xfrm>
          <a:prstGeom prst="rect">
            <a:avLst/>
          </a:prstGeom>
          <a:solidFill>
            <a:srgbClr val="FDFDFB"/>
          </a:solidFill>
          <a:ln w="19050">
            <a:solidFill>
              <a:srgbClr val="1E1208"/>
            </a:solidFill>
            <a:prstDash val="solid"/>
          </a:ln>
        </p:spPr>
      </p:sp>
      <p:sp>
        <p:nvSpPr>
          <p:cNvPr id="28" name="Text 25"/>
          <p:cNvSpPr/>
          <p:nvPr/>
        </p:nvSpPr>
        <p:spPr>
          <a:xfrm>
            <a:off x="9006840" y="5824728"/>
            <a:ext cx="192024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1E1208"/>
                </a:solidFill>
                <a:latin typeface="Courier New" pitchFamily="34" charset="0"/>
                <a:ea typeface="Courier New" pitchFamily="34" charset="-122"/>
                <a:cs typeface="Courier New" pitchFamily="34" charset="-120"/>
              </a:rPr>
              <a:t>COMING SOON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368735" y="4288536"/>
            <a:ext cx="822960" cy="1152144"/>
          </a:xfrm>
          <a:prstGeom prst="rect">
            <a:avLst/>
          </a:prstGeom>
          <a:solidFill>
            <a:srgbClr val="1E1208"/>
          </a:solidFill>
          <a:ln w="25400">
            <a:solidFill>
              <a:srgbClr val="1E1208"/>
            </a:solidFill>
            <a:prstDash val="solid"/>
          </a:ln>
        </p:spPr>
      </p:sp>
      <p:sp>
        <p:nvSpPr>
          <p:cNvPr id="9" name="Text 7"/>
          <p:cNvSpPr/>
          <p:nvPr/>
        </p:nvSpPr>
        <p:spPr>
          <a:xfrm>
            <a:off x="11368735" y="4288536"/>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84048"/>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SMART PLAY</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600" dirty="0">
                <a:solidFill>
                  <a:srgbClr val="1E1208"/>
                </a:solidFill>
                <a:latin typeface="Impact" pitchFamily="34" charset="0"/>
                <a:ea typeface="Impact" pitchFamily="34" charset="-122"/>
                <a:cs typeface="Impact" pitchFamily="34" charset="-120"/>
              </a:rPr>
              <a:t>ENGAGE AND REINFORCE LEARNING</a:t>
            </a:r>
            <a:endParaRPr lang="en-US" sz="4600" dirty="0"/>
          </a:p>
        </p:txBody>
      </p:sp>
      <p:sp>
        <p:nvSpPr>
          <p:cNvPr id="15" name="Shape 12"/>
          <p:cNvSpPr/>
          <p:nvPr/>
        </p:nvSpPr>
        <p:spPr>
          <a:xfrm>
            <a:off x="9144000" y="502920"/>
            <a:ext cx="1737360" cy="310896"/>
          </a:xfrm>
          <a:prstGeom prst="rect">
            <a:avLst/>
          </a:prstGeom>
          <a:solidFill>
            <a:srgbClr val="1E1208"/>
          </a:solidFill>
          <a:ln w="19050">
            <a:solidFill>
              <a:srgbClr val="1E1208"/>
            </a:solidFill>
            <a:prstDash val="solid"/>
          </a:ln>
        </p:spPr>
      </p:sp>
      <p:sp>
        <p:nvSpPr>
          <p:cNvPr id="16" name="Text 13"/>
          <p:cNvSpPr/>
          <p:nvPr/>
        </p:nvSpPr>
        <p:spPr>
          <a:xfrm>
            <a:off x="9144000" y="502920"/>
            <a:ext cx="1737360" cy="310896"/>
          </a:xfrm>
          <a:prstGeom prst="rect">
            <a:avLst/>
          </a:prstGeom>
          <a:noFill/>
          <a:ln/>
        </p:spPr>
        <p:txBody>
          <a:bodyPr wrap="square" lIns="0" tIns="0" rIns="0" bIns="0" rtlCol="0" anchor="ctr"/>
          <a:lstStyle/>
          <a:p>
            <a:pPr marL="0" indent="0" algn="ctr">
              <a:lnSpc>
                <a:spcPct val="110000"/>
              </a:lnSpc>
              <a:buNone/>
            </a:pPr>
            <a:r>
              <a:rPr lang="en-US" sz="1000" b="1" kern="0" spc="200" dirty="0">
                <a:solidFill>
                  <a:srgbClr val="FFFFFF"/>
                </a:solidFill>
                <a:latin typeface="Courier New" pitchFamily="34" charset="0"/>
                <a:ea typeface="Courier New" pitchFamily="34" charset="-122"/>
                <a:cs typeface="Courier New" pitchFamily="34" charset="-120"/>
              </a:rPr>
              <a:t>COMING SOON</a:t>
            </a:r>
            <a:endParaRPr lang="en-US" sz="1000" dirty="0"/>
          </a:p>
        </p:txBody>
      </p:sp>
      <p:sp>
        <p:nvSpPr>
          <p:cNvPr id="17" name="Shape 14"/>
          <p:cNvSpPr/>
          <p:nvPr/>
        </p:nvSpPr>
        <p:spPr>
          <a:xfrm>
            <a:off x="1417320" y="1965960"/>
            <a:ext cx="3017520" cy="1691640"/>
          </a:xfrm>
          <a:prstGeom prst="rect">
            <a:avLst/>
          </a:prstGeom>
          <a:solidFill>
            <a:srgbClr val="FFFFFF"/>
          </a:solidFill>
          <a:ln w="25400">
            <a:solidFill>
              <a:srgbClr val="1E1208"/>
            </a:solidFill>
            <a:prstDash val="solid"/>
          </a:ln>
        </p:spPr>
      </p:sp>
      <p:sp>
        <p:nvSpPr>
          <p:cNvPr id="18" name="Shape 15"/>
          <p:cNvSpPr/>
          <p:nvPr/>
        </p:nvSpPr>
        <p:spPr>
          <a:xfrm>
            <a:off x="1417320" y="1965960"/>
            <a:ext cx="3017520" cy="109728"/>
          </a:xfrm>
          <a:prstGeom prst="rect">
            <a:avLst/>
          </a:prstGeom>
          <a:solidFill>
            <a:srgbClr val="1E1208"/>
          </a:solidFill>
          <a:ln/>
        </p:spPr>
      </p:sp>
      <p:sp>
        <p:nvSpPr>
          <p:cNvPr id="19" name="Text 16"/>
          <p:cNvSpPr/>
          <p:nvPr/>
        </p:nvSpPr>
        <p:spPr>
          <a:xfrm>
            <a:off x="1600200" y="2240280"/>
            <a:ext cx="2651760" cy="45720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TOPIC MASTERY</a:t>
            </a:r>
            <a:endParaRPr lang="en-US" sz="2000" dirty="0"/>
          </a:p>
        </p:txBody>
      </p:sp>
      <p:sp>
        <p:nvSpPr>
          <p:cNvPr id="20" name="Text 17"/>
          <p:cNvSpPr/>
          <p:nvPr/>
        </p:nvSpPr>
        <p:spPr>
          <a:xfrm>
            <a:off x="1600200" y="2834640"/>
            <a:ext cx="265176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Practise one topic and watch mastery grow.</a:t>
            </a:r>
            <a:endParaRPr lang="en-US" sz="1250" dirty="0"/>
          </a:p>
        </p:txBody>
      </p:sp>
      <p:sp>
        <p:nvSpPr>
          <p:cNvPr id="21" name="Shape 18"/>
          <p:cNvSpPr/>
          <p:nvPr/>
        </p:nvSpPr>
        <p:spPr>
          <a:xfrm>
            <a:off x="4617720" y="1965960"/>
            <a:ext cx="3017520" cy="1691640"/>
          </a:xfrm>
          <a:prstGeom prst="rect">
            <a:avLst/>
          </a:prstGeom>
          <a:solidFill>
            <a:srgbClr val="FBE9D6"/>
          </a:solidFill>
          <a:ln w="25400">
            <a:solidFill>
              <a:srgbClr val="1E1208"/>
            </a:solidFill>
            <a:prstDash val="solid"/>
          </a:ln>
        </p:spPr>
      </p:sp>
      <p:sp>
        <p:nvSpPr>
          <p:cNvPr id="22" name="Shape 19"/>
          <p:cNvSpPr/>
          <p:nvPr/>
        </p:nvSpPr>
        <p:spPr>
          <a:xfrm>
            <a:off x="4617720" y="1965960"/>
            <a:ext cx="3017520" cy="109728"/>
          </a:xfrm>
          <a:prstGeom prst="rect">
            <a:avLst/>
          </a:prstGeom>
          <a:solidFill>
            <a:srgbClr val="1E1208"/>
          </a:solidFill>
          <a:ln/>
        </p:spPr>
      </p:sp>
      <p:sp>
        <p:nvSpPr>
          <p:cNvPr id="23" name="Text 20"/>
          <p:cNvSpPr/>
          <p:nvPr/>
        </p:nvSpPr>
        <p:spPr>
          <a:xfrm>
            <a:off x="4800600" y="2240280"/>
            <a:ext cx="2651760" cy="45720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MATH DUELS</a:t>
            </a:r>
            <a:endParaRPr lang="en-US" sz="2000" dirty="0"/>
          </a:p>
        </p:txBody>
      </p:sp>
      <p:sp>
        <p:nvSpPr>
          <p:cNvPr id="24" name="Text 21"/>
          <p:cNvSpPr/>
          <p:nvPr/>
        </p:nvSpPr>
        <p:spPr>
          <a:xfrm>
            <a:off x="4800600" y="2834640"/>
            <a:ext cx="265176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Two students race through maths questions.</a:t>
            </a:r>
            <a:endParaRPr lang="en-US" sz="1250" dirty="0"/>
          </a:p>
        </p:txBody>
      </p:sp>
      <p:sp>
        <p:nvSpPr>
          <p:cNvPr id="25" name="Shape 22"/>
          <p:cNvSpPr/>
          <p:nvPr/>
        </p:nvSpPr>
        <p:spPr>
          <a:xfrm>
            <a:off x="7818120" y="1965960"/>
            <a:ext cx="3017520" cy="1691640"/>
          </a:xfrm>
          <a:prstGeom prst="rect">
            <a:avLst/>
          </a:prstGeom>
          <a:solidFill>
            <a:srgbClr val="FFFFFF"/>
          </a:solidFill>
          <a:ln w="25400">
            <a:solidFill>
              <a:srgbClr val="1E1208"/>
            </a:solidFill>
            <a:prstDash val="solid"/>
          </a:ln>
        </p:spPr>
      </p:sp>
      <p:sp>
        <p:nvSpPr>
          <p:cNvPr id="26" name="Shape 23"/>
          <p:cNvSpPr/>
          <p:nvPr/>
        </p:nvSpPr>
        <p:spPr>
          <a:xfrm>
            <a:off x="7818120" y="1965960"/>
            <a:ext cx="3017520" cy="109728"/>
          </a:xfrm>
          <a:prstGeom prst="rect">
            <a:avLst/>
          </a:prstGeom>
          <a:solidFill>
            <a:srgbClr val="1E1208"/>
          </a:solidFill>
          <a:ln/>
        </p:spPr>
      </p:sp>
      <p:sp>
        <p:nvSpPr>
          <p:cNvPr id="27" name="Text 24"/>
          <p:cNvSpPr/>
          <p:nvPr/>
        </p:nvSpPr>
        <p:spPr>
          <a:xfrm>
            <a:off x="8001000" y="2240280"/>
            <a:ext cx="2651760" cy="45720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LIVE QUIZ</a:t>
            </a:r>
            <a:endParaRPr lang="en-US" sz="2000" dirty="0"/>
          </a:p>
        </p:txBody>
      </p:sp>
      <p:sp>
        <p:nvSpPr>
          <p:cNvPr id="28" name="Text 25"/>
          <p:cNvSpPr/>
          <p:nvPr/>
        </p:nvSpPr>
        <p:spPr>
          <a:xfrm>
            <a:off x="8001000" y="2834640"/>
            <a:ext cx="265176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A quiz on the projector, answered on own devices.</a:t>
            </a:r>
            <a:endParaRPr lang="en-US" sz="1250" dirty="0"/>
          </a:p>
        </p:txBody>
      </p:sp>
      <p:sp>
        <p:nvSpPr>
          <p:cNvPr id="29" name="Shape 26"/>
          <p:cNvSpPr/>
          <p:nvPr/>
        </p:nvSpPr>
        <p:spPr>
          <a:xfrm>
            <a:off x="1417320" y="3840480"/>
            <a:ext cx="3017520" cy="1691640"/>
          </a:xfrm>
          <a:prstGeom prst="rect">
            <a:avLst/>
          </a:prstGeom>
          <a:solidFill>
            <a:srgbClr val="FBE9D6"/>
          </a:solidFill>
          <a:ln w="25400">
            <a:solidFill>
              <a:srgbClr val="1E1208"/>
            </a:solidFill>
            <a:prstDash val="solid"/>
          </a:ln>
        </p:spPr>
      </p:sp>
      <p:sp>
        <p:nvSpPr>
          <p:cNvPr id="30" name="Shape 27"/>
          <p:cNvSpPr/>
          <p:nvPr/>
        </p:nvSpPr>
        <p:spPr>
          <a:xfrm>
            <a:off x="1417320" y="3840480"/>
            <a:ext cx="3017520" cy="109728"/>
          </a:xfrm>
          <a:prstGeom prst="rect">
            <a:avLst/>
          </a:prstGeom>
          <a:solidFill>
            <a:srgbClr val="1E1208"/>
          </a:solidFill>
          <a:ln/>
        </p:spPr>
      </p:sp>
      <p:sp>
        <p:nvSpPr>
          <p:cNvPr id="31" name="Text 28"/>
          <p:cNvSpPr/>
          <p:nvPr/>
        </p:nvSpPr>
        <p:spPr>
          <a:xfrm>
            <a:off x="1600200" y="4114800"/>
            <a:ext cx="2651760" cy="45720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JEOPARDY-STYLE BOARDS</a:t>
            </a:r>
            <a:endParaRPr lang="en-US" sz="2000" dirty="0"/>
          </a:p>
        </p:txBody>
      </p:sp>
      <p:sp>
        <p:nvSpPr>
          <p:cNvPr id="32" name="Text 29"/>
          <p:cNvSpPr/>
          <p:nvPr/>
        </p:nvSpPr>
        <p:spPr>
          <a:xfrm>
            <a:off x="1600200" y="4709160"/>
            <a:ext cx="265176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Categories and points, with buzz-in for teams.</a:t>
            </a:r>
            <a:endParaRPr lang="en-US" sz="1250" dirty="0"/>
          </a:p>
        </p:txBody>
      </p:sp>
      <p:sp>
        <p:nvSpPr>
          <p:cNvPr id="33" name="Shape 30"/>
          <p:cNvSpPr/>
          <p:nvPr/>
        </p:nvSpPr>
        <p:spPr>
          <a:xfrm>
            <a:off x="4617720" y="3840480"/>
            <a:ext cx="3017520" cy="1691640"/>
          </a:xfrm>
          <a:prstGeom prst="rect">
            <a:avLst/>
          </a:prstGeom>
          <a:solidFill>
            <a:srgbClr val="FFFFFF"/>
          </a:solidFill>
          <a:ln w="25400">
            <a:solidFill>
              <a:srgbClr val="1E1208"/>
            </a:solidFill>
            <a:prstDash val="solid"/>
          </a:ln>
        </p:spPr>
      </p:sp>
      <p:sp>
        <p:nvSpPr>
          <p:cNvPr id="34" name="Shape 31"/>
          <p:cNvSpPr/>
          <p:nvPr/>
        </p:nvSpPr>
        <p:spPr>
          <a:xfrm>
            <a:off x="4617720" y="3840480"/>
            <a:ext cx="3017520" cy="109728"/>
          </a:xfrm>
          <a:prstGeom prst="rect">
            <a:avLst/>
          </a:prstGeom>
          <a:solidFill>
            <a:srgbClr val="1E1208"/>
          </a:solidFill>
          <a:ln/>
        </p:spPr>
      </p:sp>
      <p:sp>
        <p:nvSpPr>
          <p:cNvPr id="35" name="Text 32"/>
          <p:cNvSpPr/>
          <p:nvPr/>
        </p:nvSpPr>
        <p:spPr>
          <a:xfrm>
            <a:off x="4800600" y="4114800"/>
            <a:ext cx="2651760" cy="45720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TUG OF WAR</a:t>
            </a:r>
            <a:endParaRPr lang="en-US" sz="2000" dirty="0"/>
          </a:p>
        </p:txBody>
      </p:sp>
      <p:sp>
        <p:nvSpPr>
          <p:cNvPr id="36" name="Text 33"/>
          <p:cNvSpPr/>
          <p:nvPr/>
        </p:nvSpPr>
        <p:spPr>
          <a:xfrm>
            <a:off x="4800600" y="4709160"/>
            <a:ext cx="2651760" cy="731520"/>
          </a:xfrm>
          <a:prstGeom prst="rect">
            <a:avLst/>
          </a:prstGeom>
          <a:noFill/>
          <a:ln/>
        </p:spPr>
        <p:txBody>
          <a:bodyPr wrap="square" lIns="0" tIns="0" rIns="0" bIns="0" rtlCol="0" anchor="t"/>
          <a:lstStyle/>
          <a:p>
            <a:pPr marL="0" indent="0" algn="l">
              <a:lnSpc>
                <a:spcPct val="110000"/>
              </a:lnSpc>
              <a:buNone/>
            </a:pPr>
            <a:r>
              <a:rPr lang="en-US" sz="1250" dirty="0" smtClean="0">
                <a:solidFill>
                  <a:srgbClr val="555555"/>
                </a:solidFill>
                <a:latin typeface="Arial" pitchFamily="34" charset="0"/>
                <a:ea typeface="Arial" pitchFamily="34" charset="-122"/>
                <a:cs typeface="Arial" pitchFamily="34" charset="-120"/>
              </a:rPr>
              <a:t>Go head-head with teams in mathematical questions and see which team has the most force.</a:t>
            </a:r>
            <a:endParaRPr lang="en-US" sz="1250" dirty="0"/>
          </a:p>
        </p:txBody>
      </p:sp>
      <p:sp>
        <p:nvSpPr>
          <p:cNvPr id="37" name="Shape 34"/>
          <p:cNvSpPr/>
          <p:nvPr/>
        </p:nvSpPr>
        <p:spPr>
          <a:xfrm>
            <a:off x="7818120" y="3840480"/>
            <a:ext cx="3017520" cy="1691640"/>
          </a:xfrm>
          <a:prstGeom prst="rect">
            <a:avLst/>
          </a:prstGeom>
          <a:solidFill>
            <a:srgbClr val="FBE9D6"/>
          </a:solidFill>
          <a:ln w="25400">
            <a:solidFill>
              <a:srgbClr val="1E1208"/>
            </a:solidFill>
            <a:prstDash val="solid"/>
          </a:ln>
        </p:spPr>
      </p:sp>
      <p:sp>
        <p:nvSpPr>
          <p:cNvPr id="38" name="Shape 35"/>
          <p:cNvSpPr/>
          <p:nvPr/>
        </p:nvSpPr>
        <p:spPr>
          <a:xfrm>
            <a:off x="7818120" y="3840480"/>
            <a:ext cx="3017520" cy="109728"/>
          </a:xfrm>
          <a:prstGeom prst="rect">
            <a:avLst/>
          </a:prstGeom>
          <a:solidFill>
            <a:srgbClr val="1E1208"/>
          </a:solidFill>
          <a:ln/>
        </p:spPr>
      </p:sp>
      <p:sp>
        <p:nvSpPr>
          <p:cNvPr id="39" name="Text 36"/>
          <p:cNvSpPr/>
          <p:nvPr/>
        </p:nvSpPr>
        <p:spPr>
          <a:xfrm>
            <a:off x="8001000" y="4114800"/>
            <a:ext cx="2651760" cy="457200"/>
          </a:xfrm>
          <a:prstGeom prst="rect">
            <a:avLst/>
          </a:prstGeom>
          <a:noFill/>
          <a:ln/>
        </p:spPr>
        <p:txBody>
          <a:bodyPr wrap="square" lIns="0" tIns="0" rIns="0" bIns="0" rtlCol="0" anchor="t"/>
          <a:lstStyle/>
          <a:p>
            <a:pPr marL="0" indent="0" algn="l">
              <a:lnSpc>
                <a:spcPct val="110000"/>
              </a:lnSpc>
              <a:buNone/>
            </a:pPr>
            <a:r>
              <a:rPr lang="en-US" sz="2000" dirty="0">
                <a:solidFill>
                  <a:srgbClr val="1E1208"/>
                </a:solidFill>
                <a:latin typeface="Impact" pitchFamily="34" charset="0"/>
                <a:ea typeface="Impact" pitchFamily="34" charset="-122"/>
                <a:cs typeface="Impact" pitchFamily="34" charset="-120"/>
              </a:rPr>
              <a:t>REWARDS</a:t>
            </a:r>
            <a:endParaRPr lang="en-US" sz="2000" dirty="0"/>
          </a:p>
        </p:txBody>
      </p:sp>
      <p:sp>
        <p:nvSpPr>
          <p:cNvPr id="40" name="Text 37"/>
          <p:cNvSpPr/>
          <p:nvPr/>
        </p:nvSpPr>
        <p:spPr>
          <a:xfrm>
            <a:off x="8001000" y="4709160"/>
            <a:ext cx="2651760" cy="731520"/>
          </a:xfrm>
          <a:prstGeom prst="rect">
            <a:avLst/>
          </a:prstGeom>
          <a:noFill/>
          <a:ln/>
        </p:spPr>
        <p:txBody>
          <a:bodyPr wrap="square" lIns="0" tIns="0" rIns="0" bIns="0" rtlCol="0" anchor="t"/>
          <a:lstStyle/>
          <a:p>
            <a:pPr marL="0" indent="0" algn="l">
              <a:lnSpc>
                <a:spcPct val="110000"/>
              </a:lnSpc>
              <a:buNone/>
            </a:pPr>
            <a:r>
              <a:rPr lang="en-US" sz="1250" dirty="0">
                <a:solidFill>
                  <a:srgbClr val="555555"/>
                </a:solidFill>
                <a:latin typeface="Arial" pitchFamily="34" charset="0"/>
                <a:ea typeface="Arial" pitchFamily="34" charset="-122"/>
                <a:cs typeface="Arial" pitchFamily="34" charset="-120"/>
              </a:rPr>
              <a:t>Points, streaks, badges and class leaderboards.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38991"/>
            <a:ext cx="9144000" cy="274320"/>
          </a:xfrm>
          <a:prstGeom prst="rect">
            <a:avLst/>
          </a:prstGeom>
          <a:noFill/>
          <a:ln/>
        </p:spPr>
        <p:txBody>
          <a:bodyPr wrap="square" lIns="0" tIns="0" rIns="0" bIns="0" rtlCol="0" anchor="ctr"/>
          <a:lstStyle/>
          <a:p>
            <a:pPr marL="0" indent="0">
              <a:buNone/>
            </a:pPr>
            <a:r>
              <a:rPr lang="en-US" sz="1600" b="1" kern="0" spc="300" dirty="0">
                <a:solidFill>
                  <a:srgbClr val="1E1208"/>
                </a:solidFill>
                <a:latin typeface="Courier New" pitchFamily="34" charset="0"/>
                <a:ea typeface="Courier New" pitchFamily="34" charset="-122"/>
                <a:cs typeface="Courier New" pitchFamily="34" charset="-120"/>
              </a:rPr>
              <a:t>JOINED UP</a:t>
            </a:r>
            <a:endParaRPr lang="en-US" sz="16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fontScale="92500"/>
          </a:bodyPr>
          <a:lstStyle/>
          <a:p>
            <a:pPr marL="0" indent="0">
              <a:buNone/>
            </a:pPr>
            <a:r>
              <a:rPr lang="en-US" sz="4100" dirty="0">
                <a:solidFill>
                  <a:srgbClr val="1E1208"/>
                </a:solidFill>
                <a:latin typeface="Impact" pitchFamily="34" charset="0"/>
                <a:ea typeface="Impact" pitchFamily="34" charset="-122"/>
                <a:cs typeface="Impact" pitchFamily="34" charset="-120"/>
              </a:rPr>
              <a:t>ASSESS, LEARN, PRACTISE, IMPROVE, ASSESS AGAIN</a:t>
            </a:r>
            <a:endParaRPr lang="en-US" sz="4100" dirty="0"/>
          </a:p>
        </p:txBody>
      </p:sp>
      <p:sp>
        <p:nvSpPr>
          <p:cNvPr id="15" name="Shape 12"/>
          <p:cNvSpPr/>
          <p:nvPr/>
        </p:nvSpPr>
        <p:spPr>
          <a:xfrm>
            <a:off x="1417320" y="2286000"/>
            <a:ext cx="1737360" cy="2103120"/>
          </a:xfrm>
          <a:prstGeom prst="rect">
            <a:avLst/>
          </a:prstGeom>
          <a:solidFill>
            <a:srgbClr val="D4762A"/>
          </a:solidFill>
          <a:ln w="25400">
            <a:solidFill>
              <a:srgbClr val="1E1208"/>
            </a:solidFill>
            <a:prstDash val="solid"/>
          </a:ln>
        </p:spPr>
      </p:sp>
      <p:sp>
        <p:nvSpPr>
          <p:cNvPr id="16" name="Text 13"/>
          <p:cNvSpPr/>
          <p:nvPr/>
        </p:nvSpPr>
        <p:spPr>
          <a:xfrm>
            <a:off x="1527048" y="2468880"/>
            <a:ext cx="1554480" cy="914400"/>
          </a:xfrm>
          <a:prstGeom prst="rect">
            <a:avLst/>
          </a:prstGeom>
          <a:noFill/>
          <a:ln/>
        </p:spPr>
        <p:txBody>
          <a:bodyPr wrap="square" lIns="0" tIns="0" rIns="0" bIns="0" rtlCol="0" anchor="ctr"/>
          <a:lstStyle/>
          <a:p>
            <a:pPr marL="0" indent="0" algn="ctr">
              <a:lnSpc>
                <a:spcPct val="110000"/>
              </a:lnSpc>
              <a:buNone/>
            </a:pPr>
            <a:r>
              <a:rPr lang="en-US" sz="2200" dirty="0">
                <a:solidFill>
                  <a:srgbClr val="1E1208"/>
                </a:solidFill>
                <a:latin typeface="Impact" pitchFamily="34" charset="0"/>
                <a:ea typeface="Impact" pitchFamily="34" charset="-122"/>
                <a:cs typeface="Impact" pitchFamily="34" charset="-120"/>
              </a:rPr>
              <a:t>ASSESS</a:t>
            </a:r>
            <a:endParaRPr lang="en-US" sz="2200" dirty="0"/>
          </a:p>
        </p:txBody>
      </p:sp>
      <p:sp>
        <p:nvSpPr>
          <p:cNvPr id="17" name="Text 14"/>
          <p:cNvSpPr/>
          <p:nvPr/>
        </p:nvSpPr>
        <p:spPr>
          <a:xfrm>
            <a:off x="1527048" y="3429000"/>
            <a:ext cx="1554480" cy="822960"/>
          </a:xfrm>
          <a:prstGeom prst="rect">
            <a:avLst/>
          </a:prstGeom>
          <a:noFill/>
          <a:ln/>
        </p:spPr>
        <p:txBody>
          <a:bodyPr wrap="square" lIns="0" tIns="0" rIns="0" bIns="0" rtlCol="0" anchor="t"/>
          <a:lstStyle/>
          <a:p>
            <a:pPr marL="0" indent="0" algn="ctr">
              <a:lnSpc>
                <a:spcPct val="110000"/>
              </a:lnSpc>
              <a:buNone/>
            </a:pPr>
            <a:r>
              <a:rPr lang="en-US" sz="1150" b="1" dirty="0">
                <a:solidFill>
                  <a:srgbClr val="1E1208"/>
                </a:solidFill>
                <a:latin typeface="Arial" pitchFamily="34" charset="0"/>
                <a:ea typeface="Arial" pitchFamily="34" charset="-122"/>
                <a:cs typeface="Arial" pitchFamily="34" charset="-120"/>
              </a:rPr>
              <a:t>Find what was missed</a:t>
            </a:r>
            <a:endParaRPr lang="en-US" sz="1150" dirty="0"/>
          </a:p>
        </p:txBody>
      </p:sp>
      <p:sp>
        <p:nvSpPr>
          <p:cNvPr id="18" name="Text 15"/>
          <p:cNvSpPr/>
          <p:nvPr/>
        </p:nvSpPr>
        <p:spPr>
          <a:xfrm>
            <a:off x="3136392" y="3017520"/>
            <a:ext cx="228600" cy="457200"/>
          </a:xfrm>
          <a:prstGeom prst="rect">
            <a:avLst/>
          </a:prstGeom>
          <a:noFill/>
          <a:ln/>
        </p:spPr>
        <p:txBody>
          <a:bodyPr wrap="square" lIns="0" tIns="0" rIns="0" bIns="0" rtlCol="0" anchor="t"/>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19" name="Shape 16"/>
          <p:cNvSpPr/>
          <p:nvPr/>
        </p:nvSpPr>
        <p:spPr>
          <a:xfrm>
            <a:off x="3337560" y="2286000"/>
            <a:ext cx="1737360" cy="2103120"/>
          </a:xfrm>
          <a:prstGeom prst="rect">
            <a:avLst/>
          </a:prstGeom>
          <a:solidFill>
            <a:srgbClr val="E3B51E"/>
          </a:solidFill>
          <a:ln w="25400">
            <a:solidFill>
              <a:srgbClr val="1E1208"/>
            </a:solidFill>
            <a:prstDash val="solid"/>
          </a:ln>
        </p:spPr>
      </p:sp>
      <p:sp>
        <p:nvSpPr>
          <p:cNvPr id="20" name="Text 17"/>
          <p:cNvSpPr/>
          <p:nvPr/>
        </p:nvSpPr>
        <p:spPr>
          <a:xfrm>
            <a:off x="3447288" y="2468880"/>
            <a:ext cx="1554480" cy="914400"/>
          </a:xfrm>
          <a:prstGeom prst="rect">
            <a:avLst/>
          </a:prstGeom>
          <a:noFill/>
          <a:ln/>
        </p:spPr>
        <p:txBody>
          <a:bodyPr wrap="square" lIns="0" tIns="0" rIns="0" bIns="0" rtlCol="0" anchor="ctr"/>
          <a:lstStyle/>
          <a:p>
            <a:pPr marL="0" indent="0" algn="ctr">
              <a:lnSpc>
                <a:spcPct val="110000"/>
              </a:lnSpc>
              <a:buNone/>
            </a:pPr>
            <a:r>
              <a:rPr lang="en-US" sz="2200" dirty="0">
                <a:solidFill>
                  <a:srgbClr val="1E1208"/>
                </a:solidFill>
                <a:latin typeface="Impact" pitchFamily="34" charset="0"/>
                <a:ea typeface="Impact" pitchFamily="34" charset="-122"/>
                <a:cs typeface="Impact" pitchFamily="34" charset="-120"/>
              </a:rPr>
              <a:t>LEARN</a:t>
            </a:r>
            <a:endParaRPr lang="en-US" sz="2200" dirty="0"/>
          </a:p>
        </p:txBody>
      </p:sp>
      <p:sp>
        <p:nvSpPr>
          <p:cNvPr id="21" name="Text 18"/>
          <p:cNvSpPr/>
          <p:nvPr/>
        </p:nvSpPr>
        <p:spPr>
          <a:xfrm>
            <a:off x="3447288" y="3429000"/>
            <a:ext cx="1554480" cy="822960"/>
          </a:xfrm>
          <a:prstGeom prst="rect">
            <a:avLst/>
          </a:prstGeom>
          <a:noFill/>
          <a:ln/>
        </p:spPr>
        <p:txBody>
          <a:bodyPr wrap="square" lIns="0" tIns="0" rIns="0" bIns="0" rtlCol="0" anchor="t"/>
          <a:lstStyle/>
          <a:p>
            <a:pPr marL="0" indent="0" algn="ctr">
              <a:lnSpc>
                <a:spcPct val="110000"/>
              </a:lnSpc>
              <a:buNone/>
            </a:pPr>
            <a:r>
              <a:rPr lang="en-US" sz="1150" b="1" dirty="0">
                <a:solidFill>
                  <a:srgbClr val="1E1208"/>
                </a:solidFill>
                <a:latin typeface="Arial" pitchFamily="34" charset="0"/>
                <a:ea typeface="Arial" pitchFamily="34" charset="-122"/>
                <a:cs typeface="Arial" pitchFamily="34" charset="-120"/>
              </a:rPr>
              <a:t>Teach it again, or catch up</a:t>
            </a:r>
            <a:endParaRPr lang="en-US" sz="1150" dirty="0"/>
          </a:p>
        </p:txBody>
      </p:sp>
      <p:sp>
        <p:nvSpPr>
          <p:cNvPr id="22" name="Text 19"/>
          <p:cNvSpPr/>
          <p:nvPr/>
        </p:nvSpPr>
        <p:spPr>
          <a:xfrm>
            <a:off x="5056632" y="3017520"/>
            <a:ext cx="228600" cy="457200"/>
          </a:xfrm>
          <a:prstGeom prst="rect">
            <a:avLst/>
          </a:prstGeom>
          <a:noFill/>
          <a:ln/>
        </p:spPr>
        <p:txBody>
          <a:bodyPr wrap="square" lIns="0" tIns="0" rIns="0" bIns="0" rtlCol="0" anchor="t"/>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23" name="Shape 20"/>
          <p:cNvSpPr/>
          <p:nvPr/>
        </p:nvSpPr>
        <p:spPr>
          <a:xfrm>
            <a:off x="5257800" y="2286000"/>
            <a:ext cx="1737360" cy="2103120"/>
          </a:xfrm>
          <a:prstGeom prst="rect">
            <a:avLst/>
          </a:prstGeom>
          <a:solidFill>
            <a:srgbClr val="FBE9D6"/>
          </a:solidFill>
          <a:ln w="25400">
            <a:solidFill>
              <a:srgbClr val="1E1208"/>
            </a:solidFill>
            <a:prstDash val="solid"/>
          </a:ln>
        </p:spPr>
      </p:sp>
      <p:sp>
        <p:nvSpPr>
          <p:cNvPr id="24" name="Text 21"/>
          <p:cNvSpPr/>
          <p:nvPr/>
        </p:nvSpPr>
        <p:spPr>
          <a:xfrm>
            <a:off x="5367528" y="2468880"/>
            <a:ext cx="1554480" cy="914400"/>
          </a:xfrm>
          <a:prstGeom prst="rect">
            <a:avLst/>
          </a:prstGeom>
          <a:noFill/>
          <a:ln/>
        </p:spPr>
        <p:txBody>
          <a:bodyPr wrap="square" lIns="0" tIns="0" rIns="0" bIns="0" rtlCol="0" anchor="ctr"/>
          <a:lstStyle/>
          <a:p>
            <a:pPr marL="0" indent="0" algn="ctr">
              <a:lnSpc>
                <a:spcPct val="110000"/>
              </a:lnSpc>
              <a:buNone/>
            </a:pPr>
            <a:r>
              <a:rPr lang="en-US" sz="2200" dirty="0">
                <a:solidFill>
                  <a:srgbClr val="1E1208"/>
                </a:solidFill>
                <a:latin typeface="Impact" pitchFamily="34" charset="0"/>
                <a:ea typeface="Impact" pitchFamily="34" charset="-122"/>
                <a:cs typeface="Impact" pitchFamily="34" charset="-120"/>
              </a:rPr>
              <a:t>PRACTISE</a:t>
            </a:r>
            <a:endParaRPr lang="en-US" sz="2200" dirty="0"/>
          </a:p>
        </p:txBody>
      </p:sp>
      <p:sp>
        <p:nvSpPr>
          <p:cNvPr id="25" name="Text 22"/>
          <p:cNvSpPr/>
          <p:nvPr/>
        </p:nvSpPr>
        <p:spPr>
          <a:xfrm>
            <a:off x="5367528" y="3429000"/>
            <a:ext cx="1554480" cy="822960"/>
          </a:xfrm>
          <a:prstGeom prst="rect">
            <a:avLst/>
          </a:prstGeom>
          <a:noFill/>
          <a:ln/>
        </p:spPr>
        <p:txBody>
          <a:bodyPr wrap="square" lIns="0" tIns="0" rIns="0" bIns="0" rtlCol="0" anchor="t"/>
          <a:lstStyle/>
          <a:p>
            <a:pPr marL="0" indent="0" algn="ctr">
              <a:lnSpc>
                <a:spcPct val="110000"/>
              </a:lnSpc>
              <a:buNone/>
            </a:pPr>
            <a:r>
              <a:rPr lang="en-US" sz="1150" b="1" dirty="0">
                <a:solidFill>
                  <a:srgbClr val="1E1208"/>
                </a:solidFill>
                <a:latin typeface="Arial" pitchFamily="34" charset="0"/>
                <a:ea typeface="Arial" pitchFamily="34" charset="-122"/>
                <a:cs typeface="Arial" pitchFamily="34" charset="-120"/>
              </a:rPr>
              <a:t>Flashcards and games</a:t>
            </a:r>
            <a:endParaRPr lang="en-US" sz="1150" dirty="0"/>
          </a:p>
        </p:txBody>
      </p:sp>
      <p:sp>
        <p:nvSpPr>
          <p:cNvPr id="26" name="Text 23"/>
          <p:cNvSpPr/>
          <p:nvPr/>
        </p:nvSpPr>
        <p:spPr>
          <a:xfrm>
            <a:off x="6976872" y="3017520"/>
            <a:ext cx="228600" cy="457200"/>
          </a:xfrm>
          <a:prstGeom prst="rect">
            <a:avLst/>
          </a:prstGeom>
          <a:noFill/>
          <a:ln/>
        </p:spPr>
        <p:txBody>
          <a:bodyPr wrap="square" lIns="0" tIns="0" rIns="0" bIns="0" rtlCol="0" anchor="t"/>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27" name="Shape 24"/>
          <p:cNvSpPr/>
          <p:nvPr/>
        </p:nvSpPr>
        <p:spPr>
          <a:xfrm>
            <a:off x="7178040" y="2286000"/>
            <a:ext cx="1737360" cy="2103120"/>
          </a:xfrm>
          <a:prstGeom prst="rect">
            <a:avLst/>
          </a:prstGeom>
          <a:solidFill>
            <a:srgbClr val="1F8A84"/>
          </a:solidFill>
          <a:ln w="25400">
            <a:solidFill>
              <a:srgbClr val="1E1208"/>
            </a:solidFill>
            <a:prstDash val="solid"/>
          </a:ln>
        </p:spPr>
      </p:sp>
      <p:sp>
        <p:nvSpPr>
          <p:cNvPr id="28" name="Text 25"/>
          <p:cNvSpPr/>
          <p:nvPr/>
        </p:nvSpPr>
        <p:spPr>
          <a:xfrm>
            <a:off x="7287768" y="2468880"/>
            <a:ext cx="1554480" cy="914400"/>
          </a:xfrm>
          <a:prstGeom prst="rect">
            <a:avLst/>
          </a:prstGeom>
          <a:noFill/>
          <a:ln/>
        </p:spPr>
        <p:txBody>
          <a:bodyPr wrap="square" lIns="0" tIns="0" rIns="0" bIns="0" rtlCol="0" anchor="ctr"/>
          <a:lstStyle/>
          <a:p>
            <a:pPr marL="0" indent="0" algn="ctr">
              <a:lnSpc>
                <a:spcPct val="110000"/>
              </a:lnSpc>
              <a:buNone/>
            </a:pPr>
            <a:r>
              <a:rPr lang="en-US" sz="2200" dirty="0">
                <a:solidFill>
                  <a:srgbClr val="FFFFFF"/>
                </a:solidFill>
                <a:latin typeface="Impact" pitchFamily="34" charset="0"/>
                <a:ea typeface="Impact" pitchFamily="34" charset="-122"/>
                <a:cs typeface="Impact" pitchFamily="34" charset="-120"/>
              </a:rPr>
              <a:t>IMPROVE</a:t>
            </a:r>
            <a:endParaRPr lang="en-US" sz="2200" dirty="0"/>
          </a:p>
        </p:txBody>
      </p:sp>
      <p:sp>
        <p:nvSpPr>
          <p:cNvPr id="29" name="Text 26"/>
          <p:cNvSpPr/>
          <p:nvPr/>
        </p:nvSpPr>
        <p:spPr>
          <a:xfrm>
            <a:off x="7287768" y="3429000"/>
            <a:ext cx="1554480" cy="822960"/>
          </a:xfrm>
          <a:prstGeom prst="rect">
            <a:avLst/>
          </a:prstGeom>
          <a:noFill/>
          <a:ln/>
        </p:spPr>
        <p:txBody>
          <a:bodyPr wrap="square" lIns="0" tIns="0" rIns="0" bIns="0" rtlCol="0" anchor="t"/>
          <a:lstStyle/>
          <a:p>
            <a:pPr marL="0" indent="0" algn="ctr">
              <a:lnSpc>
                <a:spcPct val="110000"/>
              </a:lnSpc>
              <a:buNone/>
            </a:pPr>
            <a:r>
              <a:rPr lang="en-US" sz="1150" b="1" dirty="0">
                <a:solidFill>
                  <a:srgbClr val="FFFFFF"/>
                </a:solidFill>
                <a:latin typeface="Arial" pitchFamily="34" charset="0"/>
                <a:ea typeface="Arial" pitchFamily="34" charset="-122"/>
                <a:cs typeface="Arial" pitchFamily="34" charset="-120"/>
              </a:rPr>
              <a:t>See the change</a:t>
            </a:r>
            <a:endParaRPr lang="en-US" sz="1150" dirty="0"/>
          </a:p>
        </p:txBody>
      </p:sp>
      <p:sp>
        <p:nvSpPr>
          <p:cNvPr id="30" name="Text 27"/>
          <p:cNvSpPr/>
          <p:nvPr/>
        </p:nvSpPr>
        <p:spPr>
          <a:xfrm>
            <a:off x="8897112" y="3017520"/>
            <a:ext cx="228600" cy="457200"/>
          </a:xfrm>
          <a:prstGeom prst="rect">
            <a:avLst/>
          </a:prstGeom>
          <a:noFill/>
          <a:ln/>
        </p:spPr>
        <p:txBody>
          <a:bodyPr wrap="square" lIns="0" tIns="0" rIns="0" bIns="0" rtlCol="0" anchor="t"/>
          <a:lstStyle/>
          <a:p>
            <a:pPr marL="0" indent="0" algn="l">
              <a:lnSpc>
                <a:spcPct val="110000"/>
              </a:lnSpc>
              <a:buNone/>
            </a:pPr>
            <a:r>
              <a:rPr lang="en-US" sz="2200" dirty="0">
                <a:solidFill>
                  <a:srgbClr val="1E1208"/>
                </a:solidFill>
                <a:latin typeface="Impact" pitchFamily="34" charset="0"/>
                <a:ea typeface="Impact" pitchFamily="34" charset="-122"/>
                <a:cs typeface="Impact" pitchFamily="34" charset="-120"/>
              </a:rPr>
              <a:t>→</a:t>
            </a:r>
            <a:endParaRPr lang="en-US" sz="2200" dirty="0"/>
          </a:p>
        </p:txBody>
      </p:sp>
      <p:sp>
        <p:nvSpPr>
          <p:cNvPr id="31" name="Shape 28"/>
          <p:cNvSpPr/>
          <p:nvPr/>
        </p:nvSpPr>
        <p:spPr>
          <a:xfrm>
            <a:off x="9098280" y="2286000"/>
            <a:ext cx="1737360" cy="2103120"/>
          </a:xfrm>
          <a:prstGeom prst="rect">
            <a:avLst/>
          </a:prstGeom>
          <a:solidFill>
            <a:srgbClr val="D4762A"/>
          </a:solidFill>
          <a:ln w="25400">
            <a:solidFill>
              <a:srgbClr val="1E1208"/>
            </a:solidFill>
            <a:prstDash val="solid"/>
          </a:ln>
        </p:spPr>
      </p:sp>
      <p:sp>
        <p:nvSpPr>
          <p:cNvPr id="32" name="Text 29"/>
          <p:cNvSpPr/>
          <p:nvPr/>
        </p:nvSpPr>
        <p:spPr>
          <a:xfrm>
            <a:off x="9208008" y="2468880"/>
            <a:ext cx="1554480" cy="914400"/>
          </a:xfrm>
          <a:prstGeom prst="rect">
            <a:avLst/>
          </a:prstGeom>
          <a:noFill/>
          <a:ln/>
        </p:spPr>
        <p:txBody>
          <a:bodyPr wrap="square" lIns="0" tIns="0" rIns="0" bIns="0" rtlCol="0" anchor="ctr"/>
          <a:lstStyle/>
          <a:p>
            <a:pPr marL="0" indent="0" algn="ctr">
              <a:lnSpc>
                <a:spcPct val="110000"/>
              </a:lnSpc>
              <a:buNone/>
            </a:pPr>
            <a:r>
              <a:rPr lang="en-US" sz="2200" dirty="0">
                <a:solidFill>
                  <a:srgbClr val="1E1208"/>
                </a:solidFill>
                <a:latin typeface="Impact" pitchFamily="34" charset="0"/>
                <a:ea typeface="Impact" pitchFamily="34" charset="-122"/>
                <a:cs typeface="Impact" pitchFamily="34" charset="-120"/>
              </a:rPr>
              <a:t>ASSESS AGAIN</a:t>
            </a:r>
            <a:endParaRPr lang="en-US" sz="2200" dirty="0"/>
          </a:p>
        </p:txBody>
      </p:sp>
      <p:sp>
        <p:nvSpPr>
          <p:cNvPr id="33" name="Text 30"/>
          <p:cNvSpPr/>
          <p:nvPr/>
        </p:nvSpPr>
        <p:spPr>
          <a:xfrm>
            <a:off x="9208008" y="3429000"/>
            <a:ext cx="1554480" cy="822960"/>
          </a:xfrm>
          <a:prstGeom prst="rect">
            <a:avLst/>
          </a:prstGeom>
          <a:noFill/>
          <a:ln/>
        </p:spPr>
        <p:txBody>
          <a:bodyPr wrap="square" lIns="0" tIns="0" rIns="0" bIns="0" rtlCol="0" anchor="t"/>
          <a:lstStyle/>
          <a:p>
            <a:pPr marL="0" indent="0" algn="ctr">
              <a:lnSpc>
                <a:spcPct val="110000"/>
              </a:lnSpc>
              <a:buNone/>
            </a:pPr>
            <a:r>
              <a:rPr lang="en-US" sz="1150" b="1" dirty="0">
                <a:solidFill>
                  <a:srgbClr val="1E1208"/>
                </a:solidFill>
                <a:latin typeface="Arial" pitchFamily="34" charset="0"/>
                <a:ea typeface="Arial" pitchFamily="34" charset="-122"/>
                <a:cs typeface="Arial" pitchFamily="34" charset="-120"/>
              </a:rPr>
              <a:t>Check it worked</a:t>
            </a:r>
            <a:endParaRPr lang="en-US" sz="1150" dirty="0"/>
          </a:p>
        </p:txBody>
      </p:sp>
      <p:sp>
        <p:nvSpPr>
          <p:cNvPr id="34" name="Shape 31"/>
          <p:cNvSpPr/>
          <p:nvPr/>
        </p:nvSpPr>
        <p:spPr>
          <a:xfrm>
            <a:off x="1417320" y="4754880"/>
            <a:ext cx="9509760" cy="960120"/>
          </a:xfrm>
          <a:prstGeom prst="rect">
            <a:avLst/>
          </a:prstGeom>
          <a:solidFill>
            <a:srgbClr val="1E1208"/>
          </a:solidFill>
          <a:ln w="25400">
            <a:solidFill>
              <a:srgbClr val="1E1208"/>
            </a:solidFill>
            <a:prstDash val="solid"/>
          </a:ln>
        </p:spPr>
      </p:sp>
      <p:sp>
        <p:nvSpPr>
          <p:cNvPr id="35" name="Text 32"/>
          <p:cNvSpPr/>
          <p:nvPr/>
        </p:nvSpPr>
        <p:spPr>
          <a:xfrm>
            <a:off x="1645920" y="4754880"/>
            <a:ext cx="9052560" cy="960120"/>
          </a:xfrm>
          <a:prstGeom prst="rect">
            <a:avLst/>
          </a:prstGeom>
          <a:noFill/>
          <a:ln/>
        </p:spPr>
        <p:txBody>
          <a:bodyPr wrap="square" lIns="0" tIns="0" rIns="0" bIns="0" rtlCol="0" anchor="ctr"/>
          <a:lstStyle/>
          <a:p>
            <a:pPr marL="0" indent="0" algn="l">
              <a:lnSpc>
                <a:spcPct val="110000"/>
              </a:lnSpc>
              <a:buNone/>
            </a:pPr>
            <a:r>
              <a:rPr lang="en-US" sz="1500" b="1" dirty="0">
                <a:solidFill>
                  <a:srgbClr val="FFFFFF"/>
                </a:solidFill>
                <a:latin typeface="Arial" pitchFamily="34" charset="0"/>
                <a:ea typeface="Arial" pitchFamily="34" charset="-122"/>
                <a:cs typeface="Arial" pitchFamily="34" charset="-120"/>
              </a:rPr>
              <a:t>One shared topic list connects them. A weak topic in Smart Assess leads to a lesson in Smart Learning or a game in Smart Play.</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2004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BUILT AROUND YOUR ROLES</a:t>
            </a:r>
            <a:endParaRPr lang="en-US" sz="1400" dirty="0"/>
          </a:p>
        </p:txBody>
      </p:sp>
      <p:sp>
        <p:nvSpPr>
          <p:cNvPr id="14" name="Text 11"/>
          <p:cNvSpPr/>
          <p:nvPr/>
        </p:nvSpPr>
        <p:spPr>
          <a:xfrm>
            <a:off x="1417320" y="777240"/>
            <a:ext cx="9509760" cy="1097280"/>
          </a:xfrm>
          <a:prstGeom prst="rect">
            <a:avLst/>
          </a:prstGeom>
          <a:noFill/>
          <a:ln/>
        </p:spPr>
        <p:txBody>
          <a:bodyPr wrap="square" lIns="0" tIns="0" rIns="0" bIns="0" rtlCol="0" anchor="t">
            <a:normAutofit/>
          </a:bodyPr>
          <a:lstStyle/>
          <a:p>
            <a:pPr marL="0" indent="0">
              <a:buNone/>
            </a:pPr>
            <a:r>
              <a:rPr lang="en-US" sz="3600" dirty="0">
                <a:solidFill>
                  <a:srgbClr val="1E1208"/>
                </a:solidFill>
                <a:latin typeface="Impact" pitchFamily="34" charset="0"/>
                <a:ea typeface="Impact" pitchFamily="34" charset="-122"/>
                <a:cs typeface="Impact" pitchFamily="34" charset="-120"/>
              </a:rPr>
              <a:t>TEACHERS SEE CLASSROOMS. HODS SEE DEPARTMENTS. LEADERS SEE THE SCHOOL.</a:t>
            </a:r>
            <a:endParaRPr lang="en-US" sz="3600" dirty="0"/>
          </a:p>
        </p:txBody>
      </p:sp>
      <p:sp>
        <p:nvSpPr>
          <p:cNvPr id="15" name="Shape 12"/>
          <p:cNvSpPr/>
          <p:nvPr/>
        </p:nvSpPr>
        <p:spPr>
          <a:xfrm>
            <a:off x="1417320" y="2286000"/>
            <a:ext cx="3017520" cy="3383280"/>
          </a:xfrm>
          <a:prstGeom prst="rect">
            <a:avLst/>
          </a:prstGeom>
          <a:solidFill>
            <a:srgbClr val="FFFFFF"/>
          </a:solidFill>
          <a:ln w="25400">
            <a:solidFill>
              <a:srgbClr val="1E1208"/>
            </a:solidFill>
            <a:prstDash val="solid"/>
          </a:ln>
        </p:spPr>
      </p:sp>
      <p:sp>
        <p:nvSpPr>
          <p:cNvPr id="16" name="Shape 13"/>
          <p:cNvSpPr/>
          <p:nvPr/>
        </p:nvSpPr>
        <p:spPr>
          <a:xfrm>
            <a:off x="1417320" y="2286000"/>
            <a:ext cx="3017520" cy="731520"/>
          </a:xfrm>
          <a:prstGeom prst="rect">
            <a:avLst/>
          </a:prstGeom>
          <a:solidFill>
            <a:srgbClr val="D4762A"/>
          </a:solidFill>
          <a:ln w="25400">
            <a:solidFill>
              <a:srgbClr val="1E1208"/>
            </a:solidFill>
            <a:prstDash val="solid"/>
          </a:ln>
        </p:spPr>
      </p:sp>
      <p:sp>
        <p:nvSpPr>
          <p:cNvPr id="17" name="Text 14"/>
          <p:cNvSpPr/>
          <p:nvPr/>
        </p:nvSpPr>
        <p:spPr>
          <a:xfrm>
            <a:off x="1600200" y="2286000"/>
            <a:ext cx="2651760" cy="731520"/>
          </a:xfrm>
          <a:prstGeom prst="rect">
            <a:avLst/>
          </a:prstGeom>
          <a:noFill/>
          <a:ln/>
        </p:spPr>
        <p:txBody>
          <a:bodyPr wrap="square" lIns="0" tIns="0" rIns="0" bIns="0" rtlCol="0" anchor="ctr"/>
          <a:lstStyle/>
          <a:p>
            <a:pPr marL="0" indent="0" algn="l">
              <a:lnSpc>
                <a:spcPct val="110000"/>
              </a:lnSpc>
              <a:buNone/>
            </a:pPr>
            <a:r>
              <a:rPr lang="en-US" sz="1900" dirty="0">
                <a:solidFill>
                  <a:srgbClr val="1E1208"/>
                </a:solidFill>
                <a:latin typeface="Impact" pitchFamily="34" charset="0"/>
                <a:ea typeface="Impact" pitchFamily="34" charset="-122"/>
                <a:cs typeface="Impact" pitchFamily="34" charset="-120"/>
              </a:rPr>
              <a:t>TEACHERS</a:t>
            </a:r>
            <a:endParaRPr lang="en-US" sz="1900" dirty="0"/>
          </a:p>
        </p:txBody>
      </p:sp>
      <p:sp>
        <p:nvSpPr>
          <p:cNvPr id="18" name="Text 15"/>
          <p:cNvSpPr/>
          <p:nvPr/>
        </p:nvSpPr>
        <p:spPr>
          <a:xfrm>
            <a:off x="1600200" y="3200400"/>
            <a:ext cx="2651760" cy="2743200"/>
          </a:xfrm>
          <a:prstGeom prst="rect">
            <a:avLst/>
          </a:prstGeom>
          <a:noFill/>
          <a:ln/>
        </p:spPr>
        <p:txBody>
          <a:bodyPr wrap="square" lIns="0" tIns="0" rIns="0" bIns="0" rtlCol="0" anchor="t"/>
          <a:lstStyle/>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Tests and the question bank</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Lessons, plans and catch-up</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Marking and results</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Attendance for their classes</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Report an absence, request cover</a:t>
            </a:r>
            <a:endParaRPr lang="en-US" sz="1250" dirty="0"/>
          </a:p>
        </p:txBody>
      </p:sp>
      <p:sp>
        <p:nvSpPr>
          <p:cNvPr id="19" name="Shape 16"/>
          <p:cNvSpPr/>
          <p:nvPr/>
        </p:nvSpPr>
        <p:spPr>
          <a:xfrm>
            <a:off x="4617720" y="2286000"/>
            <a:ext cx="3017520" cy="3383280"/>
          </a:xfrm>
          <a:prstGeom prst="rect">
            <a:avLst/>
          </a:prstGeom>
          <a:solidFill>
            <a:srgbClr val="FFFFFF"/>
          </a:solidFill>
          <a:ln w="25400">
            <a:solidFill>
              <a:srgbClr val="1E1208"/>
            </a:solidFill>
            <a:prstDash val="solid"/>
          </a:ln>
        </p:spPr>
      </p:sp>
      <p:sp>
        <p:nvSpPr>
          <p:cNvPr id="20" name="Shape 17"/>
          <p:cNvSpPr/>
          <p:nvPr/>
        </p:nvSpPr>
        <p:spPr>
          <a:xfrm>
            <a:off x="4617720" y="2286000"/>
            <a:ext cx="3017520" cy="731520"/>
          </a:xfrm>
          <a:prstGeom prst="rect">
            <a:avLst/>
          </a:prstGeom>
          <a:solidFill>
            <a:srgbClr val="E3B51E"/>
          </a:solidFill>
          <a:ln w="25400">
            <a:solidFill>
              <a:srgbClr val="1E1208"/>
            </a:solidFill>
            <a:prstDash val="solid"/>
          </a:ln>
        </p:spPr>
      </p:sp>
      <p:sp>
        <p:nvSpPr>
          <p:cNvPr id="21" name="Text 18"/>
          <p:cNvSpPr/>
          <p:nvPr/>
        </p:nvSpPr>
        <p:spPr>
          <a:xfrm>
            <a:off x="4800600" y="2286000"/>
            <a:ext cx="2651760" cy="731520"/>
          </a:xfrm>
          <a:prstGeom prst="rect">
            <a:avLst/>
          </a:prstGeom>
          <a:noFill/>
          <a:ln/>
        </p:spPr>
        <p:txBody>
          <a:bodyPr wrap="square" lIns="0" tIns="0" rIns="0" bIns="0" rtlCol="0" anchor="ctr"/>
          <a:lstStyle/>
          <a:p>
            <a:pPr marL="0" indent="0" algn="l">
              <a:lnSpc>
                <a:spcPct val="110000"/>
              </a:lnSpc>
              <a:buNone/>
            </a:pPr>
            <a:r>
              <a:rPr lang="en-US" sz="1900" dirty="0">
                <a:solidFill>
                  <a:srgbClr val="1E1208"/>
                </a:solidFill>
                <a:latin typeface="Impact" pitchFamily="34" charset="0"/>
                <a:ea typeface="Impact" pitchFamily="34" charset="-122"/>
                <a:cs typeface="Impact" pitchFamily="34" charset="-120"/>
              </a:rPr>
              <a:t>HEADS OF DEPARTMENT</a:t>
            </a:r>
            <a:endParaRPr lang="en-US" sz="1900" dirty="0"/>
          </a:p>
        </p:txBody>
      </p:sp>
      <p:sp>
        <p:nvSpPr>
          <p:cNvPr id="22" name="Text 19"/>
          <p:cNvSpPr/>
          <p:nvPr/>
        </p:nvSpPr>
        <p:spPr>
          <a:xfrm>
            <a:off x="4800600" y="3200400"/>
            <a:ext cx="2651760" cy="2743200"/>
          </a:xfrm>
          <a:prstGeom prst="rect">
            <a:avLst/>
          </a:prstGeom>
          <a:noFill/>
          <a:ln/>
        </p:spPr>
        <p:txBody>
          <a:bodyPr wrap="square" lIns="0" tIns="0" rIns="0" bIns="0" rtlCol="0" anchor="t"/>
          <a:lstStyle/>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Their department's classes and teachers</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Analytics and flagged sessions</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Vet and publish school exams</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Department attendance and topics</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Arrange cover for absent teachers</a:t>
            </a:r>
            <a:endParaRPr lang="en-US" sz="1250" dirty="0"/>
          </a:p>
        </p:txBody>
      </p:sp>
      <p:sp>
        <p:nvSpPr>
          <p:cNvPr id="23" name="Shape 20"/>
          <p:cNvSpPr/>
          <p:nvPr/>
        </p:nvSpPr>
        <p:spPr>
          <a:xfrm>
            <a:off x="7818120" y="2286000"/>
            <a:ext cx="3017520" cy="3383280"/>
          </a:xfrm>
          <a:prstGeom prst="rect">
            <a:avLst/>
          </a:prstGeom>
          <a:solidFill>
            <a:srgbClr val="FFFFFF"/>
          </a:solidFill>
          <a:ln w="25400">
            <a:solidFill>
              <a:srgbClr val="1E1208"/>
            </a:solidFill>
            <a:prstDash val="solid"/>
          </a:ln>
        </p:spPr>
      </p:sp>
      <p:sp>
        <p:nvSpPr>
          <p:cNvPr id="24" name="Shape 21"/>
          <p:cNvSpPr/>
          <p:nvPr/>
        </p:nvSpPr>
        <p:spPr>
          <a:xfrm>
            <a:off x="7818120" y="2286000"/>
            <a:ext cx="3017520" cy="731520"/>
          </a:xfrm>
          <a:prstGeom prst="rect">
            <a:avLst/>
          </a:prstGeom>
          <a:solidFill>
            <a:srgbClr val="FBE9D6"/>
          </a:solidFill>
          <a:ln w="25400">
            <a:solidFill>
              <a:srgbClr val="1E1208"/>
            </a:solidFill>
            <a:prstDash val="solid"/>
          </a:ln>
        </p:spPr>
      </p:sp>
      <p:sp>
        <p:nvSpPr>
          <p:cNvPr id="25" name="Text 22"/>
          <p:cNvSpPr/>
          <p:nvPr/>
        </p:nvSpPr>
        <p:spPr>
          <a:xfrm>
            <a:off x="8001000" y="2286000"/>
            <a:ext cx="2651760" cy="731520"/>
          </a:xfrm>
          <a:prstGeom prst="rect">
            <a:avLst/>
          </a:prstGeom>
          <a:noFill/>
          <a:ln/>
        </p:spPr>
        <p:txBody>
          <a:bodyPr wrap="square" lIns="0" tIns="0" rIns="0" bIns="0" rtlCol="0" anchor="ctr"/>
          <a:lstStyle/>
          <a:p>
            <a:pPr marL="0" indent="0" algn="l">
              <a:lnSpc>
                <a:spcPct val="110000"/>
              </a:lnSpc>
              <a:buNone/>
            </a:pPr>
            <a:r>
              <a:rPr lang="en-US" sz="1900" dirty="0">
                <a:solidFill>
                  <a:srgbClr val="1E1208"/>
                </a:solidFill>
                <a:latin typeface="Impact" pitchFamily="34" charset="0"/>
                <a:ea typeface="Impact" pitchFamily="34" charset="-122"/>
                <a:cs typeface="Impact" pitchFamily="34" charset="-120"/>
              </a:rPr>
              <a:t>PRINCIPAL AND ADMINISTRATORS</a:t>
            </a:r>
            <a:endParaRPr lang="en-US" sz="1900" dirty="0"/>
          </a:p>
        </p:txBody>
      </p:sp>
      <p:sp>
        <p:nvSpPr>
          <p:cNvPr id="26" name="Text 23"/>
          <p:cNvSpPr/>
          <p:nvPr/>
        </p:nvSpPr>
        <p:spPr>
          <a:xfrm>
            <a:off x="8001000" y="3200400"/>
            <a:ext cx="2651760" cy="2743200"/>
          </a:xfrm>
          <a:prstGeom prst="rect">
            <a:avLst/>
          </a:prstGeom>
          <a:noFill/>
          <a:ln/>
        </p:spPr>
        <p:txBody>
          <a:bodyPr wrap="square" lIns="0" tIns="0" rIns="0" bIns="0" rtlCol="0" anchor="t"/>
          <a:lstStyle/>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Staff, students and the timetable</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Attendance and alerts school-wide</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Integrity and AI tutor oversight</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Messages to staff</a:t>
            </a:r>
            <a:endParaRPr lang="en-US" sz="1250" dirty="0"/>
          </a:p>
          <a:p>
            <a:pPr marL="342900" indent="-342900" algn="l">
              <a:lnSpc>
                <a:spcPct val="125000"/>
              </a:lnSpc>
              <a:buSzPct val="100000"/>
              <a:buChar char="■"/>
            </a:pPr>
            <a:r>
              <a:rPr lang="en-US" sz="1250" dirty="0">
                <a:solidFill>
                  <a:srgbClr val="1E1208"/>
                </a:solidFill>
                <a:latin typeface="Arial" pitchFamily="34" charset="0"/>
                <a:ea typeface="Arial" pitchFamily="34" charset="-122"/>
                <a:cs typeface="Arial" pitchFamily="34" charset="-120"/>
              </a:rPr>
              <a:t>School setup and settings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309649"/>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CLARITY</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5000" dirty="0">
                <a:solidFill>
                  <a:srgbClr val="1E1208"/>
                </a:solidFill>
                <a:latin typeface="Impact" pitchFamily="34" charset="0"/>
                <a:ea typeface="Impact" pitchFamily="34" charset="-122"/>
                <a:cs typeface="Impact" pitchFamily="34" charset="-120"/>
              </a:rPr>
              <a:t>WHAT SMART ASSESS IS NOT</a:t>
            </a:r>
            <a:endParaRPr lang="en-US" sz="5000" dirty="0"/>
          </a:p>
        </p:txBody>
      </p:sp>
      <p:sp>
        <p:nvSpPr>
          <p:cNvPr id="15" name="Shape 12"/>
          <p:cNvSpPr/>
          <p:nvPr/>
        </p:nvSpPr>
        <p:spPr>
          <a:xfrm>
            <a:off x="1417320" y="1965960"/>
            <a:ext cx="4663440" cy="1783080"/>
          </a:xfrm>
          <a:prstGeom prst="rect">
            <a:avLst/>
          </a:prstGeom>
          <a:solidFill>
            <a:srgbClr val="FBE9D6"/>
          </a:solidFill>
          <a:ln w="25400">
            <a:solidFill>
              <a:srgbClr val="1E1208"/>
            </a:solidFill>
            <a:prstDash val="solid"/>
          </a:ln>
        </p:spPr>
      </p:sp>
      <p:sp>
        <p:nvSpPr>
          <p:cNvPr id="16" name="Shape 13"/>
          <p:cNvSpPr/>
          <p:nvPr/>
        </p:nvSpPr>
        <p:spPr>
          <a:xfrm>
            <a:off x="1417320" y="1965960"/>
            <a:ext cx="128016" cy="1783080"/>
          </a:xfrm>
          <a:prstGeom prst="rect">
            <a:avLst/>
          </a:prstGeom>
          <a:solidFill>
            <a:srgbClr val="D4762A"/>
          </a:solidFill>
          <a:ln/>
        </p:spPr>
      </p:sp>
      <p:sp>
        <p:nvSpPr>
          <p:cNvPr id="17" name="Text 14"/>
          <p:cNvSpPr/>
          <p:nvPr/>
        </p:nvSpPr>
        <p:spPr>
          <a:xfrm>
            <a:off x="1783080" y="2194560"/>
            <a:ext cx="4114800" cy="548640"/>
          </a:xfrm>
          <a:prstGeom prst="rect">
            <a:avLst/>
          </a:prstGeom>
          <a:noFill/>
          <a:ln/>
        </p:spPr>
        <p:txBody>
          <a:bodyPr wrap="square" lIns="0" tIns="0" rIns="0" bIns="0" rtlCol="0" anchor="t"/>
          <a:lstStyle/>
          <a:p>
            <a:pPr marL="0" indent="0" algn="l">
              <a:lnSpc>
                <a:spcPct val="110000"/>
              </a:lnSpc>
              <a:buNone/>
            </a:pPr>
            <a:r>
              <a:rPr lang="en-US" sz="2300" dirty="0">
                <a:solidFill>
                  <a:srgbClr val="1E1208"/>
                </a:solidFill>
                <a:latin typeface="Impact" pitchFamily="34" charset="0"/>
                <a:ea typeface="Impact" pitchFamily="34" charset="-122"/>
                <a:cs typeface="Impact" pitchFamily="34" charset="-120"/>
              </a:rPr>
              <a:t>NOT A TEACHER REPLACEMENT</a:t>
            </a:r>
            <a:endParaRPr lang="en-US" sz="2300" dirty="0"/>
          </a:p>
        </p:txBody>
      </p:sp>
      <p:sp>
        <p:nvSpPr>
          <p:cNvPr id="18" name="Text 15"/>
          <p:cNvSpPr/>
          <p:nvPr/>
        </p:nvSpPr>
        <p:spPr>
          <a:xfrm>
            <a:off x="1783080" y="2834640"/>
            <a:ext cx="4114800" cy="822960"/>
          </a:xfrm>
          <a:prstGeom prst="rect">
            <a:avLst/>
          </a:prstGeom>
          <a:noFill/>
          <a:ln/>
        </p:spPr>
        <p:txBody>
          <a:bodyPr wrap="square" lIns="0" tIns="0" rIns="0" bIns="0" rtlCol="0" anchor="t"/>
          <a:lstStyle/>
          <a:p>
            <a:pPr marL="0" indent="0" algn="l">
              <a:lnSpc>
                <a:spcPct val="110000"/>
              </a:lnSpc>
              <a:buNone/>
            </a:pPr>
            <a:r>
              <a:rPr lang="en-US" sz="1400" dirty="0">
                <a:solidFill>
                  <a:srgbClr val="555555"/>
                </a:solidFill>
                <a:latin typeface="Arial" pitchFamily="34" charset="0"/>
                <a:ea typeface="Arial" pitchFamily="34" charset="-122"/>
                <a:cs typeface="Arial" pitchFamily="34" charset="-120"/>
              </a:rPr>
              <a:t>Teachers stay in control of questions, marking and decisions.</a:t>
            </a:r>
            <a:endParaRPr lang="en-US" sz="1400" dirty="0"/>
          </a:p>
        </p:txBody>
      </p:sp>
      <p:sp>
        <p:nvSpPr>
          <p:cNvPr id="19" name="Shape 16"/>
          <p:cNvSpPr/>
          <p:nvPr/>
        </p:nvSpPr>
        <p:spPr>
          <a:xfrm>
            <a:off x="6217920" y="1965960"/>
            <a:ext cx="4663440" cy="1783080"/>
          </a:xfrm>
          <a:prstGeom prst="rect">
            <a:avLst/>
          </a:prstGeom>
          <a:solidFill>
            <a:srgbClr val="FFFFFF"/>
          </a:solidFill>
          <a:ln w="25400">
            <a:solidFill>
              <a:srgbClr val="1E1208"/>
            </a:solidFill>
            <a:prstDash val="solid"/>
          </a:ln>
        </p:spPr>
      </p:sp>
      <p:sp>
        <p:nvSpPr>
          <p:cNvPr id="20" name="Shape 17"/>
          <p:cNvSpPr/>
          <p:nvPr/>
        </p:nvSpPr>
        <p:spPr>
          <a:xfrm>
            <a:off x="6217920" y="1965960"/>
            <a:ext cx="128016" cy="1783080"/>
          </a:xfrm>
          <a:prstGeom prst="rect">
            <a:avLst/>
          </a:prstGeom>
          <a:solidFill>
            <a:srgbClr val="D4762A"/>
          </a:solidFill>
          <a:ln/>
        </p:spPr>
      </p:sp>
      <p:sp>
        <p:nvSpPr>
          <p:cNvPr id="21" name="Text 18"/>
          <p:cNvSpPr/>
          <p:nvPr/>
        </p:nvSpPr>
        <p:spPr>
          <a:xfrm>
            <a:off x="6583680" y="2194560"/>
            <a:ext cx="4114800" cy="548640"/>
          </a:xfrm>
          <a:prstGeom prst="rect">
            <a:avLst/>
          </a:prstGeom>
          <a:noFill/>
          <a:ln/>
        </p:spPr>
        <p:txBody>
          <a:bodyPr wrap="square" lIns="0" tIns="0" rIns="0" bIns="0" rtlCol="0" anchor="t"/>
          <a:lstStyle/>
          <a:p>
            <a:pPr marL="0" indent="0" algn="l">
              <a:lnSpc>
                <a:spcPct val="110000"/>
              </a:lnSpc>
              <a:buNone/>
            </a:pPr>
            <a:r>
              <a:rPr lang="en-US" sz="2300" dirty="0">
                <a:solidFill>
                  <a:srgbClr val="1E1208"/>
                </a:solidFill>
                <a:latin typeface="Impact" pitchFamily="34" charset="0"/>
                <a:ea typeface="Impact" pitchFamily="34" charset="-122"/>
                <a:cs typeface="Impact" pitchFamily="34" charset="-120"/>
              </a:rPr>
              <a:t>NOT AI MAKING FINAL DECISIONS</a:t>
            </a:r>
            <a:endParaRPr lang="en-US" sz="2300" dirty="0"/>
          </a:p>
        </p:txBody>
      </p:sp>
      <p:sp>
        <p:nvSpPr>
          <p:cNvPr id="22" name="Text 19"/>
          <p:cNvSpPr/>
          <p:nvPr/>
        </p:nvSpPr>
        <p:spPr>
          <a:xfrm>
            <a:off x="6583680" y="2834640"/>
            <a:ext cx="4114800" cy="822960"/>
          </a:xfrm>
          <a:prstGeom prst="rect">
            <a:avLst/>
          </a:prstGeom>
          <a:noFill/>
          <a:ln/>
        </p:spPr>
        <p:txBody>
          <a:bodyPr wrap="square" lIns="0" tIns="0" rIns="0" bIns="0" rtlCol="0" anchor="t"/>
          <a:lstStyle/>
          <a:p>
            <a:pPr marL="0" indent="0" algn="l">
              <a:lnSpc>
                <a:spcPct val="110000"/>
              </a:lnSpc>
              <a:buNone/>
            </a:pPr>
            <a:r>
              <a:rPr lang="en-US" sz="1400" dirty="0">
                <a:solidFill>
                  <a:srgbClr val="555555"/>
                </a:solidFill>
                <a:latin typeface="Arial" pitchFamily="34" charset="0"/>
                <a:ea typeface="Arial" pitchFamily="34" charset="-122"/>
                <a:cs typeface="Arial" pitchFamily="34" charset="-120"/>
              </a:rPr>
              <a:t>AI can help draft and suggest. A person decides, every time.</a:t>
            </a:r>
            <a:endParaRPr lang="en-US" sz="1400" dirty="0"/>
          </a:p>
        </p:txBody>
      </p:sp>
      <p:sp>
        <p:nvSpPr>
          <p:cNvPr id="23" name="Shape 20"/>
          <p:cNvSpPr/>
          <p:nvPr/>
        </p:nvSpPr>
        <p:spPr>
          <a:xfrm>
            <a:off x="1417320" y="3931920"/>
            <a:ext cx="4663440" cy="1783080"/>
          </a:xfrm>
          <a:prstGeom prst="rect">
            <a:avLst/>
          </a:prstGeom>
          <a:solidFill>
            <a:srgbClr val="FFFFFF"/>
          </a:solidFill>
          <a:ln w="25400">
            <a:solidFill>
              <a:srgbClr val="1E1208"/>
            </a:solidFill>
            <a:prstDash val="solid"/>
          </a:ln>
        </p:spPr>
      </p:sp>
      <p:sp>
        <p:nvSpPr>
          <p:cNvPr id="24" name="Shape 21"/>
          <p:cNvSpPr/>
          <p:nvPr/>
        </p:nvSpPr>
        <p:spPr>
          <a:xfrm>
            <a:off x="1417320" y="3931920"/>
            <a:ext cx="128016" cy="1783080"/>
          </a:xfrm>
          <a:prstGeom prst="rect">
            <a:avLst/>
          </a:prstGeom>
          <a:solidFill>
            <a:srgbClr val="D4762A"/>
          </a:solidFill>
          <a:ln/>
        </p:spPr>
      </p:sp>
      <p:sp>
        <p:nvSpPr>
          <p:cNvPr id="25" name="Text 22"/>
          <p:cNvSpPr/>
          <p:nvPr/>
        </p:nvSpPr>
        <p:spPr>
          <a:xfrm>
            <a:off x="1783080" y="4160520"/>
            <a:ext cx="4114800" cy="548640"/>
          </a:xfrm>
          <a:prstGeom prst="rect">
            <a:avLst/>
          </a:prstGeom>
          <a:noFill/>
          <a:ln/>
        </p:spPr>
        <p:txBody>
          <a:bodyPr wrap="square" lIns="0" tIns="0" rIns="0" bIns="0" rtlCol="0" anchor="t"/>
          <a:lstStyle/>
          <a:p>
            <a:pPr marL="0" indent="0" algn="l">
              <a:lnSpc>
                <a:spcPct val="110000"/>
              </a:lnSpc>
              <a:buNone/>
            </a:pPr>
            <a:r>
              <a:rPr lang="en-US" sz="2300" dirty="0">
                <a:solidFill>
                  <a:srgbClr val="1E1208"/>
                </a:solidFill>
                <a:latin typeface="Impact" pitchFamily="34" charset="0"/>
                <a:ea typeface="Impact" pitchFamily="34" charset="-122"/>
                <a:cs typeface="Impact" pitchFamily="34" charset="-120"/>
              </a:rPr>
              <a:t>NOT JUST A PDF ON A SCREEN</a:t>
            </a:r>
            <a:endParaRPr lang="en-US" sz="2300" dirty="0"/>
          </a:p>
        </p:txBody>
      </p:sp>
      <p:sp>
        <p:nvSpPr>
          <p:cNvPr id="26" name="Text 23"/>
          <p:cNvSpPr/>
          <p:nvPr/>
        </p:nvSpPr>
        <p:spPr>
          <a:xfrm>
            <a:off x="1783080" y="4800600"/>
            <a:ext cx="4114800" cy="822960"/>
          </a:xfrm>
          <a:prstGeom prst="rect">
            <a:avLst/>
          </a:prstGeom>
          <a:noFill/>
          <a:ln/>
        </p:spPr>
        <p:txBody>
          <a:bodyPr wrap="square" lIns="0" tIns="0" rIns="0" bIns="0" rtlCol="0" anchor="t"/>
          <a:lstStyle/>
          <a:p>
            <a:pPr marL="0" indent="0" algn="l">
              <a:lnSpc>
                <a:spcPct val="110000"/>
              </a:lnSpc>
              <a:buNone/>
            </a:pPr>
            <a:r>
              <a:rPr lang="en-US" sz="1400" dirty="0">
                <a:solidFill>
                  <a:srgbClr val="555555"/>
                </a:solidFill>
                <a:latin typeface="Arial" pitchFamily="34" charset="0"/>
                <a:ea typeface="Arial" pitchFamily="34" charset="-122"/>
                <a:cs typeface="Arial" pitchFamily="34" charset="-120"/>
              </a:rPr>
              <a:t>It supports the work before, during and after an assessment.</a:t>
            </a:r>
            <a:endParaRPr lang="en-US" sz="1400" dirty="0"/>
          </a:p>
        </p:txBody>
      </p:sp>
      <p:sp>
        <p:nvSpPr>
          <p:cNvPr id="27" name="Shape 24"/>
          <p:cNvSpPr/>
          <p:nvPr/>
        </p:nvSpPr>
        <p:spPr>
          <a:xfrm>
            <a:off x="6217920" y="3931920"/>
            <a:ext cx="4663440" cy="1783080"/>
          </a:xfrm>
          <a:prstGeom prst="rect">
            <a:avLst/>
          </a:prstGeom>
          <a:solidFill>
            <a:srgbClr val="FBE9D6"/>
          </a:solidFill>
          <a:ln w="25400">
            <a:solidFill>
              <a:srgbClr val="1E1208"/>
            </a:solidFill>
            <a:prstDash val="solid"/>
          </a:ln>
        </p:spPr>
      </p:sp>
      <p:sp>
        <p:nvSpPr>
          <p:cNvPr id="28" name="Shape 25"/>
          <p:cNvSpPr/>
          <p:nvPr/>
        </p:nvSpPr>
        <p:spPr>
          <a:xfrm>
            <a:off x="6217920" y="3931920"/>
            <a:ext cx="128016" cy="1783080"/>
          </a:xfrm>
          <a:prstGeom prst="rect">
            <a:avLst/>
          </a:prstGeom>
          <a:solidFill>
            <a:srgbClr val="D4762A"/>
          </a:solidFill>
          <a:ln/>
        </p:spPr>
      </p:sp>
      <p:sp>
        <p:nvSpPr>
          <p:cNvPr id="29" name="Text 26"/>
          <p:cNvSpPr/>
          <p:nvPr/>
        </p:nvSpPr>
        <p:spPr>
          <a:xfrm>
            <a:off x="6583680" y="4160520"/>
            <a:ext cx="4114800" cy="548640"/>
          </a:xfrm>
          <a:prstGeom prst="rect">
            <a:avLst/>
          </a:prstGeom>
          <a:noFill/>
          <a:ln/>
        </p:spPr>
        <p:txBody>
          <a:bodyPr wrap="square" lIns="0" tIns="0" rIns="0" bIns="0" rtlCol="0" anchor="t"/>
          <a:lstStyle/>
          <a:p>
            <a:pPr marL="0" indent="0" algn="l">
              <a:lnSpc>
                <a:spcPct val="110000"/>
              </a:lnSpc>
              <a:buNone/>
            </a:pPr>
            <a:r>
              <a:rPr lang="en-US" sz="2300" dirty="0">
                <a:solidFill>
                  <a:srgbClr val="1E1208"/>
                </a:solidFill>
                <a:latin typeface="Impact" pitchFamily="34" charset="0"/>
                <a:ea typeface="Impact" pitchFamily="34" charset="-122"/>
                <a:cs typeface="Impact" pitchFamily="34" charset="-120"/>
              </a:rPr>
              <a:t>NOT THREE DISCONNECTED APPS</a:t>
            </a:r>
            <a:endParaRPr lang="en-US" sz="2300" dirty="0"/>
          </a:p>
        </p:txBody>
      </p:sp>
      <p:sp>
        <p:nvSpPr>
          <p:cNvPr id="30" name="Text 27"/>
          <p:cNvSpPr/>
          <p:nvPr/>
        </p:nvSpPr>
        <p:spPr>
          <a:xfrm>
            <a:off x="6583680" y="4800600"/>
            <a:ext cx="4114800" cy="822960"/>
          </a:xfrm>
          <a:prstGeom prst="rect">
            <a:avLst/>
          </a:prstGeom>
          <a:noFill/>
          <a:ln/>
        </p:spPr>
        <p:txBody>
          <a:bodyPr wrap="square" lIns="0" tIns="0" rIns="0" bIns="0" rtlCol="0" anchor="t"/>
          <a:lstStyle/>
          <a:p>
            <a:pPr marL="0" indent="0" algn="l">
              <a:lnSpc>
                <a:spcPct val="110000"/>
              </a:lnSpc>
              <a:buNone/>
            </a:pPr>
            <a:r>
              <a:rPr lang="en-US" sz="1400" dirty="0">
                <a:solidFill>
                  <a:srgbClr val="555555"/>
                </a:solidFill>
                <a:latin typeface="Arial" pitchFamily="34" charset="0"/>
                <a:ea typeface="Arial" pitchFamily="34" charset="-122"/>
                <a:cs typeface="Arial" pitchFamily="34" charset="-120"/>
              </a:rPr>
              <a:t>The products share the school, the people and the topic list.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63929"/>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TRUST</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fontScale="92500"/>
          </a:bodyPr>
          <a:lstStyle/>
          <a:p>
            <a:pPr marL="0" indent="0">
              <a:buNone/>
            </a:pPr>
            <a:r>
              <a:rPr lang="en-US" sz="4300" dirty="0">
                <a:solidFill>
                  <a:srgbClr val="1E1208"/>
                </a:solidFill>
                <a:latin typeface="Impact" pitchFamily="34" charset="0"/>
                <a:ea typeface="Impact" pitchFamily="34" charset="-122"/>
                <a:cs typeface="Impact" pitchFamily="34" charset="-120"/>
              </a:rPr>
              <a:t>TRUST, DATA AND AI WITH A PERSON IN CHARGE</a:t>
            </a:r>
            <a:endParaRPr lang="en-US" sz="4300" dirty="0"/>
          </a:p>
        </p:txBody>
      </p:sp>
      <p:sp>
        <p:nvSpPr>
          <p:cNvPr id="15" name="Shape 12"/>
          <p:cNvSpPr/>
          <p:nvPr/>
        </p:nvSpPr>
        <p:spPr>
          <a:xfrm>
            <a:off x="1417320" y="1965960"/>
            <a:ext cx="4663440" cy="4114800"/>
          </a:xfrm>
          <a:prstGeom prst="rect">
            <a:avLst/>
          </a:prstGeom>
          <a:solidFill>
            <a:srgbClr val="FFFFFF"/>
          </a:solidFill>
          <a:ln w="25400">
            <a:solidFill>
              <a:srgbClr val="1E1208"/>
            </a:solidFill>
            <a:prstDash val="solid"/>
          </a:ln>
        </p:spPr>
      </p:sp>
      <p:sp>
        <p:nvSpPr>
          <p:cNvPr id="16" name="Shape 13"/>
          <p:cNvSpPr/>
          <p:nvPr/>
        </p:nvSpPr>
        <p:spPr>
          <a:xfrm>
            <a:off x="1417320" y="1965960"/>
            <a:ext cx="4663440" cy="731520"/>
          </a:xfrm>
          <a:prstGeom prst="rect">
            <a:avLst/>
          </a:prstGeom>
          <a:solidFill>
            <a:srgbClr val="1E1208"/>
          </a:solidFill>
          <a:ln w="25400">
            <a:solidFill>
              <a:srgbClr val="1E1208"/>
            </a:solidFill>
            <a:prstDash val="solid"/>
          </a:ln>
        </p:spPr>
      </p:sp>
      <p:sp>
        <p:nvSpPr>
          <p:cNvPr id="17" name="Text 14"/>
          <p:cNvSpPr/>
          <p:nvPr/>
        </p:nvSpPr>
        <p:spPr>
          <a:xfrm>
            <a:off x="1645920" y="1965960"/>
            <a:ext cx="4206240" cy="731520"/>
          </a:xfrm>
          <a:prstGeom prst="rect">
            <a:avLst/>
          </a:prstGeom>
          <a:noFill/>
          <a:ln/>
        </p:spPr>
        <p:txBody>
          <a:bodyPr wrap="square" lIns="0" tIns="0" rIns="0" bIns="0" rtlCol="0" anchor="ctr"/>
          <a:lstStyle/>
          <a:p>
            <a:pPr marL="0" indent="0" algn="l">
              <a:lnSpc>
                <a:spcPct val="110000"/>
              </a:lnSpc>
              <a:buNone/>
            </a:pPr>
            <a:r>
              <a:rPr lang="en-US" sz="2400" dirty="0">
                <a:solidFill>
                  <a:srgbClr val="FFFFFF"/>
                </a:solidFill>
                <a:latin typeface="Impact" pitchFamily="34" charset="0"/>
                <a:ea typeface="Impact" pitchFamily="34" charset="-122"/>
                <a:cs typeface="Impact" pitchFamily="34" charset="-120"/>
              </a:rPr>
              <a:t>YOUR DATA</a:t>
            </a:r>
            <a:endParaRPr lang="en-US" sz="2400" dirty="0"/>
          </a:p>
        </p:txBody>
      </p:sp>
      <p:sp>
        <p:nvSpPr>
          <p:cNvPr id="18" name="Text 15"/>
          <p:cNvSpPr/>
          <p:nvPr/>
        </p:nvSpPr>
        <p:spPr>
          <a:xfrm>
            <a:off x="1645920" y="2926080"/>
            <a:ext cx="4206240" cy="3063240"/>
          </a:xfrm>
          <a:prstGeom prst="rect">
            <a:avLst/>
          </a:prstGeom>
          <a:noFill/>
          <a:ln/>
        </p:spPr>
        <p:txBody>
          <a:bodyPr wrap="square" lIns="0" tIns="0" rIns="0" bIns="0" rtlCol="0" anchor="t"/>
          <a:lstStyle/>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Each school's data lives in its own separate environment</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Access rules are enforced by the database itself</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Two-factor sign-in is required for all staff</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Handled in line with Jamaica's Data Protection Act</a:t>
            </a:r>
            <a:endParaRPr lang="en-US" sz="1300" dirty="0"/>
          </a:p>
        </p:txBody>
      </p:sp>
      <p:sp>
        <p:nvSpPr>
          <p:cNvPr id="19" name="Shape 16"/>
          <p:cNvSpPr/>
          <p:nvPr/>
        </p:nvSpPr>
        <p:spPr>
          <a:xfrm>
            <a:off x="6217920" y="1965960"/>
            <a:ext cx="4663440" cy="4114800"/>
          </a:xfrm>
          <a:prstGeom prst="rect">
            <a:avLst/>
          </a:prstGeom>
          <a:solidFill>
            <a:srgbClr val="FFFFFF"/>
          </a:solidFill>
          <a:ln w="25400">
            <a:solidFill>
              <a:srgbClr val="1E1208"/>
            </a:solidFill>
            <a:prstDash val="solid"/>
          </a:ln>
        </p:spPr>
      </p:sp>
      <p:sp>
        <p:nvSpPr>
          <p:cNvPr id="20" name="Shape 17"/>
          <p:cNvSpPr/>
          <p:nvPr/>
        </p:nvSpPr>
        <p:spPr>
          <a:xfrm>
            <a:off x="6217920" y="1965960"/>
            <a:ext cx="4663440" cy="731520"/>
          </a:xfrm>
          <a:prstGeom prst="rect">
            <a:avLst/>
          </a:prstGeom>
          <a:solidFill>
            <a:srgbClr val="D4762A"/>
          </a:solidFill>
          <a:ln w="25400">
            <a:solidFill>
              <a:srgbClr val="1E1208"/>
            </a:solidFill>
            <a:prstDash val="solid"/>
          </a:ln>
        </p:spPr>
      </p:sp>
      <p:sp>
        <p:nvSpPr>
          <p:cNvPr id="21" name="Text 18"/>
          <p:cNvSpPr/>
          <p:nvPr/>
        </p:nvSpPr>
        <p:spPr>
          <a:xfrm>
            <a:off x="6446520" y="1965960"/>
            <a:ext cx="4206240" cy="731520"/>
          </a:xfrm>
          <a:prstGeom prst="rect">
            <a:avLst/>
          </a:prstGeom>
          <a:noFill/>
          <a:ln/>
        </p:spPr>
        <p:txBody>
          <a:bodyPr wrap="square" lIns="0" tIns="0" rIns="0" bIns="0" rtlCol="0" anchor="ctr"/>
          <a:lstStyle/>
          <a:p>
            <a:pPr marL="0" indent="0" algn="l">
              <a:lnSpc>
                <a:spcPct val="110000"/>
              </a:lnSpc>
              <a:buNone/>
            </a:pPr>
            <a:r>
              <a:rPr lang="en-US" sz="2400" dirty="0">
                <a:solidFill>
                  <a:srgbClr val="1E1208"/>
                </a:solidFill>
                <a:latin typeface="Impact" pitchFamily="34" charset="0"/>
                <a:ea typeface="Impact" pitchFamily="34" charset="-122"/>
                <a:cs typeface="Impact" pitchFamily="34" charset="-120"/>
              </a:rPr>
              <a:t>AI ON A SHORT LEASH</a:t>
            </a:r>
            <a:endParaRPr lang="en-US" sz="2400" dirty="0"/>
          </a:p>
        </p:txBody>
      </p:sp>
      <p:sp>
        <p:nvSpPr>
          <p:cNvPr id="22" name="Text 19"/>
          <p:cNvSpPr/>
          <p:nvPr/>
        </p:nvSpPr>
        <p:spPr>
          <a:xfrm>
            <a:off x="6446520" y="2926080"/>
            <a:ext cx="4206240" cy="3063240"/>
          </a:xfrm>
          <a:prstGeom prst="rect">
            <a:avLst/>
          </a:prstGeom>
          <a:noFill/>
          <a:ln/>
        </p:spPr>
        <p:txBody>
          <a:bodyPr wrap="square" lIns="0" tIns="0" rIns="0" bIns="0" rtlCol="0" anchor="t"/>
          <a:lstStyle/>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AI helps a teacher write: polish a question, import a PDF, draft a lesson plan</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AI suggests essay marks. It never saves one; the teacher edits and decides</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Every suggestion is reviewed by a person before it is used</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The optional AI tutor stays inside a lesson; the principal can switch it off</a:t>
            </a:r>
            <a:endParaRPr lang="en-US" sz="1300" dirty="0"/>
          </a:p>
          <a:p>
            <a:pPr marL="342900" indent="-342900" algn="l">
              <a:lnSpc>
                <a:spcPct val="120000"/>
              </a:lnSpc>
              <a:buSzPct val="100000"/>
              <a:buChar char="■"/>
            </a:pPr>
            <a:r>
              <a:rPr lang="en-US" sz="1300" dirty="0">
                <a:solidFill>
                  <a:srgbClr val="1E1208"/>
                </a:solidFill>
                <a:latin typeface="Arial" pitchFamily="34" charset="0"/>
                <a:ea typeface="Arial" pitchFamily="34" charset="-122"/>
                <a:cs typeface="Arial" pitchFamily="34" charset="-120"/>
              </a:rPr>
              <a:t>AI is told to use Jamaican examples, the National Standards Curriculum and Vision 2030</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228600"/>
            <a:ext cx="9144000" cy="274320"/>
          </a:xfrm>
          <a:prstGeom prst="rect">
            <a:avLst/>
          </a:prstGeom>
          <a:noFill/>
          <a:ln/>
        </p:spPr>
        <p:txBody>
          <a:bodyPr wrap="square" lIns="0" tIns="0" rIns="0" bIns="0" rtlCol="0" anchor="ctr"/>
          <a:lstStyle/>
          <a:p>
            <a:pPr marL="0" indent="0">
              <a:buNone/>
            </a:pPr>
            <a:r>
              <a:rPr lang="en-US" sz="1200" b="1" kern="0" spc="300" dirty="0">
                <a:solidFill>
                  <a:srgbClr val="1E1208"/>
                </a:solidFill>
                <a:latin typeface="Courier New" pitchFamily="34" charset="0"/>
                <a:ea typeface="Courier New" pitchFamily="34" charset="-122"/>
                <a:cs typeface="Courier New" pitchFamily="34" charset="-120"/>
              </a:rPr>
              <a:t>YOU ASKED. WE BUILT.</a:t>
            </a:r>
            <a:endParaRPr lang="en-US" sz="12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100" dirty="0">
                <a:solidFill>
                  <a:srgbClr val="1E1208"/>
                </a:solidFill>
                <a:latin typeface="Impact" pitchFamily="34" charset="0"/>
                <a:ea typeface="Impact" pitchFamily="34" charset="-122"/>
                <a:cs typeface="Impact" pitchFamily="34" charset="-120"/>
              </a:rPr>
              <a:t>WHAT YOU TOLD US, AND WHAT IS BUILT</a:t>
            </a:r>
            <a:endParaRPr lang="en-US" sz="4100" dirty="0"/>
          </a:p>
        </p:txBody>
      </p:sp>
      <p:graphicFrame>
        <p:nvGraphicFramePr>
          <p:cNvPr id="30" name="Table 0"/>
          <p:cNvGraphicFramePr>
            <a:graphicFrameLocks noGrp="1"/>
          </p:cNvGraphicFramePr>
          <p:nvPr>
            <p:extLst>
              <p:ext uri="{D42A27DB-BD31-4B8C-83A1-F6EECF244321}">
                <p14:modId xmlns:p14="http://schemas.microsoft.com/office/powerpoint/2010/main" val="2482426701"/>
              </p:ext>
            </p:extLst>
          </p:nvPr>
        </p:nvGraphicFramePr>
        <p:xfrm>
          <a:off x="1417320" y="1508760"/>
          <a:ext cx="9509760" cy="4114800"/>
        </p:xfrm>
        <a:graphic>
          <a:graphicData uri="http://schemas.openxmlformats.org/drawingml/2006/table">
            <a:tbl>
              <a:tblPr/>
              <a:tblGrid>
                <a:gridCol w="4206240"/>
                <a:gridCol w="4114800"/>
                <a:gridCol w="1188720"/>
              </a:tblGrid>
              <a:tr h="457200">
                <a:tc>
                  <a:txBody>
                    <a:bodyPr/>
                    <a:lstStyle/>
                    <a:p>
                      <a:pPr marL="0" indent="0">
                        <a:buNone/>
                      </a:pPr>
                      <a:r>
                        <a:rPr lang="en-US" sz="950" b="1" dirty="0">
                          <a:solidFill>
                            <a:srgbClr val="FFFFFF"/>
                          </a:solidFill>
                          <a:latin typeface="Courier New" pitchFamily="34" charset="0"/>
                          <a:ea typeface="Courier New" pitchFamily="34" charset="-122"/>
                          <a:cs typeface="Courier New" pitchFamily="34" charset="-120"/>
                        </a:rPr>
                        <a:t>YOU SAID</a:t>
                      </a:r>
                      <a:endParaRPr lang="en-US" sz="950" dirty="0">
                        <a:latin typeface="Courier New" charset="0"/>
                        <a:ea typeface="Courier New" charset="0"/>
                        <a:cs typeface="Courier New" charset="0"/>
                      </a:endParaRPr>
                    </a:p>
                  </a:txBody>
                  <a:tcPr marT="36576" marB="36576">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1E1208"/>
                    </a:solidFill>
                  </a:tcPr>
                </a:tc>
                <a:tc>
                  <a:txBody>
                    <a:bodyPr/>
                    <a:lstStyle/>
                    <a:p>
                      <a:pPr marL="0" indent="0">
                        <a:buNone/>
                      </a:pPr>
                      <a:r>
                        <a:rPr lang="en-US" sz="950" b="1" dirty="0">
                          <a:solidFill>
                            <a:srgbClr val="FFFFFF"/>
                          </a:solidFill>
                          <a:latin typeface="Courier New" pitchFamily="34" charset="0"/>
                          <a:ea typeface="Courier New" pitchFamily="34" charset="-122"/>
                          <a:cs typeface="Courier New" pitchFamily="34" charset="-120"/>
                        </a:rPr>
                        <a:t>WHAT EXISTS</a:t>
                      </a:r>
                      <a:endParaRPr lang="en-US" sz="950" dirty="0">
                        <a:latin typeface="Courier New" charset="0"/>
                        <a:ea typeface="Courier New" charset="0"/>
                        <a:cs typeface="Courier New" charset="0"/>
                      </a:endParaRPr>
                    </a:p>
                  </a:txBody>
                  <a:tcPr marT="36576" marB="36576">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1E1208"/>
                    </a:solidFill>
                  </a:tcPr>
                </a:tc>
                <a:tc>
                  <a:txBody>
                    <a:bodyPr/>
                    <a:lstStyle/>
                    <a:p>
                      <a:pPr marL="0" indent="0">
                        <a:buNone/>
                      </a:pPr>
                      <a:r>
                        <a:rPr lang="en-US" sz="950" b="1" dirty="0">
                          <a:solidFill>
                            <a:srgbClr val="FFFFFF"/>
                          </a:solidFill>
                          <a:latin typeface="Courier New" pitchFamily="34" charset="0"/>
                          <a:ea typeface="Courier New" pitchFamily="34" charset="-122"/>
                          <a:cs typeface="Courier New" pitchFamily="34" charset="-120"/>
                        </a:rPr>
                        <a:t>STATUS</a:t>
                      </a:r>
                      <a:endParaRPr lang="en-US" sz="950" dirty="0">
                        <a:latin typeface="Courier New" charset="0"/>
                        <a:ea typeface="Courier New" charset="0"/>
                        <a:cs typeface="Courier New" charset="0"/>
                      </a:endParaRPr>
                    </a:p>
                  </a:txBody>
                  <a:tcPr marT="36576" marB="36576">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1E1208"/>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Marking takes the most time (80% of teachers)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Auto-marking, marking points, AI-suggested essay marks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Who is struggling, what mistakes are common (80% and 70% of teachers)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Exam insight for every test</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What a missed student missed (90% of teachers)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Catch-up lessons for absent students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Activities for different ability levels (90% of teachers)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Support, core and stretch practice</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AI-assisted lesson planning (80% of teachers)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AI-drafted 5E lesson plans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Topics I need to improve (75% of students)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My Topics, with a "practise this topic" button</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Flashcards (58% of students)</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Flashcards with review spacing</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BUILT</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E3B51E"/>
                    </a:solidFill>
                  </a:tcPr>
                </a:tc>
              </a:tr>
              <a:tr h="457200">
                <a:tc>
                  <a:txBody>
                    <a:bodyPr/>
                    <a:lstStyle/>
                    <a:p>
                      <a:pPr marL="0" indent="0">
                        <a:buNone/>
                      </a:pPr>
                      <a:r>
                        <a:rPr lang="en-US" sz="1200" dirty="0">
                          <a:solidFill>
                            <a:srgbClr val="1E1208"/>
                          </a:solidFill>
                          <a:latin typeface="Arial" pitchFamily="34" charset="0"/>
                          <a:ea typeface="Arial" pitchFamily="34" charset="-122"/>
                          <a:cs typeface="Arial" pitchFamily="34" charset="-120"/>
                        </a:rPr>
                        <a:t>Wifi and offline access (raised unprompted)</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buNone/>
                      </a:pPr>
                      <a:r>
                        <a:rPr lang="en-US" sz="1200" b="1" dirty="0">
                          <a:solidFill>
                            <a:srgbClr val="1E1208"/>
                          </a:solidFill>
                          <a:latin typeface="Arial" pitchFamily="34" charset="0"/>
                          <a:ea typeface="Arial" pitchFamily="34" charset="-122"/>
                          <a:cs typeface="Arial" pitchFamily="34" charset="-120"/>
                        </a:rPr>
                        <a:t>Flashcards and opened lessons offline</a:t>
                      </a:r>
                      <a:endParaRPr lang="en-US" sz="1200" dirty="0">
                        <a:latin typeface="Arial" charset="0"/>
                        <a:ea typeface="Arial" charset="0"/>
                        <a:cs typeface="Arial"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c>
                  <a:txBody>
                    <a:bodyPr/>
                    <a:lstStyle/>
                    <a:p>
                      <a:pPr marL="0" indent="0" algn="ctr">
                        <a:buNone/>
                      </a:pPr>
                      <a:r>
                        <a:rPr lang="en-US" sz="1000" b="1" dirty="0">
                          <a:solidFill>
                            <a:srgbClr val="1E1208"/>
                          </a:solidFill>
                          <a:latin typeface="Courier New" pitchFamily="34" charset="0"/>
                          <a:ea typeface="Courier New" pitchFamily="34" charset="-122"/>
                          <a:cs typeface="Courier New" pitchFamily="34" charset="-120"/>
                        </a:rPr>
                        <a:t>IN TESTING</a:t>
                      </a:r>
                      <a:endParaRPr lang="en-US" sz="1000" dirty="0">
                        <a:latin typeface="Courier New" charset="0"/>
                        <a:ea typeface="Courier New" charset="0"/>
                        <a:cs typeface="Courier New" charset="0"/>
                      </a:endParaRPr>
                    </a:p>
                  </a:txBody>
                  <a:tcPr marT="36576" marB="36576" anchor="ctr">
                    <a:lnL w="12700" cap="flat" cmpd="sng" algn="ctr">
                      <a:solidFill>
                        <a:srgbClr val="1E1208"/>
                      </a:solidFill>
                      <a:prstDash val="solid"/>
                      <a:round/>
                      <a:headEnd type="none" w="med" len="med"/>
                      <a:tailEnd type="none" w="med" len="med"/>
                    </a:lnL>
                    <a:lnR w="12700" cap="flat" cmpd="sng" algn="ctr">
                      <a:solidFill>
                        <a:srgbClr val="1E1208"/>
                      </a:solidFill>
                      <a:prstDash val="solid"/>
                      <a:round/>
                      <a:headEnd type="none" w="med" len="med"/>
                      <a:tailEnd type="none" w="med" len="med"/>
                    </a:lnR>
                    <a:lnT w="12700" cap="flat" cmpd="sng" algn="ctr">
                      <a:solidFill>
                        <a:srgbClr val="1E1208"/>
                      </a:solidFill>
                      <a:prstDash val="solid"/>
                      <a:round/>
                      <a:headEnd type="none" w="med" len="med"/>
                      <a:tailEnd type="none" w="med" len="med"/>
                    </a:lnT>
                    <a:lnB w="12700" cap="flat" cmpd="sng" algn="ctr">
                      <a:solidFill>
                        <a:srgbClr val="1E120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40180" y="228600"/>
            <a:ext cx="9144000" cy="274320"/>
          </a:xfrm>
          <a:prstGeom prst="rect">
            <a:avLst/>
          </a:prstGeom>
          <a:noFill/>
          <a:ln/>
        </p:spPr>
        <p:txBody>
          <a:bodyPr wrap="square" lIns="0" tIns="0" rIns="0" bIns="0" rtlCol="0" anchor="ctr"/>
          <a:lstStyle/>
          <a:p>
            <a:pPr marL="0" indent="0">
              <a:buNone/>
            </a:pPr>
            <a:r>
              <a:rPr lang="en-US" sz="1400" b="1" kern="0" spc="300" dirty="0">
                <a:solidFill>
                  <a:srgbClr val="1E1208"/>
                </a:solidFill>
                <a:latin typeface="Courier New" pitchFamily="34" charset="0"/>
                <a:ea typeface="Courier New" pitchFamily="34" charset="-122"/>
                <a:cs typeface="Courier New" pitchFamily="34" charset="-120"/>
              </a:rPr>
              <a:t>THE NEXT STEP</a:t>
            </a:r>
            <a:endParaRPr lang="en-US" sz="1400" dirty="0"/>
          </a:p>
        </p:txBody>
      </p:sp>
      <p:sp>
        <p:nvSpPr>
          <p:cNvPr id="14" name="Text 11"/>
          <p:cNvSpPr/>
          <p:nvPr/>
        </p:nvSpPr>
        <p:spPr>
          <a:xfrm>
            <a:off x="1417320" y="777240"/>
            <a:ext cx="9509760" cy="1005840"/>
          </a:xfrm>
          <a:prstGeom prst="rect">
            <a:avLst/>
          </a:prstGeom>
          <a:noFill/>
          <a:ln/>
        </p:spPr>
        <p:txBody>
          <a:bodyPr wrap="square" lIns="0" tIns="0" rIns="0" bIns="0" rtlCol="0" anchor="t">
            <a:normAutofit/>
          </a:bodyPr>
          <a:lstStyle/>
          <a:p>
            <a:pPr marL="0" indent="0">
              <a:buNone/>
            </a:pPr>
            <a:r>
              <a:rPr lang="en-US" sz="4800" dirty="0">
                <a:solidFill>
                  <a:srgbClr val="1E1208"/>
                </a:solidFill>
                <a:latin typeface="Impact" pitchFamily="34" charset="0"/>
                <a:ea typeface="Impact" pitchFamily="34" charset="-122"/>
                <a:cs typeface="Impact" pitchFamily="34" charset="-120"/>
              </a:rPr>
              <a:t>A PATHWAY WE CAN SHAPE TOGETHER</a:t>
            </a:r>
            <a:endParaRPr lang="en-US" sz="4800" dirty="0"/>
          </a:p>
        </p:txBody>
      </p:sp>
      <p:sp>
        <p:nvSpPr>
          <p:cNvPr id="15" name="Shape 12"/>
          <p:cNvSpPr/>
          <p:nvPr/>
        </p:nvSpPr>
        <p:spPr>
          <a:xfrm>
            <a:off x="1417320" y="1965960"/>
            <a:ext cx="1783080" cy="2148840"/>
          </a:xfrm>
          <a:prstGeom prst="rect">
            <a:avLst/>
          </a:prstGeom>
          <a:solidFill>
            <a:srgbClr val="FBE9D6"/>
          </a:solidFill>
          <a:ln w="25400">
            <a:solidFill>
              <a:srgbClr val="1E1208"/>
            </a:solidFill>
            <a:prstDash val="solid"/>
          </a:ln>
        </p:spPr>
      </p:sp>
      <p:sp>
        <p:nvSpPr>
          <p:cNvPr id="16" name="Shape 13"/>
          <p:cNvSpPr/>
          <p:nvPr/>
        </p:nvSpPr>
        <p:spPr>
          <a:xfrm>
            <a:off x="1417320" y="1965960"/>
            <a:ext cx="1783080" cy="777240"/>
          </a:xfrm>
          <a:prstGeom prst="rect">
            <a:avLst/>
          </a:prstGeom>
          <a:solidFill>
            <a:srgbClr val="D4762A"/>
          </a:solidFill>
          <a:ln w="25400">
            <a:solidFill>
              <a:srgbClr val="1E1208"/>
            </a:solidFill>
            <a:prstDash val="solid"/>
          </a:ln>
        </p:spPr>
      </p:sp>
      <p:sp>
        <p:nvSpPr>
          <p:cNvPr id="17" name="Text 14"/>
          <p:cNvSpPr/>
          <p:nvPr/>
        </p:nvSpPr>
        <p:spPr>
          <a:xfrm>
            <a:off x="1417320" y="1965960"/>
            <a:ext cx="178308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1</a:t>
            </a:r>
            <a:endParaRPr lang="en-US" sz="4400" dirty="0"/>
          </a:p>
        </p:txBody>
      </p:sp>
      <p:sp>
        <p:nvSpPr>
          <p:cNvPr id="18" name="Text 15"/>
          <p:cNvSpPr/>
          <p:nvPr/>
        </p:nvSpPr>
        <p:spPr>
          <a:xfrm>
            <a:off x="1545336" y="2834640"/>
            <a:ext cx="1554480" cy="3657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EXPERIENCE</a:t>
            </a:r>
            <a:endParaRPr lang="en-US" sz="1700" dirty="0"/>
          </a:p>
        </p:txBody>
      </p:sp>
      <p:sp>
        <p:nvSpPr>
          <p:cNvPr id="19" name="Text 16"/>
          <p:cNvSpPr/>
          <p:nvPr/>
        </p:nvSpPr>
        <p:spPr>
          <a:xfrm>
            <a:off x="1545336" y="3291840"/>
            <a:ext cx="1554480" cy="82296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Today: use it hands-on and tell us what you see.</a:t>
            </a:r>
            <a:endParaRPr lang="en-US" sz="1150" dirty="0"/>
          </a:p>
        </p:txBody>
      </p:sp>
      <p:sp>
        <p:nvSpPr>
          <p:cNvPr id="20" name="Shape 17"/>
          <p:cNvSpPr/>
          <p:nvPr/>
        </p:nvSpPr>
        <p:spPr>
          <a:xfrm>
            <a:off x="3337560" y="1965960"/>
            <a:ext cx="1783080" cy="2148840"/>
          </a:xfrm>
          <a:prstGeom prst="rect">
            <a:avLst/>
          </a:prstGeom>
          <a:solidFill>
            <a:srgbClr val="FFFFFF"/>
          </a:solidFill>
          <a:ln w="25400">
            <a:solidFill>
              <a:srgbClr val="1E1208"/>
            </a:solidFill>
            <a:prstDash val="solid"/>
          </a:ln>
        </p:spPr>
      </p:sp>
      <p:sp>
        <p:nvSpPr>
          <p:cNvPr id="21" name="Shape 18"/>
          <p:cNvSpPr/>
          <p:nvPr/>
        </p:nvSpPr>
        <p:spPr>
          <a:xfrm>
            <a:off x="3337560" y="1965960"/>
            <a:ext cx="1783080" cy="777240"/>
          </a:xfrm>
          <a:prstGeom prst="rect">
            <a:avLst/>
          </a:prstGeom>
          <a:solidFill>
            <a:srgbClr val="E3B51E"/>
          </a:solidFill>
          <a:ln w="25400">
            <a:solidFill>
              <a:srgbClr val="1E1208"/>
            </a:solidFill>
            <a:prstDash val="solid"/>
          </a:ln>
        </p:spPr>
      </p:sp>
      <p:sp>
        <p:nvSpPr>
          <p:cNvPr id="22" name="Text 19"/>
          <p:cNvSpPr/>
          <p:nvPr/>
        </p:nvSpPr>
        <p:spPr>
          <a:xfrm>
            <a:off x="3337560" y="1965960"/>
            <a:ext cx="178308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2</a:t>
            </a:r>
            <a:endParaRPr lang="en-US" sz="4400" dirty="0"/>
          </a:p>
        </p:txBody>
      </p:sp>
      <p:sp>
        <p:nvSpPr>
          <p:cNvPr id="23" name="Text 20"/>
          <p:cNvSpPr/>
          <p:nvPr/>
        </p:nvSpPr>
        <p:spPr>
          <a:xfrm>
            <a:off x="3465576" y="2834640"/>
            <a:ext cx="1554480" cy="3657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CHOOSE A START</a:t>
            </a:r>
            <a:endParaRPr lang="en-US" sz="1700" dirty="0"/>
          </a:p>
        </p:txBody>
      </p:sp>
      <p:sp>
        <p:nvSpPr>
          <p:cNvPr id="24" name="Text 21"/>
          <p:cNvSpPr/>
          <p:nvPr/>
        </p:nvSpPr>
        <p:spPr>
          <a:xfrm>
            <a:off x="3465576" y="3291840"/>
            <a:ext cx="1554480" cy="82296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Pick departments, classes and assessment types.</a:t>
            </a:r>
            <a:endParaRPr lang="en-US" sz="1150" dirty="0"/>
          </a:p>
        </p:txBody>
      </p:sp>
      <p:sp>
        <p:nvSpPr>
          <p:cNvPr id="25" name="Shape 22"/>
          <p:cNvSpPr/>
          <p:nvPr/>
        </p:nvSpPr>
        <p:spPr>
          <a:xfrm>
            <a:off x="5257800" y="1965960"/>
            <a:ext cx="1783080" cy="2148840"/>
          </a:xfrm>
          <a:prstGeom prst="rect">
            <a:avLst/>
          </a:prstGeom>
          <a:solidFill>
            <a:srgbClr val="FFFFFF"/>
          </a:solidFill>
          <a:ln w="25400">
            <a:solidFill>
              <a:srgbClr val="1E1208"/>
            </a:solidFill>
            <a:prstDash val="solid"/>
          </a:ln>
        </p:spPr>
      </p:sp>
      <p:sp>
        <p:nvSpPr>
          <p:cNvPr id="26" name="Shape 23"/>
          <p:cNvSpPr/>
          <p:nvPr/>
        </p:nvSpPr>
        <p:spPr>
          <a:xfrm>
            <a:off x="5257800" y="1965960"/>
            <a:ext cx="1783080" cy="777240"/>
          </a:xfrm>
          <a:prstGeom prst="rect">
            <a:avLst/>
          </a:prstGeom>
          <a:solidFill>
            <a:srgbClr val="E3B51E"/>
          </a:solidFill>
          <a:ln w="25400">
            <a:solidFill>
              <a:srgbClr val="1E1208"/>
            </a:solidFill>
            <a:prstDash val="solid"/>
          </a:ln>
        </p:spPr>
      </p:sp>
      <p:sp>
        <p:nvSpPr>
          <p:cNvPr id="27" name="Text 24"/>
          <p:cNvSpPr/>
          <p:nvPr/>
        </p:nvSpPr>
        <p:spPr>
          <a:xfrm>
            <a:off x="5257800" y="1965960"/>
            <a:ext cx="178308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3</a:t>
            </a:r>
            <a:endParaRPr lang="en-US" sz="4400" dirty="0"/>
          </a:p>
        </p:txBody>
      </p:sp>
      <p:sp>
        <p:nvSpPr>
          <p:cNvPr id="28" name="Text 25"/>
          <p:cNvSpPr/>
          <p:nvPr/>
        </p:nvSpPr>
        <p:spPr>
          <a:xfrm>
            <a:off x="5385816" y="2834640"/>
            <a:ext cx="1554480" cy="3657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PILOT</a:t>
            </a:r>
            <a:endParaRPr lang="en-US" sz="1700" dirty="0"/>
          </a:p>
        </p:txBody>
      </p:sp>
      <p:sp>
        <p:nvSpPr>
          <p:cNvPr id="29" name="Text 26"/>
          <p:cNvSpPr/>
          <p:nvPr/>
        </p:nvSpPr>
        <p:spPr>
          <a:xfrm>
            <a:off x="5385816" y="3291840"/>
            <a:ext cx="1554480" cy="82296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Run it for a defined period with real classes.</a:t>
            </a:r>
            <a:endParaRPr lang="en-US" sz="1150" dirty="0"/>
          </a:p>
        </p:txBody>
      </p:sp>
      <p:sp>
        <p:nvSpPr>
          <p:cNvPr id="30" name="Shape 27"/>
          <p:cNvSpPr/>
          <p:nvPr/>
        </p:nvSpPr>
        <p:spPr>
          <a:xfrm>
            <a:off x="7178040" y="1965960"/>
            <a:ext cx="1783080" cy="2148840"/>
          </a:xfrm>
          <a:prstGeom prst="rect">
            <a:avLst/>
          </a:prstGeom>
          <a:solidFill>
            <a:srgbClr val="FFFFFF"/>
          </a:solidFill>
          <a:ln w="25400">
            <a:solidFill>
              <a:srgbClr val="1E1208"/>
            </a:solidFill>
            <a:prstDash val="solid"/>
          </a:ln>
        </p:spPr>
      </p:sp>
      <p:sp>
        <p:nvSpPr>
          <p:cNvPr id="31" name="Shape 28"/>
          <p:cNvSpPr/>
          <p:nvPr/>
        </p:nvSpPr>
        <p:spPr>
          <a:xfrm>
            <a:off x="7178040" y="1965960"/>
            <a:ext cx="1783080" cy="777240"/>
          </a:xfrm>
          <a:prstGeom prst="rect">
            <a:avLst/>
          </a:prstGeom>
          <a:solidFill>
            <a:srgbClr val="E3B51E"/>
          </a:solidFill>
          <a:ln w="25400">
            <a:solidFill>
              <a:srgbClr val="1E1208"/>
            </a:solidFill>
            <a:prstDash val="solid"/>
          </a:ln>
        </p:spPr>
      </p:sp>
      <p:sp>
        <p:nvSpPr>
          <p:cNvPr id="32" name="Text 29"/>
          <p:cNvSpPr/>
          <p:nvPr/>
        </p:nvSpPr>
        <p:spPr>
          <a:xfrm>
            <a:off x="7178040" y="1965960"/>
            <a:ext cx="178308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4</a:t>
            </a:r>
            <a:endParaRPr lang="en-US" sz="4400" dirty="0"/>
          </a:p>
        </p:txBody>
      </p:sp>
      <p:sp>
        <p:nvSpPr>
          <p:cNvPr id="33" name="Text 30"/>
          <p:cNvSpPr/>
          <p:nvPr/>
        </p:nvSpPr>
        <p:spPr>
          <a:xfrm>
            <a:off x="7306056" y="2834640"/>
            <a:ext cx="1554480" cy="3657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REVIEW</a:t>
            </a:r>
            <a:endParaRPr lang="en-US" sz="1700" dirty="0"/>
          </a:p>
        </p:txBody>
      </p:sp>
      <p:sp>
        <p:nvSpPr>
          <p:cNvPr id="34" name="Text 31"/>
          <p:cNvSpPr/>
          <p:nvPr/>
        </p:nvSpPr>
        <p:spPr>
          <a:xfrm>
            <a:off x="7306056" y="3291840"/>
            <a:ext cx="1554480" cy="82296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Look at the evidence together.</a:t>
            </a:r>
            <a:endParaRPr lang="en-US" sz="1150" dirty="0"/>
          </a:p>
        </p:txBody>
      </p:sp>
      <p:sp>
        <p:nvSpPr>
          <p:cNvPr id="35" name="Shape 32"/>
          <p:cNvSpPr/>
          <p:nvPr/>
        </p:nvSpPr>
        <p:spPr>
          <a:xfrm>
            <a:off x="9098280" y="1965960"/>
            <a:ext cx="1783080" cy="2148840"/>
          </a:xfrm>
          <a:prstGeom prst="rect">
            <a:avLst/>
          </a:prstGeom>
          <a:solidFill>
            <a:srgbClr val="FFFFFF"/>
          </a:solidFill>
          <a:ln w="25400">
            <a:solidFill>
              <a:srgbClr val="1E1208"/>
            </a:solidFill>
            <a:prstDash val="solid"/>
          </a:ln>
        </p:spPr>
      </p:sp>
      <p:sp>
        <p:nvSpPr>
          <p:cNvPr id="36" name="Shape 33"/>
          <p:cNvSpPr/>
          <p:nvPr/>
        </p:nvSpPr>
        <p:spPr>
          <a:xfrm>
            <a:off x="9098280" y="1965960"/>
            <a:ext cx="1783080" cy="777240"/>
          </a:xfrm>
          <a:prstGeom prst="rect">
            <a:avLst/>
          </a:prstGeom>
          <a:solidFill>
            <a:srgbClr val="E3B51E"/>
          </a:solidFill>
          <a:ln w="25400">
            <a:solidFill>
              <a:srgbClr val="1E1208"/>
            </a:solidFill>
            <a:prstDash val="solid"/>
          </a:ln>
        </p:spPr>
      </p:sp>
      <p:sp>
        <p:nvSpPr>
          <p:cNvPr id="37" name="Text 34"/>
          <p:cNvSpPr/>
          <p:nvPr/>
        </p:nvSpPr>
        <p:spPr>
          <a:xfrm>
            <a:off x="9098280" y="1965960"/>
            <a:ext cx="1783080" cy="777240"/>
          </a:xfrm>
          <a:prstGeom prst="rect">
            <a:avLst/>
          </a:prstGeom>
          <a:noFill/>
          <a:ln/>
        </p:spPr>
        <p:txBody>
          <a:bodyPr wrap="square" lIns="0" tIns="0" rIns="0" bIns="0" rtlCol="0" anchor="ctr"/>
          <a:lstStyle/>
          <a:p>
            <a:pPr marL="0" indent="0" algn="ctr">
              <a:lnSpc>
                <a:spcPct val="110000"/>
              </a:lnSpc>
              <a:buNone/>
            </a:pPr>
            <a:r>
              <a:rPr lang="en-US" sz="4400" dirty="0">
                <a:solidFill>
                  <a:srgbClr val="1E1208"/>
                </a:solidFill>
                <a:latin typeface="Impact" pitchFamily="34" charset="0"/>
                <a:ea typeface="Impact" pitchFamily="34" charset="-122"/>
                <a:cs typeface="Impact" pitchFamily="34" charset="-120"/>
              </a:rPr>
              <a:t>5</a:t>
            </a:r>
            <a:endParaRPr lang="en-US" sz="4400" dirty="0"/>
          </a:p>
        </p:txBody>
      </p:sp>
      <p:sp>
        <p:nvSpPr>
          <p:cNvPr id="38" name="Text 35"/>
          <p:cNvSpPr/>
          <p:nvPr/>
        </p:nvSpPr>
        <p:spPr>
          <a:xfrm>
            <a:off x="9226296" y="2834640"/>
            <a:ext cx="1554480" cy="365760"/>
          </a:xfrm>
          <a:prstGeom prst="rect">
            <a:avLst/>
          </a:prstGeom>
          <a:noFill/>
          <a:ln/>
        </p:spPr>
        <p:txBody>
          <a:bodyPr wrap="square" lIns="0" tIns="0" rIns="0" bIns="0" rtlCol="0" anchor="t"/>
          <a:lstStyle/>
          <a:p>
            <a:pPr marL="0" indent="0" algn="l">
              <a:lnSpc>
                <a:spcPct val="110000"/>
              </a:lnSpc>
              <a:buNone/>
            </a:pPr>
            <a:r>
              <a:rPr lang="en-US" sz="1700" dirty="0">
                <a:solidFill>
                  <a:srgbClr val="1E1208"/>
                </a:solidFill>
                <a:latin typeface="Impact" pitchFamily="34" charset="0"/>
                <a:ea typeface="Impact" pitchFamily="34" charset="-122"/>
                <a:cs typeface="Impact" pitchFamily="34" charset="-120"/>
              </a:rPr>
              <a:t>EXPAND</a:t>
            </a:r>
            <a:endParaRPr lang="en-US" sz="1700" dirty="0"/>
          </a:p>
        </p:txBody>
      </p:sp>
      <p:sp>
        <p:nvSpPr>
          <p:cNvPr id="39" name="Text 36"/>
          <p:cNvSpPr/>
          <p:nvPr/>
        </p:nvSpPr>
        <p:spPr>
          <a:xfrm>
            <a:off x="9226296" y="3291840"/>
            <a:ext cx="1554480" cy="822960"/>
          </a:xfrm>
          <a:prstGeom prst="rect">
            <a:avLst/>
          </a:prstGeom>
          <a:noFill/>
          <a:ln/>
        </p:spPr>
        <p:txBody>
          <a:bodyPr wrap="square" lIns="0" tIns="0" rIns="0" bIns="0" rtlCol="0" anchor="t"/>
          <a:lstStyle/>
          <a:p>
            <a:pPr marL="0" indent="0" algn="l">
              <a:lnSpc>
                <a:spcPct val="110000"/>
              </a:lnSpc>
              <a:buNone/>
            </a:pPr>
            <a:r>
              <a:rPr lang="en-US" sz="1150" dirty="0">
                <a:solidFill>
                  <a:srgbClr val="555555"/>
                </a:solidFill>
                <a:latin typeface="Arial" pitchFamily="34" charset="0"/>
                <a:ea typeface="Arial" pitchFamily="34" charset="-122"/>
                <a:cs typeface="Arial" pitchFamily="34" charset="-120"/>
              </a:rPr>
              <a:t>Decide how and when to widen it.</a:t>
            </a:r>
            <a:endParaRPr lang="en-US" sz="1150" dirty="0"/>
          </a:p>
        </p:txBody>
      </p:sp>
      <p:sp>
        <p:nvSpPr>
          <p:cNvPr id="40" name="Text 37"/>
          <p:cNvSpPr/>
          <p:nvPr/>
        </p:nvSpPr>
        <p:spPr>
          <a:xfrm>
            <a:off x="1417320" y="4434840"/>
            <a:ext cx="9144000" cy="274320"/>
          </a:xfrm>
          <a:prstGeom prst="rect">
            <a:avLst/>
          </a:prstGeom>
          <a:noFill/>
          <a:ln/>
        </p:spPr>
        <p:txBody>
          <a:bodyPr wrap="square" lIns="0" tIns="0" rIns="0" bIns="0" rtlCol="0" anchor="t"/>
          <a:lstStyle/>
          <a:p>
            <a:pPr marL="0" indent="0" algn="l">
              <a:lnSpc>
                <a:spcPct val="110000"/>
              </a:lnSpc>
              <a:buNone/>
            </a:pPr>
            <a:r>
              <a:rPr lang="en-US" sz="1400" b="1" kern="0" spc="200" dirty="0">
                <a:solidFill>
                  <a:srgbClr val="1E1208"/>
                </a:solidFill>
                <a:latin typeface="Courier New" pitchFamily="34" charset="0"/>
                <a:ea typeface="Courier New" pitchFamily="34" charset="-122"/>
                <a:cs typeface="Courier New" pitchFamily="34" charset="-120"/>
              </a:rPr>
              <a:t>HOW WE WOULD MEASURE SUCCESS</a:t>
            </a:r>
            <a:endParaRPr lang="en-US" sz="1400" dirty="0"/>
          </a:p>
        </p:txBody>
      </p:sp>
      <p:sp>
        <p:nvSpPr>
          <p:cNvPr id="41" name="Shape 38"/>
          <p:cNvSpPr/>
          <p:nvPr/>
        </p:nvSpPr>
        <p:spPr>
          <a:xfrm>
            <a:off x="1417320" y="4800600"/>
            <a:ext cx="1783080" cy="1005840"/>
          </a:xfrm>
          <a:prstGeom prst="rect">
            <a:avLst/>
          </a:prstGeom>
          <a:solidFill>
            <a:srgbClr val="FBE9D6"/>
          </a:solidFill>
          <a:ln w="25400">
            <a:solidFill>
              <a:srgbClr val="1E1208"/>
            </a:solidFill>
            <a:prstDash val="solid"/>
          </a:ln>
        </p:spPr>
      </p:sp>
      <p:sp>
        <p:nvSpPr>
          <p:cNvPr id="42" name="Text 39"/>
          <p:cNvSpPr/>
          <p:nvPr/>
        </p:nvSpPr>
        <p:spPr>
          <a:xfrm>
            <a:off x="1527048" y="4800600"/>
            <a:ext cx="1572768" cy="1005840"/>
          </a:xfrm>
          <a:prstGeom prst="rect">
            <a:avLst/>
          </a:prstGeom>
          <a:noFill/>
          <a:ln/>
        </p:spPr>
        <p:txBody>
          <a:bodyPr wrap="square" lIns="0" tIns="0" rIns="0" bIns="0" rtlCol="0" anchor="ctr"/>
          <a:lstStyle/>
          <a:p>
            <a:pPr marL="0" indent="0" algn="l">
              <a:lnSpc>
                <a:spcPct val="110000"/>
              </a:lnSpc>
              <a:buNone/>
            </a:pPr>
            <a:r>
              <a:rPr lang="en-US" sz="1100" b="1" dirty="0">
                <a:solidFill>
                  <a:srgbClr val="1E1208"/>
                </a:solidFill>
                <a:latin typeface="Arial" pitchFamily="34" charset="0"/>
                <a:ea typeface="Arial" pitchFamily="34" charset="-122"/>
                <a:cs typeface="Arial" pitchFamily="34" charset="-120"/>
              </a:rPr>
              <a:t>Teacher hours saved marking and preparing</a:t>
            </a:r>
            <a:endParaRPr lang="en-US" sz="1100" dirty="0"/>
          </a:p>
        </p:txBody>
      </p:sp>
      <p:sp>
        <p:nvSpPr>
          <p:cNvPr id="43" name="Shape 40"/>
          <p:cNvSpPr/>
          <p:nvPr/>
        </p:nvSpPr>
        <p:spPr>
          <a:xfrm>
            <a:off x="3337560" y="4800600"/>
            <a:ext cx="1783080" cy="1005840"/>
          </a:xfrm>
          <a:prstGeom prst="rect">
            <a:avLst/>
          </a:prstGeom>
          <a:solidFill>
            <a:srgbClr val="FBE9D6"/>
          </a:solidFill>
          <a:ln w="25400">
            <a:solidFill>
              <a:srgbClr val="1E1208"/>
            </a:solidFill>
            <a:prstDash val="solid"/>
          </a:ln>
        </p:spPr>
      </p:sp>
      <p:sp>
        <p:nvSpPr>
          <p:cNvPr id="44" name="Text 41"/>
          <p:cNvSpPr/>
          <p:nvPr/>
        </p:nvSpPr>
        <p:spPr>
          <a:xfrm>
            <a:off x="3447288" y="4800600"/>
            <a:ext cx="1572768" cy="1005840"/>
          </a:xfrm>
          <a:prstGeom prst="rect">
            <a:avLst/>
          </a:prstGeom>
          <a:noFill/>
          <a:ln/>
        </p:spPr>
        <p:txBody>
          <a:bodyPr wrap="square" lIns="0" tIns="0" rIns="0" bIns="0" rtlCol="0" anchor="ctr"/>
          <a:lstStyle/>
          <a:p>
            <a:pPr marL="0" indent="0" algn="l">
              <a:lnSpc>
                <a:spcPct val="110000"/>
              </a:lnSpc>
              <a:buNone/>
            </a:pPr>
            <a:r>
              <a:rPr lang="en-US" sz="1100" b="1" dirty="0">
                <a:solidFill>
                  <a:srgbClr val="1E1208"/>
                </a:solidFill>
                <a:latin typeface="Arial" pitchFamily="34" charset="0"/>
                <a:ea typeface="Arial" pitchFamily="34" charset="-122"/>
                <a:cs typeface="Arial" pitchFamily="34" charset="-120"/>
              </a:rPr>
              <a:t>Paper no longer printed and copied</a:t>
            </a:r>
            <a:endParaRPr lang="en-US" sz="1100" dirty="0"/>
          </a:p>
        </p:txBody>
      </p:sp>
      <p:sp>
        <p:nvSpPr>
          <p:cNvPr id="45" name="Shape 42"/>
          <p:cNvSpPr/>
          <p:nvPr/>
        </p:nvSpPr>
        <p:spPr>
          <a:xfrm>
            <a:off x="5257800" y="4800600"/>
            <a:ext cx="1783080" cy="1005840"/>
          </a:xfrm>
          <a:prstGeom prst="rect">
            <a:avLst/>
          </a:prstGeom>
          <a:solidFill>
            <a:srgbClr val="FBE9D6"/>
          </a:solidFill>
          <a:ln w="25400">
            <a:solidFill>
              <a:srgbClr val="1E1208"/>
            </a:solidFill>
            <a:prstDash val="solid"/>
          </a:ln>
        </p:spPr>
      </p:sp>
      <p:sp>
        <p:nvSpPr>
          <p:cNvPr id="46" name="Text 43"/>
          <p:cNvSpPr/>
          <p:nvPr/>
        </p:nvSpPr>
        <p:spPr>
          <a:xfrm>
            <a:off x="5367528" y="4800600"/>
            <a:ext cx="1572768" cy="1005840"/>
          </a:xfrm>
          <a:prstGeom prst="rect">
            <a:avLst/>
          </a:prstGeom>
          <a:noFill/>
          <a:ln/>
        </p:spPr>
        <p:txBody>
          <a:bodyPr wrap="square" lIns="0" tIns="0" rIns="0" bIns="0" rtlCol="0" anchor="ctr"/>
          <a:lstStyle/>
          <a:p>
            <a:pPr marL="0" indent="0" algn="l">
              <a:lnSpc>
                <a:spcPct val="110000"/>
              </a:lnSpc>
              <a:buNone/>
            </a:pPr>
            <a:r>
              <a:rPr lang="en-US" sz="1100" b="1" dirty="0">
                <a:solidFill>
                  <a:srgbClr val="1E1208"/>
                </a:solidFill>
                <a:latin typeface="Arial" pitchFamily="34" charset="0"/>
                <a:ea typeface="Arial" pitchFamily="34" charset="-122"/>
                <a:cs typeface="Arial" pitchFamily="34" charset="-120"/>
              </a:rPr>
              <a:t>Time from exam to usable results</a:t>
            </a:r>
            <a:endParaRPr lang="en-US" sz="1100" dirty="0"/>
          </a:p>
        </p:txBody>
      </p:sp>
      <p:sp>
        <p:nvSpPr>
          <p:cNvPr id="47" name="Shape 44"/>
          <p:cNvSpPr/>
          <p:nvPr/>
        </p:nvSpPr>
        <p:spPr>
          <a:xfrm>
            <a:off x="7178040" y="4800600"/>
            <a:ext cx="1783080" cy="1005840"/>
          </a:xfrm>
          <a:prstGeom prst="rect">
            <a:avLst/>
          </a:prstGeom>
          <a:solidFill>
            <a:srgbClr val="FBE9D6"/>
          </a:solidFill>
          <a:ln w="25400">
            <a:solidFill>
              <a:srgbClr val="1E1208"/>
            </a:solidFill>
            <a:prstDash val="solid"/>
          </a:ln>
        </p:spPr>
      </p:sp>
      <p:sp>
        <p:nvSpPr>
          <p:cNvPr id="48" name="Text 45"/>
          <p:cNvSpPr/>
          <p:nvPr/>
        </p:nvSpPr>
        <p:spPr>
          <a:xfrm>
            <a:off x="7287768" y="4800600"/>
            <a:ext cx="1572768" cy="1005840"/>
          </a:xfrm>
          <a:prstGeom prst="rect">
            <a:avLst/>
          </a:prstGeom>
          <a:noFill/>
          <a:ln/>
        </p:spPr>
        <p:txBody>
          <a:bodyPr wrap="square" lIns="0" tIns="0" rIns="0" bIns="0" rtlCol="0" anchor="ctr"/>
          <a:lstStyle/>
          <a:p>
            <a:pPr marL="0" indent="0" algn="l">
              <a:lnSpc>
                <a:spcPct val="110000"/>
              </a:lnSpc>
              <a:buNone/>
            </a:pPr>
            <a:r>
              <a:rPr lang="en-US" sz="1100" b="1" dirty="0">
                <a:solidFill>
                  <a:srgbClr val="1E1208"/>
                </a:solidFill>
                <a:latin typeface="Arial" pitchFamily="34" charset="0"/>
                <a:ea typeface="Arial" pitchFamily="34" charset="-122"/>
                <a:cs typeface="Arial" pitchFamily="34" charset="-120"/>
              </a:rPr>
              <a:t>Learning gaps found and acted on</a:t>
            </a:r>
            <a:endParaRPr lang="en-US" sz="1100" dirty="0"/>
          </a:p>
        </p:txBody>
      </p:sp>
      <p:sp>
        <p:nvSpPr>
          <p:cNvPr id="49" name="Shape 46"/>
          <p:cNvSpPr/>
          <p:nvPr/>
        </p:nvSpPr>
        <p:spPr>
          <a:xfrm>
            <a:off x="9098280" y="4800600"/>
            <a:ext cx="1783080" cy="1005840"/>
          </a:xfrm>
          <a:prstGeom prst="rect">
            <a:avLst/>
          </a:prstGeom>
          <a:solidFill>
            <a:srgbClr val="FBE9D6"/>
          </a:solidFill>
          <a:ln w="25400">
            <a:solidFill>
              <a:srgbClr val="1E1208"/>
            </a:solidFill>
            <a:prstDash val="solid"/>
          </a:ln>
        </p:spPr>
      </p:sp>
      <p:sp>
        <p:nvSpPr>
          <p:cNvPr id="50" name="Text 47"/>
          <p:cNvSpPr/>
          <p:nvPr/>
        </p:nvSpPr>
        <p:spPr>
          <a:xfrm>
            <a:off x="9208008" y="4800600"/>
            <a:ext cx="1572768" cy="1005840"/>
          </a:xfrm>
          <a:prstGeom prst="rect">
            <a:avLst/>
          </a:prstGeom>
          <a:noFill/>
          <a:ln/>
        </p:spPr>
        <p:txBody>
          <a:bodyPr wrap="square" lIns="0" tIns="0" rIns="0" bIns="0" rtlCol="0" anchor="ctr"/>
          <a:lstStyle/>
          <a:p>
            <a:pPr marL="0" indent="0" algn="l">
              <a:lnSpc>
                <a:spcPct val="110000"/>
              </a:lnSpc>
              <a:buNone/>
            </a:pPr>
            <a:r>
              <a:rPr lang="en-US" sz="1100" b="1" dirty="0">
                <a:solidFill>
                  <a:srgbClr val="1E1208"/>
                </a:solidFill>
                <a:latin typeface="Arial" pitchFamily="34" charset="0"/>
                <a:ea typeface="Arial" pitchFamily="34" charset="-122"/>
                <a:cs typeface="Arial" pitchFamily="34" charset="-120"/>
              </a:rPr>
              <a:t>Teacher and student feedback</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588191" y="5550408"/>
            <a:ext cx="603504" cy="1152144"/>
          </a:xfrm>
          <a:prstGeom prst="rect">
            <a:avLst/>
          </a:prstGeom>
          <a:solidFill>
            <a:srgbClr val="FDFDFB"/>
          </a:solidFill>
          <a:ln w="25400">
            <a:solidFill>
              <a:srgbClr val="1E1208"/>
            </a:solidFill>
            <a:prstDash val="solid"/>
          </a:ln>
        </p:spPr>
      </p:sp>
      <p:sp>
        <p:nvSpPr>
          <p:cNvPr id="11" name="Text 9"/>
          <p:cNvSpPr/>
          <p:nvPr/>
        </p:nvSpPr>
        <p:spPr>
          <a:xfrm>
            <a:off x="11588191" y="5550408"/>
            <a:ext cx="603504" cy="1152144"/>
          </a:xfrm>
          <a:prstGeom prst="rect">
            <a:avLst/>
          </a:prstGeom>
          <a:noFill/>
          <a:ln/>
        </p:spPr>
        <p:txBody>
          <a:bodyPr vert="vert270" wrap="square" lIns="0" tIns="0" rIns="0" bIns="0" rtlCol="0" anchor="ctr"/>
          <a:lstStyle/>
          <a:p>
            <a:pPr marL="0" indent="0" algn="ctr">
              <a:buNone/>
            </a:pPr>
            <a:r>
              <a:rPr lang="en-US" sz="1200" b="1" kern="0" spc="30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Shape 10"/>
          <p:cNvSpPr/>
          <p:nvPr/>
        </p:nvSpPr>
        <p:spPr>
          <a:xfrm>
            <a:off x="1417320" y="777240"/>
            <a:ext cx="9509760" cy="3931920"/>
          </a:xfrm>
          <a:prstGeom prst="rect">
            <a:avLst/>
          </a:prstGeom>
          <a:solidFill>
            <a:srgbClr val="1E1208"/>
          </a:solidFill>
          <a:ln/>
        </p:spPr>
      </p:sp>
      <p:sp>
        <p:nvSpPr>
          <p:cNvPr id="14" name="Shape 11"/>
          <p:cNvSpPr/>
          <p:nvPr/>
        </p:nvSpPr>
        <p:spPr>
          <a:xfrm>
            <a:off x="1417320" y="4800600"/>
            <a:ext cx="9509760" cy="128016"/>
          </a:xfrm>
          <a:prstGeom prst="rect">
            <a:avLst/>
          </a:prstGeom>
          <a:solidFill>
            <a:srgbClr val="E3B51E"/>
          </a:solidFill>
          <a:ln/>
        </p:spPr>
      </p:sp>
      <p:sp>
        <p:nvSpPr>
          <p:cNvPr id="15" name="Text 12"/>
          <p:cNvSpPr/>
          <p:nvPr/>
        </p:nvSpPr>
        <p:spPr>
          <a:xfrm>
            <a:off x="1828800" y="1188720"/>
            <a:ext cx="8595360" cy="1280160"/>
          </a:xfrm>
          <a:prstGeom prst="rect">
            <a:avLst/>
          </a:prstGeom>
          <a:noFill/>
          <a:ln/>
        </p:spPr>
        <p:txBody>
          <a:bodyPr wrap="square" lIns="0" tIns="0" rIns="0" bIns="0" rtlCol="0" anchor="t"/>
          <a:lstStyle/>
          <a:p>
            <a:pPr marL="0" indent="0" algn="l">
              <a:lnSpc>
                <a:spcPct val="110000"/>
              </a:lnSpc>
              <a:buNone/>
            </a:pPr>
            <a:r>
              <a:rPr lang="en-US" sz="6800" dirty="0">
                <a:solidFill>
                  <a:srgbClr val="FFFFFF"/>
                </a:solidFill>
                <a:latin typeface="Impact" pitchFamily="34" charset="0"/>
                <a:ea typeface="Impact" pitchFamily="34" charset="-122"/>
                <a:cs typeface="Impact" pitchFamily="34" charset="-120"/>
              </a:rPr>
              <a:t>YOU'VE SEEN IT.</a:t>
            </a:r>
            <a:endParaRPr lang="en-US" sz="6800" dirty="0"/>
          </a:p>
        </p:txBody>
      </p:sp>
      <p:sp>
        <p:nvSpPr>
          <p:cNvPr id="16" name="Text 13"/>
          <p:cNvSpPr/>
          <p:nvPr/>
        </p:nvSpPr>
        <p:spPr>
          <a:xfrm>
            <a:off x="1828800" y="2697480"/>
            <a:ext cx="8595360" cy="1280160"/>
          </a:xfrm>
          <a:prstGeom prst="rect">
            <a:avLst/>
          </a:prstGeom>
          <a:noFill/>
          <a:ln/>
        </p:spPr>
        <p:txBody>
          <a:bodyPr wrap="square" lIns="0" tIns="0" rIns="0" bIns="0" rtlCol="0" anchor="t"/>
          <a:lstStyle/>
          <a:p>
            <a:pPr marL="0" indent="0" algn="l">
              <a:lnSpc>
                <a:spcPct val="110000"/>
              </a:lnSpc>
              <a:buNone/>
            </a:pPr>
            <a:r>
              <a:rPr lang="en-US" sz="6800" dirty="0">
                <a:solidFill>
                  <a:srgbClr val="E3B51E"/>
                </a:solidFill>
                <a:latin typeface="Impact" pitchFamily="34" charset="0"/>
                <a:ea typeface="Impact" pitchFamily="34" charset="-122"/>
                <a:cs typeface="Impact" pitchFamily="34" charset="-120"/>
              </a:rPr>
              <a:t>NOW SEE IT LIVE.</a:t>
            </a:r>
            <a:endParaRPr lang="en-US" sz="6800" dirty="0"/>
          </a:p>
        </p:txBody>
      </p:sp>
      <p:sp>
        <p:nvSpPr>
          <p:cNvPr id="17" name="Text 14"/>
          <p:cNvSpPr/>
          <p:nvPr/>
        </p:nvSpPr>
        <p:spPr>
          <a:xfrm>
            <a:off x="1828800" y="4069080"/>
            <a:ext cx="8595360" cy="457200"/>
          </a:xfrm>
          <a:prstGeom prst="rect">
            <a:avLst/>
          </a:prstGeom>
          <a:noFill/>
          <a:ln/>
        </p:spPr>
        <p:txBody>
          <a:bodyPr wrap="square" lIns="0" tIns="0" rIns="0" bIns="0" rtlCol="0" anchor="t"/>
          <a:lstStyle/>
          <a:p>
            <a:pPr marL="0" indent="0" algn="l">
              <a:lnSpc>
                <a:spcPct val="110000"/>
              </a:lnSpc>
              <a:buNone/>
            </a:pPr>
            <a:r>
              <a:rPr lang="en-US" sz="2200" b="1" dirty="0">
                <a:solidFill>
                  <a:srgbClr val="FFFFFF"/>
                </a:solidFill>
                <a:latin typeface="Arial" pitchFamily="34" charset="0"/>
                <a:ea typeface="Arial" pitchFamily="34" charset="-122"/>
                <a:cs typeface="Arial" pitchFamily="34" charset="-120"/>
              </a:rPr>
              <a:t>Teacher. Student. Leadership.</a:t>
            </a:r>
            <a:endParaRPr lang="en-US" sz="2200" dirty="0"/>
          </a:p>
        </p:txBody>
      </p:sp>
      <p:sp>
        <p:nvSpPr>
          <p:cNvPr id="18" name="Text 15"/>
          <p:cNvSpPr/>
          <p:nvPr/>
        </p:nvSpPr>
        <p:spPr>
          <a:xfrm>
            <a:off x="1417320" y="5303520"/>
            <a:ext cx="9144000" cy="365760"/>
          </a:xfrm>
          <a:prstGeom prst="rect">
            <a:avLst/>
          </a:prstGeom>
          <a:noFill/>
          <a:ln/>
        </p:spPr>
        <p:txBody>
          <a:bodyPr wrap="square" lIns="0" tIns="0" rIns="0" bIns="0" rtlCol="0" anchor="t"/>
          <a:lstStyle/>
          <a:p>
            <a:pPr marL="0" indent="0" algn="l">
              <a:lnSpc>
                <a:spcPct val="110000"/>
              </a:lnSpc>
              <a:buNone/>
            </a:pPr>
            <a:r>
              <a:rPr lang="en-US" sz="1800" dirty="0">
                <a:solidFill>
                  <a:srgbClr val="1E1208"/>
                </a:solidFill>
                <a:latin typeface="Arial" pitchFamily="34" charset="0"/>
                <a:ea typeface="Arial" pitchFamily="34" charset="-122"/>
                <a:cs typeface="Arial" pitchFamily="34" charset="-120"/>
              </a:rPr>
              <a:t>Open page 6 of your guide and sign in at</a:t>
            </a:r>
            <a:endParaRPr lang="en-US" sz="1800" dirty="0"/>
          </a:p>
        </p:txBody>
      </p:sp>
      <p:sp>
        <p:nvSpPr>
          <p:cNvPr id="19" name="Text 16"/>
          <p:cNvSpPr/>
          <p:nvPr/>
        </p:nvSpPr>
        <p:spPr>
          <a:xfrm>
            <a:off x="1417320" y="5715000"/>
            <a:ext cx="9144000" cy="731520"/>
          </a:xfrm>
          <a:prstGeom prst="rect">
            <a:avLst/>
          </a:prstGeom>
          <a:noFill/>
          <a:ln/>
        </p:spPr>
        <p:txBody>
          <a:bodyPr wrap="square" lIns="0" tIns="0" rIns="0" bIns="0" rtlCol="0" anchor="t"/>
          <a:lstStyle/>
          <a:p>
            <a:pPr marL="0" indent="0" algn="l">
              <a:lnSpc>
                <a:spcPct val="110000"/>
              </a:lnSpc>
              <a:buNone/>
            </a:pPr>
            <a:r>
              <a:rPr lang="en-US" sz="4000" dirty="0">
                <a:solidFill>
                  <a:srgbClr val="D4762A"/>
                </a:solidFill>
                <a:latin typeface="Impact" pitchFamily="34" charset="0"/>
                <a:ea typeface="Impact" pitchFamily="34" charset="-122"/>
                <a:cs typeface="Impact" pitchFamily="34" charset="-120"/>
              </a:rPr>
              <a:t>mhs.smartassessja.com</a:t>
            </a:r>
            <a:endParaRPr lang="en-US" sz="4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097280" y="36576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THE </a:t>
            </a:r>
            <a:pPr indent="0" marL="0">
              <a:buNone/>
            </a:pPr>
            <a:r>
              <a:rPr lang="en-US" sz="1150" b="1" spc="300" kern="0" dirty="0">
                <a:solidFill>
                  <a:srgbClr val="D4762A"/>
                </a:solidFill>
                <a:latin typeface="Courier New" pitchFamily="34" charset="0"/>
                <a:ea typeface="Courier New" pitchFamily="34" charset="-122"/>
                <a:cs typeface="Courier New" pitchFamily="34" charset="-120"/>
              </a:rPr>
              <a:t>DIFFERENCE</a:t>
            </a:r>
            <a:endParaRPr lang="en-US" sz="1150" dirty="0"/>
          </a:p>
        </p:txBody>
      </p:sp>
      <p:sp>
        <p:nvSpPr>
          <p:cNvPr id="14" name="Text 11"/>
          <p:cNvSpPr/>
          <p:nvPr/>
        </p:nvSpPr>
        <p:spPr>
          <a:xfrm>
            <a:off x="1097280" y="658368"/>
            <a:ext cx="10058400" cy="1234440"/>
          </a:xfrm>
          <a:prstGeom prst="rect">
            <a:avLst/>
          </a:prstGeom>
          <a:noFill/>
          <a:ln/>
        </p:spPr>
        <p:txBody>
          <a:bodyPr wrap="square" lIns="0" tIns="0" rIns="0" bIns="0" rtlCol="0" anchor="t"/>
          <a:lstStyle/>
          <a:p>
            <a:pPr indent="0" marL="0">
              <a:lnSpc>
                <a:spcPct val="92000"/>
              </a:lnSpc>
              <a:buNone/>
            </a:pPr>
            <a:r>
              <a:rPr lang="en-US" sz="4600" dirty="0">
                <a:solidFill>
                  <a:srgbClr val="1E1208"/>
                </a:solidFill>
                <a:latin typeface="Impact" pitchFamily="34" charset="0"/>
                <a:ea typeface="Impact" pitchFamily="34" charset="-122"/>
                <a:cs typeface="Impact" pitchFamily="34" charset="-120"/>
              </a:rPr>
              <a:t>ONE CONNECTED SYSTEM,</a:t>
            </a:r>
            <a:endParaRPr lang="en-US" sz="4600" dirty="0"/>
          </a:p>
          <a:p>
            <a:pPr indent="0" marL="0">
              <a:lnSpc>
                <a:spcPct val="92000"/>
              </a:lnSpc>
              <a:buNone/>
            </a:pPr>
            <a:r>
              <a:rPr lang="en-US" sz="4600" dirty="0">
                <a:solidFill>
                  <a:srgbClr val="D4762A"/>
                </a:solidFill>
                <a:latin typeface="Impact" pitchFamily="34" charset="0"/>
                <a:ea typeface="Impact" pitchFamily="34" charset="-122"/>
                <a:cs typeface="Impact" pitchFamily="34" charset="-120"/>
              </a:rPr>
              <a:t>NOT A STACK OF TOOLS.</a:t>
            </a:r>
            <a:endParaRPr lang="en-US" sz="4600" dirty="0"/>
          </a:p>
        </p:txBody>
      </p:sp>
      <p:sp>
        <p:nvSpPr>
          <p:cNvPr id="15" name="Text 12"/>
          <p:cNvSpPr/>
          <p:nvPr/>
        </p:nvSpPr>
        <p:spPr>
          <a:xfrm>
            <a:off x="1097280" y="1965960"/>
            <a:ext cx="10058400" cy="548640"/>
          </a:xfrm>
          <a:prstGeom prst="rect">
            <a:avLst/>
          </a:prstGeom>
          <a:noFill/>
          <a:ln/>
        </p:spPr>
        <p:txBody>
          <a:bodyPr wrap="square" lIns="0" tIns="0" rIns="0" bIns="0" rtlCol="0" anchor="t"/>
          <a:lstStyle/>
          <a:p>
            <a:pPr algn="l" indent="0" marL="0">
              <a:lnSpc>
                <a:spcPct val="110000"/>
              </a:lnSpc>
              <a:buNone/>
            </a:pPr>
            <a:r>
              <a:rPr lang="en-US" sz="1350" dirty="0">
                <a:solidFill>
                  <a:srgbClr val="555555"/>
                </a:solidFill>
                <a:latin typeface="Arial" pitchFamily="34" charset="0"/>
                <a:ea typeface="Arial" pitchFamily="34" charset="-122"/>
                <a:cs typeface="Arial" pitchFamily="34" charset="-120"/>
              </a:rPr>
              <a:t>Many schools use different tools for different jobs. Smart Assess Ja brings assessment, learning and practice together in one platform, with one login, one set of people and one topic list.</a:t>
            </a:r>
            <a:endParaRPr lang="en-US" sz="1350" dirty="0"/>
          </a:p>
        </p:txBody>
      </p:sp>
      <p:sp>
        <p:nvSpPr>
          <p:cNvPr id="16" name="Shape 13"/>
          <p:cNvSpPr/>
          <p:nvPr/>
        </p:nvSpPr>
        <p:spPr>
          <a:xfrm>
            <a:off x="1097280" y="2606040"/>
            <a:ext cx="4937760" cy="3291840"/>
          </a:xfrm>
          <a:prstGeom prst="rect">
            <a:avLst/>
          </a:prstGeom>
          <a:solidFill>
            <a:srgbClr val="FFFFFF"/>
          </a:solidFill>
          <a:ln w="25400">
            <a:solidFill>
              <a:srgbClr val="1E1208"/>
            </a:solidFill>
            <a:prstDash val="solid"/>
          </a:ln>
        </p:spPr>
      </p:sp>
      <p:sp>
        <p:nvSpPr>
          <p:cNvPr id="17" name="Shape 14"/>
          <p:cNvSpPr/>
          <p:nvPr/>
        </p:nvSpPr>
        <p:spPr>
          <a:xfrm>
            <a:off x="1097280" y="2606040"/>
            <a:ext cx="4937760" cy="713232"/>
          </a:xfrm>
          <a:prstGeom prst="rect">
            <a:avLst/>
          </a:prstGeom>
          <a:solidFill>
            <a:srgbClr val="EDE5DC"/>
          </a:solidFill>
          <a:ln w="25400">
            <a:solidFill>
              <a:srgbClr val="1E1208"/>
            </a:solidFill>
            <a:prstDash val="solid"/>
          </a:ln>
        </p:spPr>
      </p:sp>
      <p:sp>
        <p:nvSpPr>
          <p:cNvPr id="18" name="Text 15"/>
          <p:cNvSpPr/>
          <p:nvPr/>
        </p:nvSpPr>
        <p:spPr>
          <a:xfrm>
            <a:off x="1325880" y="2660904"/>
            <a:ext cx="4572000" cy="365760"/>
          </a:xfrm>
          <a:prstGeom prst="rect">
            <a:avLst/>
          </a:prstGeom>
          <a:noFill/>
          <a:ln/>
        </p:spPr>
        <p:txBody>
          <a:bodyPr wrap="square" lIns="0" tIns="0" rIns="0" bIns="0" rtlCol="0" anchor="ctr"/>
          <a:lstStyle/>
          <a:p>
            <a:pPr algn="l" indent="0" marL="0">
              <a:lnSpc>
                <a:spcPct val="110000"/>
              </a:lnSpc>
              <a:buNone/>
            </a:pPr>
            <a:r>
              <a:rPr lang="en-US" sz="2100" dirty="0">
                <a:solidFill>
                  <a:srgbClr val="1E1208"/>
                </a:solidFill>
                <a:latin typeface="Impact" pitchFamily="34" charset="0"/>
                <a:ea typeface="Impact" pitchFamily="34" charset="-122"/>
                <a:cs typeface="Impact" pitchFamily="34" charset="-120"/>
              </a:rPr>
              <a:t>MOST SCHOOLS TODAY</a:t>
            </a:r>
            <a:endParaRPr lang="en-US" sz="2100" dirty="0"/>
          </a:p>
        </p:txBody>
      </p:sp>
      <p:sp>
        <p:nvSpPr>
          <p:cNvPr id="19" name="Text 16"/>
          <p:cNvSpPr/>
          <p:nvPr/>
        </p:nvSpPr>
        <p:spPr>
          <a:xfrm>
            <a:off x="1325880" y="3008376"/>
            <a:ext cx="4572000" cy="274320"/>
          </a:xfrm>
          <a:prstGeom prst="rect">
            <a:avLst/>
          </a:prstGeom>
          <a:noFill/>
          <a:ln/>
        </p:spPr>
        <p:txBody>
          <a:bodyPr wrap="square" lIns="0" tIns="0" rIns="0" bIns="0" rtlCol="0" anchor="ctr"/>
          <a:lstStyle/>
          <a:p>
            <a:pPr algn="l" indent="0" marL="0">
              <a:lnSpc>
                <a:spcPct val="110000"/>
              </a:lnSpc>
              <a:buNone/>
            </a:pPr>
            <a:r>
              <a:rPr lang="en-US" sz="1100" dirty="0">
                <a:solidFill>
                  <a:srgbClr val="555555"/>
                </a:solidFill>
                <a:latin typeface="Arial" pitchFamily="34" charset="0"/>
                <a:ea typeface="Arial" pitchFamily="34" charset="-122"/>
                <a:cs typeface="Arial" pitchFamily="34" charset="-120"/>
              </a:rPr>
              <a:t>Different tools. Different logins. Different data.</a:t>
            </a:r>
            <a:endParaRPr lang="en-US" sz="1100" dirty="0"/>
          </a:p>
        </p:txBody>
      </p:sp>
      <p:pic>
        <p:nvPicPr>
          <p:cNvPr id="20" name="Image 0" descr="/Users/boxerboychris/exam-platform/marketing/presentation/assets-v2/compare/l1.png">    </p:cNvPr>
          <p:cNvPicPr>
            <a:picLocks noChangeAspect="1"/>
          </p:cNvPicPr>
          <p:nvPr/>
        </p:nvPicPr>
        <p:blipFill>
          <a:blip r:embed="rId2"/>
          <a:stretch>
            <a:fillRect/>
          </a:stretch>
        </p:blipFill>
        <p:spPr>
          <a:xfrm>
            <a:off x="1280160" y="3394253"/>
            <a:ext cx="493776" cy="493776"/>
          </a:xfrm>
          <a:prstGeom prst="rect">
            <a:avLst/>
          </a:prstGeom>
        </p:spPr>
      </p:pic>
      <p:sp>
        <p:nvSpPr>
          <p:cNvPr id="21" name="Text 17"/>
          <p:cNvSpPr/>
          <p:nvPr/>
        </p:nvSpPr>
        <p:spPr>
          <a:xfrm>
            <a:off x="1920240" y="3383280"/>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Separate tools</a:t>
            </a:r>
            <a:endParaRPr lang="en-US" sz="1250" dirty="0"/>
          </a:p>
        </p:txBody>
      </p:sp>
      <p:sp>
        <p:nvSpPr>
          <p:cNvPr id="22" name="Text 18"/>
          <p:cNvSpPr/>
          <p:nvPr/>
        </p:nvSpPr>
        <p:spPr>
          <a:xfrm>
            <a:off x="1920240" y="3593592"/>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Quizzes, lessons and games are often in different platforms, each with its own login and setup.</a:t>
            </a:r>
            <a:endParaRPr lang="en-US" sz="980" dirty="0"/>
          </a:p>
        </p:txBody>
      </p:sp>
      <p:sp>
        <p:nvSpPr>
          <p:cNvPr id="23" name="Shape 19"/>
          <p:cNvSpPr/>
          <p:nvPr/>
        </p:nvSpPr>
        <p:spPr>
          <a:xfrm>
            <a:off x="1280160" y="3963924"/>
            <a:ext cx="4572000" cy="0"/>
          </a:xfrm>
          <a:prstGeom prst="line">
            <a:avLst/>
          </a:prstGeom>
          <a:noFill/>
          <a:ln w="12700">
            <a:solidFill>
              <a:srgbClr val="E5DDD0"/>
            </a:solidFill>
            <a:prstDash val="solid"/>
          </a:ln>
        </p:spPr>
      </p:sp>
      <p:pic>
        <p:nvPicPr>
          <p:cNvPr id="24" name="Image 1" descr="/Users/boxerboychris/exam-platform/marketing/presentation/assets-v2/compare/l2.png">    </p:cNvPr>
          <p:cNvPicPr>
            <a:picLocks noChangeAspect="1"/>
          </p:cNvPicPr>
          <p:nvPr/>
        </p:nvPicPr>
        <p:blipFill>
          <a:blip r:embed="rId3"/>
          <a:stretch>
            <a:fillRect/>
          </a:stretch>
        </p:blipFill>
        <p:spPr>
          <a:xfrm>
            <a:off x="1280160" y="4039819"/>
            <a:ext cx="493776" cy="493776"/>
          </a:xfrm>
          <a:prstGeom prst="rect">
            <a:avLst/>
          </a:prstGeom>
        </p:spPr>
      </p:pic>
      <p:sp>
        <p:nvSpPr>
          <p:cNvPr id="25" name="Text 20"/>
          <p:cNvSpPr/>
          <p:nvPr/>
        </p:nvSpPr>
        <p:spPr>
          <a:xfrm>
            <a:off x="1920240" y="4027932"/>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Different security</a:t>
            </a:r>
            <a:endParaRPr lang="en-US" sz="1250" dirty="0"/>
          </a:p>
        </p:txBody>
      </p:sp>
      <p:sp>
        <p:nvSpPr>
          <p:cNvPr id="26" name="Text 21"/>
          <p:cNvSpPr/>
          <p:nvPr/>
        </p:nvSpPr>
        <p:spPr>
          <a:xfrm>
            <a:off x="1920240" y="4238244"/>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Each tool has its own lock-down, for example managed Chromebooks, Windows Take a Test app or Safe Exam Browser.</a:t>
            </a:r>
            <a:endParaRPr lang="en-US" sz="980" dirty="0"/>
          </a:p>
        </p:txBody>
      </p:sp>
      <p:sp>
        <p:nvSpPr>
          <p:cNvPr id="27" name="Shape 22"/>
          <p:cNvSpPr/>
          <p:nvPr/>
        </p:nvSpPr>
        <p:spPr>
          <a:xfrm>
            <a:off x="1280160" y="4608576"/>
            <a:ext cx="4572000" cy="0"/>
          </a:xfrm>
          <a:prstGeom prst="line">
            <a:avLst/>
          </a:prstGeom>
          <a:noFill/>
          <a:ln w="12700">
            <a:solidFill>
              <a:srgbClr val="E5DDD0"/>
            </a:solidFill>
            <a:prstDash val="solid"/>
          </a:ln>
        </p:spPr>
      </p:sp>
      <p:pic>
        <p:nvPicPr>
          <p:cNvPr id="28" name="Image 2" descr="/Users/boxerboychris/exam-platform/marketing/presentation/assets-v2/compare/l3.png">    </p:cNvPr>
          <p:cNvPicPr>
            <a:picLocks noChangeAspect="1"/>
          </p:cNvPicPr>
          <p:nvPr/>
        </p:nvPicPr>
        <p:blipFill>
          <a:blip r:embed="rId4"/>
          <a:stretch>
            <a:fillRect/>
          </a:stretch>
        </p:blipFill>
        <p:spPr>
          <a:xfrm>
            <a:off x="1280160" y="4684471"/>
            <a:ext cx="493776" cy="493776"/>
          </a:xfrm>
          <a:prstGeom prst="rect">
            <a:avLst/>
          </a:prstGeom>
        </p:spPr>
      </p:pic>
      <p:sp>
        <p:nvSpPr>
          <p:cNvPr id="29" name="Text 23"/>
          <p:cNvSpPr/>
          <p:nvPr/>
        </p:nvSpPr>
        <p:spPr>
          <a:xfrm>
            <a:off x="1920240" y="4672584"/>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Fragmented results</a:t>
            </a:r>
            <a:endParaRPr lang="en-US" sz="1250" dirty="0"/>
          </a:p>
        </p:txBody>
      </p:sp>
      <p:sp>
        <p:nvSpPr>
          <p:cNvPr id="30" name="Text 24"/>
          <p:cNvSpPr/>
          <p:nvPr/>
        </p:nvSpPr>
        <p:spPr>
          <a:xfrm>
            <a:off x="1920240" y="4882896"/>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Some tools report on each question, others only give a quiz score.</a:t>
            </a:r>
            <a:endParaRPr lang="en-US" sz="980" dirty="0"/>
          </a:p>
        </p:txBody>
      </p:sp>
      <p:sp>
        <p:nvSpPr>
          <p:cNvPr id="31" name="Shape 25"/>
          <p:cNvSpPr/>
          <p:nvPr/>
        </p:nvSpPr>
        <p:spPr>
          <a:xfrm>
            <a:off x="1280160" y="5253228"/>
            <a:ext cx="4572000" cy="0"/>
          </a:xfrm>
          <a:prstGeom prst="line">
            <a:avLst/>
          </a:prstGeom>
          <a:noFill/>
          <a:ln w="12700">
            <a:solidFill>
              <a:srgbClr val="E5DDD0"/>
            </a:solidFill>
            <a:prstDash val="solid"/>
          </a:ln>
        </p:spPr>
      </p:sp>
      <p:pic>
        <p:nvPicPr>
          <p:cNvPr id="32" name="Image 3" descr="/Users/boxerboychris/exam-platform/marketing/presentation/assets-v2/compare/l4.png">    </p:cNvPr>
          <p:cNvPicPr>
            <a:picLocks noChangeAspect="1"/>
          </p:cNvPicPr>
          <p:nvPr/>
        </p:nvPicPr>
        <p:blipFill>
          <a:blip r:embed="rId5"/>
          <a:stretch>
            <a:fillRect/>
          </a:stretch>
        </p:blipFill>
        <p:spPr>
          <a:xfrm>
            <a:off x="1280160" y="5329123"/>
            <a:ext cx="493776" cy="493776"/>
          </a:xfrm>
          <a:prstGeom prst="rect">
            <a:avLst/>
          </a:prstGeom>
        </p:spPr>
      </p:pic>
      <p:sp>
        <p:nvSpPr>
          <p:cNvPr id="33" name="Text 26"/>
          <p:cNvSpPr/>
          <p:nvPr/>
        </p:nvSpPr>
        <p:spPr>
          <a:xfrm>
            <a:off x="1920240" y="5317236"/>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Built for other contexts</a:t>
            </a:r>
            <a:endParaRPr lang="en-US" sz="1250" dirty="0"/>
          </a:p>
        </p:txBody>
      </p:sp>
      <p:sp>
        <p:nvSpPr>
          <p:cNvPr id="34" name="Text 27"/>
          <p:cNvSpPr/>
          <p:nvPr/>
        </p:nvSpPr>
        <p:spPr>
          <a:xfrm>
            <a:off x="1920240" y="5527548"/>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General tools, designed differently by each company.</a:t>
            </a:r>
            <a:endParaRPr lang="en-US" sz="980" dirty="0"/>
          </a:p>
        </p:txBody>
      </p:sp>
      <p:sp>
        <p:nvSpPr>
          <p:cNvPr id="35" name="Shape 28"/>
          <p:cNvSpPr/>
          <p:nvPr/>
        </p:nvSpPr>
        <p:spPr>
          <a:xfrm>
            <a:off x="6217920" y="2606040"/>
            <a:ext cx="4937760" cy="3291840"/>
          </a:xfrm>
          <a:prstGeom prst="rect">
            <a:avLst/>
          </a:prstGeom>
          <a:solidFill>
            <a:srgbClr val="FFFFFF"/>
          </a:solidFill>
          <a:ln w="25400">
            <a:solidFill>
              <a:srgbClr val="D4762A"/>
            </a:solidFill>
            <a:prstDash val="solid"/>
          </a:ln>
        </p:spPr>
      </p:sp>
      <p:sp>
        <p:nvSpPr>
          <p:cNvPr id="36" name="Shape 29"/>
          <p:cNvSpPr/>
          <p:nvPr/>
        </p:nvSpPr>
        <p:spPr>
          <a:xfrm>
            <a:off x="6217920" y="2606040"/>
            <a:ext cx="4937760" cy="713232"/>
          </a:xfrm>
          <a:prstGeom prst="rect">
            <a:avLst/>
          </a:prstGeom>
          <a:solidFill>
            <a:srgbClr val="D4762A"/>
          </a:solidFill>
          <a:ln w="25400">
            <a:solidFill>
              <a:srgbClr val="D4762A"/>
            </a:solidFill>
            <a:prstDash val="solid"/>
          </a:ln>
        </p:spPr>
      </p:sp>
      <p:sp>
        <p:nvSpPr>
          <p:cNvPr id="37" name="Text 30"/>
          <p:cNvSpPr/>
          <p:nvPr/>
        </p:nvSpPr>
        <p:spPr>
          <a:xfrm>
            <a:off x="6446520" y="2660904"/>
            <a:ext cx="4572000" cy="365760"/>
          </a:xfrm>
          <a:prstGeom prst="rect">
            <a:avLst/>
          </a:prstGeom>
          <a:noFill/>
          <a:ln/>
        </p:spPr>
        <p:txBody>
          <a:bodyPr wrap="square" lIns="0" tIns="0" rIns="0" bIns="0" rtlCol="0" anchor="ctr"/>
          <a:lstStyle/>
          <a:p>
            <a:pPr algn="l" indent="0" marL="0">
              <a:lnSpc>
                <a:spcPct val="110000"/>
              </a:lnSpc>
              <a:buNone/>
            </a:pPr>
            <a:r>
              <a:rPr lang="en-US" sz="2100" dirty="0">
                <a:solidFill>
                  <a:srgbClr val="FFFFFF"/>
                </a:solidFill>
                <a:latin typeface="Impact" pitchFamily="34" charset="0"/>
                <a:ea typeface="Impact" pitchFamily="34" charset="-122"/>
                <a:cs typeface="Impact" pitchFamily="34" charset="-120"/>
              </a:rPr>
              <a:t>SMART ASSESS JA</a:t>
            </a:r>
            <a:endParaRPr lang="en-US" sz="2100" dirty="0"/>
          </a:p>
        </p:txBody>
      </p:sp>
      <p:sp>
        <p:nvSpPr>
          <p:cNvPr id="38" name="Text 31"/>
          <p:cNvSpPr/>
          <p:nvPr/>
        </p:nvSpPr>
        <p:spPr>
          <a:xfrm>
            <a:off x="6446520" y="3008376"/>
            <a:ext cx="4572000" cy="274320"/>
          </a:xfrm>
          <a:prstGeom prst="rect">
            <a:avLst/>
          </a:prstGeom>
          <a:noFill/>
          <a:ln/>
        </p:spPr>
        <p:txBody>
          <a:bodyPr wrap="square" lIns="0" tIns="0" rIns="0" bIns="0" rtlCol="0" anchor="ctr"/>
          <a:lstStyle/>
          <a:p>
            <a:pPr algn="l" indent="0" marL="0">
              <a:lnSpc>
                <a:spcPct val="110000"/>
              </a:lnSpc>
              <a:buNone/>
            </a:pPr>
            <a:r>
              <a:rPr lang="en-US" sz="1100" dirty="0">
                <a:solidFill>
                  <a:srgbClr val="FFFFFF"/>
                </a:solidFill>
                <a:latin typeface="Arial" pitchFamily="34" charset="0"/>
                <a:ea typeface="Arial" pitchFamily="34" charset="-122"/>
                <a:cs typeface="Arial" pitchFamily="34" charset="-120"/>
              </a:rPr>
              <a:t>One platform. One login. One connected view.</a:t>
            </a:r>
            <a:endParaRPr lang="en-US" sz="1100" dirty="0"/>
          </a:p>
        </p:txBody>
      </p:sp>
      <p:pic>
        <p:nvPicPr>
          <p:cNvPr id="39" name="Image 4" descr="/Users/boxerboychris/exam-platform/marketing/presentation/assets-v2/compare/r1.png">    </p:cNvPr>
          <p:cNvPicPr>
            <a:picLocks noChangeAspect="1"/>
          </p:cNvPicPr>
          <p:nvPr/>
        </p:nvPicPr>
        <p:blipFill>
          <a:blip r:embed="rId6"/>
          <a:stretch>
            <a:fillRect/>
          </a:stretch>
        </p:blipFill>
        <p:spPr>
          <a:xfrm>
            <a:off x="6400800" y="3394253"/>
            <a:ext cx="493776" cy="493776"/>
          </a:xfrm>
          <a:prstGeom prst="rect">
            <a:avLst/>
          </a:prstGeom>
        </p:spPr>
      </p:pic>
      <p:sp>
        <p:nvSpPr>
          <p:cNvPr id="40" name="Text 32"/>
          <p:cNvSpPr/>
          <p:nvPr/>
        </p:nvSpPr>
        <p:spPr>
          <a:xfrm>
            <a:off x="7040880" y="3383280"/>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One login for everything</a:t>
            </a:r>
            <a:endParaRPr lang="en-US" sz="1250" dirty="0"/>
          </a:p>
        </p:txBody>
      </p:sp>
      <p:sp>
        <p:nvSpPr>
          <p:cNvPr id="41" name="Text 33"/>
          <p:cNvSpPr/>
          <p:nvPr/>
        </p:nvSpPr>
        <p:spPr>
          <a:xfrm>
            <a:off x="7040880" y="3593592"/>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Assess, learn and practice share one login, one set of people and one topic list.</a:t>
            </a:r>
            <a:endParaRPr lang="en-US" sz="980" dirty="0"/>
          </a:p>
        </p:txBody>
      </p:sp>
      <p:sp>
        <p:nvSpPr>
          <p:cNvPr id="42" name="Shape 34"/>
          <p:cNvSpPr/>
          <p:nvPr/>
        </p:nvSpPr>
        <p:spPr>
          <a:xfrm>
            <a:off x="6400800" y="3963924"/>
            <a:ext cx="4572000" cy="0"/>
          </a:xfrm>
          <a:prstGeom prst="line">
            <a:avLst/>
          </a:prstGeom>
          <a:noFill/>
          <a:ln w="12700">
            <a:solidFill>
              <a:srgbClr val="E5DDD0"/>
            </a:solidFill>
            <a:prstDash val="solid"/>
          </a:ln>
        </p:spPr>
      </p:sp>
      <p:pic>
        <p:nvPicPr>
          <p:cNvPr id="43" name="Image 5" descr="/Users/boxerboychris/exam-platform/marketing/presentation/assets-v2/compare/r2.png">    </p:cNvPr>
          <p:cNvPicPr>
            <a:picLocks noChangeAspect="1"/>
          </p:cNvPicPr>
          <p:nvPr/>
        </p:nvPicPr>
        <p:blipFill>
          <a:blip r:embed="rId7"/>
          <a:stretch>
            <a:fillRect/>
          </a:stretch>
        </p:blipFill>
        <p:spPr>
          <a:xfrm>
            <a:off x="6400800" y="4039819"/>
            <a:ext cx="493776" cy="493776"/>
          </a:xfrm>
          <a:prstGeom prst="rect">
            <a:avLst/>
          </a:prstGeom>
        </p:spPr>
      </p:pic>
      <p:sp>
        <p:nvSpPr>
          <p:cNvPr id="44" name="Text 35"/>
          <p:cNvSpPr/>
          <p:nvPr/>
        </p:nvSpPr>
        <p:spPr>
          <a:xfrm>
            <a:off x="7040880" y="4027932"/>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Built in security</a:t>
            </a:r>
            <a:endParaRPr lang="en-US" sz="1250" dirty="0"/>
          </a:p>
        </p:txBody>
      </p:sp>
      <p:sp>
        <p:nvSpPr>
          <p:cNvPr id="45" name="Text 36"/>
          <p:cNvSpPr/>
          <p:nvPr/>
        </p:nvSpPr>
        <p:spPr>
          <a:xfrm>
            <a:off x="7040880" y="4238244"/>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Includes a lock-down desktop app for Windows and Mac, with integrity flags and protected exam settings.</a:t>
            </a:r>
            <a:endParaRPr lang="en-US" sz="980" dirty="0"/>
          </a:p>
        </p:txBody>
      </p:sp>
      <p:sp>
        <p:nvSpPr>
          <p:cNvPr id="46" name="Shape 37"/>
          <p:cNvSpPr/>
          <p:nvPr/>
        </p:nvSpPr>
        <p:spPr>
          <a:xfrm>
            <a:off x="6400800" y="4608576"/>
            <a:ext cx="4572000" cy="0"/>
          </a:xfrm>
          <a:prstGeom prst="line">
            <a:avLst/>
          </a:prstGeom>
          <a:noFill/>
          <a:ln w="12700">
            <a:solidFill>
              <a:srgbClr val="E5DDD0"/>
            </a:solidFill>
            <a:prstDash val="solid"/>
          </a:ln>
        </p:spPr>
      </p:sp>
      <p:pic>
        <p:nvPicPr>
          <p:cNvPr id="47" name="Image 6" descr="/Users/boxerboychris/exam-platform/marketing/presentation/assets-v2/compare/r3.png">    </p:cNvPr>
          <p:cNvPicPr>
            <a:picLocks noChangeAspect="1"/>
          </p:cNvPicPr>
          <p:nvPr/>
        </p:nvPicPr>
        <p:blipFill>
          <a:blip r:embed="rId8"/>
          <a:stretch>
            <a:fillRect/>
          </a:stretch>
        </p:blipFill>
        <p:spPr>
          <a:xfrm>
            <a:off x="6400800" y="4684471"/>
            <a:ext cx="493776" cy="493776"/>
          </a:xfrm>
          <a:prstGeom prst="rect">
            <a:avLst/>
          </a:prstGeom>
        </p:spPr>
      </p:pic>
      <p:sp>
        <p:nvSpPr>
          <p:cNvPr id="48" name="Text 38"/>
          <p:cNvSpPr/>
          <p:nvPr/>
        </p:nvSpPr>
        <p:spPr>
          <a:xfrm>
            <a:off x="7040880" y="4672584"/>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Meaningful results</a:t>
            </a:r>
            <a:endParaRPr lang="en-US" sz="1250" dirty="0"/>
          </a:p>
        </p:txBody>
      </p:sp>
      <p:sp>
        <p:nvSpPr>
          <p:cNvPr id="49" name="Text 39"/>
          <p:cNvSpPr/>
          <p:nvPr/>
        </p:nvSpPr>
        <p:spPr>
          <a:xfrm>
            <a:off x="7040880" y="4882896"/>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Missed questions, common wrong answers, who needs support and results by topic, linked to lessons and practice.</a:t>
            </a:r>
            <a:endParaRPr lang="en-US" sz="980" dirty="0"/>
          </a:p>
        </p:txBody>
      </p:sp>
      <p:sp>
        <p:nvSpPr>
          <p:cNvPr id="50" name="Shape 40"/>
          <p:cNvSpPr/>
          <p:nvPr/>
        </p:nvSpPr>
        <p:spPr>
          <a:xfrm>
            <a:off x="6400800" y="5253228"/>
            <a:ext cx="4572000" cy="0"/>
          </a:xfrm>
          <a:prstGeom prst="line">
            <a:avLst/>
          </a:prstGeom>
          <a:noFill/>
          <a:ln w="12700">
            <a:solidFill>
              <a:srgbClr val="E5DDD0"/>
            </a:solidFill>
            <a:prstDash val="solid"/>
          </a:ln>
        </p:spPr>
      </p:sp>
      <p:pic>
        <p:nvPicPr>
          <p:cNvPr id="51" name="Image 7" descr="/Users/boxerboychris/exam-platform/marketing/presentation/assets-v2/compare/r4.png">    </p:cNvPr>
          <p:cNvPicPr>
            <a:picLocks noChangeAspect="1"/>
          </p:cNvPicPr>
          <p:nvPr/>
        </p:nvPicPr>
        <p:blipFill>
          <a:blip r:embed="rId9"/>
          <a:stretch>
            <a:fillRect/>
          </a:stretch>
        </p:blipFill>
        <p:spPr>
          <a:xfrm>
            <a:off x="6400800" y="5329123"/>
            <a:ext cx="493776" cy="493776"/>
          </a:xfrm>
          <a:prstGeom prst="rect">
            <a:avLst/>
          </a:prstGeom>
        </p:spPr>
      </p:pic>
      <p:sp>
        <p:nvSpPr>
          <p:cNvPr id="52" name="Text 41"/>
          <p:cNvSpPr/>
          <p:nvPr/>
        </p:nvSpPr>
        <p:spPr>
          <a:xfrm>
            <a:off x="7040880" y="5317236"/>
            <a:ext cx="3977640" cy="219456"/>
          </a:xfrm>
          <a:prstGeom prst="rect">
            <a:avLst/>
          </a:prstGeom>
          <a:noFill/>
          <a:ln/>
        </p:spPr>
        <p:txBody>
          <a:bodyPr wrap="square" lIns="0" tIns="0" rIns="0" bIns="0" rtlCol="0" anchor="t"/>
          <a:lstStyle/>
          <a:p>
            <a:pPr algn="l" indent="0" marL="0">
              <a:lnSpc>
                <a:spcPct val="110000"/>
              </a:lnSpc>
              <a:buNone/>
            </a:pPr>
            <a:r>
              <a:rPr lang="en-US" sz="1250" b="1" dirty="0">
                <a:solidFill>
                  <a:srgbClr val="1E1208"/>
                </a:solidFill>
                <a:latin typeface="Arial" pitchFamily="34" charset="0"/>
                <a:ea typeface="Arial" pitchFamily="34" charset="-122"/>
                <a:cs typeface="Arial" pitchFamily="34" charset="-120"/>
              </a:rPr>
              <a:t>Made for Jamaica</a:t>
            </a:r>
            <a:endParaRPr lang="en-US" sz="1250" dirty="0"/>
          </a:p>
        </p:txBody>
      </p:sp>
      <p:sp>
        <p:nvSpPr>
          <p:cNvPr id="53" name="Text 42"/>
          <p:cNvSpPr/>
          <p:nvPr/>
        </p:nvSpPr>
        <p:spPr>
          <a:xfrm>
            <a:off x="7040880" y="5527548"/>
            <a:ext cx="3977640" cy="352044"/>
          </a:xfrm>
          <a:prstGeom prst="rect">
            <a:avLst/>
          </a:prstGeom>
          <a:noFill/>
          <a:ln/>
        </p:spPr>
        <p:txBody>
          <a:bodyPr wrap="square" lIns="0" tIns="0" rIns="0" bIns="0" rtlCol="0" anchor="t"/>
          <a:lstStyle/>
          <a:p>
            <a:pPr algn="l" indent="0" marL="0">
              <a:lnSpc>
                <a:spcPct val="110000"/>
              </a:lnSpc>
              <a:buNone/>
            </a:pPr>
            <a:r>
              <a:rPr lang="en-US" sz="980" dirty="0">
                <a:solidFill>
                  <a:srgbClr val="555555"/>
                </a:solidFill>
                <a:latin typeface="Arial" pitchFamily="34" charset="0"/>
                <a:ea typeface="Arial" pitchFamily="34" charset="-122"/>
                <a:cs typeface="Arial" pitchFamily="34" charset="-120"/>
              </a:rPr>
              <a:t>Lesson plans in the Ministry’s 5E format, and data handled in line with Jamaica’s Data Protection Act.</a:t>
            </a:r>
            <a:endParaRPr lang="en-US" sz="980" dirty="0"/>
          </a:p>
        </p:txBody>
      </p:sp>
      <p:sp>
        <p:nvSpPr>
          <p:cNvPr id="54" name="Shape 43"/>
          <p:cNvSpPr/>
          <p:nvPr/>
        </p:nvSpPr>
        <p:spPr>
          <a:xfrm>
            <a:off x="1097280" y="6016752"/>
            <a:ext cx="10058400" cy="603504"/>
          </a:xfrm>
          <a:prstGeom prst="rect">
            <a:avLst/>
          </a:prstGeom>
          <a:solidFill>
            <a:srgbClr val="1E1208"/>
          </a:solidFill>
          <a:ln/>
        </p:spPr>
      </p:sp>
      <p:sp>
        <p:nvSpPr>
          <p:cNvPr id="55" name="Text 44"/>
          <p:cNvSpPr/>
          <p:nvPr/>
        </p:nvSpPr>
        <p:spPr>
          <a:xfrm>
            <a:off x="1371600" y="6016752"/>
            <a:ext cx="9601200" cy="603504"/>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other tools do their own jobs well.</a:t>
            </a:r>
            <a:endParaRPr lang="en-US" sz="1500" dirty="0"/>
          </a:p>
          <a:p>
            <a:pPr indent="0" marL="0">
              <a:buNone/>
            </a:pPr>
            <a:r>
              <a:rPr lang="en-US" sz="1500" b="1" dirty="0">
                <a:solidFill>
                  <a:srgbClr val="E3B51E"/>
                </a:solidFill>
                <a:latin typeface="Arial" pitchFamily="34" charset="0"/>
                <a:ea typeface="Arial" pitchFamily="34" charset="-122"/>
                <a:cs typeface="Arial" pitchFamily="34" charset="-120"/>
              </a:rPr>
              <a:t>We connect the jobs.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143000" y="292608"/>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THE </a:t>
            </a:r>
            <a:pPr indent="0" marL="0">
              <a:buNone/>
            </a:pPr>
            <a:r>
              <a:rPr lang="en-US" sz="1150" b="1" spc="300" kern="0" dirty="0">
                <a:solidFill>
                  <a:srgbClr val="D4762A"/>
                </a:solidFill>
                <a:latin typeface="Courier New" pitchFamily="34" charset="0"/>
                <a:ea typeface="Courier New" pitchFamily="34" charset="-122"/>
                <a:cs typeface="Courier New" pitchFamily="34" charset="-120"/>
              </a:rPr>
              <a:t>LANDSCAPE</a:t>
            </a:r>
            <a:endParaRPr lang="en-US" sz="1150" dirty="0"/>
          </a:p>
        </p:txBody>
      </p:sp>
      <p:sp>
        <p:nvSpPr>
          <p:cNvPr id="14" name="Text 11"/>
          <p:cNvSpPr/>
          <p:nvPr/>
        </p:nvSpPr>
        <p:spPr>
          <a:xfrm>
            <a:off x="1143000" y="530352"/>
            <a:ext cx="10149840" cy="640080"/>
          </a:xfrm>
          <a:prstGeom prst="rect">
            <a:avLst/>
          </a:prstGeom>
          <a:noFill/>
          <a:ln/>
        </p:spPr>
        <p:txBody>
          <a:bodyPr wrap="square" lIns="0" tIns="0" rIns="0" bIns="0" rtlCol="0" anchor="ctr"/>
          <a:lstStyle/>
          <a:p>
            <a:pPr indent="0" marL="0">
              <a:buNone/>
            </a:pPr>
            <a:r>
              <a:rPr lang="en-US" sz="3800" dirty="0">
                <a:solidFill>
                  <a:srgbClr val="1E1208"/>
                </a:solidFill>
                <a:latin typeface="Impact" pitchFamily="34" charset="0"/>
                <a:ea typeface="Impact" pitchFamily="34" charset="-122"/>
                <a:cs typeface="Impact" pitchFamily="34" charset="-120"/>
              </a:rPr>
              <a:t>STRONG TOOLS. </a:t>
            </a:r>
            <a:pPr indent="0" marL="0">
              <a:buNone/>
            </a:pPr>
            <a:r>
              <a:rPr lang="en-US" sz="3800" dirty="0">
                <a:solidFill>
                  <a:srgbClr val="D4762A"/>
                </a:solidFill>
                <a:latin typeface="Impact" pitchFamily="34" charset="0"/>
                <a:ea typeface="Impact" pitchFamily="34" charset="-122"/>
                <a:cs typeface="Impact" pitchFamily="34" charset="-120"/>
              </a:rPr>
              <a:t>DIFFERENT JOBS.</a:t>
            </a:r>
            <a:endParaRPr lang="en-US" sz="3800" dirty="0"/>
          </a:p>
        </p:txBody>
      </p:sp>
      <p:sp>
        <p:nvSpPr>
          <p:cNvPr id="15" name="Text 12"/>
          <p:cNvSpPr/>
          <p:nvPr/>
        </p:nvSpPr>
        <p:spPr>
          <a:xfrm>
            <a:off x="1143000" y="1188720"/>
            <a:ext cx="10149840" cy="411480"/>
          </a:xfrm>
          <a:prstGeom prst="rect">
            <a:avLst/>
          </a:prstGeom>
          <a:noFill/>
          <a:ln/>
        </p:spPr>
        <p:txBody>
          <a:bodyPr wrap="square" lIns="0" tIns="0" rIns="0" bIns="0" rtlCol="0" anchor="t"/>
          <a:lstStyle/>
          <a:p>
            <a:pPr algn="l" indent="0" marL="0">
              <a:lnSpc>
                <a:spcPct val="110000"/>
              </a:lnSpc>
              <a:buNone/>
            </a:pPr>
            <a:r>
              <a:rPr lang="en-US" sz="1150" dirty="0">
                <a:solidFill>
                  <a:srgbClr val="555555"/>
                </a:solidFill>
                <a:latin typeface="Arial" pitchFamily="34" charset="0"/>
                <a:ea typeface="Arial" pitchFamily="34" charset="-122"/>
                <a:cs typeface="Arial" pitchFamily="34" charset="-120"/>
              </a:rPr>
              <a:t>Each platform has strengths. Smart Assess Ja is different because it brings assessment, learning and practice together in one school platform.</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1143000" y="1828800"/>
          <a:ext cx="10149840" cy="914400"/>
        </p:xfrm>
        <a:graphic>
          <a:graphicData uri="http://schemas.openxmlformats.org/drawingml/2006/table">
            <a:tbl>
              <a:tblPr/>
              <a:tblGrid>
                <a:gridCol w="3108960"/>
                <a:gridCol w="1005840"/>
                <a:gridCol w="1005840"/>
                <a:gridCol w="1005840"/>
                <a:gridCol w="1005840"/>
                <a:gridCol w="1005840"/>
                <a:gridCol w="1005840"/>
                <a:gridCol w="1005840"/>
              </a:tblGrid>
              <a:tr h="493776">
                <a:tc>
                  <a:txBody>
                    <a:bodyPr/>
                    <a:lstStyle/>
                    <a:p>
                      <a:pPr indent="0" marL="0">
                        <a:buNone/>
                      </a:pPr>
                      <a:r>
                        <a:rPr lang="en-US" sz="680" b="1" spc="200" kern="0" dirty="0">
                          <a:solidFill>
                            <a:srgbClr val="1E1208"/>
                          </a:solidFill>
                          <a:latin typeface="Courier New" pitchFamily="34" charset="0"/>
                          <a:ea typeface="Courier New" pitchFamily="34" charset="-122"/>
                          <a:cs typeface="Courier New" pitchFamily="34" charset="-120"/>
                        </a:rPr>
                        <a:t>FEATURE / JOB</a:t>
                      </a:r>
                      <a:endParaRPr lang="en-US" sz="68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1E1208"/>
                          </a:solidFill>
                          <a:latin typeface="Arial" pitchFamily="34" charset="0"/>
                          <a:ea typeface="Arial" pitchFamily="34" charset="-122"/>
                          <a:cs typeface="Arial" pitchFamily="34" charset="-120"/>
                        </a:rPr>
                        <a:t>Google Classroom</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1E1208"/>
                          </a:solidFill>
                          <a:latin typeface="Arial" pitchFamily="34" charset="0"/>
                          <a:ea typeface="Arial" pitchFamily="34" charset="-122"/>
                          <a:cs typeface="Arial" pitchFamily="34" charset="-120"/>
                        </a:rPr>
                        <a:t>Microsoft Teams</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1E1208"/>
                          </a:solidFill>
                          <a:latin typeface="Arial" pitchFamily="34" charset="0"/>
                          <a:ea typeface="Arial" pitchFamily="34" charset="-122"/>
                          <a:cs typeface="Arial" pitchFamily="34" charset="-120"/>
                        </a:rPr>
                        <a:t>Moodle</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1E1208"/>
                          </a:solidFill>
                          <a:latin typeface="Arial" pitchFamily="34" charset="0"/>
                          <a:ea typeface="Arial" pitchFamily="34" charset="-122"/>
                          <a:cs typeface="Arial" pitchFamily="34" charset="-120"/>
                        </a:rPr>
                        <a:t>Canvas</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1E1208"/>
                          </a:solidFill>
                          <a:latin typeface="Arial" pitchFamily="34" charset="0"/>
                          <a:ea typeface="Arial" pitchFamily="34" charset="-122"/>
                          <a:cs typeface="Arial" pitchFamily="34" charset="-120"/>
                        </a:rPr>
                        <a:t>Kahoot!</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1E1208"/>
                          </a:solidFill>
                          <a:latin typeface="Arial" pitchFamily="34" charset="0"/>
                          <a:ea typeface="Arial" pitchFamily="34" charset="-122"/>
                          <a:cs typeface="Arial" pitchFamily="34" charset="-120"/>
                        </a:rPr>
                        <a:t>Quizizz</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FFFBF6"/>
                    </a:solidFill>
                  </a:tcPr>
                </a:tc>
                <a:tc>
                  <a:txBody>
                    <a:bodyPr/>
                    <a:lstStyle/>
                    <a:p>
                      <a:pPr algn="ctr" indent="0" marL="0">
                        <a:buNone/>
                      </a:pPr>
                      <a:r>
                        <a:rPr lang="en-US" sz="680" b="1" dirty="0">
                          <a:solidFill>
                            <a:srgbClr val="FFFFFF"/>
                          </a:solidFill>
                          <a:latin typeface="Arial" pitchFamily="34" charset="0"/>
                          <a:ea typeface="Arial" pitchFamily="34" charset="-122"/>
                          <a:cs typeface="Arial" pitchFamily="34" charset="-120"/>
                        </a:rPr>
                        <a:t>Smart Assess Ja</a:t>
                      </a:r>
                      <a:endParaRPr lang="en-US" sz="680" dirty="0">
                        <a:latin typeface="Arial" charset="0"/>
                        <a:ea typeface="Arial" charset="0"/>
                        <a:cs typeface="Arial" charset="0"/>
                      </a:endParaRPr>
                    </a:p>
                  </a:txBody>
                  <a:tcPr marL="18288" marR="18288" marT="0" marB="27432" anchor="b">
                    <a:lnL w="0" cap="flat" cmpd="sng" algn="ctr">
                      <a:noFill/>
                    </a:lnL>
                    <a:lnR w="0" cap="flat" cmpd="sng" algn="ctr">
                      <a:noFill/>
                    </a:lnR>
                    <a:lnT w="0" cap="flat" cmpd="sng" algn="ctr">
                      <a:noFill/>
                    </a:lnT>
                    <a:lnB w="0" cap="flat" cmpd="sng" algn="ctr">
                      <a:noFill/>
                    </a:lnB>
                    <a:solidFill>
                      <a:srgbClr val="D4762A"/>
                    </a:solidFill>
                  </a:tcPr>
                </a:tc>
              </a:tr>
              <a:tr h="146304">
                <a:tc gridSpan="8">
                  <a:txBody>
                    <a:bodyPr/>
                    <a:lstStyle/>
                    <a:p>
                      <a:pPr indent="0" marL="0">
                        <a:buNone/>
                      </a:pPr>
                      <a:r>
                        <a:rPr lang="en-US" sz="680" b="1" spc="200" kern="0" dirty="0">
                          <a:solidFill>
                            <a:srgbClr val="1E1208"/>
                          </a:solidFill>
                          <a:latin typeface="Courier New" pitchFamily="34" charset="0"/>
                          <a:ea typeface="Courier New" pitchFamily="34" charset="-122"/>
                          <a:cs typeface="Courier New" pitchFamily="34" charset="-120"/>
                        </a:rPr>
                        <a:t>ASSESSMENT</a:t>
                      </a:r>
                      <a:endParaRPr lang="en-US" sz="68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DC598"/>
                    </a:solidFill>
                  </a:tcPr>
                </a:tc>
                <a:tc hMerge="1">
                  <a:tcPr/>
                </a:tc>
                <a:tc hMerge="1">
                  <a:tcPr/>
                </a:tc>
                <a:tc hMerge="1">
                  <a:tcPr/>
                </a:tc>
                <a:tc hMerge="1">
                  <a:tcPr/>
                </a:tc>
                <a:tc hMerge="1">
                  <a:tcPr/>
                </a:tc>
                <a:tc hMerge="1">
                  <a:tcPr/>
                </a:tc>
                <a:tc hMerge="1">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Create and deliver exams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Question bank</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Different question types (MC, short answer, essay, etc.)</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Automatic marking (objective questions)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Exam security and lock-down</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Integrity flags for essays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46304">
                <a:tc gridSpan="8">
                  <a:txBody>
                    <a:bodyPr/>
                    <a:lstStyle/>
                    <a:p>
                      <a:pPr indent="0" marL="0">
                        <a:buNone/>
                      </a:pPr>
                      <a:r>
                        <a:rPr lang="en-US" sz="680" b="1" spc="200" kern="0" dirty="0">
                          <a:solidFill>
                            <a:srgbClr val="1E1208"/>
                          </a:solidFill>
                          <a:latin typeface="Courier New" pitchFamily="34" charset="0"/>
                          <a:ea typeface="Courier New" pitchFamily="34" charset="-122"/>
                          <a:cs typeface="Courier New" pitchFamily="34" charset="-120"/>
                        </a:rPr>
                        <a:t>LEARNING</a:t>
                      </a:r>
                      <a:endParaRPr lang="en-US" sz="68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98C4C3"/>
                    </a:solidFill>
                  </a:tcPr>
                </a:tc>
                <a:tc hMerge="1">
                  <a:tcPr/>
                </a:tc>
                <a:tc hMerge="1">
                  <a:tcPr/>
                </a:tc>
                <a:tc hMerge="1">
                  <a:tcPr/>
                </a:tc>
                <a:tc hMerge="1">
                  <a:tcPr/>
                </a:tc>
                <a:tc hMerge="1">
                  <a:tcPr/>
                </a:tc>
                <a:tc hMerge="1">
                  <a:tcPr/>
                </a:tc>
                <a:tc hMerge="1">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Lesson planning (5E format)</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Structured lessons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Catch-up learning for absent students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AI-assisted lesson creation</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Shared lesson library</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Student progress by topic</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46304">
                <a:tc gridSpan="8">
                  <a:txBody>
                    <a:bodyPr/>
                    <a:lstStyle/>
                    <a:p>
                      <a:pPr indent="0" marL="0">
                        <a:buNone/>
                      </a:pPr>
                      <a:r>
                        <a:rPr lang="en-US" sz="680" b="1" spc="200" kern="0" dirty="0">
                          <a:solidFill>
                            <a:srgbClr val="1E1208"/>
                          </a:solidFill>
                          <a:latin typeface="Courier New" pitchFamily="34" charset="0"/>
                          <a:ea typeface="Courier New" pitchFamily="34" charset="-122"/>
                          <a:cs typeface="Courier New" pitchFamily="34" charset="-120"/>
                        </a:rPr>
                        <a:t>PRACTICE AND ENGAGEMENT</a:t>
                      </a:r>
                      <a:endParaRPr lang="en-US" sz="68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F2CF72"/>
                    </a:solidFill>
                  </a:tcPr>
                </a:tc>
                <a:tc hMerge="1">
                  <a:tcPr/>
                </a:tc>
                <a:tc hMerge="1">
                  <a:tcPr/>
                </a:tc>
                <a:tc hMerge="1">
                  <a:tcPr/>
                </a:tc>
                <a:tc hMerge="1">
                  <a:tcPr/>
                </a:tc>
                <a:tc hMerge="1">
                  <a:tcPr/>
                </a:tc>
                <a:tc hMerge="1">
                  <a:tcPr/>
                </a:tc>
                <a:tc hMerge="1">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Live games and quizzes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Topic Mastery and Math Duels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XP, badges, streaks, leaderboards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46304">
                <a:tc gridSpan="8">
                  <a:txBody>
                    <a:bodyPr/>
                    <a:lstStyle/>
                    <a:p>
                      <a:pPr indent="0" marL="0">
                        <a:buNone/>
                      </a:pPr>
                      <a:r>
                        <a:rPr lang="en-US" sz="680" b="1" spc="200" kern="0" dirty="0">
                          <a:solidFill>
                            <a:srgbClr val="1E1208"/>
                          </a:solidFill>
                          <a:latin typeface="Courier New" pitchFamily="34" charset="0"/>
                          <a:ea typeface="Courier New" pitchFamily="34" charset="-122"/>
                          <a:cs typeface="Courier New" pitchFamily="34" charset="-120"/>
                        </a:rPr>
                        <a:t>SCHOOL-WIDE</a:t>
                      </a:r>
                      <a:endParaRPr lang="en-US" sz="68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0" cap="flat" cmpd="sng" algn="ctr">
                      <a:noFill/>
                    </a:lnB>
                    <a:solidFill>
                      <a:srgbClr val="C3BAAF"/>
                    </a:solidFill>
                  </a:tcPr>
                </a:tc>
                <a:tc hMerge="1">
                  <a:tcPr/>
                </a:tc>
                <a:tc hMerge="1">
                  <a:tcPr/>
                </a:tc>
                <a:tc hMerge="1">
                  <a:tcPr/>
                </a:tc>
                <a:tc hMerge="1">
                  <a:tcPr/>
                </a:tc>
                <a:tc hMerge="1">
                  <a:tcPr/>
                </a:tc>
                <a:tc hMerge="1">
                  <a:tcPr/>
                </a:tc>
                <a:tc hMerge="1">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One login and one topic list</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Built for Jamaican schools</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r h="160020">
                <a:tc>
                  <a:txBody>
                    <a:bodyPr/>
                    <a:lstStyle/>
                    <a:p>
                      <a:pPr indent="0" marL="0">
                        <a:buNone/>
                      </a:pPr>
                      <a:r>
                        <a:rPr lang="en-US" sz="740" dirty="0">
                          <a:solidFill>
                            <a:srgbClr val="1E1208"/>
                          </a:solidFill>
                          <a:latin typeface="Arial" pitchFamily="34" charset="0"/>
                          <a:ea typeface="Arial" pitchFamily="34" charset="-122"/>
                          <a:cs typeface="Arial" pitchFamily="34" charset="-120"/>
                        </a:rPr>
                        <a:t>Attendance, timetable, staff tools (in the same platform)</a:t>
                      </a:r>
                      <a:endParaRPr lang="en-US" sz="740" dirty="0">
                        <a:latin typeface="Arial" charset="0"/>
                        <a:ea typeface="Arial" charset="0"/>
                        <a:cs typeface="Arial" charset="0"/>
                      </a:endParaRPr>
                    </a:p>
                  </a:txBody>
                  <a:tcPr marL="73152" marR="73152"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680" dirty="0">
                          <a:solidFill>
                            <a:srgbClr val="8A7A62"/>
                          </a:solidFill>
                          <a:latin typeface="Arial" pitchFamily="34" charset="0"/>
                          <a:ea typeface="Arial" pitchFamily="34" charset="-122"/>
                          <a:cs typeface="Arial" pitchFamily="34" charset="-120"/>
                        </a:rPr>
                        <a:t>Limited</a:t>
                      </a:r>
                      <a:endParaRPr lang="en-US" sz="68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8A7A62"/>
                          </a:solidFill>
                          <a:latin typeface="Arial" pitchFamily="34" charset="0"/>
                          <a:ea typeface="Arial" pitchFamily="34" charset="-122"/>
                          <a:cs typeface="Arial" pitchFamily="34" charset="-120"/>
                        </a:rPr>
                        <a:t>–</a:t>
                      </a:r>
                      <a:endParaRPr lang="en-US" sz="80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1208"/>
                          </a:solidFill>
                          <a:latin typeface="Arial" pitchFamily="34" charset="0"/>
                          <a:ea typeface="Arial" pitchFamily="34" charset="-122"/>
                          <a:cs typeface="Arial" pitchFamily="34" charset="-120"/>
                        </a:rPr>
                        <a:t>✔</a:t>
                      </a:r>
                      <a:endParaRPr lang="en-US" sz="850" dirty="0">
                        <a:latin typeface="Arial" charset="0"/>
                        <a:ea typeface="Arial" charset="0"/>
                        <a:cs typeface="Arial" charset="0"/>
                      </a:endParaRPr>
                    </a:p>
                  </a:txBody>
                  <a:tcPr marL="18288" marR="18288" marT="0" marB="0" anchor="ctr">
                    <a:lnL w="0" cap="flat" cmpd="sng" algn="ctr">
                      <a:noFill/>
                    </a:lnL>
                    <a:lnR w="0" cap="flat" cmpd="sng" algn="ctr">
                      <a:noFill/>
                    </a:lnR>
                    <a:lnT w="0" cap="flat" cmpd="sng" algn="ctr">
                      <a:noFill/>
                    </a:lnT>
                    <a:lnB w="6350" cap="flat" cmpd="sng" algn="ctr">
                      <a:solidFill>
                        <a:srgbClr val="E5DDD0"/>
                      </a:solidFill>
                      <a:prstDash val="solid"/>
                      <a:round/>
                      <a:headEnd type="none" w="med" len="med"/>
                      <a:tailEnd type="none" w="med" len="med"/>
                    </a:lnB>
                    <a:solidFill>
                      <a:srgbClr val="FFEAD8"/>
                    </a:solidFill>
                  </a:tcPr>
                </a:tc>
              </a:tr>
            </a:tbl>
          </a:graphicData>
        </a:graphic>
      </p:graphicFrame>
      <p:pic>
        <p:nvPicPr>
          <p:cNvPr id="17" name="Image 0" descr="/Users/boxerboychris/exam-platform/marketing/presentation/assets-v2/compare/google.png">    </p:cNvPr>
          <p:cNvPicPr>
            <a:picLocks noChangeAspect="1"/>
          </p:cNvPicPr>
          <p:nvPr/>
        </p:nvPicPr>
        <p:blipFill>
          <a:blip r:embed="rId2"/>
          <a:stretch>
            <a:fillRect/>
          </a:stretch>
        </p:blipFill>
        <p:spPr>
          <a:xfrm>
            <a:off x="4631436" y="1828800"/>
            <a:ext cx="246888" cy="246888"/>
          </a:xfrm>
          <a:prstGeom prst="rect">
            <a:avLst/>
          </a:prstGeom>
        </p:spPr>
      </p:pic>
      <p:pic>
        <p:nvPicPr>
          <p:cNvPr id="18" name="Image 1" descr="/Users/boxerboychris/exam-platform/marketing/presentation/assets-v2/compare/teams.png">    </p:cNvPr>
          <p:cNvPicPr>
            <a:picLocks noChangeAspect="1"/>
          </p:cNvPicPr>
          <p:nvPr/>
        </p:nvPicPr>
        <p:blipFill>
          <a:blip r:embed="rId3"/>
          <a:stretch>
            <a:fillRect/>
          </a:stretch>
        </p:blipFill>
        <p:spPr>
          <a:xfrm>
            <a:off x="5628132" y="1828800"/>
            <a:ext cx="265176" cy="246888"/>
          </a:xfrm>
          <a:prstGeom prst="rect">
            <a:avLst/>
          </a:prstGeom>
        </p:spPr>
      </p:pic>
      <p:pic>
        <p:nvPicPr>
          <p:cNvPr id="19" name="Image 2" descr="/Users/boxerboychris/exam-platform/marketing/presentation/assets-v2/compare/moodle.png">    </p:cNvPr>
          <p:cNvPicPr>
            <a:picLocks noChangeAspect="1"/>
          </p:cNvPicPr>
          <p:nvPr/>
        </p:nvPicPr>
        <p:blipFill>
          <a:blip r:embed="rId4"/>
          <a:stretch>
            <a:fillRect/>
          </a:stretch>
        </p:blipFill>
        <p:spPr>
          <a:xfrm>
            <a:off x="6624828" y="1828800"/>
            <a:ext cx="283464" cy="237744"/>
          </a:xfrm>
          <a:prstGeom prst="rect">
            <a:avLst/>
          </a:prstGeom>
        </p:spPr>
      </p:pic>
      <p:pic>
        <p:nvPicPr>
          <p:cNvPr id="20" name="Image 3" descr="/Users/boxerboychris/exam-platform/marketing/presentation/assets-v2/compare/canvas.png">    </p:cNvPr>
          <p:cNvPicPr>
            <a:picLocks noChangeAspect="1"/>
          </p:cNvPicPr>
          <p:nvPr/>
        </p:nvPicPr>
        <p:blipFill>
          <a:blip r:embed="rId5"/>
          <a:stretch>
            <a:fillRect/>
          </a:stretch>
        </p:blipFill>
        <p:spPr>
          <a:xfrm>
            <a:off x="7648956" y="1828800"/>
            <a:ext cx="246888" cy="246888"/>
          </a:xfrm>
          <a:prstGeom prst="rect">
            <a:avLst/>
          </a:prstGeom>
        </p:spPr>
      </p:pic>
      <p:pic>
        <p:nvPicPr>
          <p:cNvPr id="21" name="Image 4" descr="/Users/boxerboychris/exam-platform/marketing/presentation/assets-v2/compare/kahoot.png">    </p:cNvPr>
          <p:cNvPicPr>
            <a:picLocks noChangeAspect="1"/>
          </p:cNvPicPr>
          <p:nvPr/>
        </p:nvPicPr>
        <p:blipFill>
          <a:blip r:embed="rId6"/>
          <a:stretch>
            <a:fillRect/>
          </a:stretch>
        </p:blipFill>
        <p:spPr>
          <a:xfrm>
            <a:off x="8540496" y="1828800"/>
            <a:ext cx="475488" cy="224028"/>
          </a:xfrm>
          <a:prstGeom prst="rect">
            <a:avLst/>
          </a:prstGeom>
        </p:spPr>
      </p:pic>
      <p:pic>
        <p:nvPicPr>
          <p:cNvPr id="22" name="Image 5" descr="/Users/boxerboychris/exam-platform/marketing/presentation/assets-v2/compare/quizizz.png">    </p:cNvPr>
          <p:cNvPicPr>
            <a:picLocks noChangeAspect="1"/>
          </p:cNvPicPr>
          <p:nvPr/>
        </p:nvPicPr>
        <p:blipFill>
          <a:blip r:embed="rId7"/>
          <a:stretch>
            <a:fillRect/>
          </a:stretch>
        </p:blipFill>
        <p:spPr>
          <a:xfrm>
            <a:off x="9665208" y="1828800"/>
            <a:ext cx="237744" cy="237744"/>
          </a:xfrm>
          <a:prstGeom prst="rect">
            <a:avLst/>
          </a:prstGeom>
        </p:spPr>
      </p:pic>
      <p:pic>
        <p:nvPicPr>
          <p:cNvPr id="23" name="Image 6" descr="/Users/boxerboychris/exam-platform/marketing/presentation/assets-v2/compare/sa.png">    </p:cNvPr>
          <p:cNvPicPr>
            <a:picLocks noChangeAspect="1"/>
          </p:cNvPicPr>
          <p:nvPr/>
        </p:nvPicPr>
        <p:blipFill>
          <a:blip r:embed="rId8"/>
          <a:stretch>
            <a:fillRect/>
          </a:stretch>
        </p:blipFill>
        <p:spPr>
          <a:xfrm>
            <a:off x="10671048" y="1828800"/>
            <a:ext cx="237744" cy="246888"/>
          </a:xfrm>
          <a:prstGeom prst="rect">
            <a:avLst/>
          </a:prstGeom>
        </p:spPr>
      </p:pic>
      <p:sp>
        <p:nvSpPr>
          <p:cNvPr id="24" name="Shape 13"/>
          <p:cNvSpPr/>
          <p:nvPr/>
        </p:nvSpPr>
        <p:spPr>
          <a:xfrm>
            <a:off x="1143000" y="5897880"/>
            <a:ext cx="10149840" cy="566928"/>
          </a:xfrm>
          <a:prstGeom prst="rect">
            <a:avLst/>
          </a:prstGeom>
          <a:solidFill>
            <a:srgbClr val="1E1208"/>
          </a:solidFill>
          <a:ln/>
        </p:spPr>
      </p:sp>
      <p:sp>
        <p:nvSpPr>
          <p:cNvPr id="25" name="Text 14"/>
          <p:cNvSpPr/>
          <p:nvPr/>
        </p:nvSpPr>
        <p:spPr>
          <a:xfrm>
            <a:off x="1371600" y="5897880"/>
            <a:ext cx="6675120" cy="56692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question is not "can another tool do one of these things?"</a:t>
            </a:r>
            <a:endParaRPr lang="en-US" sz="1200" dirty="0"/>
          </a:p>
          <a:p>
            <a:pPr indent="0" marL="0">
              <a:buNone/>
            </a:pPr>
            <a:r>
              <a:rPr lang="en-US" sz="1200" b="1" dirty="0">
                <a:solidFill>
                  <a:srgbClr val="E3B51E"/>
                </a:solidFill>
                <a:latin typeface="Arial" pitchFamily="34" charset="0"/>
                <a:ea typeface="Arial" pitchFamily="34" charset="-122"/>
                <a:cs typeface="Arial" pitchFamily="34" charset="-120"/>
              </a:rPr>
              <a:t>It is "how many tools and handoffs does the school need?"</a:t>
            </a:r>
            <a:endParaRPr lang="en-US" sz="1200" dirty="0"/>
          </a:p>
        </p:txBody>
      </p:sp>
      <p:sp>
        <p:nvSpPr>
          <p:cNvPr id="26" name="Shape 15"/>
          <p:cNvSpPr/>
          <p:nvPr/>
        </p:nvSpPr>
        <p:spPr>
          <a:xfrm>
            <a:off x="8183880" y="5989320"/>
            <a:ext cx="0" cy="384048"/>
          </a:xfrm>
          <a:prstGeom prst="line">
            <a:avLst/>
          </a:prstGeom>
          <a:noFill/>
          <a:ln w="12700">
            <a:solidFill>
              <a:srgbClr val="555555"/>
            </a:solidFill>
            <a:prstDash val="solid"/>
          </a:ln>
        </p:spPr>
      </p:sp>
      <p:sp>
        <p:nvSpPr>
          <p:cNvPr id="27" name="Text 16"/>
          <p:cNvSpPr/>
          <p:nvPr/>
        </p:nvSpPr>
        <p:spPr>
          <a:xfrm>
            <a:off x="8366760" y="5897880"/>
            <a:ext cx="2788920" cy="566928"/>
          </a:xfrm>
          <a:prstGeom prst="rect">
            <a:avLst/>
          </a:prstGeom>
          <a:noFill/>
          <a:ln/>
        </p:spPr>
        <p:txBody>
          <a:bodyPr wrap="square" lIns="0" tIns="0" rIns="0" bIns="0" rtlCol="0" anchor="ctr"/>
          <a:lstStyle/>
          <a:p>
            <a:pPr indent="0" marL="0">
              <a:buNone/>
            </a:pPr>
            <a:r>
              <a:rPr lang="en-US" sz="850" dirty="0">
                <a:solidFill>
                  <a:srgbClr val="E8DFD2"/>
                </a:solidFill>
                <a:latin typeface="Arial" pitchFamily="34" charset="0"/>
                <a:ea typeface="Arial" pitchFamily="34" charset="-122"/>
                <a:cs typeface="Arial" pitchFamily="34" charset="-120"/>
              </a:rPr>
              <a:t>Other tools are excellent in their areas. Smart Assess Ja is designed to connect the whole learning process.</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588191" y="502920"/>
            <a:ext cx="603504" cy="1152144"/>
          </a:xfrm>
          <a:prstGeom prst="rect">
            <a:avLst/>
          </a:prstGeom>
          <a:solidFill>
            <a:srgbClr val="FDFDFB"/>
          </a:solidFill>
          <a:ln w="25400">
            <a:solidFill>
              <a:srgbClr val="1E1208"/>
            </a:solidFill>
            <a:prstDash val="solid"/>
          </a:ln>
        </p:spPr>
      </p:sp>
      <p:sp>
        <p:nvSpPr>
          <p:cNvPr id="3" name="Text 1"/>
          <p:cNvSpPr/>
          <p:nvPr/>
        </p:nvSpPr>
        <p:spPr>
          <a:xfrm>
            <a:off x="11588191" y="502920"/>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SURVEY</a:t>
            </a:r>
            <a:endParaRPr lang="en-US" sz="1200" dirty="0"/>
          </a:p>
        </p:txBody>
      </p:sp>
      <p:sp>
        <p:nvSpPr>
          <p:cNvPr id="4" name="Shape 2"/>
          <p:cNvSpPr/>
          <p:nvPr/>
        </p:nvSpPr>
        <p:spPr>
          <a:xfrm>
            <a:off x="11588191" y="1764792"/>
            <a:ext cx="603504" cy="1152144"/>
          </a:xfrm>
          <a:prstGeom prst="rect">
            <a:avLst/>
          </a:prstGeom>
          <a:solidFill>
            <a:srgbClr val="D4762A"/>
          </a:solidFill>
          <a:ln w="25400">
            <a:solidFill>
              <a:srgbClr val="1E1208"/>
            </a:solidFill>
            <a:prstDash val="solid"/>
          </a:ln>
        </p:spPr>
      </p:sp>
      <p:sp>
        <p:nvSpPr>
          <p:cNvPr id="5" name="Text 3"/>
          <p:cNvSpPr/>
          <p:nvPr/>
        </p:nvSpPr>
        <p:spPr>
          <a:xfrm>
            <a:off x="11588191" y="1764792"/>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ASSESS</a:t>
            </a:r>
            <a:endParaRPr lang="en-US" sz="1200" dirty="0"/>
          </a:p>
        </p:txBody>
      </p:sp>
      <p:sp>
        <p:nvSpPr>
          <p:cNvPr id="6" name="Shape 4"/>
          <p:cNvSpPr/>
          <p:nvPr/>
        </p:nvSpPr>
        <p:spPr>
          <a:xfrm>
            <a:off x="11588191" y="3026664"/>
            <a:ext cx="603504" cy="1152144"/>
          </a:xfrm>
          <a:prstGeom prst="rect">
            <a:avLst/>
          </a:prstGeom>
          <a:solidFill>
            <a:srgbClr val="E3B51E"/>
          </a:solidFill>
          <a:ln w="25400">
            <a:solidFill>
              <a:srgbClr val="1E1208"/>
            </a:solidFill>
            <a:prstDash val="solid"/>
          </a:ln>
        </p:spPr>
      </p:sp>
      <p:sp>
        <p:nvSpPr>
          <p:cNvPr id="7" name="Text 5"/>
          <p:cNvSpPr/>
          <p:nvPr/>
        </p:nvSpPr>
        <p:spPr>
          <a:xfrm>
            <a:off x="11588191" y="3026664"/>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LEARN</a:t>
            </a:r>
            <a:endParaRPr lang="en-US" sz="1200" dirty="0"/>
          </a:p>
        </p:txBody>
      </p:sp>
      <p:sp>
        <p:nvSpPr>
          <p:cNvPr id="8" name="Shape 6"/>
          <p:cNvSpPr/>
          <p:nvPr/>
        </p:nvSpPr>
        <p:spPr>
          <a:xfrm>
            <a:off x="11588191" y="4288536"/>
            <a:ext cx="603504" cy="1152144"/>
          </a:xfrm>
          <a:prstGeom prst="rect">
            <a:avLst/>
          </a:prstGeom>
          <a:solidFill>
            <a:srgbClr val="1E1208"/>
          </a:solidFill>
          <a:ln w="25400">
            <a:solidFill>
              <a:srgbClr val="1E1208"/>
            </a:solidFill>
            <a:prstDash val="solid"/>
          </a:ln>
        </p:spPr>
      </p:sp>
      <p:sp>
        <p:nvSpPr>
          <p:cNvPr id="9" name="Text 7"/>
          <p:cNvSpPr/>
          <p:nvPr/>
        </p:nvSpPr>
        <p:spPr>
          <a:xfrm>
            <a:off x="11588191" y="4288536"/>
            <a:ext cx="603504" cy="1152144"/>
          </a:xfrm>
          <a:prstGeom prst="rect">
            <a:avLst/>
          </a:prstGeom>
          <a:noFill/>
          <a:ln/>
        </p:spPr>
        <p:txBody>
          <a:bodyPr wrap="square" lIns="0" tIns="0" rIns="0" bIns="0" rtlCol="0" anchor="ctr" vert="vert270"/>
          <a:lstStyle/>
          <a:p>
            <a:pPr algn="ctr" indent="0" marL="0">
              <a:buNone/>
            </a:pPr>
            <a:r>
              <a:rPr lang="en-US" sz="1200" b="1" spc="300" kern="0" dirty="0">
                <a:solidFill>
                  <a:srgbClr val="FFFFFF"/>
                </a:solidFill>
                <a:latin typeface="Courier New" pitchFamily="34" charset="0"/>
                <a:ea typeface="Courier New" pitchFamily="34" charset="-122"/>
                <a:cs typeface="Courier New" pitchFamily="34" charset="-120"/>
              </a:rPr>
              <a:t>PLAY</a:t>
            </a:r>
            <a:endParaRPr lang="en-US" sz="1200" dirty="0"/>
          </a:p>
        </p:txBody>
      </p:sp>
      <p:sp>
        <p:nvSpPr>
          <p:cNvPr id="10" name="Shape 8"/>
          <p:cNvSpPr/>
          <p:nvPr/>
        </p:nvSpPr>
        <p:spPr>
          <a:xfrm>
            <a:off x="11368735" y="5550408"/>
            <a:ext cx="822960" cy="1152144"/>
          </a:xfrm>
          <a:prstGeom prst="rect">
            <a:avLst/>
          </a:prstGeom>
          <a:solidFill>
            <a:srgbClr val="FDFDFB"/>
          </a:solidFill>
          <a:ln w="25400">
            <a:solidFill>
              <a:srgbClr val="1E1208"/>
            </a:solidFill>
            <a:prstDash val="solid"/>
          </a:ln>
        </p:spPr>
      </p:sp>
      <p:sp>
        <p:nvSpPr>
          <p:cNvPr id="11" name="Text 9"/>
          <p:cNvSpPr/>
          <p:nvPr/>
        </p:nvSpPr>
        <p:spPr>
          <a:xfrm>
            <a:off x="11368735" y="5550408"/>
            <a:ext cx="822960" cy="1152144"/>
          </a:xfrm>
          <a:prstGeom prst="rect">
            <a:avLst/>
          </a:prstGeom>
          <a:noFill/>
          <a:ln/>
        </p:spPr>
        <p:txBody>
          <a:bodyPr wrap="square" lIns="0" tIns="0" rIns="0" bIns="0" rtlCol="0" anchor="ctr" vert="vert270"/>
          <a:lstStyle/>
          <a:p>
            <a:pPr algn="ctr" indent="0" marL="0">
              <a:buNone/>
            </a:pPr>
            <a:r>
              <a:rPr lang="en-US" sz="1200" b="1" spc="300" kern="0" dirty="0">
                <a:solidFill>
                  <a:srgbClr val="1E1208"/>
                </a:solidFill>
                <a:latin typeface="Courier New" pitchFamily="34" charset="0"/>
                <a:ea typeface="Courier New" pitchFamily="34" charset="-122"/>
                <a:cs typeface="Courier New" pitchFamily="34" charset="-120"/>
              </a:rPr>
              <a:t>WHY US</a:t>
            </a:r>
            <a:endParaRPr lang="en-US" sz="1200" dirty="0"/>
          </a:p>
        </p:txBody>
      </p:sp>
      <p:sp>
        <p:nvSpPr>
          <p:cNvPr id="13" name="Text 10"/>
          <p:cNvSpPr/>
          <p:nvPr/>
        </p:nvSpPr>
        <p:spPr>
          <a:xfrm>
            <a:off x="1417320" y="457200"/>
            <a:ext cx="9144000" cy="274320"/>
          </a:xfrm>
          <a:prstGeom prst="rect">
            <a:avLst/>
          </a:prstGeom>
          <a:noFill/>
          <a:ln/>
        </p:spPr>
        <p:txBody>
          <a:bodyPr wrap="square" lIns="0" tIns="0" rIns="0" bIns="0" rtlCol="0" anchor="ctr"/>
          <a:lstStyle/>
          <a:p>
            <a:pPr indent="0" marL="0">
              <a:buNone/>
            </a:pPr>
            <a:r>
              <a:rPr lang="en-US" sz="1150" b="1" spc="300" kern="0" dirty="0">
                <a:solidFill>
                  <a:srgbClr val="1E1208"/>
                </a:solidFill>
                <a:latin typeface="Courier New" pitchFamily="34" charset="0"/>
                <a:ea typeface="Courier New" pitchFamily="34" charset="-122"/>
                <a:cs typeface="Courier New" pitchFamily="34" charset="-120"/>
              </a:rPr>
              <a:t>THE DIFFERENCE IN WORDS</a:t>
            </a:r>
            <a:endParaRPr lang="en-US" sz="1150" dirty="0"/>
          </a:p>
        </p:txBody>
      </p:sp>
      <p:sp>
        <p:nvSpPr>
          <p:cNvPr id="14" name="Shape 11"/>
          <p:cNvSpPr/>
          <p:nvPr/>
        </p:nvSpPr>
        <p:spPr>
          <a:xfrm>
            <a:off x="1417320" y="1325880"/>
            <a:ext cx="9509760" cy="2011680"/>
          </a:xfrm>
          <a:prstGeom prst="rect">
            <a:avLst/>
          </a:prstGeom>
          <a:solidFill>
            <a:srgbClr val="FFFFFF"/>
          </a:solidFill>
          <a:ln w="25400">
            <a:solidFill>
              <a:srgbClr val="1E1208"/>
            </a:solidFill>
            <a:prstDash val="solid"/>
          </a:ln>
        </p:spPr>
      </p:sp>
      <p:sp>
        <p:nvSpPr>
          <p:cNvPr id="15" name="Shape 12"/>
          <p:cNvSpPr/>
          <p:nvPr/>
        </p:nvSpPr>
        <p:spPr>
          <a:xfrm>
            <a:off x="1417320" y="1325880"/>
            <a:ext cx="164592" cy="2011680"/>
          </a:xfrm>
          <a:prstGeom prst="rect">
            <a:avLst/>
          </a:prstGeom>
          <a:solidFill>
            <a:srgbClr val="D4762A"/>
          </a:solidFill>
          <a:ln/>
        </p:spPr>
      </p:sp>
      <p:sp>
        <p:nvSpPr>
          <p:cNvPr id="16" name="Text 13"/>
          <p:cNvSpPr/>
          <p:nvPr/>
        </p:nvSpPr>
        <p:spPr>
          <a:xfrm>
            <a:off x="1874520" y="1325880"/>
            <a:ext cx="8869680" cy="2011680"/>
          </a:xfrm>
          <a:prstGeom prst="rect">
            <a:avLst/>
          </a:prstGeom>
          <a:noFill/>
          <a:ln/>
        </p:spPr>
        <p:txBody>
          <a:bodyPr wrap="square" lIns="0" tIns="0" rIns="0" bIns="0" rtlCol="0" anchor="ctr"/>
          <a:lstStyle/>
          <a:p>
            <a:pPr algn="l" indent="0" marL="0">
              <a:lnSpc>
                <a:spcPct val="110000"/>
              </a:lnSpc>
              <a:buNone/>
            </a:pPr>
            <a:r>
              <a:rPr lang="en-US" sz="2100" dirty="0">
                <a:solidFill>
                  <a:srgbClr val="1E1208"/>
                </a:solidFill>
                <a:latin typeface="Arial" pitchFamily="34" charset="0"/>
                <a:ea typeface="Arial" pitchFamily="34" charset="-122"/>
                <a:cs typeface="Arial" pitchFamily="34" charset="-120"/>
              </a:rPr>
              <a:t>Other platforms are good at what they do. Smart Assess JA is designed to connect assessment, learning and practice around the same students, classes and curriculum topics, while reducing the work teachers do between those activities.</a:t>
            </a:r>
            <a:endParaRPr lang="en-US" sz="2100" dirty="0"/>
          </a:p>
        </p:txBody>
      </p:sp>
      <p:sp>
        <p:nvSpPr>
          <p:cNvPr id="17" name="Shape 14"/>
          <p:cNvSpPr/>
          <p:nvPr/>
        </p:nvSpPr>
        <p:spPr>
          <a:xfrm>
            <a:off x="1417320" y="3794760"/>
            <a:ext cx="9509760" cy="2011680"/>
          </a:xfrm>
          <a:prstGeom prst="rect">
            <a:avLst/>
          </a:prstGeom>
          <a:solidFill>
            <a:srgbClr val="FFFFFF"/>
          </a:solidFill>
          <a:ln w="25400">
            <a:solidFill>
              <a:srgbClr val="1E1208"/>
            </a:solidFill>
            <a:prstDash val="solid"/>
          </a:ln>
        </p:spPr>
      </p:sp>
      <p:sp>
        <p:nvSpPr>
          <p:cNvPr id="18" name="Shape 15"/>
          <p:cNvSpPr/>
          <p:nvPr/>
        </p:nvSpPr>
        <p:spPr>
          <a:xfrm>
            <a:off x="1417320" y="3794760"/>
            <a:ext cx="164592" cy="2011680"/>
          </a:xfrm>
          <a:prstGeom prst="rect">
            <a:avLst/>
          </a:prstGeom>
          <a:solidFill>
            <a:srgbClr val="1F8A84"/>
          </a:solidFill>
          <a:ln/>
        </p:spPr>
      </p:sp>
      <p:sp>
        <p:nvSpPr>
          <p:cNvPr id="19" name="Text 16"/>
          <p:cNvSpPr/>
          <p:nvPr/>
        </p:nvSpPr>
        <p:spPr>
          <a:xfrm>
            <a:off x="1874520" y="3794760"/>
            <a:ext cx="8869680" cy="2011680"/>
          </a:xfrm>
          <a:prstGeom prst="rect">
            <a:avLst/>
          </a:prstGeom>
          <a:noFill/>
          <a:ln/>
        </p:spPr>
        <p:txBody>
          <a:bodyPr wrap="square" lIns="0" tIns="0" rIns="0" bIns="0" rtlCol="0" anchor="ctr"/>
          <a:lstStyle/>
          <a:p>
            <a:pPr algn="l" indent="0" marL="0">
              <a:lnSpc>
                <a:spcPct val="110000"/>
              </a:lnSpc>
              <a:buNone/>
            </a:pPr>
            <a:r>
              <a:rPr lang="en-US" sz="2100" dirty="0">
                <a:solidFill>
                  <a:srgbClr val="1E1208"/>
                </a:solidFill>
                <a:latin typeface="Arial" pitchFamily="34" charset="0"/>
                <a:ea typeface="Arial" pitchFamily="34" charset="-122"/>
                <a:cs typeface="Arial" pitchFamily="34" charset="-120"/>
              </a:rPr>
              <a:t>Google Classroom is useful for managing classwork. Smart Assess is designed to go further into the assessment process, from creating and administering examinations to marking, understanding results and supporting learning through connected products.</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TotalTime>
  <Words>3401</Words>
  <Application>Microsoft Office PowerPoint</Application>
  <PresentationFormat>Custom</PresentationFormat>
  <Paragraphs>699</Paragraphs>
  <Slides>33</Slides>
  <Notes>31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Assess Ja: Built for Manchester High School</dc:title>
  <dc:subject>PptxGenJS Presentation</dc:subject>
  <dc:creator>Smart Assess Ja</dc:creator>
  <cp:lastModifiedBy>MHSBURSAR004</cp:lastModifiedBy>
  <cp:revision>12</cp:revision>
  <dcterms:created xsi:type="dcterms:W3CDTF">2026-10-07T15:08:47Z</dcterms:created>
  <dcterms:modified xsi:type="dcterms:W3CDTF">2026-10-07T20:38:58Z</dcterms:modified>
</cp:coreProperties>
</file>
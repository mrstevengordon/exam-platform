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92</c:v>
                </c:pt>
                <c:pt idx="1">
                  <c:v>58</c:v>
                </c:pt>
                <c:pt idx="2">
                  <c:v>50</c:v>
                </c:pt>
                <c:pt idx="3">
                  <c:v>33</c:v>
                </c:pt>
                <c:pt idx="4">
                  <c:v>25</c:v>
                </c:pt>
                <c:pt idx="5">
                  <c:v>25</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1F8A84"/>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75</c:v>
                </c:pt>
                <c:pt idx="1">
                  <c:v>58</c:v>
                </c:pt>
                <c:pt idx="2">
                  <c:v>50</c:v>
                </c:pt>
                <c:pt idx="3">
                  <c:v>42</c:v>
                </c:pt>
                <c:pt idx="4">
                  <c:v>42</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teachers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80</c:v>
                </c:pt>
                <c:pt idx="1">
                  <c:v>60</c:v>
                </c:pt>
                <c:pt idx="2">
                  <c:v>50</c:v>
                </c:pt>
                <c:pt idx="3">
                  <c:v>40</c:v>
                </c:pt>
                <c:pt idx="4">
                  <c:v>30</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and more than 100 members of staff.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(80% of teachers). 90% want the system to show what an absent student missed, and 90% want activities for different ability levels. 80%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platform,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80% of teachers named marking as their biggest time cost,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(80% and 70%).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DOK is Depth of Knowledge, a simple scale from 1 to 4 for how deeply a student has to think. It is about the thinking, not how hard the topic is. Level 1 is recall, level 2 is using a method, level 3 is reasoning and justifying, and level 4 is an extended investigation. Every lesson plan in Smart Learning carries a DOK level next to a general objective and specific objectives. When a teacher asks the AI to draft a plan it suggests a level, and the teacher always reviews and can change it. The point is balance: it helps a teacher see when every task has stayed at recall, without turning everything into a project. The examples use simple interest because it is in the Grade 9 mathematics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90% of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(58% of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Say it as written. Many schools use different tools for different jobs. Smart Assess Ja brings assessment, learning and practice together in one platform, with one login, one set of people and one topic list. Walk down the two columns together: separate tools and one login for everything; different security and built in security; fragmented results and meaningful results; built for other contexts and made for Jamaica. The other tools do their own jobs well. We connect the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2 minutes.
Walk down the table one section at a time: assessment, learning, practice and engagement, school-wide. Each platform has strengths. Smart Assess Ja is different because it brings assessment, learning and practice together in one school platform. The question is not "can another tool do one of these things?" It is "how many tools and handoffs does the school need?" Other tools are excellent in their areas. Smart Assess Ja is designed to connect the whole learning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Say these two paragraphs as written.
Other platforms are good at what they do. Smart Assess JA is designed to connect assessment, learning and practice around the same students, classes and curriculum topics, while reducing the work teachers do between those activities.
Google Classroom is useful for managing classwork. Smart Assess is designed to go further into the assessment process, from creating and administering examinations to marking, understanding results and supporting learning through connected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slideLayout" Target="../slideLayouts/slideLayout1.xml"/><Relationship Id="rId11"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slideLayout" Target="../slideLayouts/slideLayout1.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EVERY TERM, LEARNING TRAVELS ONTO PAPER, AND BACK AGAIN</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This consumes time, money, paper and administrative effort.</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ONE SCHOOL OF ABOUT 1,800 STUDENTS AND 100+ STAFF</a:t>
            </a:r>
            <a:endParaRPr lang="en-US" sz="43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57400"/>
            <a:ext cx="3474720" cy="100584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≈1,800</a:t>
            </a:r>
            <a:endParaRPr lang="en-US" sz="6600" dirty="0"/>
          </a:p>
        </p:txBody>
      </p:sp>
      <p:sp>
        <p:nvSpPr>
          <p:cNvPr id="17" name="Text 14"/>
          <p:cNvSpPr/>
          <p:nvPr/>
        </p:nvSpPr>
        <p:spPr>
          <a:xfrm>
            <a:off x="1645920" y="30175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STUDENTS</a:t>
            </a:r>
            <a:endParaRPr lang="en-US" sz="2400" dirty="0"/>
          </a:p>
        </p:txBody>
      </p:sp>
      <p:sp>
        <p:nvSpPr>
          <p:cNvPr id="18" name="Text 15"/>
          <p:cNvSpPr/>
          <p:nvPr/>
        </p:nvSpPr>
        <p:spPr>
          <a:xfrm>
            <a:off x="1645920" y="3474720"/>
            <a:ext cx="3474720" cy="91440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100+</a:t>
            </a:r>
            <a:endParaRPr lang="en-US" sz="6600" dirty="0"/>
          </a:p>
        </p:txBody>
      </p:sp>
      <p:sp>
        <p:nvSpPr>
          <p:cNvPr id="19" name="Text 16"/>
          <p:cNvSpPr/>
          <p:nvPr/>
        </p:nvSpPr>
        <p:spPr>
          <a:xfrm>
            <a:off x="1645920" y="43891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MEMBERS OF STAFF</a:t>
            </a:r>
            <a:endParaRPr lang="en-US" sz="2400" dirty="0"/>
          </a:p>
        </p:txBody>
      </p:sp>
      <p:sp>
        <p:nvSpPr>
          <p:cNvPr id="20" name="Text 17"/>
          <p:cNvSpPr/>
          <p:nvPr/>
        </p:nvSpPr>
        <p:spPr>
          <a:xfrm>
            <a:off x="1645920" y="4937760"/>
            <a:ext cx="3383280" cy="731520"/>
          </a:xfrm>
          <a:prstGeom prst="rect">
            <a:avLst/>
          </a:prstGeom>
          <a:noFill/>
          <a:ln/>
        </p:spPr>
        <p:txBody>
          <a:bodyPr wrap="square" lIns="0" tIns="0" rIns="0" bIns="0" rtlCol="0" anchor="t"/>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Every test, lesson and class creates information. Can teachers and leaders see it?</a:t>
            </a:r>
            <a:endParaRPr lang="en-US" sz="1300" dirty="0"/>
          </a:p>
        </p:txBody>
      </p:sp>
      <p:sp>
        <p:nvSpPr>
          <p:cNvPr id="21" name="Shape 18"/>
          <p:cNvSpPr/>
          <p:nvPr/>
        </p:nvSpPr>
        <p:spPr>
          <a:xfrm>
            <a:off x="5486400" y="1965960"/>
            <a:ext cx="5440680" cy="841248"/>
          </a:xfrm>
          <a:prstGeom prst="rect">
            <a:avLst/>
          </a:prstGeom>
          <a:solidFill>
            <a:srgbClr val="FFFFFF"/>
          </a:solidFill>
          <a:ln w="25400">
            <a:solidFill>
              <a:srgbClr val="1E1208"/>
            </a:solidFill>
            <a:prstDash val="solid"/>
          </a:ln>
        </p:spPr>
      </p:sp>
      <p:sp>
        <p:nvSpPr>
          <p:cNvPr id="22" name="Text 19"/>
          <p:cNvSpPr/>
          <p:nvPr/>
        </p:nvSpPr>
        <p:spPr>
          <a:xfrm>
            <a:off x="5669280" y="207568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3" name="Text 20"/>
          <p:cNvSpPr/>
          <p:nvPr/>
        </p:nvSpPr>
        <p:spPr>
          <a:xfrm>
            <a:off x="5669280" y="242316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4" name="Shape 21"/>
          <p:cNvSpPr/>
          <p:nvPr/>
        </p:nvSpPr>
        <p:spPr>
          <a:xfrm>
            <a:off x="5486400" y="2926080"/>
            <a:ext cx="5440680" cy="841248"/>
          </a:xfrm>
          <a:prstGeom prst="rect">
            <a:avLst/>
          </a:prstGeom>
          <a:solidFill>
            <a:srgbClr val="FFFFFF"/>
          </a:solidFill>
          <a:ln w="25400">
            <a:solidFill>
              <a:srgbClr val="1E1208"/>
            </a:solidFill>
            <a:prstDash val="solid"/>
          </a:ln>
        </p:spPr>
      </p:sp>
      <p:sp>
        <p:nvSpPr>
          <p:cNvPr id="25" name="Text 22"/>
          <p:cNvSpPr/>
          <p:nvPr/>
        </p:nvSpPr>
        <p:spPr>
          <a:xfrm>
            <a:off x="5669280" y="3035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6" name="Text 23"/>
          <p:cNvSpPr/>
          <p:nvPr/>
        </p:nvSpPr>
        <p:spPr>
          <a:xfrm>
            <a:off x="5669280" y="3383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7" name="Shape 24"/>
          <p:cNvSpPr/>
          <p:nvPr/>
        </p:nvSpPr>
        <p:spPr>
          <a:xfrm>
            <a:off x="5486400" y="3886200"/>
            <a:ext cx="5440680" cy="841248"/>
          </a:xfrm>
          <a:prstGeom prst="rect">
            <a:avLst/>
          </a:prstGeom>
          <a:solidFill>
            <a:srgbClr val="FFFFFF"/>
          </a:solidFill>
          <a:ln w="25400">
            <a:solidFill>
              <a:srgbClr val="1E1208"/>
            </a:solidFill>
            <a:prstDash val="solid"/>
          </a:ln>
        </p:spPr>
      </p:sp>
      <p:sp>
        <p:nvSpPr>
          <p:cNvPr id="28" name="Text 25"/>
          <p:cNvSpPr/>
          <p:nvPr/>
        </p:nvSpPr>
        <p:spPr>
          <a:xfrm>
            <a:off x="5669280" y="3995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9" name="Text 26"/>
          <p:cNvSpPr/>
          <p:nvPr/>
        </p:nvSpPr>
        <p:spPr>
          <a:xfrm>
            <a:off x="5669280" y="4343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30" name="Shape 27"/>
          <p:cNvSpPr/>
          <p:nvPr/>
        </p:nvSpPr>
        <p:spPr>
          <a:xfrm>
            <a:off x="5486400" y="4846320"/>
            <a:ext cx="5440680" cy="841248"/>
          </a:xfrm>
          <a:prstGeom prst="rect">
            <a:avLst/>
          </a:prstGeom>
          <a:solidFill>
            <a:srgbClr val="FFFFFF"/>
          </a:solidFill>
          <a:ln w="25400">
            <a:solidFill>
              <a:srgbClr val="1E1208"/>
            </a:solidFill>
            <a:prstDash val="solid"/>
          </a:ln>
        </p:spPr>
      </p:sp>
      <p:sp>
        <p:nvSpPr>
          <p:cNvPr id="31" name="Text 28"/>
          <p:cNvSpPr/>
          <p:nvPr/>
        </p:nvSpPr>
        <p:spPr>
          <a:xfrm>
            <a:off x="5669280" y="4956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2" name="Text 29"/>
          <p:cNvSpPr/>
          <p:nvPr/>
        </p:nvSpPr>
        <p:spPr>
          <a:xfrm>
            <a:off x="5669280" y="5303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STUDENTS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214884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214884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532120"/>
            <a:ext cx="9509760" cy="502920"/>
          </a:xfrm>
          <a:prstGeom prst="rect">
            <a:avLst/>
          </a:prstGeom>
          <a:solidFill>
            <a:srgbClr val="1E1208"/>
          </a:solidFill>
          <a:ln/>
        </p:spPr>
      </p:sp>
      <p:sp>
        <p:nvSpPr>
          <p:cNvPr id="20" name="Text 15"/>
          <p:cNvSpPr/>
          <p:nvPr/>
        </p:nvSpPr>
        <p:spPr>
          <a:xfrm>
            <a:off x="1600200" y="553212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83% want help studying for exams. 58% chose flashcards for practice.</a:t>
            </a:r>
            <a:endParaRPr lang="en-US" sz="1500" dirty="0"/>
          </a:p>
        </p:txBody>
      </p:sp>
      <p:sp>
        <p:nvSpPr>
          <p:cNvPr id="21" name="Text 16"/>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student survey, 12 students, who ticked as many answers as they liked. A small sample: read it as a signal.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TEACHERS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MARKING IS WHERE THE 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214884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19" name="Text 15"/>
          <p:cNvSpPr/>
          <p:nvPr/>
        </p:nvSpPr>
        <p:spPr>
          <a:xfrm>
            <a:off x="8778240" y="196596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the system to show what an absent student missed</a:t>
            </a:r>
            <a:endParaRPr lang="en-US" sz="1100" dirty="0"/>
          </a:p>
        </p:txBody>
      </p:sp>
      <p:sp>
        <p:nvSpPr>
          <p:cNvPr id="20" name="Shape 16"/>
          <p:cNvSpPr/>
          <p:nvPr/>
        </p:nvSpPr>
        <p:spPr>
          <a:xfrm>
            <a:off x="7315200" y="3063240"/>
            <a:ext cx="3611880" cy="960120"/>
          </a:xfrm>
          <a:prstGeom prst="rect">
            <a:avLst/>
          </a:prstGeom>
          <a:solidFill>
            <a:srgbClr val="E3B51E"/>
          </a:solidFill>
          <a:ln w="25400">
            <a:solidFill>
              <a:srgbClr val="1E1208"/>
            </a:solidFill>
            <a:prstDash val="solid"/>
          </a:ln>
        </p:spPr>
      </p:sp>
      <p:sp>
        <p:nvSpPr>
          <p:cNvPr id="21" name="Text 17"/>
          <p:cNvSpPr/>
          <p:nvPr/>
        </p:nvSpPr>
        <p:spPr>
          <a:xfrm>
            <a:off x="7452360" y="306324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22" name="Text 18"/>
          <p:cNvSpPr/>
          <p:nvPr/>
        </p:nvSpPr>
        <p:spPr>
          <a:xfrm>
            <a:off x="8778240" y="306324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different activities for different ability levels</a:t>
            </a:r>
            <a:endParaRPr lang="en-US" sz="1100" dirty="0"/>
          </a:p>
        </p:txBody>
      </p:sp>
      <p:sp>
        <p:nvSpPr>
          <p:cNvPr id="23" name="Shape 19"/>
          <p:cNvSpPr/>
          <p:nvPr/>
        </p:nvSpPr>
        <p:spPr>
          <a:xfrm>
            <a:off x="7315200" y="4160520"/>
            <a:ext cx="3611880" cy="960120"/>
          </a:xfrm>
          <a:prstGeom prst="rect">
            <a:avLst/>
          </a:prstGeom>
          <a:solidFill>
            <a:srgbClr val="FBE9D6"/>
          </a:solidFill>
          <a:ln w="25400">
            <a:solidFill>
              <a:srgbClr val="1E1208"/>
            </a:solidFill>
            <a:prstDash val="solid"/>
          </a:ln>
        </p:spPr>
      </p:sp>
      <p:sp>
        <p:nvSpPr>
          <p:cNvPr id="24" name="Text 20"/>
          <p:cNvSpPr/>
          <p:nvPr/>
        </p:nvSpPr>
        <p:spPr>
          <a:xfrm>
            <a:off x="7452360" y="416052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80%</a:t>
            </a:r>
            <a:endParaRPr lang="en-US" sz="4000" dirty="0"/>
          </a:p>
        </p:txBody>
      </p:sp>
      <p:sp>
        <p:nvSpPr>
          <p:cNvPr id="25" name="Text 21"/>
          <p:cNvSpPr/>
          <p:nvPr/>
        </p:nvSpPr>
        <p:spPr>
          <a:xfrm>
            <a:off x="8778240" y="416052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AI-assisted lesson planning</a:t>
            </a:r>
            <a:endParaRPr lang="en-US" sz="1100" dirty="0"/>
          </a:p>
        </p:txBody>
      </p:sp>
      <p:sp>
        <p:nvSpPr>
          <p:cNvPr id="26" name="Shape 22"/>
          <p:cNvSpPr/>
          <p:nvPr/>
        </p:nvSpPr>
        <p:spPr>
          <a:xfrm>
            <a:off x="1417320" y="5394960"/>
            <a:ext cx="9509760" cy="502920"/>
          </a:xfrm>
          <a:prstGeom prst="rect">
            <a:avLst/>
          </a:prstGeom>
          <a:solidFill>
            <a:srgbClr val="1E1208"/>
          </a:solidFill>
          <a:ln/>
        </p:spPr>
      </p:sp>
      <p:sp>
        <p:nvSpPr>
          <p:cNvPr id="27" name="Text 23"/>
          <p:cNvSpPr/>
          <p:nvPr/>
        </p:nvSpPr>
        <p:spPr>
          <a:xfrm>
            <a:off x="1600200" y="539496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28" name="Text 2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PLATFORM, THREE PRODUCTS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Set, sit, mark and understand tests and exams in one secure record. Teachers save time on marking, students see exactly what to work on, and leaders see how every class and department is doing.</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AI help you always review</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Mark automatically, with AI-suggested essay marks you decide on</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See what the class missed 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D4762A"/>
          </a:solidFill>
          <a:ln/>
        </p:spPr>
      </p:sp>
      <p:sp>
        <p:nvSpPr>
          <p:cNvPr id="19" name="Text 16"/>
          <p:cNvSpPr/>
          <p:nvPr/>
        </p:nvSpPr>
        <p:spPr>
          <a:xfrm>
            <a:off x="16002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96596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D4762A"/>
          </a:solidFill>
          <a:ln/>
        </p:spPr>
      </p:sp>
      <p:sp>
        <p:nvSpPr>
          <p:cNvPr id="23" name="Text 20"/>
          <p:cNvSpPr/>
          <p:nvPr/>
        </p:nvSpPr>
        <p:spPr>
          <a:xfrm>
            <a:off x="48006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96596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D4762A"/>
          </a:solidFill>
          <a:ln/>
        </p:spPr>
      </p:sp>
      <p:sp>
        <p:nvSpPr>
          <p:cNvPr id="27" name="Text 24"/>
          <p:cNvSpPr/>
          <p:nvPr/>
        </p:nvSpPr>
        <p:spPr>
          <a:xfrm>
            <a:off x="80010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393192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931920"/>
            <a:ext cx="3017520" cy="109728"/>
          </a:xfrm>
          <a:prstGeom prst="rect">
            <a:avLst/>
          </a:prstGeom>
          <a:solidFill>
            <a:srgbClr val="D4762A"/>
          </a:solidFill>
          <a:ln/>
        </p:spPr>
      </p:sp>
      <p:sp>
        <p:nvSpPr>
          <p:cNvPr id="31" name="Text 28"/>
          <p:cNvSpPr/>
          <p:nvPr/>
        </p:nvSpPr>
        <p:spPr>
          <a:xfrm>
            <a:off x="16002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93192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931920"/>
            <a:ext cx="3017520" cy="109728"/>
          </a:xfrm>
          <a:prstGeom prst="rect">
            <a:avLst/>
          </a:prstGeom>
          <a:solidFill>
            <a:srgbClr val="D4762A"/>
          </a:solidFill>
          <a:ln/>
        </p:spPr>
      </p:sp>
      <p:sp>
        <p:nvSpPr>
          <p:cNvPr id="35" name="Text 32"/>
          <p:cNvSpPr/>
          <p:nvPr/>
        </p:nvSpPr>
        <p:spPr>
          <a:xfrm>
            <a:off x="48006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93192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931920"/>
            <a:ext cx="3017520" cy="109728"/>
          </a:xfrm>
          <a:prstGeom prst="rect">
            <a:avLst/>
          </a:prstGeom>
          <a:solidFill>
            <a:srgbClr val="D4762A"/>
          </a:solidFill>
          <a:ln/>
        </p:spPr>
      </p:sp>
      <p:sp>
        <p:nvSpPr>
          <p:cNvPr id="39" name="Text 36"/>
          <p:cNvSpPr/>
          <p:nvPr/>
        </p:nvSpPr>
        <p:spPr>
          <a:xfrm>
            <a:off x="80010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943600"/>
            <a:ext cx="9509760" cy="502920"/>
          </a:xfrm>
          <a:prstGeom prst="rect">
            <a:avLst/>
          </a:prstGeom>
          <a:solidFill>
            <a:srgbClr val="1E1208"/>
          </a:solidFill>
          <a:ln/>
        </p:spPr>
      </p:sp>
      <p:sp>
        <p:nvSpPr>
          <p:cNvPr id="42" name="Text 3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80% of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60350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(80%) and what mistakes are common (70%).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FAIR, SECURE AND SUPPORTIVE OF EACH STUDENT'S ACCESSIBILITY</a:t>
            </a:r>
            <a:endParaRPr lang="en-US" sz="3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943600"/>
            <a:ext cx="9509760" cy="502920"/>
          </a:xfrm>
          <a:prstGeom prst="rect">
            <a:avLst/>
          </a:prstGeom>
          <a:solidFill>
            <a:srgbClr val="1E1208"/>
          </a:solidFill>
          <a:ln/>
        </p:spPr>
      </p:sp>
      <p:sp>
        <p:nvSpPr>
          <p:cNvPr id="32" name="Text 2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Lessons, lesson plans, catch-up and study support that act on what Smart Assess finds. Students get a clear path back in after a missed lesson, and teachers plan faster with AI help they always review.</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Five-step lessons with checks at three levels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20040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20040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20040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66344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66344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66344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Also in Smart Learning: weekly class feedback, student support and videos (next slides). For learning only; it does not make or mark assessments.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DOK: HOW DEEPLY STUDENTS THINK</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55648"/>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Every lesson plan has a general objective, specific objectives and a DOK level from 1 to 4.</a:t>
            </a:r>
            <a:endParaRPr lang="en-US" sz="1500" dirty="0"/>
          </a:p>
        </p:txBody>
      </p:sp>
      <p:sp>
        <p:nvSpPr>
          <p:cNvPr id="18" name="Shape 15"/>
          <p:cNvSpPr/>
          <p:nvPr/>
        </p:nvSpPr>
        <p:spPr>
          <a:xfrm>
            <a:off x="1417320" y="2834640"/>
            <a:ext cx="2240280" cy="2788920"/>
          </a:xfrm>
          <a:prstGeom prst="rect">
            <a:avLst/>
          </a:prstGeom>
          <a:solidFill>
            <a:srgbClr val="FFFFFF"/>
          </a:solidFill>
          <a:ln w="25400">
            <a:solidFill>
              <a:srgbClr val="1E1208"/>
            </a:solidFill>
            <a:prstDash val="solid"/>
          </a:ln>
        </p:spPr>
      </p:sp>
      <p:sp>
        <p:nvSpPr>
          <p:cNvPr id="19" name="Shape 16"/>
          <p:cNvSpPr/>
          <p:nvPr/>
        </p:nvSpPr>
        <p:spPr>
          <a:xfrm>
            <a:off x="1417320" y="2834640"/>
            <a:ext cx="2240280" cy="731520"/>
          </a:xfrm>
          <a:prstGeom prst="rect">
            <a:avLst/>
          </a:prstGeom>
          <a:solidFill>
            <a:srgbClr val="FBE9D6"/>
          </a:solidFill>
          <a:ln w="25400">
            <a:solidFill>
              <a:srgbClr val="1E1208"/>
            </a:solidFill>
            <a:prstDash val="solid"/>
          </a:ln>
        </p:spPr>
      </p:sp>
      <p:sp>
        <p:nvSpPr>
          <p:cNvPr id="20" name="Text 17"/>
          <p:cNvSpPr/>
          <p:nvPr/>
        </p:nvSpPr>
        <p:spPr>
          <a:xfrm>
            <a:off x="1554480" y="283464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1</a:t>
            </a:r>
            <a:endParaRPr lang="en-US" sz="2600" dirty="0"/>
          </a:p>
        </p:txBody>
      </p:sp>
      <p:sp>
        <p:nvSpPr>
          <p:cNvPr id="21" name="Text 18"/>
          <p:cNvSpPr/>
          <p:nvPr/>
        </p:nvSpPr>
        <p:spPr>
          <a:xfrm>
            <a:off x="1554480" y="367588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RECALL</a:t>
            </a:r>
            <a:endParaRPr lang="en-US" sz="1800" dirty="0"/>
          </a:p>
        </p:txBody>
      </p:sp>
      <p:sp>
        <p:nvSpPr>
          <p:cNvPr id="22" name="Text 19"/>
          <p:cNvSpPr/>
          <p:nvPr/>
        </p:nvSpPr>
        <p:spPr>
          <a:xfrm>
            <a:off x="1554480" y="409651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Remember a fact, a term or a step.</a:t>
            </a:r>
            <a:endParaRPr lang="en-US" sz="1150" dirty="0"/>
          </a:p>
        </p:txBody>
      </p:sp>
      <p:sp>
        <p:nvSpPr>
          <p:cNvPr id="23" name="Text 20"/>
          <p:cNvSpPr/>
          <p:nvPr/>
        </p:nvSpPr>
        <p:spPr>
          <a:xfrm>
            <a:off x="1554480"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24" name="Text 21"/>
          <p:cNvSpPr/>
          <p:nvPr/>
        </p:nvSpPr>
        <p:spPr>
          <a:xfrm>
            <a:off x="1554480"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State the formula for simple interest.</a:t>
            </a:r>
            <a:endParaRPr lang="en-US" sz="1100" dirty="0"/>
          </a:p>
        </p:txBody>
      </p:sp>
      <p:sp>
        <p:nvSpPr>
          <p:cNvPr id="25" name="Shape 22"/>
          <p:cNvSpPr/>
          <p:nvPr/>
        </p:nvSpPr>
        <p:spPr>
          <a:xfrm>
            <a:off x="3813048" y="2697480"/>
            <a:ext cx="2240280" cy="2926080"/>
          </a:xfrm>
          <a:prstGeom prst="rect">
            <a:avLst/>
          </a:prstGeom>
          <a:solidFill>
            <a:srgbClr val="FFFFFF"/>
          </a:solidFill>
          <a:ln w="25400">
            <a:solidFill>
              <a:srgbClr val="1E1208"/>
            </a:solidFill>
            <a:prstDash val="solid"/>
          </a:ln>
        </p:spPr>
      </p:sp>
      <p:sp>
        <p:nvSpPr>
          <p:cNvPr id="26" name="Shape 23"/>
          <p:cNvSpPr/>
          <p:nvPr/>
        </p:nvSpPr>
        <p:spPr>
          <a:xfrm>
            <a:off x="3813048" y="2697480"/>
            <a:ext cx="2240280" cy="731520"/>
          </a:xfrm>
          <a:prstGeom prst="rect">
            <a:avLst/>
          </a:prstGeom>
          <a:solidFill>
            <a:srgbClr val="E3B51E"/>
          </a:solidFill>
          <a:ln w="25400">
            <a:solidFill>
              <a:srgbClr val="1E1208"/>
            </a:solidFill>
            <a:prstDash val="solid"/>
          </a:ln>
        </p:spPr>
      </p:sp>
      <p:sp>
        <p:nvSpPr>
          <p:cNvPr id="27" name="Text 24"/>
          <p:cNvSpPr/>
          <p:nvPr/>
        </p:nvSpPr>
        <p:spPr>
          <a:xfrm>
            <a:off x="3950208" y="269748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2</a:t>
            </a:r>
            <a:endParaRPr lang="en-US" sz="2600" dirty="0"/>
          </a:p>
        </p:txBody>
      </p:sp>
      <p:sp>
        <p:nvSpPr>
          <p:cNvPr id="28" name="Text 25"/>
          <p:cNvSpPr/>
          <p:nvPr/>
        </p:nvSpPr>
        <p:spPr>
          <a:xfrm>
            <a:off x="3950208" y="353872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SKILL</a:t>
            </a:r>
            <a:endParaRPr lang="en-US" sz="1800" dirty="0"/>
          </a:p>
        </p:txBody>
      </p:sp>
      <p:sp>
        <p:nvSpPr>
          <p:cNvPr id="29" name="Text 26"/>
          <p:cNvSpPr/>
          <p:nvPr/>
        </p:nvSpPr>
        <p:spPr>
          <a:xfrm>
            <a:off x="3950208" y="395935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Use a method on a familiar problem.</a:t>
            </a:r>
            <a:endParaRPr lang="en-US" sz="1150" dirty="0"/>
          </a:p>
        </p:txBody>
      </p:sp>
      <p:sp>
        <p:nvSpPr>
          <p:cNvPr id="30" name="Text 27"/>
          <p:cNvSpPr/>
          <p:nvPr/>
        </p:nvSpPr>
        <p:spPr>
          <a:xfrm>
            <a:off x="3950208"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1" name="Text 28"/>
          <p:cNvSpPr/>
          <p:nvPr/>
        </p:nvSpPr>
        <p:spPr>
          <a:xfrm>
            <a:off x="3950208"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Find the interest on J$20,000 saved for 2 years at 5%.</a:t>
            </a:r>
            <a:endParaRPr lang="en-US" sz="1100" dirty="0"/>
          </a:p>
        </p:txBody>
      </p:sp>
      <p:sp>
        <p:nvSpPr>
          <p:cNvPr id="32" name="Shape 29"/>
          <p:cNvSpPr/>
          <p:nvPr/>
        </p:nvSpPr>
        <p:spPr>
          <a:xfrm>
            <a:off x="6208776" y="2560320"/>
            <a:ext cx="2240280" cy="3063240"/>
          </a:xfrm>
          <a:prstGeom prst="rect">
            <a:avLst/>
          </a:prstGeom>
          <a:solidFill>
            <a:srgbClr val="FFFFFF"/>
          </a:solidFill>
          <a:ln w="25400">
            <a:solidFill>
              <a:srgbClr val="1E1208"/>
            </a:solidFill>
            <a:prstDash val="solid"/>
          </a:ln>
        </p:spPr>
      </p:sp>
      <p:sp>
        <p:nvSpPr>
          <p:cNvPr id="33" name="Shape 30"/>
          <p:cNvSpPr/>
          <p:nvPr/>
        </p:nvSpPr>
        <p:spPr>
          <a:xfrm>
            <a:off x="6208776" y="2560320"/>
            <a:ext cx="2240280" cy="731520"/>
          </a:xfrm>
          <a:prstGeom prst="rect">
            <a:avLst/>
          </a:prstGeom>
          <a:solidFill>
            <a:srgbClr val="D4762A"/>
          </a:solidFill>
          <a:ln w="25400">
            <a:solidFill>
              <a:srgbClr val="1E1208"/>
            </a:solidFill>
            <a:prstDash val="solid"/>
          </a:ln>
        </p:spPr>
      </p:sp>
      <p:sp>
        <p:nvSpPr>
          <p:cNvPr id="34" name="Text 31"/>
          <p:cNvSpPr/>
          <p:nvPr/>
        </p:nvSpPr>
        <p:spPr>
          <a:xfrm>
            <a:off x="6345936" y="256032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1E1208"/>
                </a:solidFill>
                <a:latin typeface="Impact" pitchFamily="34" charset="0"/>
                <a:ea typeface="Impact" pitchFamily="34" charset="-122"/>
                <a:cs typeface="Impact" pitchFamily="34" charset="-120"/>
              </a:rPr>
              <a:t>LEVEL 3</a:t>
            </a:r>
            <a:endParaRPr lang="en-US" sz="2600" dirty="0"/>
          </a:p>
        </p:txBody>
      </p:sp>
      <p:sp>
        <p:nvSpPr>
          <p:cNvPr id="35" name="Text 32"/>
          <p:cNvSpPr/>
          <p:nvPr/>
        </p:nvSpPr>
        <p:spPr>
          <a:xfrm>
            <a:off x="6345936" y="340156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REASONING</a:t>
            </a:r>
            <a:endParaRPr lang="en-US" sz="1800" dirty="0"/>
          </a:p>
        </p:txBody>
      </p:sp>
      <p:sp>
        <p:nvSpPr>
          <p:cNvPr id="36" name="Text 33"/>
          <p:cNvSpPr/>
          <p:nvPr/>
        </p:nvSpPr>
        <p:spPr>
          <a:xfrm>
            <a:off x="6345936" y="382219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Explain why, compare, and justify an answer.</a:t>
            </a:r>
            <a:endParaRPr lang="en-US" sz="1150" dirty="0"/>
          </a:p>
        </p:txBody>
      </p:sp>
      <p:sp>
        <p:nvSpPr>
          <p:cNvPr id="37" name="Text 34"/>
          <p:cNvSpPr/>
          <p:nvPr/>
        </p:nvSpPr>
        <p:spPr>
          <a:xfrm>
            <a:off x="6345936"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38" name="Text 35"/>
          <p:cNvSpPr/>
          <p:nvPr/>
        </p:nvSpPr>
        <p:spPr>
          <a:xfrm>
            <a:off x="6345936"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Compare two savings accounts and justify the better one for a student.</a:t>
            </a:r>
            <a:endParaRPr lang="en-US" sz="1100" dirty="0"/>
          </a:p>
        </p:txBody>
      </p:sp>
      <p:sp>
        <p:nvSpPr>
          <p:cNvPr id="39" name="Shape 36"/>
          <p:cNvSpPr/>
          <p:nvPr/>
        </p:nvSpPr>
        <p:spPr>
          <a:xfrm>
            <a:off x="8604504" y="2423160"/>
            <a:ext cx="2240280" cy="3200400"/>
          </a:xfrm>
          <a:prstGeom prst="rect">
            <a:avLst/>
          </a:prstGeom>
          <a:solidFill>
            <a:srgbClr val="FFFFFF"/>
          </a:solidFill>
          <a:ln w="25400">
            <a:solidFill>
              <a:srgbClr val="1E1208"/>
            </a:solidFill>
            <a:prstDash val="solid"/>
          </a:ln>
        </p:spPr>
      </p:sp>
      <p:sp>
        <p:nvSpPr>
          <p:cNvPr id="40" name="Shape 37"/>
          <p:cNvSpPr/>
          <p:nvPr/>
        </p:nvSpPr>
        <p:spPr>
          <a:xfrm>
            <a:off x="8604504" y="2423160"/>
            <a:ext cx="2240280" cy="731520"/>
          </a:xfrm>
          <a:prstGeom prst="rect">
            <a:avLst/>
          </a:prstGeom>
          <a:solidFill>
            <a:srgbClr val="1E1208"/>
          </a:solidFill>
          <a:ln w="25400">
            <a:solidFill>
              <a:srgbClr val="1E1208"/>
            </a:solidFill>
            <a:prstDash val="solid"/>
          </a:ln>
        </p:spPr>
      </p:sp>
      <p:sp>
        <p:nvSpPr>
          <p:cNvPr id="41" name="Text 38"/>
          <p:cNvSpPr/>
          <p:nvPr/>
        </p:nvSpPr>
        <p:spPr>
          <a:xfrm>
            <a:off x="8741664" y="2423160"/>
            <a:ext cx="2011680" cy="731520"/>
          </a:xfrm>
          <a:prstGeom prst="rect">
            <a:avLst/>
          </a:prstGeom>
          <a:noFill/>
          <a:ln/>
        </p:spPr>
        <p:txBody>
          <a:bodyPr wrap="square" lIns="0" tIns="0" rIns="0" bIns="0" rtlCol="0" anchor="ctr"/>
          <a:lstStyle/>
          <a:p>
            <a:pPr algn="l" indent="0" marL="0">
              <a:lnSpc>
                <a:spcPct val="110000"/>
              </a:lnSpc>
              <a:buNone/>
            </a:pPr>
            <a:r>
              <a:rPr lang="en-US" sz="2600" dirty="0">
                <a:solidFill>
                  <a:srgbClr val="FFFFFF"/>
                </a:solidFill>
                <a:latin typeface="Impact" pitchFamily="34" charset="0"/>
                <a:ea typeface="Impact" pitchFamily="34" charset="-122"/>
                <a:cs typeface="Impact" pitchFamily="34" charset="-120"/>
              </a:rPr>
              <a:t>LEVEL 4</a:t>
            </a:r>
            <a:endParaRPr lang="en-US" sz="2600" dirty="0"/>
          </a:p>
        </p:txBody>
      </p:sp>
      <p:sp>
        <p:nvSpPr>
          <p:cNvPr id="42" name="Text 39"/>
          <p:cNvSpPr/>
          <p:nvPr/>
        </p:nvSpPr>
        <p:spPr>
          <a:xfrm>
            <a:off x="8741664" y="3264408"/>
            <a:ext cx="201168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EXTENDED THINKING</a:t>
            </a:r>
            <a:endParaRPr lang="en-US" sz="1800" dirty="0"/>
          </a:p>
        </p:txBody>
      </p:sp>
      <p:sp>
        <p:nvSpPr>
          <p:cNvPr id="43" name="Text 40"/>
          <p:cNvSpPr/>
          <p:nvPr/>
        </p:nvSpPr>
        <p:spPr>
          <a:xfrm>
            <a:off x="8741664" y="3685032"/>
            <a:ext cx="2011680" cy="685800"/>
          </a:xfrm>
          <a:prstGeom prst="rect">
            <a:avLst/>
          </a:prstGeom>
          <a:noFill/>
          <a:ln/>
        </p:spPr>
        <p:txBody>
          <a:bodyPr wrap="square" lIns="0" tIns="0" rIns="0" bIns="0" rtlCol="0" anchor="t"/>
          <a:lstStyle/>
          <a:p>
            <a:pPr algn="l" indent="0" marL="0">
              <a:lnSpc>
                <a:spcPct val="110000"/>
              </a:lnSpc>
              <a:buNone/>
            </a:pPr>
            <a:r>
              <a:rPr lang="en-US" sz="1150" b="1" dirty="0">
                <a:solidFill>
                  <a:srgbClr val="1E1208"/>
                </a:solidFill>
                <a:latin typeface="Arial" pitchFamily="34" charset="0"/>
                <a:ea typeface="Arial" pitchFamily="34" charset="-122"/>
                <a:cs typeface="Arial" pitchFamily="34" charset="-120"/>
              </a:rPr>
              <a:t>Investigate a real problem over days or weeks.</a:t>
            </a:r>
            <a:endParaRPr lang="en-US" sz="1150" dirty="0"/>
          </a:p>
        </p:txBody>
      </p:sp>
      <p:sp>
        <p:nvSpPr>
          <p:cNvPr id="44" name="Text 41"/>
          <p:cNvSpPr/>
          <p:nvPr/>
        </p:nvSpPr>
        <p:spPr>
          <a:xfrm>
            <a:off x="8741664" y="4526280"/>
            <a:ext cx="2011680" cy="228600"/>
          </a:xfrm>
          <a:prstGeom prst="rect">
            <a:avLst/>
          </a:prstGeom>
          <a:noFill/>
          <a:ln/>
        </p:spPr>
        <p:txBody>
          <a:bodyPr wrap="square" lIns="0" tIns="0" rIns="0" bIns="0" rtlCol="0" anchor="t"/>
          <a:lstStyle/>
          <a:p>
            <a:pPr algn="l" indent="0" marL="0">
              <a:lnSpc>
                <a:spcPct val="110000"/>
              </a:lnSpc>
              <a:buNone/>
            </a:pPr>
            <a:r>
              <a:rPr lang="en-US" sz="950" b="1" spc="200" kern="0" dirty="0">
                <a:solidFill>
                  <a:srgbClr val="8A7A62"/>
                </a:solidFill>
                <a:latin typeface="Courier New" pitchFamily="34" charset="0"/>
                <a:ea typeface="Courier New" pitchFamily="34" charset="-122"/>
                <a:cs typeface="Courier New" pitchFamily="34" charset="-120"/>
              </a:rPr>
              <a:t>EXAMPLE</a:t>
            </a:r>
            <a:endParaRPr lang="en-US" sz="950" dirty="0"/>
          </a:p>
        </p:txBody>
      </p:sp>
      <p:sp>
        <p:nvSpPr>
          <p:cNvPr id="45" name="Text 42"/>
          <p:cNvSpPr/>
          <p:nvPr/>
        </p:nvSpPr>
        <p:spPr>
          <a:xfrm>
            <a:off x="8741664" y="4754880"/>
            <a:ext cx="2011680" cy="822960"/>
          </a:xfrm>
          <a:prstGeom prst="rect">
            <a:avLst/>
          </a:prstGeom>
          <a:noFill/>
          <a:ln/>
        </p:spPr>
        <p:txBody>
          <a:bodyPr wrap="square" lIns="0" tIns="0" rIns="0" bIns="0" rtlCol="0" anchor="t"/>
          <a:lstStyle/>
          <a:p>
            <a:pPr algn="l" indent="0" marL="0">
              <a:lnSpc>
                <a:spcPct val="110000"/>
              </a:lnSpc>
              <a:buNone/>
            </a:pPr>
            <a:r>
              <a:rPr lang="en-US" sz="1100" i="1" dirty="0">
                <a:solidFill>
                  <a:srgbClr val="555555"/>
                </a:solidFill>
                <a:latin typeface="Arial" pitchFamily="34" charset="0"/>
                <a:ea typeface="Arial" pitchFamily="34" charset="-122"/>
                <a:cs typeface="Arial" pitchFamily="34" charset="-120"/>
              </a:rPr>
              <a:t>Plan and present a savings goal for a class trip, using real bank rates.</a:t>
            </a:r>
            <a:endParaRPr lang="en-US" sz="1100" dirty="0"/>
          </a:p>
        </p:txBody>
      </p:sp>
      <p:sp>
        <p:nvSpPr>
          <p:cNvPr id="46" name="Shape 43"/>
          <p:cNvSpPr/>
          <p:nvPr/>
        </p:nvSpPr>
        <p:spPr>
          <a:xfrm>
            <a:off x="1417320" y="5989320"/>
            <a:ext cx="9509760" cy="502920"/>
          </a:xfrm>
          <a:prstGeom prst="rect">
            <a:avLst/>
          </a:prstGeom>
          <a:solidFill>
            <a:srgbClr val="1E1208"/>
          </a:solidFill>
          <a:ln/>
        </p:spPr>
      </p:sp>
      <p:sp>
        <p:nvSpPr>
          <p:cNvPr id="47" name="Text 44"/>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The AI suggests a level. The teacher reviews it and can change it. Aim for a mix, not all level 4.</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WHEN A STUDENT MISSES THREE DAYS</a:t>
            </a:r>
            <a:endParaRPr lang="en-US" sz="43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874520"/>
            <a:ext cx="4754880" cy="3977640"/>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943600"/>
            <a:ext cx="9509760" cy="502920"/>
          </a:xfrm>
          <a:prstGeom prst="rect">
            <a:avLst/>
          </a:prstGeom>
          <a:solidFill>
            <a:srgbClr val="1E1208"/>
          </a:solidFill>
          <a:ln/>
        </p:spPr>
      </p:sp>
      <p:sp>
        <p:nvSpPr>
          <p:cNvPr id="35" name="Text 31"/>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58% of students chose flashcards. 90% of teachers asked for activities at different ability levels.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algn="l" indent="0" marL="0">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anonymous and shown only when 5 or more students have answered. The principal team sees anonymous results.</a:t>
            </a:r>
            <a:endParaRPr lang="en-US" sz="1300" dirty="0"/>
          </a:p>
        </p:txBody>
      </p:sp>
      <p:sp>
        <p:nvSpPr>
          <p:cNvPr id="35" name="Shape 32"/>
          <p:cNvSpPr/>
          <p:nvPr/>
        </p:nvSpPr>
        <p:spPr>
          <a:xfrm>
            <a:off x="1417320" y="5989320"/>
            <a:ext cx="9509760" cy="502920"/>
          </a:xfrm>
          <a:prstGeom prst="rect">
            <a:avLst/>
          </a:prstGeom>
          <a:solidFill>
            <a:srgbClr val="1E1208"/>
          </a:solidFill>
          <a:ln/>
        </p:spPr>
      </p:sp>
      <p:sp>
        <p:nvSpPr>
          <p:cNvPr id="36" name="Text 33"/>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algn="l" indent="0" marL="0">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Students never see the staff list, a plan or the school average.</a:t>
            </a:r>
            <a:endParaRPr lang="en-US" sz="1350" dirty="0"/>
          </a:p>
        </p:txBody>
      </p:sp>
      <p:sp>
        <p:nvSpPr>
          <p:cNvPr id="35" name="Text 32"/>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For staff to act on, never to label students. The school average appears only once 5 or more students have results.</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VIDEOS YOUR TEACHERS 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 Wifi was raised unprompted, so low-data mode is built in.</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THE LIBRARY: READ IT, LISTEN TO 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989320"/>
            <a:ext cx="9509760" cy="502920"/>
          </a:xfrm>
          <a:prstGeom prst="rect">
            <a:avLst/>
          </a:prstGeom>
          <a:solidFill>
            <a:srgbClr val="1E1208"/>
          </a:solidFill>
          <a:ln/>
        </p:spPr>
      </p:sp>
      <p:sp>
        <p:nvSpPr>
          <p:cNvPr id="41" name="Text 38"/>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Quick classroom games and challenges that make practice something students want to do. Games and exams are kept apart: Smart Play never holds a school's official results.</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852160"/>
            <a:ext cx="9509760" cy="502920"/>
          </a:xfrm>
          <a:prstGeom prst="rect">
            <a:avLst/>
          </a:prstGeom>
          <a:solidFill>
            <a:srgbClr val="1E1208"/>
          </a:solidFill>
          <a:ln/>
        </p:spPr>
      </p:sp>
      <p:sp>
        <p:nvSpPr>
          <p:cNvPr id="42" name="Text 39"/>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097280" y="36576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a:t>
            </a:r>
            <a:pPr indent="0" marL="0">
              <a:buNone/>
            </a:pPr>
            <a:r>
              <a:rPr lang="en-US" sz="1150" b="1" spc="300" kern="0" dirty="0">
                <a:solidFill>
                  <a:srgbClr val="D4762A"/>
                </a:solidFill>
                <a:latin typeface="Courier New" pitchFamily="34" charset="0"/>
                <a:ea typeface="Courier New" pitchFamily="34" charset="-122"/>
                <a:cs typeface="Courier New" pitchFamily="34" charset="-120"/>
              </a:rPr>
              <a:t>DIFFERENCE</a:t>
            </a:r>
            <a:endParaRPr lang="en-US" sz="1150" dirty="0"/>
          </a:p>
        </p:txBody>
      </p:sp>
      <p:sp>
        <p:nvSpPr>
          <p:cNvPr id="14" name="Text 11"/>
          <p:cNvSpPr/>
          <p:nvPr/>
        </p:nvSpPr>
        <p:spPr>
          <a:xfrm>
            <a:off x="1097280" y="658368"/>
            <a:ext cx="10058400" cy="1234440"/>
          </a:xfrm>
          <a:prstGeom prst="rect">
            <a:avLst/>
          </a:prstGeom>
          <a:noFill/>
          <a:ln/>
        </p:spPr>
        <p:txBody>
          <a:bodyPr wrap="square" lIns="0" tIns="0" rIns="0" bIns="0" rtlCol="0" anchor="t"/>
          <a:lstStyle/>
          <a:p>
            <a:pPr indent="0" marL="0">
              <a:lnSpc>
                <a:spcPct val="92000"/>
              </a:lnSpc>
              <a:buNone/>
            </a:pPr>
            <a:r>
              <a:rPr lang="en-US" sz="4600" dirty="0">
                <a:solidFill>
                  <a:srgbClr val="1E1208"/>
                </a:solidFill>
                <a:latin typeface="Impact" pitchFamily="34" charset="0"/>
                <a:ea typeface="Impact" pitchFamily="34" charset="-122"/>
                <a:cs typeface="Impact" pitchFamily="34" charset="-120"/>
              </a:rPr>
              <a:t>ONE CONNECTED SYSTEM,</a:t>
            </a:r>
            <a:endParaRPr lang="en-US" sz="4600" dirty="0"/>
          </a:p>
          <a:p>
            <a:pPr indent="0" marL="0">
              <a:lnSpc>
                <a:spcPct val="92000"/>
              </a:lnSpc>
              <a:buNone/>
            </a:pPr>
            <a:r>
              <a:rPr lang="en-US" sz="4600" dirty="0">
                <a:solidFill>
                  <a:srgbClr val="D4762A"/>
                </a:solidFill>
                <a:latin typeface="Impact" pitchFamily="34" charset="0"/>
                <a:ea typeface="Impact" pitchFamily="34" charset="-122"/>
                <a:cs typeface="Impact" pitchFamily="34" charset="-120"/>
              </a:rPr>
              <a:t>NOT A STACK OF TOOLS.</a:t>
            </a:r>
            <a:endParaRPr lang="en-US" sz="4600" dirty="0"/>
          </a:p>
        </p:txBody>
      </p:sp>
      <p:sp>
        <p:nvSpPr>
          <p:cNvPr id="15" name="Text 12"/>
          <p:cNvSpPr/>
          <p:nvPr/>
        </p:nvSpPr>
        <p:spPr>
          <a:xfrm>
            <a:off x="1097280" y="1965960"/>
            <a:ext cx="10058400" cy="548640"/>
          </a:xfrm>
          <a:prstGeom prst="rect">
            <a:avLst/>
          </a:prstGeom>
          <a:noFill/>
          <a:ln/>
        </p:spPr>
        <p:txBody>
          <a:bodyPr wrap="square" lIns="0" tIns="0" rIns="0" bIns="0" rtlCol="0" anchor="t"/>
          <a:lstStyle/>
          <a:p>
            <a:pPr algn="l" indent="0" marL="0">
              <a:lnSpc>
                <a:spcPct val="110000"/>
              </a:lnSpc>
              <a:buNone/>
            </a:pPr>
            <a:r>
              <a:rPr lang="en-US" sz="1350" dirty="0">
                <a:solidFill>
                  <a:srgbClr val="555555"/>
                </a:solidFill>
                <a:latin typeface="Arial" pitchFamily="34" charset="0"/>
                <a:ea typeface="Arial" pitchFamily="34" charset="-122"/>
                <a:cs typeface="Arial" pitchFamily="34" charset="-120"/>
              </a:rPr>
              <a:t>Many schools use different tools for different jobs. Smart Assess Ja brings assessment, learning and practice together in one platform, with one login, one set of people and one topic list.</a:t>
            </a:r>
            <a:endParaRPr lang="en-US" sz="1350" dirty="0"/>
          </a:p>
        </p:txBody>
      </p:sp>
      <p:sp>
        <p:nvSpPr>
          <p:cNvPr id="16" name="Shape 13"/>
          <p:cNvSpPr/>
          <p:nvPr/>
        </p:nvSpPr>
        <p:spPr>
          <a:xfrm>
            <a:off x="1097280" y="2606040"/>
            <a:ext cx="4937760" cy="3291840"/>
          </a:xfrm>
          <a:prstGeom prst="rect">
            <a:avLst/>
          </a:prstGeom>
          <a:solidFill>
            <a:srgbClr val="FFFFFF"/>
          </a:solidFill>
          <a:ln w="25400">
            <a:solidFill>
              <a:srgbClr val="1E1208"/>
            </a:solidFill>
            <a:prstDash val="solid"/>
          </a:ln>
        </p:spPr>
      </p:sp>
      <p:sp>
        <p:nvSpPr>
          <p:cNvPr id="17" name="Shape 14"/>
          <p:cNvSpPr/>
          <p:nvPr/>
        </p:nvSpPr>
        <p:spPr>
          <a:xfrm>
            <a:off x="1097280" y="2606040"/>
            <a:ext cx="4937760" cy="713232"/>
          </a:xfrm>
          <a:prstGeom prst="rect">
            <a:avLst/>
          </a:prstGeom>
          <a:solidFill>
            <a:srgbClr val="EDE5DC"/>
          </a:solidFill>
          <a:ln w="25400">
            <a:solidFill>
              <a:srgbClr val="1E1208"/>
            </a:solidFill>
            <a:prstDash val="solid"/>
          </a:ln>
        </p:spPr>
      </p:sp>
      <p:sp>
        <p:nvSpPr>
          <p:cNvPr id="18" name="Text 15"/>
          <p:cNvSpPr/>
          <p:nvPr/>
        </p:nvSpPr>
        <p:spPr>
          <a:xfrm>
            <a:off x="1325880" y="2660904"/>
            <a:ext cx="4572000" cy="36576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Impact" pitchFamily="34" charset="0"/>
                <a:ea typeface="Impact" pitchFamily="34" charset="-122"/>
                <a:cs typeface="Impact" pitchFamily="34" charset="-120"/>
              </a:rPr>
              <a:t>MOST SCHOOLS TODAY</a:t>
            </a:r>
            <a:endParaRPr lang="en-US" sz="2100" dirty="0"/>
          </a:p>
        </p:txBody>
      </p:sp>
      <p:sp>
        <p:nvSpPr>
          <p:cNvPr id="19" name="Text 16"/>
          <p:cNvSpPr/>
          <p:nvPr/>
        </p:nvSpPr>
        <p:spPr>
          <a:xfrm>
            <a:off x="1325880" y="3008376"/>
            <a:ext cx="4572000" cy="274320"/>
          </a:xfrm>
          <a:prstGeom prst="rect">
            <a:avLst/>
          </a:prstGeom>
          <a:noFill/>
          <a:ln/>
        </p:spPr>
        <p:txBody>
          <a:bodyPr wrap="square" lIns="0" tIns="0" rIns="0" bIns="0" rtlCol="0" anchor="ctr"/>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Different tools. Different logins. Different data.</a:t>
            </a:r>
            <a:endParaRPr lang="en-US" sz="1100" dirty="0"/>
          </a:p>
        </p:txBody>
      </p:sp>
      <p:pic>
        <p:nvPicPr>
          <p:cNvPr id="20" name="Image 0" descr="/Users/boxerboychris/exam-platform/marketing/presentation/assets-v2/compare/l1.png">    </p:cNvPr>
          <p:cNvPicPr>
            <a:picLocks noChangeAspect="1"/>
          </p:cNvPicPr>
          <p:nvPr/>
        </p:nvPicPr>
        <p:blipFill>
          <a:blip r:embed="rId2"/>
          <a:stretch>
            <a:fillRect/>
          </a:stretch>
        </p:blipFill>
        <p:spPr>
          <a:xfrm>
            <a:off x="1280160" y="3394253"/>
            <a:ext cx="493776" cy="493776"/>
          </a:xfrm>
          <a:prstGeom prst="rect">
            <a:avLst/>
          </a:prstGeom>
        </p:spPr>
      </p:pic>
      <p:sp>
        <p:nvSpPr>
          <p:cNvPr id="21" name="Text 17"/>
          <p:cNvSpPr/>
          <p:nvPr/>
        </p:nvSpPr>
        <p:spPr>
          <a:xfrm>
            <a:off x="1920240" y="3383280"/>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Separate tools</a:t>
            </a:r>
            <a:endParaRPr lang="en-US" sz="1250" dirty="0"/>
          </a:p>
        </p:txBody>
      </p:sp>
      <p:sp>
        <p:nvSpPr>
          <p:cNvPr id="22" name="Text 18"/>
          <p:cNvSpPr/>
          <p:nvPr/>
        </p:nvSpPr>
        <p:spPr>
          <a:xfrm>
            <a:off x="1920240" y="3593592"/>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Quizzes, lessons and games are often in different platforms, each with its own login and setup.</a:t>
            </a:r>
            <a:endParaRPr lang="en-US" sz="980" dirty="0"/>
          </a:p>
        </p:txBody>
      </p:sp>
      <p:sp>
        <p:nvSpPr>
          <p:cNvPr id="23" name="Shape 19"/>
          <p:cNvSpPr/>
          <p:nvPr/>
        </p:nvSpPr>
        <p:spPr>
          <a:xfrm>
            <a:off x="1280160" y="3963924"/>
            <a:ext cx="4572000" cy="0"/>
          </a:xfrm>
          <a:prstGeom prst="line">
            <a:avLst/>
          </a:prstGeom>
          <a:noFill/>
          <a:ln w="12700">
            <a:solidFill>
              <a:srgbClr val="E5DDD0"/>
            </a:solidFill>
            <a:prstDash val="solid"/>
          </a:ln>
        </p:spPr>
      </p:sp>
      <p:pic>
        <p:nvPicPr>
          <p:cNvPr id="24" name="Image 1" descr="/Users/boxerboychris/exam-platform/marketing/presentation/assets-v2/compare/l2.png">    </p:cNvPr>
          <p:cNvPicPr>
            <a:picLocks noChangeAspect="1"/>
          </p:cNvPicPr>
          <p:nvPr/>
        </p:nvPicPr>
        <p:blipFill>
          <a:blip r:embed="rId3"/>
          <a:stretch>
            <a:fillRect/>
          </a:stretch>
        </p:blipFill>
        <p:spPr>
          <a:xfrm>
            <a:off x="1280160" y="4039819"/>
            <a:ext cx="493776" cy="493776"/>
          </a:xfrm>
          <a:prstGeom prst="rect">
            <a:avLst/>
          </a:prstGeom>
        </p:spPr>
      </p:pic>
      <p:sp>
        <p:nvSpPr>
          <p:cNvPr id="25" name="Text 20"/>
          <p:cNvSpPr/>
          <p:nvPr/>
        </p:nvSpPr>
        <p:spPr>
          <a:xfrm>
            <a:off x="1920240" y="4027932"/>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Different security</a:t>
            </a:r>
            <a:endParaRPr lang="en-US" sz="1250" dirty="0"/>
          </a:p>
        </p:txBody>
      </p:sp>
      <p:sp>
        <p:nvSpPr>
          <p:cNvPr id="26" name="Text 21"/>
          <p:cNvSpPr/>
          <p:nvPr/>
        </p:nvSpPr>
        <p:spPr>
          <a:xfrm>
            <a:off x="1920240" y="4238244"/>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Each tool has its own lock-down, for example managed Chromebooks, Windows Take a Test app or Safe Exam Browser.</a:t>
            </a:r>
            <a:endParaRPr lang="en-US" sz="980" dirty="0"/>
          </a:p>
        </p:txBody>
      </p:sp>
      <p:sp>
        <p:nvSpPr>
          <p:cNvPr id="27" name="Shape 22"/>
          <p:cNvSpPr/>
          <p:nvPr/>
        </p:nvSpPr>
        <p:spPr>
          <a:xfrm>
            <a:off x="1280160" y="4608576"/>
            <a:ext cx="4572000" cy="0"/>
          </a:xfrm>
          <a:prstGeom prst="line">
            <a:avLst/>
          </a:prstGeom>
          <a:noFill/>
          <a:ln w="12700">
            <a:solidFill>
              <a:srgbClr val="E5DDD0"/>
            </a:solidFill>
            <a:prstDash val="solid"/>
          </a:ln>
        </p:spPr>
      </p:sp>
      <p:pic>
        <p:nvPicPr>
          <p:cNvPr id="28" name="Image 2" descr="/Users/boxerboychris/exam-platform/marketing/presentation/assets-v2/compare/l3.png">    </p:cNvPr>
          <p:cNvPicPr>
            <a:picLocks noChangeAspect="1"/>
          </p:cNvPicPr>
          <p:nvPr/>
        </p:nvPicPr>
        <p:blipFill>
          <a:blip r:embed="rId4"/>
          <a:stretch>
            <a:fillRect/>
          </a:stretch>
        </p:blipFill>
        <p:spPr>
          <a:xfrm>
            <a:off x="1280160" y="4684471"/>
            <a:ext cx="493776" cy="493776"/>
          </a:xfrm>
          <a:prstGeom prst="rect">
            <a:avLst/>
          </a:prstGeom>
        </p:spPr>
      </p:pic>
      <p:sp>
        <p:nvSpPr>
          <p:cNvPr id="29" name="Text 23"/>
          <p:cNvSpPr/>
          <p:nvPr/>
        </p:nvSpPr>
        <p:spPr>
          <a:xfrm>
            <a:off x="1920240" y="4672584"/>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Fragmented results</a:t>
            </a:r>
            <a:endParaRPr lang="en-US" sz="1250" dirty="0"/>
          </a:p>
        </p:txBody>
      </p:sp>
      <p:sp>
        <p:nvSpPr>
          <p:cNvPr id="30" name="Text 24"/>
          <p:cNvSpPr/>
          <p:nvPr/>
        </p:nvSpPr>
        <p:spPr>
          <a:xfrm>
            <a:off x="1920240" y="4882896"/>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Some tools report on each question, others only give a quiz score.</a:t>
            </a:r>
            <a:endParaRPr lang="en-US" sz="980" dirty="0"/>
          </a:p>
        </p:txBody>
      </p:sp>
      <p:sp>
        <p:nvSpPr>
          <p:cNvPr id="31" name="Shape 25"/>
          <p:cNvSpPr/>
          <p:nvPr/>
        </p:nvSpPr>
        <p:spPr>
          <a:xfrm>
            <a:off x="1280160" y="5253228"/>
            <a:ext cx="4572000" cy="0"/>
          </a:xfrm>
          <a:prstGeom prst="line">
            <a:avLst/>
          </a:prstGeom>
          <a:noFill/>
          <a:ln w="12700">
            <a:solidFill>
              <a:srgbClr val="E5DDD0"/>
            </a:solidFill>
            <a:prstDash val="solid"/>
          </a:ln>
        </p:spPr>
      </p:sp>
      <p:pic>
        <p:nvPicPr>
          <p:cNvPr id="32" name="Image 3" descr="/Users/boxerboychris/exam-platform/marketing/presentation/assets-v2/compare/l4.png">    </p:cNvPr>
          <p:cNvPicPr>
            <a:picLocks noChangeAspect="1"/>
          </p:cNvPicPr>
          <p:nvPr/>
        </p:nvPicPr>
        <p:blipFill>
          <a:blip r:embed="rId5"/>
          <a:stretch>
            <a:fillRect/>
          </a:stretch>
        </p:blipFill>
        <p:spPr>
          <a:xfrm>
            <a:off x="1280160" y="5329123"/>
            <a:ext cx="493776" cy="493776"/>
          </a:xfrm>
          <a:prstGeom prst="rect">
            <a:avLst/>
          </a:prstGeom>
        </p:spPr>
      </p:pic>
      <p:sp>
        <p:nvSpPr>
          <p:cNvPr id="33" name="Text 26"/>
          <p:cNvSpPr/>
          <p:nvPr/>
        </p:nvSpPr>
        <p:spPr>
          <a:xfrm>
            <a:off x="1920240" y="5317236"/>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Built for other contexts</a:t>
            </a:r>
            <a:endParaRPr lang="en-US" sz="1250" dirty="0"/>
          </a:p>
        </p:txBody>
      </p:sp>
      <p:sp>
        <p:nvSpPr>
          <p:cNvPr id="34" name="Text 27"/>
          <p:cNvSpPr/>
          <p:nvPr/>
        </p:nvSpPr>
        <p:spPr>
          <a:xfrm>
            <a:off x="1920240" y="5527548"/>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General tools, designed differently by each company.</a:t>
            </a:r>
            <a:endParaRPr lang="en-US" sz="980" dirty="0"/>
          </a:p>
        </p:txBody>
      </p:sp>
      <p:sp>
        <p:nvSpPr>
          <p:cNvPr id="35" name="Shape 28"/>
          <p:cNvSpPr/>
          <p:nvPr/>
        </p:nvSpPr>
        <p:spPr>
          <a:xfrm>
            <a:off x="6217920" y="2606040"/>
            <a:ext cx="4937760" cy="3291840"/>
          </a:xfrm>
          <a:prstGeom prst="rect">
            <a:avLst/>
          </a:prstGeom>
          <a:solidFill>
            <a:srgbClr val="FFFFFF"/>
          </a:solidFill>
          <a:ln w="25400">
            <a:solidFill>
              <a:srgbClr val="D4762A"/>
            </a:solidFill>
            <a:prstDash val="solid"/>
          </a:ln>
        </p:spPr>
      </p:sp>
      <p:sp>
        <p:nvSpPr>
          <p:cNvPr id="36" name="Shape 29"/>
          <p:cNvSpPr/>
          <p:nvPr/>
        </p:nvSpPr>
        <p:spPr>
          <a:xfrm>
            <a:off x="6217920" y="2606040"/>
            <a:ext cx="4937760" cy="713232"/>
          </a:xfrm>
          <a:prstGeom prst="rect">
            <a:avLst/>
          </a:prstGeom>
          <a:solidFill>
            <a:srgbClr val="D4762A"/>
          </a:solidFill>
          <a:ln w="25400">
            <a:solidFill>
              <a:srgbClr val="D4762A"/>
            </a:solidFill>
            <a:prstDash val="solid"/>
          </a:ln>
        </p:spPr>
      </p:sp>
      <p:sp>
        <p:nvSpPr>
          <p:cNvPr id="37" name="Text 30"/>
          <p:cNvSpPr/>
          <p:nvPr/>
        </p:nvSpPr>
        <p:spPr>
          <a:xfrm>
            <a:off x="6446520" y="2660904"/>
            <a:ext cx="4572000" cy="365760"/>
          </a:xfrm>
          <a:prstGeom prst="rect">
            <a:avLst/>
          </a:prstGeom>
          <a:noFill/>
          <a:ln/>
        </p:spPr>
        <p:txBody>
          <a:bodyPr wrap="square" lIns="0" tIns="0" rIns="0" bIns="0" rtlCol="0" anchor="ctr"/>
          <a:lstStyle/>
          <a:p>
            <a:pPr algn="l" indent="0" marL="0">
              <a:lnSpc>
                <a:spcPct val="110000"/>
              </a:lnSpc>
              <a:buNone/>
            </a:pPr>
            <a:r>
              <a:rPr lang="en-US" sz="2100" dirty="0">
                <a:solidFill>
                  <a:srgbClr val="FFFFFF"/>
                </a:solidFill>
                <a:latin typeface="Impact" pitchFamily="34" charset="0"/>
                <a:ea typeface="Impact" pitchFamily="34" charset="-122"/>
                <a:cs typeface="Impact" pitchFamily="34" charset="-120"/>
              </a:rPr>
              <a:t>SMART ASSESS JA</a:t>
            </a:r>
            <a:endParaRPr lang="en-US" sz="2100" dirty="0"/>
          </a:p>
        </p:txBody>
      </p:sp>
      <p:sp>
        <p:nvSpPr>
          <p:cNvPr id="38" name="Text 31"/>
          <p:cNvSpPr/>
          <p:nvPr/>
        </p:nvSpPr>
        <p:spPr>
          <a:xfrm>
            <a:off x="6446520" y="3008376"/>
            <a:ext cx="4572000" cy="274320"/>
          </a:xfrm>
          <a:prstGeom prst="rect">
            <a:avLst/>
          </a:prstGeom>
          <a:noFill/>
          <a:ln/>
        </p:spPr>
        <p:txBody>
          <a:bodyPr wrap="square" lIns="0" tIns="0" rIns="0" bIns="0" rtlCol="0" anchor="ctr"/>
          <a:lstStyle/>
          <a:p>
            <a:pPr algn="l" indent="0" marL="0">
              <a:lnSpc>
                <a:spcPct val="110000"/>
              </a:lnSpc>
              <a:buNone/>
            </a:pPr>
            <a:r>
              <a:rPr lang="en-US" sz="1100" dirty="0">
                <a:solidFill>
                  <a:srgbClr val="FFFFFF"/>
                </a:solidFill>
                <a:latin typeface="Arial" pitchFamily="34" charset="0"/>
                <a:ea typeface="Arial" pitchFamily="34" charset="-122"/>
                <a:cs typeface="Arial" pitchFamily="34" charset="-120"/>
              </a:rPr>
              <a:t>One platform. One login. One connected view.</a:t>
            </a:r>
            <a:endParaRPr lang="en-US" sz="1100" dirty="0"/>
          </a:p>
        </p:txBody>
      </p:sp>
      <p:pic>
        <p:nvPicPr>
          <p:cNvPr id="39" name="Image 4" descr="/Users/boxerboychris/exam-platform/marketing/presentation/assets-v2/compare/r1.png">    </p:cNvPr>
          <p:cNvPicPr>
            <a:picLocks noChangeAspect="1"/>
          </p:cNvPicPr>
          <p:nvPr/>
        </p:nvPicPr>
        <p:blipFill>
          <a:blip r:embed="rId6"/>
          <a:stretch>
            <a:fillRect/>
          </a:stretch>
        </p:blipFill>
        <p:spPr>
          <a:xfrm>
            <a:off x="6400800" y="3394253"/>
            <a:ext cx="493776" cy="493776"/>
          </a:xfrm>
          <a:prstGeom prst="rect">
            <a:avLst/>
          </a:prstGeom>
        </p:spPr>
      </p:pic>
      <p:sp>
        <p:nvSpPr>
          <p:cNvPr id="40" name="Text 32"/>
          <p:cNvSpPr/>
          <p:nvPr/>
        </p:nvSpPr>
        <p:spPr>
          <a:xfrm>
            <a:off x="7040880" y="3383280"/>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One login for everything</a:t>
            </a:r>
            <a:endParaRPr lang="en-US" sz="1250" dirty="0"/>
          </a:p>
        </p:txBody>
      </p:sp>
      <p:sp>
        <p:nvSpPr>
          <p:cNvPr id="41" name="Text 33"/>
          <p:cNvSpPr/>
          <p:nvPr/>
        </p:nvSpPr>
        <p:spPr>
          <a:xfrm>
            <a:off x="7040880" y="3593592"/>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Assess, learn and practice share one login, one set of people and one topic list.</a:t>
            </a:r>
            <a:endParaRPr lang="en-US" sz="980" dirty="0"/>
          </a:p>
        </p:txBody>
      </p:sp>
      <p:sp>
        <p:nvSpPr>
          <p:cNvPr id="42" name="Shape 34"/>
          <p:cNvSpPr/>
          <p:nvPr/>
        </p:nvSpPr>
        <p:spPr>
          <a:xfrm>
            <a:off x="6400800" y="3963924"/>
            <a:ext cx="4572000" cy="0"/>
          </a:xfrm>
          <a:prstGeom prst="line">
            <a:avLst/>
          </a:prstGeom>
          <a:noFill/>
          <a:ln w="12700">
            <a:solidFill>
              <a:srgbClr val="E5DDD0"/>
            </a:solidFill>
            <a:prstDash val="solid"/>
          </a:ln>
        </p:spPr>
      </p:sp>
      <p:pic>
        <p:nvPicPr>
          <p:cNvPr id="43" name="Image 5" descr="/Users/boxerboychris/exam-platform/marketing/presentation/assets-v2/compare/r2.png">    </p:cNvPr>
          <p:cNvPicPr>
            <a:picLocks noChangeAspect="1"/>
          </p:cNvPicPr>
          <p:nvPr/>
        </p:nvPicPr>
        <p:blipFill>
          <a:blip r:embed="rId7"/>
          <a:stretch>
            <a:fillRect/>
          </a:stretch>
        </p:blipFill>
        <p:spPr>
          <a:xfrm>
            <a:off x="6400800" y="4039819"/>
            <a:ext cx="493776" cy="493776"/>
          </a:xfrm>
          <a:prstGeom prst="rect">
            <a:avLst/>
          </a:prstGeom>
        </p:spPr>
      </p:pic>
      <p:sp>
        <p:nvSpPr>
          <p:cNvPr id="44" name="Text 35"/>
          <p:cNvSpPr/>
          <p:nvPr/>
        </p:nvSpPr>
        <p:spPr>
          <a:xfrm>
            <a:off x="7040880" y="4027932"/>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Built in security</a:t>
            </a:r>
            <a:endParaRPr lang="en-US" sz="1250" dirty="0"/>
          </a:p>
        </p:txBody>
      </p:sp>
      <p:sp>
        <p:nvSpPr>
          <p:cNvPr id="45" name="Text 36"/>
          <p:cNvSpPr/>
          <p:nvPr/>
        </p:nvSpPr>
        <p:spPr>
          <a:xfrm>
            <a:off x="7040880" y="4238244"/>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Includes a lock-down desktop app for Windows and Mac, with integrity flags and protected exam settings.</a:t>
            </a:r>
            <a:endParaRPr lang="en-US" sz="980" dirty="0"/>
          </a:p>
        </p:txBody>
      </p:sp>
      <p:sp>
        <p:nvSpPr>
          <p:cNvPr id="46" name="Shape 37"/>
          <p:cNvSpPr/>
          <p:nvPr/>
        </p:nvSpPr>
        <p:spPr>
          <a:xfrm>
            <a:off x="6400800" y="4608576"/>
            <a:ext cx="4572000" cy="0"/>
          </a:xfrm>
          <a:prstGeom prst="line">
            <a:avLst/>
          </a:prstGeom>
          <a:noFill/>
          <a:ln w="12700">
            <a:solidFill>
              <a:srgbClr val="E5DDD0"/>
            </a:solidFill>
            <a:prstDash val="solid"/>
          </a:ln>
        </p:spPr>
      </p:sp>
      <p:pic>
        <p:nvPicPr>
          <p:cNvPr id="47" name="Image 6" descr="/Users/boxerboychris/exam-platform/marketing/presentation/assets-v2/compare/r3.png">    </p:cNvPr>
          <p:cNvPicPr>
            <a:picLocks noChangeAspect="1"/>
          </p:cNvPicPr>
          <p:nvPr/>
        </p:nvPicPr>
        <p:blipFill>
          <a:blip r:embed="rId8"/>
          <a:stretch>
            <a:fillRect/>
          </a:stretch>
        </p:blipFill>
        <p:spPr>
          <a:xfrm>
            <a:off x="6400800" y="4684471"/>
            <a:ext cx="493776" cy="493776"/>
          </a:xfrm>
          <a:prstGeom prst="rect">
            <a:avLst/>
          </a:prstGeom>
        </p:spPr>
      </p:pic>
      <p:sp>
        <p:nvSpPr>
          <p:cNvPr id="48" name="Text 38"/>
          <p:cNvSpPr/>
          <p:nvPr/>
        </p:nvSpPr>
        <p:spPr>
          <a:xfrm>
            <a:off x="7040880" y="4672584"/>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Meaningful results</a:t>
            </a:r>
            <a:endParaRPr lang="en-US" sz="1250" dirty="0"/>
          </a:p>
        </p:txBody>
      </p:sp>
      <p:sp>
        <p:nvSpPr>
          <p:cNvPr id="49" name="Text 39"/>
          <p:cNvSpPr/>
          <p:nvPr/>
        </p:nvSpPr>
        <p:spPr>
          <a:xfrm>
            <a:off x="7040880" y="4882896"/>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Missed questions, common wrong answers, who needs support and results by topic, linked to lessons and practice.</a:t>
            </a:r>
            <a:endParaRPr lang="en-US" sz="980" dirty="0"/>
          </a:p>
        </p:txBody>
      </p:sp>
      <p:sp>
        <p:nvSpPr>
          <p:cNvPr id="50" name="Shape 40"/>
          <p:cNvSpPr/>
          <p:nvPr/>
        </p:nvSpPr>
        <p:spPr>
          <a:xfrm>
            <a:off x="6400800" y="5253228"/>
            <a:ext cx="4572000" cy="0"/>
          </a:xfrm>
          <a:prstGeom prst="line">
            <a:avLst/>
          </a:prstGeom>
          <a:noFill/>
          <a:ln w="12700">
            <a:solidFill>
              <a:srgbClr val="E5DDD0"/>
            </a:solidFill>
            <a:prstDash val="solid"/>
          </a:ln>
        </p:spPr>
      </p:sp>
      <p:pic>
        <p:nvPicPr>
          <p:cNvPr id="51" name="Image 7" descr="/Users/boxerboychris/exam-platform/marketing/presentation/assets-v2/compare/r4.png">    </p:cNvPr>
          <p:cNvPicPr>
            <a:picLocks noChangeAspect="1"/>
          </p:cNvPicPr>
          <p:nvPr/>
        </p:nvPicPr>
        <p:blipFill>
          <a:blip r:embed="rId9"/>
          <a:stretch>
            <a:fillRect/>
          </a:stretch>
        </p:blipFill>
        <p:spPr>
          <a:xfrm>
            <a:off x="6400800" y="5329123"/>
            <a:ext cx="493776" cy="493776"/>
          </a:xfrm>
          <a:prstGeom prst="rect">
            <a:avLst/>
          </a:prstGeom>
        </p:spPr>
      </p:pic>
      <p:sp>
        <p:nvSpPr>
          <p:cNvPr id="52" name="Text 41"/>
          <p:cNvSpPr/>
          <p:nvPr/>
        </p:nvSpPr>
        <p:spPr>
          <a:xfrm>
            <a:off x="7040880" y="5317236"/>
            <a:ext cx="3977640" cy="219456"/>
          </a:xfrm>
          <a:prstGeom prst="rect">
            <a:avLst/>
          </a:prstGeom>
          <a:noFill/>
          <a:ln/>
        </p:spPr>
        <p:txBody>
          <a:bodyPr wrap="square" lIns="0" tIns="0" rIns="0" bIns="0" rtlCol="0" anchor="t"/>
          <a:lstStyle/>
          <a:p>
            <a:pPr algn="l" indent="0" marL="0">
              <a:lnSpc>
                <a:spcPct val="110000"/>
              </a:lnSpc>
              <a:buNone/>
            </a:pPr>
            <a:r>
              <a:rPr lang="en-US" sz="1250" b="1" dirty="0">
                <a:solidFill>
                  <a:srgbClr val="1E1208"/>
                </a:solidFill>
                <a:latin typeface="Arial" pitchFamily="34" charset="0"/>
                <a:ea typeface="Arial" pitchFamily="34" charset="-122"/>
                <a:cs typeface="Arial" pitchFamily="34" charset="-120"/>
              </a:rPr>
              <a:t>Made for Jamaica</a:t>
            </a:r>
            <a:endParaRPr lang="en-US" sz="1250" dirty="0"/>
          </a:p>
        </p:txBody>
      </p:sp>
      <p:sp>
        <p:nvSpPr>
          <p:cNvPr id="53" name="Text 42"/>
          <p:cNvSpPr/>
          <p:nvPr/>
        </p:nvSpPr>
        <p:spPr>
          <a:xfrm>
            <a:off x="7040880" y="5527548"/>
            <a:ext cx="3977640" cy="352044"/>
          </a:xfrm>
          <a:prstGeom prst="rect">
            <a:avLst/>
          </a:prstGeom>
          <a:noFill/>
          <a:ln/>
        </p:spPr>
        <p:txBody>
          <a:bodyPr wrap="square" lIns="0" tIns="0" rIns="0" bIns="0" rtlCol="0" anchor="t"/>
          <a:lstStyle/>
          <a:p>
            <a:pPr algn="l" indent="0" marL="0">
              <a:lnSpc>
                <a:spcPct val="110000"/>
              </a:lnSpc>
              <a:buNone/>
            </a:pPr>
            <a:r>
              <a:rPr lang="en-US" sz="980" dirty="0">
                <a:solidFill>
                  <a:srgbClr val="555555"/>
                </a:solidFill>
                <a:latin typeface="Arial" pitchFamily="34" charset="0"/>
                <a:ea typeface="Arial" pitchFamily="34" charset="-122"/>
                <a:cs typeface="Arial" pitchFamily="34" charset="-120"/>
              </a:rPr>
              <a:t>Lesson plans in the Ministry’s 5E format, and data handled in line with Jamaica’s Data Protection Act.</a:t>
            </a:r>
            <a:endParaRPr lang="en-US" sz="980" dirty="0"/>
          </a:p>
        </p:txBody>
      </p:sp>
      <p:sp>
        <p:nvSpPr>
          <p:cNvPr id="54" name="Shape 43"/>
          <p:cNvSpPr/>
          <p:nvPr/>
        </p:nvSpPr>
        <p:spPr>
          <a:xfrm>
            <a:off x="1097280" y="6016752"/>
            <a:ext cx="10058400" cy="603504"/>
          </a:xfrm>
          <a:prstGeom prst="rect">
            <a:avLst/>
          </a:prstGeom>
          <a:solidFill>
            <a:srgbClr val="1E1208"/>
          </a:solidFill>
          <a:ln/>
        </p:spPr>
      </p:sp>
      <p:sp>
        <p:nvSpPr>
          <p:cNvPr id="55" name="Text 44"/>
          <p:cNvSpPr/>
          <p:nvPr/>
        </p:nvSpPr>
        <p:spPr>
          <a:xfrm>
            <a:off x="1371600" y="6016752"/>
            <a:ext cx="9601200" cy="603504"/>
          </a:xfrm>
          <a:prstGeom prst="rect">
            <a:avLst/>
          </a:prstGeom>
          <a:noFill/>
          <a:ln/>
        </p:spPr>
        <p:txBody>
          <a:bodyPr wrap="square" lIns="0" tIns="0" rIns="0" bIns="0" rtlCol="0" anchor="ctr"/>
          <a:lstStyle/>
          <a:p>
            <a:pPr indent="0" marL="0">
              <a:buNone/>
            </a:pPr>
            <a:r>
              <a:rPr lang="en-US" sz="1500" b="1" dirty="0">
                <a:solidFill>
                  <a:srgbClr val="FFFFFF"/>
                </a:solidFill>
                <a:latin typeface="Arial" pitchFamily="34" charset="0"/>
                <a:ea typeface="Arial" pitchFamily="34" charset="-122"/>
                <a:cs typeface="Arial" pitchFamily="34" charset="-120"/>
              </a:rPr>
              <a:t>The other tools do their own jobs well.</a:t>
            </a:r>
            <a:endParaRPr lang="en-US" sz="1500" dirty="0"/>
          </a:p>
          <a:p>
            <a:pPr indent="0" marL="0">
              <a:buNone/>
            </a:pPr>
            <a:r>
              <a:rPr lang="en-US" sz="1500" b="1" dirty="0">
                <a:solidFill>
                  <a:srgbClr val="E3B51E"/>
                </a:solidFill>
                <a:latin typeface="Arial" pitchFamily="34" charset="0"/>
                <a:ea typeface="Arial" pitchFamily="34" charset="-122"/>
                <a:cs typeface="Arial" pitchFamily="34" charset="-120"/>
              </a:rPr>
              <a:t>We connect the jobs.</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143000" y="292608"/>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a:t>
            </a:r>
            <a:pPr indent="0" marL="0">
              <a:buNone/>
            </a:pPr>
            <a:r>
              <a:rPr lang="en-US" sz="1150" b="1" spc="300" kern="0" dirty="0">
                <a:solidFill>
                  <a:srgbClr val="D4762A"/>
                </a:solidFill>
                <a:latin typeface="Courier New" pitchFamily="34" charset="0"/>
                <a:ea typeface="Courier New" pitchFamily="34" charset="-122"/>
                <a:cs typeface="Courier New" pitchFamily="34" charset="-120"/>
              </a:rPr>
              <a:t>LANDSCAPE</a:t>
            </a:r>
            <a:endParaRPr lang="en-US" sz="1150" dirty="0"/>
          </a:p>
        </p:txBody>
      </p:sp>
      <p:sp>
        <p:nvSpPr>
          <p:cNvPr id="14" name="Text 11"/>
          <p:cNvSpPr/>
          <p:nvPr/>
        </p:nvSpPr>
        <p:spPr>
          <a:xfrm>
            <a:off x="1143000" y="530352"/>
            <a:ext cx="10149840" cy="640080"/>
          </a:xfrm>
          <a:prstGeom prst="rect">
            <a:avLst/>
          </a:prstGeom>
          <a:noFill/>
          <a:ln/>
        </p:spPr>
        <p:txBody>
          <a:bodyPr wrap="square" lIns="0" tIns="0" rIns="0" bIns="0" rtlCol="0" anchor="ctr"/>
          <a:lstStyle/>
          <a:p>
            <a:pPr indent="0" marL="0">
              <a:buNone/>
            </a:pPr>
            <a:r>
              <a:rPr lang="en-US" sz="3800" dirty="0">
                <a:solidFill>
                  <a:srgbClr val="1E1208"/>
                </a:solidFill>
                <a:latin typeface="Impact" pitchFamily="34" charset="0"/>
                <a:ea typeface="Impact" pitchFamily="34" charset="-122"/>
                <a:cs typeface="Impact" pitchFamily="34" charset="-120"/>
              </a:rPr>
              <a:t>STRONG TOOLS. </a:t>
            </a:r>
            <a:pPr indent="0" marL="0">
              <a:buNone/>
            </a:pPr>
            <a:r>
              <a:rPr lang="en-US" sz="3800" dirty="0">
                <a:solidFill>
                  <a:srgbClr val="D4762A"/>
                </a:solidFill>
                <a:latin typeface="Impact" pitchFamily="34" charset="0"/>
                <a:ea typeface="Impact" pitchFamily="34" charset="-122"/>
                <a:cs typeface="Impact" pitchFamily="34" charset="-120"/>
              </a:rPr>
              <a:t>DIFFERENT JOBS.</a:t>
            </a:r>
            <a:endParaRPr lang="en-US" sz="3800" dirty="0"/>
          </a:p>
        </p:txBody>
      </p:sp>
      <p:sp>
        <p:nvSpPr>
          <p:cNvPr id="15" name="Text 12"/>
          <p:cNvSpPr/>
          <p:nvPr/>
        </p:nvSpPr>
        <p:spPr>
          <a:xfrm>
            <a:off x="1143000" y="1188720"/>
            <a:ext cx="10149840" cy="41148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Each platform has strengths. Smart Assess Ja is different because it brings assessment, learning and practice together in one school platform.</a:t>
            </a:r>
            <a:endParaRPr lang="en-US" sz="11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1143000" y="1828800"/>
          <a:ext cx="10149840" cy="914400"/>
        </p:xfrm>
        <a:graphic>
          <a:graphicData uri="http://schemas.openxmlformats.org/drawingml/2006/table">
            <a:tbl>
              <a:tblPr/>
              <a:tblGrid>
                <a:gridCol w="3108960"/>
                <a:gridCol w="1005840"/>
                <a:gridCol w="1005840"/>
                <a:gridCol w="1005840"/>
                <a:gridCol w="1005840"/>
                <a:gridCol w="1005840"/>
                <a:gridCol w="1005840"/>
                <a:gridCol w="1005840"/>
              </a:tblGrid>
              <a:tr h="493776">
                <a:tc>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FEATURE / JOB</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Google Classroom</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Microsoft Teams</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Moodle</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Canvas</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Kahoot!</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1E1208"/>
                          </a:solidFill>
                          <a:latin typeface="Arial" pitchFamily="34" charset="0"/>
                          <a:ea typeface="Arial" pitchFamily="34" charset="-122"/>
                          <a:cs typeface="Arial" pitchFamily="34" charset="-120"/>
                        </a:rPr>
                        <a:t>Quizizz</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FFFBF6"/>
                    </a:solidFill>
                  </a:tcPr>
                </a:tc>
                <a:tc>
                  <a:txBody>
                    <a:bodyPr/>
                    <a:lstStyle/>
                    <a:p>
                      <a:pPr algn="ctr" indent="0" marL="0">
                        <a:buNone/>
                      </a:pPr>
                      <a:r>
                        <a:rPr lang="en-US" sz="680" b="1" dirty="0">
                          <a:solidFill>
                            <a:srgbClr val="FFFFFF"/>
                          </a:solidFill>
                          <a:latin typeface="Arial" pitchFamily="34" charset="0"/>
                          <a:ea typeface="Arial" pitchFamily="34" charset="-122"/>
                          <a:cs typeface="Arial" pitchFamily="34" charset="-120"/>
                        </a:rPr>
                        <a:t>Smart Assess Ja</a:t>
                      </a:r>
                      <a:endParaRPr lang="en-US" sz="680" dirty="0">
                        <a:latin typeface="Arial" charset="0"/>
                        <a:ea typeface="Arial" charset="0"/>
                        <a:cs typeface="Arial" charset="0"/>
                      </a:endParaRPr>
                    </a:p>
                  </a:txBody>
                  <a:tcPr marL="18288" marR="18288" marT="0" marB="27432" anchor="b">
                    <a:lnL w="0" cap="flat" cmpd="sng" algn="ctr">
                      <a:noFill/>
                    </a:lnL>
                    <a:lnR w="0" cap="flat" cmpd="sng" algn="ctr">
                      <a:noFill/>
                    </a:lnR>
                    <a:lnT w="0" cap="flat" cmpd="sng" algn="ctr">
                      <a:noFill/>
                    </a:lnT>
                    <a:lnB w="0" cap="flat" cmpd="sng" algn="ctr">
                      <a:noFill/>
                    </a:lnB>
                    <a:solidFill>
                      <a:srgbClr val="D4762A"/>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ASSESSMENT</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DC598"/>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Create and deliver exams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Question bank</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Different question types (MC, short answer, essay, etc.)</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Automatic marking (objective questions)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Exam security and lock-down</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Integrity flags for essays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LEARNING</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98C4C3"/>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Lesson planning (5E format)</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Structured lessons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Catch-up learning for absent students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AI-assisted lesson creation</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Shared lesson library</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Student progress by topic</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PRACTICE AND ENGAGEMENT</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F2CF72"/>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Live games and quizzes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Topic Mastery and Math Duels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XP, badges, streaks, leaderboards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46304">
                <a:tc gridSpan="8">
                  <a:txBody>
                    <a:bodyPr/>
                    <a:lstStyle/>
                    <a:p>
                      <a:pPr indent="0" marL="0">
                        <a:buNone/>
                      </a:pPr>
                      <a:r>
                        <a:rPr lang="en-US" sz="680" b="1" spc="200" kern="0" dirty="0">
                          <a:solidFill>
                            <a:srgbClr val="1E1208"/>
                          </a:solidFill>
                          <a:latin typeface="Courier New" pitchFamily="34" charset="0"/>
                          <a:ea typeface="Courier New" pitchFamily="34" charset="-122"/>
                          <a:cs typeface="Courier New" pitchFamily="34" charset="-120"/>
                        </a:rPr>
                        <a:t>SCHOOL-WIDE</a:t>
                      </a:r>
                      <a:endParaRPr lang="en-US" sz="680" dirty="0">
                        <a:latin typeface="Courier New" charset="0"/>
                        <a:ea typeface="Courier New" charset="0"/>
                        <a:cs typeface="Courier New" charset="0"/>
                      </a:endParaRPr>
                    </a:p>
                  </a:txBody>
                  <a:tcPr marL="73152" marR="73152" marT="0" marB="0" anchor="ctr">
                    <a:lnL w="0" cap="flat" cmpd="sng" algn="ctr">
                      <a:noFill/>
                    </a:lnL>
                    <a:lnR w="0" cap="flat" cmpd="sng" algn="ctr">
                      <a:noFill/>
                    </a:lnR>
                    <a:lnT w="0" cap="flat" cmpd="sng" algn="ctr">
                      <a:noFill/>
                    </a:lnT>
                    <a:lnB w="0" cap="flat" cmpd="sng" algn="ctr">
                      <a:noFill/>
                    </a:lnB>
                    <a:solidFill>
                      <a:srgbClr val="C3BAAF"/>
                    </a:solidFill>
                  </a:tcPr>
                </a:tc>
                <a:tc hMerge="1">
                  <a:tcPr/>
                </a:tc>
                <a:tc hMerge="1">
                  <a:tcPr/>
                </a:tc>
                <a:tc hMerge="1">
                  <a:tcPr/>
                </a:tc>
                <a:tc hMerge="1">
                  <a:tcPr/>
                </a:tc>
                <a:tc hMerge="1">
                  <a:tcPr/>
                </a:tc>
                <a:tc hMerge="1">
                  <a:tcPr/>
                </a:tc>
                <a:tc hMerge="1">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One login and one topic list</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Built for Jamaican schools</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r h="160020">
                <a:tc>
                  <a:txBody>
                    <a:bodyPr/>
                    <a:lstStyle/>
                    <a:p>
                      <a:pPr indent="0" marL="0">
                        <a:buNone/>
                      </a:pPr>
                      <a:r>
                        <a:rPr lang="en-US" sz="740" dirty="0">
                          <a:solidFill>
                            <a:srgbClr val="1E1208"/>
                          </a:solidFill>
                          <a:latin typeface="Arial" pitchFamily="34" charset="0"/>
                          <a:ea typeface="Arial" pitchFamily="34" charset="-122"/>
                          <a:cs typeface="Arial" pitchFamily="34" charset="-120"/>
                        </a:rPr>
                        <a:t>Attendance, timetable, staff tools (in the same platform)</a:t>
                      </a:r>
                      <a:endParaRPr lang="en-US" sz="740" dirty="0">
                        <a:latin typeface="Arial" charset="0"/>
                        <a:ea typeface="Arial" charset="0"/>
                        <a:cs typeface="Arial" charset="0"/>
                      </a:endParaRPr>
                    </a:p>
                  </a:txBody>
                  <a:tcPr marL="73152" marR="73152"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680" dirty="0">
                          <a:solidFill>
                            <a:srgbClr val="8A7A62"/>
                          </a:solidFill>
                          <a:latin typeface="Arial" pitchFamily="34" charset="0"/>
                          <a:ea typeface="Arial" pitchFamily="34" charset="-122"/>
                          <a:cs typeface="Arial" pitchFamily="34" charset="-120"/>
                        </a:rPr>
                        <a:t>Limited</a:t>
                      </a:r>
                      <a:endParaRPr lang="en-US" sz="68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8A7A62"/>
                          </a:solidFill>
                          <a:latin typeface="Arial" pitchFamily="34" charset="0"/>
                          <a:ea typeface="Arial" pitchFamily="34" charset="-122"/>
                          <a:cs typeface="Arial" pitchFamily="34" charset="-120"/>
                        </a:rPr>
                        <a:t>–</a:t>
                      </a:r>
                      <a:endParaRPr lang="en-US" sz="80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1208"/>
                          </a:solidFill>
                          <a:latin typeface="Arial" pitchFamily="34" charset="0"/>
                          <a:ea typeface="Arial" pitchFamily="34" charset="-122"/>
                          <a:cs typeface="Arial" pitchFamily="34" charset="-120"/>
                        </a:rPr>
                        <a:t>✔</a:t>
                      </a:r>
                      <a:endParaRPr lang="en-US" sz="850" dirty="0">
                        <a:latin typeface="Arial" charset="0"/>
                        <a:ea typeface="Arial" charset="0"/>
                        <a:cs typeface="Arial" charset="0"/>
                      </a:endParaRPr>
                    </a:p>
                  </a:txBody>
                  <a:tcPr marL="18288" marR="18288" marT="0" marB="0" anchor="ctr">
                    <a:lnL w="0" cap="flat" cmpd="sng" algn="ctr">
                      <a:noFill/>
                    </a:lnL>
                    <a:lnR w="0" cap="flat" cmpd="sng" algn="ctr">
                      <a:noFill/>
                    </a:lnR>
                    <a:lnT w="0" cap="flat" cmpd="sng" algn="ctr">
                      <a:noFill/>
                    </a:lnT>
                    <a:lnB w="6350" cap="flat" cmpd="sng" algn="ctr">
                      <a:solidFill>
                        <a:srgbClr val="E5DDD0"/>
                      </a:solidFill>
                      <a:prstDash val="solid"/>
                      <a:round/>
                      <a:headEnd type="none" w="med" len="med"/>
                      <a:tailEnd type="none" w="med" len="med"/>
                    </a:lnB>
                    <a:solidFill>
                      <a:srgbClr val="FFEAD8"/>
                    </a:solidFill>
                  </a:tcPr>
                </a:tc>
              </a:tr>
            </a:tbl>
          </a:graphicData>
        </a:graphic>
      </p:graphicFrame>
      <p:pic>
        <p:nvPicPr>
          <p:cNvPr id="17" name="Image 0" descr="/Users/boxerboychris/exam-platform/marketing/presentation/assets-v2/compare/google.png">    </p:cNvPr>
          <p:cNvPicPr>
            <a:picLocks noChangeAspect="1"/>
          </p:cNvPicPr>
          <p:nvPr/>
        </p:nvPicPr>
        <p:blipFill>
          <a:blip r:embed="rId2"/>
          <a:stretch>
            <a:fillRect/>
          </a:stretch>
        </p:blipFill>
        <p:spPr>
          <a:xfrm>
            <a:off x="4631436" y="1828800"/>
            <a:ext cx="246888" cy="246888"/>
          </a:xfrm>
          <a:prstGeom prst="rect">
            <a:avLst/>
          </a:prstGeom>
        </p:spPr>
      </p:pic>
      <p:pic>
        <p:nvPicPr>
          <p:cNvPr id="18" name="Image 1" descr="/Users/boxerboychris/exam-platform/marketing/presentation/assets-v2/compare/teams.png">    </p:cNvPr>
          <p:cNvPicPr>
            <a:picLocks noChangeAspect="1"/>
          </p:cNvPicPr>
          <p:nvPr/>
        </p:nvPicPr>
        <p:blipFill>
          <a:blip r:embed="rId3"/>
          <a:stretch>
            <a:fillRect/>
          </a:stretch>
        </p:blipFill>
        <p:spPr>
          <a:xfrm>
            <a:off x="5628132" y="1828800"/>
            <a:ext cx="265176" cy="246888"/>
          </a:xfrm>
          <a:prstGeom prst="rect">
            <a:avLst/>
          </a:prstGeom>
        </p:spPr>
      </p:pic>
      <p:pic>
        <p:nvPicPr>
          <p:cNvPr id="19" name="Image 2" descr="/Users/boxerboychris/exam-platform/marketing/presentation/assets-v2/compare/moodle.png">    </p:cNvPr>
          <p:cNvPicPr>
            <a:picLocks noChangeAspect="1"/>
          </p:cNvPicPr>
          <p:nvPr/>
        </p:nvPicPr>
        <p:blipFill>
          <a:blip r:embed="rId4"/>
          <a:stretch>
            <a:fillRect/>
          </a:stretch>
        </p:blipFill>
        <p:spPr>
          <a:xfrm>
            <a:off x="6624828" y="1828800"/>
            <a:ext cx="283464" cy="237744"/>
          </a:xfrm>
          <a:prstGeom prst="rect">
            <a:avLst/>
          </a:prstGeom>
        </p:spPr>
      </p:pic>
      <p:pic>
        <p:nvPicPr>
          <p:cNvPr id="20" name="Image 3" descr="/Users/boxerboychris/exam-platform/marketing/presentation/assets-v2/compare/canvas.png">    </p:cNvPr>
          <p:cNvPicPr>
            <a:picLocks noChangeAspect="1"/>
          </p:cNvPicPr>
          <p:nvPr/>
        </p:nvPicPr>
        <p:blipFill>
          <a:blip r:embed="rId5"/>
          <a:stretch>
            <a:fillRect/>
          </a:stretch>
        </p:blipFill>
        <p:spPr>
          <a:xfrm>
            <a:off x="7648956" y="1828800"/>
            <a:ext cx="246888" cy="246888"/>
          </a:xfrm>
          <a:prstGeom prst="rect">
            <a:avLst/>
          </a:prstGeom>
        </p:spPr>
      </p:pic>
      <p:pic>
        <p:nvPicPr>
          <p:cNvPr id="21" name="Image 4" descr="/Users/boxerboychris/exam-platform/marketing/presentation/assets-v2/compare/kahoot.png">    </p:cNvPr>
          <p:cNvPicPr>
            <a:picLocks noChangeAspect="1"/>
          </p:cNvPicPr>
          <p:nvPr/>
        </p:nvPicPr>
        <p:blipFill>
          <a:blip r:embed="rId6"/>
          <a:stretch>
            <a:fillRect/>
          </a:stretch>
        </p:blipFill>
        <p:spPr>
          <a:xfrm>
            <a:off x="8540496" y="1828800"/>
            <a:ext cx="475488" cy="224028"/>
          </a:xfrm>
          <a:prstGeom prst="rect">
            <a:avLst/>
          </a:prstGeom>
        </p:spPr>
      </p:pic>
      <p:pic>
        <p:nvPicPr>
          <p:cNvPr id="22" name="Image 5" descr="/Users/boxerboychris/exam-platform/marketing/presentation/assets-v2/compare/quizizz.png">    </p:cNvPr>
          <p:cNvPicPr>
            <a:picLocks noChangeAspect="1"/>
          </p:cNvPicPr>
          <p:nvPr/>
        </p:nvPicPr>
        <p:blipFill>
          <a:blip r:embed="rId7"/>
          <a:stretch>
            <a:fillRect/>
          </a:stretch>
        </p:blipFill>
        <p:spPr>
          <a:xfrm>
            <a:off x="9665208" y="1828800"/>
            <a:ext cx="237744" cy="237744"/>
          </a:xfrm>
          <a:prstGeom prst="rect">
            <a:avLst/>
          </a:prstGeom>
        </p:spPr>
      </p:pic>
      <p:pic>
        <p:nvPicPr>
          <p:cNvPr id="23" name="Image 6" descr="/Users/boxerboychris/exam-platform/marketing/presentation/assets-v2/compare/sa.png">    </p:cNvPr>
          <p:cNvPicPr>
            <a:picLocks noChangeAspect="1"/>
          </p:cNvPicPr>
          <p:nvPr/>
        </p:nvPicPr>
        <p:blipFill>
          <a:blip r:embed="rId8"/>
          <a:stretch>
            <a:fillRect/>
          </a:stretch>
        </p:blipFill>
        <p:spPr>
          <a:xfrm>
            <a:off x="10671048" y="1828800"/>
            <a:ext cx="237744" cy="246888"/>
          </a:xfrm>
          <a:prstGeom prst="rect">
            <a:avLst/>
          </a:prstGeom>
        </p:spPr>
      </p:pic>
      <p:sp>
        <p:nvSpPr>
          <p:cNvPr id="24" name="Shape 13"/>
          <p:cNvSpPr/>
          <p:nvPr/>
        </p:nvSpPr>
        <p:spPr>
          <a:xfrm>
            <a:off x="1143000" y="5897880"/>
            <a:ext cx="10149840" cy="566928"/>
          </a:xfrm>
          <a:prstGeom prst="rect">
            <a:avLst/>
          </a:prstGeom>
          <a:solidFill>
            <a:srgbClr val="1E1208"/>
          </a:solidFill>
          <a:ln/>
        </p:spPr>
      </p:sp>
      <p:sp>
        <p:nvSpPr>
          <p:cNvPr id="25" name="Text 14"/>
          <p:cNvSpPr/>
          <p:nvPr/>
        </p:nvSpPr>
        <p:spPr>
          <a:xfrm>
            <a:off x="1371600" y="5897880"/>
            <a:ext cx="6675120" cy="56692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The question is not "can another tool do one of these things?"</a:t>
            </a:r>
            <a:endParaRPr lang="en-US" sz="1200" dirty="0"/>
          </a:p>
          <a:p>
            <a:pPr indent="0" marL="0">
              <a:buNone/>
            </a:pPr>
            <a:r>
              <a:rPr lang="en-US" sz="1200" b="1" dirty="0">
                <a:solidFill>
                  <a:srgbClr val="E3B51E"/>
                </a:solidFill>
                <a:latin typeface="Arial" pitchFamily="34" charset="0"/>
                <a:ea typeface="Arial" pitchFamily="34" charset="-122"/>
                <a:cs typeface="Arial" pitchFamily="34" charset="-120"/>
              </a:rPr>
              <a:t>It is "how many tools and handoffs does the school need?"</a:t>
            </a:r>
            <a:endParaRPr lang="en-US" sz="1200" dirty="0"/>
          </a:p>
        </p:txBody>
      </p:sp>
      <p:sp>
        <p:nvSpPr>
          <p:cNvPr id="26" name="Shape 15"/>
          <p:cNvSpPr/>
          <p:nvPr/>
        </p:nvSpPr>
        <p:spPr>
          <a:xfrm>
            <a:off x="8183880" y="5989320"/>
            <a:ext cx="0" cy="384048"/>
          </a:xfrm>
          <a:prstGeom prst="line">
            <a:avLst/>
          </a:prstGeom>
          <a:noFill/>
          <a:ln w="12700">
            <a:solidFill>
              <a:srgbClr val="555555"/>
            </a:solidFill>
            <a:prstDash val="solid"/>
          </a:ln>
        </p:spPr>
      </p:sp>
      <p:sp>
        <p:nvSpPr>
          <p:cNvPr id="27" name="Text 16"/>
          <p:cNvSpPr/>
          <p:nvPr/>
        </p:nvSpPr>
        <p:spPr>
          <a:xfrm>
            <a:off x="8366760" y="5897880"/>
            <a:ext cx="2788920" cy="566928"/>
          </a:xfrm>
          <a:prstGeom prst="rect">
            <a:avLst/>
          </a:prstGeom>
          <a:noFill/>
          <a:ln/>
        </p:spPr>
        <p:txBody>
          <a:bodyPr wrap="square" lIns="0" tIns="0" rIns="0" bIns="0" rtlCol="0" anchor="ctr"/>
          <a:lstStyle/>
          <a:p>
            <a:pPr indent="0" marL="0">
              <a:buNone/>
            </a:pPr>
            <a:r>
              <a:rPr lang="en-US" sz="850" dirty="0">
                <a:solidFill>
                  <a:srgbClr val="E8DFD2"/>
                </a:solidFill>
                <a:latin typeface="Arial" pitchFamily="34" charset="0"/>
                <a:ea typeface="Arial" pitchFamily="34" charset="-122"/>
                <a:cs typeface="Arial" pitchFamily="34" charset="-120"/>
              </a:rPr>
              <a:t>Other tools are excellent in their areas. Smart Assess Ja is designed to connect the whole learning process.</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DIFFERENCE IN WORDS</a:t>
            </a:r>
            <a:endParaRPr lang="en-US" sz="1150" dirty="0"/>
          </a:p>
        </p:txBody>
      </p:sp>
      <p:sp>
        <p:nvSpPr>
          <p:cNvPr id="14" name="Shape 11"/>
          <p:cNvSpPr/>
          <p:nvPr/>
        </p:nvSpPr>
        <p:spPr>
          <a:xfrm>
            <a:off x="1417320" y="1325880"/>
            <a:ext cx="9509760" cy="2011680"/>
          </a:xfrm>
          <a:prstGeom prst="rect">
            <a:avLst/>
          </a:prstGeom>
          <a:solidFill>
            <a:srgbClr val="FFFFFF"/>
          </a:solidFill>
          <a:ln w="25400">
            <a:solidFill>
              <a:srgbClr val="1E1208"/>
            </a:solidFill>
            <a:prstDash val="solid"/>
          </a:ln>
        </p:spPr>
      </p:sp>
      <p:sp>
        <p:nvSpPr>
          <p:cNvPr id="15" name="Shape 12"/>
          <p:cNvSpPr/>
          <p:nvPr/>
        </p:nvSpPr>
        <p:spPr>
          <a:xfrm>
            <a:off x="1417320" y="1325880"/>
            <a:ext cx="164592" cy="2011680"/>
          </a:xfrm>
          <a:prstGeom prst="rect">
            <a:avLst/>
          </a:prstGeom>
          <a:solidFill>
            <a:srgbClr val="D4762A"/>
          </a:solidFill>
          <a:ln/>
        </p:spPr>
      </p:sp>
      <p:sp>
        <p:nvSpPr>
          <p:cNvPr id="16" name="Text 13"/>
          <p:cNvSpPr/>
          <p:nvPr/>
        </p:nvSpPr>
        <p:spPr>
          <a:xfrm>
            <a:off x="1874520" y="1325880"/>
            <a:ext cx="8869680" cy="201168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Arial" pitchFamily="34" charset="0"/>
                <a:ea typeface="Arial" pitchFamily="34" charset="-122"/>
                <a:cs typeface="Arial" pitchFamily="34" charset="-120"/>
              </a:rPr>
              <a:t>Other platforms are good at what they do. Smart Assess JA is designed to connect assessment, learning and practice around the same students, classes and curriculum topics, while reducing the work teachers do between those activities.</a:t>
            </a:r>
            <a:endParaRPr lang="en-US" sz="2100" dirty="0"/>
          </a:p>
        </p:txBody>
      </p:sp>
      <p:sp>
        <p:nvSpPr>
          <p:cNvPr id="17" name="Shape 14"/>
          <p:cNvSpPr/>
          <p:nvPr/>
        </p:nvSpPr>
        <p:spPr>
          <a:xfrm>
            <a:off x="1417320" y="3794760"/>
            <a:ext cx="9509760" cy="2011680"/>
          </a:xfrm>
          <a:prstGeom prst="rect">
            <a:avLst/>
          </a:prstGeom>
          <a:solidFill>
            <a:srgbClr val="FFFFFF"/>
          </a:solidFill>
          <a:ln w="25400">
            <a:solidFill>
              <a:srgbClr val="1E1208"/>
            </a:solidFill>
            <a:prstDash val="solid"/>
          </a:ln>
        </p:spPr>
      </p:sp>
      <p:sp>
        <p:nvSpPr>
          <p:cNvPr id="18" name="Shape 15"/>
          <p:cNvSpPr/>
          <p:nvPr/>
        </p:nvSpPr>
        <p:spPr>
          <a:xfrm>
            <a:off x="1417320" y="3794760"/>
            <a:ext cx="164592" cy="2011680"/>
          </a:xfrm>
          <a:prstGeom prst="rect">
            <a:avLst/>
          </a:prstGeom>
          <a:solidFill>
            <a:srgbClr val="1F8A84"/>
          </a:solidFill>
          <a:ln/>
        </p:spPr>
      </p:sp>
      <p:sp>
        <p:nvSpPr>
          <p:cNvPr id="19" name="Text 16"/>
          <p:cNvSpPr/>
          <p:nvPr/>
        </p:nvSpPr>
        <p:spPr>
          <a:xfrm>
            <a:off x="1874520" y="3794760"/>
            <a:ext cx="8869680" cy="2011680"/>
          </a:xfrm>
          <a:prstGeom prst="rect">
            <a:avLst/>
          </a:prstGeom>
          <a:noFill/>
          <a:ln/>
        </p:spPr>
        <p:txBody>
          <a:bodyPr wrap="square" lIns="0" tIns="0" rIns="0" bIns="0" rtlCol="0" anchor="ctr"/>
          <a:lstStyle/>
          <a:p>
            <a:pPr algn="l" indent="0" marL="0">
              <a:lnSpc>
                <a:spcPct val="110000"/>
              </a:lnSpc>
              <a:buNone/>
            </a:pPr>
            <a:r>
              <a:rPr lang="en-US" sz="2100" dirty="0">
                <a:solidFill>
                  <a:srgbClr val="1E1208"/>
                </a:solidFill>
                <a:latin typeface="Arial" pitchFamily="34" charset="0"/>
                <a:ea typeface="Arial" pitchFamily="34" charset="-122"/>
                <a:cs typeface="Arial" pitchFamily="34" charset="-120"/>
              </a:rPr>
              <a:t>Google Classroom is useful for managing classwork. Smart Assess is designed to go further into the assessment process, from creating and administering examinations to marking, understanding results and supporting learning through connected products.</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(80% and 70%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(75%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(58%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(92%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2026-10-08T10:35:26Z</dcterms:created>
  <dcterms:modified xsi:type="dcterms:W3CDTF">2026-10-08T10:35:26Z</dcterms:modified>
</cp:coreProperties>
</file>
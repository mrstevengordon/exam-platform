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Students</c:v>
                </c:pt>
              </c:strCache>
            </c:strRef>
          </c:tx>
          <c:spPr>
            <a:solidFill>
              <a:srgbClr val="D4762A"/>
            </a:solidFill>
            <a:effectLst/>
          </c:spPr>
          <c:invertIfNegative val="0"/>
          <c:dLbls>
            <c:numFmt formatCode="#,##0" sourceLinked="0"/>
            <c:txPr>
              <a:bodyPr/>
              <a:lstStyle/>
              <a:p>
                <a:pPr>
                  <a:defRPr b="0" i="0" strike="noStrike" sz="1400" u="none">
                    <a:solidFill>
                      <a:srgbClr val="1E1208"/>
                    </a:solidFill>
                    <a:latin typeface="Impact"/>
                  </a:defRPr>
                </a:pPr>
              </a:p>
            </c:txPr>
            <c:showLegendKey val="0"/>
            <c:showVal val="1"/>
            <c:showCatName val="0"/>
            <c:showSerName val="0"/>
            <c:showPercent val="0"/>
            <c:showBubbleSize val="0"/>
            <c:showLeaderLines val="0"/>
          </c:dLbls>
          <c:cat>
            <c:multiLvlStrRef>
              <c:f>Sheet1!$A$2:$A$7</c:f>
              <c:multiLvlStrCache>
                <c:ptCount val="6"/>
                <c:lvl>
                  <c:pt idx="0">
                    <c:v>Step-by-step explanations</c:v>
                  </c:pt>
                  <c:pt idx="1">
                    <c:v>Practice questions</c:v>
                  </c:pt>
                  <c:pt idx="2">
                    <c:v>Quizzes</c:v>
                  </c:pt>
                  <c:pt idx="3">
                    <c:v>Games or challenges</c:v>
                  </c:pt>
                  <c:pt idx="4">
                    <c:v>Examples</c:v>
                  </c:pt>
                  <c:pt idx="5">
                    <c:v>Study at my own pace</c:v>
                  </c:pt>
                </c:lvl>
              </c:multiLvlStrCache>
            </c:multiLvlStrRef>
          </c:cat>
          <c:val>
            <c:numRef>
              <c:f>Sheet1!$B$2:$B$7</c:f>
              <c:numCache>
                <c:formatCode>General</c:formatCode>
                <c:ptCount val="6"/>
                <c:pt idx="0">
                  <c:v>11</c:v>
                </c:pt>
                <c:pt idx="1">
                  <c:v>7</c:v>
                </c:pt>
                <c:pt idx="2">
                  <c:v>6</c:v>
                </c:pt>
                <c:pt idx="3">
                  <c:v>4</c:v>
                </c:pt>
                <c:pt idx="4">
                  <c:v>3</c:v>
                </c:pt>
                <c:pt idx="5">
                  <c:v>3</c:v>
                </c:pt>
              </c:numCache>
            </c:numRef>
          </c:val>
        </c:ser>
        <c:dLbls>
          <c:numFmt formatCode="#,##0" sourceLinked="0"/>
          <c:txPr>
            <a:bodyPr/>
            <a:lstStyle/>
            <a:p>
              <a:pPr>
                <a:defRPr b="0" i="0" strike="noStrike" sz="1400" u="none">
                  <a:solidFill>
                    <a:srgbClr val="1E1208"/>
                  </a:solidFill>
                  <a:latin typeface="Impac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1208"/>
                </a:solidFill>
                <a:latin typeface="Arial"/>
              </a:defRPr>
            </a:pPr>
            <a:endParaRPr lang="en-US"/>
          </a:p>
        </c:txPr>
        <c:crossAx val="2094734552"/>
        <c:crosses val="autoZero"/>
        <c:auto val="1"/>
        <c:lblAlgn val="ctr"/>
        <c:noMultiLvlLbl val="1"/>
      </c:catAx>
      <c:valAx>
        <c:axId val="2094734552"/>
        <c:scaling>
          <c:orientation val="minMax"/>
          <c:max val="13"/>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Students</c:v>
                </c:pt>
              </c:strCache>
            </c:strRef>
          </c:tx>
          <c:spPr>
            <a:solidFill>
              <a:srgbClr val="1F8A84"/>
            </a:solidFill>
            <a:effectLst/>
          </c:spPr>
          <c:invertIfNegative val="0"/>
          <c:dLbls>
            <c:numFmt formatCode="#,##0" sourceLinked="0"/>
            <c:txPr>
              <a:bodyPr/>
              <a:lstStyle/>
              <a:p>
                <a:pPr>
                  <a:defRPr b="0" i="0" strike="noStrike" sz="1400" u="none">
                    <a:solidFill>
                      <a:srgbClr val="1E1208"/>
                    </a:solidFill>
                    <a:latin typeface="Impact"/>
                  </a:defRPr>
                </a:pPr>
              </a:p>
            </c:txPr>
            <c:showLegendKey val="0"/>
            <c:showVal val="1"/>
            <c:showCatName val="0"/>
            <c:showSerName val="0"/>
            <c:showPercent val="0"/>
            <c:showBubbleSize val="0"/>
            <c:showLeaderLines val="0"/>
          </c:dLbls>
          <c:cat>
            <c:multiLvlStrRef>
              <c:f>Sheet1!$A$2:$A$6</c:f>
              <c:multiLvlStrCache>
                <c:ptCount val="5"/>
                <c:lvl>
                  <c:pt idx="0">
                    <c:v>Topics I need to improve</c:v>
                  </c:pt>
                  <c:pt idx="1">
                    <c:v>Grades</c:v>
                  </c:pt>
                  <c:pt idx="2">
                    <c:v>Compare with previous results</c:v>
                  </c:pt>
                  <c:pt idx="3">
                    <c:v>Strongest topics</c:v>
                  </c:pt>
                  <c:pt idx="4">
                    <c:v>Progress toward goals</c:v>
                  </c:pt>
                </c:lvl>
              </c:multiLvlStrCache>
            </c:multiLvlStrRef>
          </c:cat>
          <c:val>
            <c:numRef>
              <c:f>Sheet1!$B$2:$B$6</c:f>
              <c:numCache>
                <c:formatCode>General</c:formatCode>
                <c:ptCount val="5"/>
                <c:pt idx="0">
                  <c:v>9</c:v>
                </c:pt>
                <c:pt idx="1">
                  <c:v>7</c:v>
                </c:pt>
                <c:pt idx="2">
                  <c:v>6</c:v>
                </c:pt>
                <c:pt idx="3">
                  <c:v>5</c:v>
                </c:pt>
                <c:pt idx="4">
                  <c:v>5</c:v>
                </c:pt>
              </c:numCache>
            </c:numRef>
          </c:val>
        </c:ser>
        <c:dLbls>
          <c:numFmt formatCode="#,##0" sourceLinked="0"/>
          <c:txPr>
            <a:bodyPr/>
            <a:lstStyle/>
            <a:p>
              <a:pPr>
                <a:defRPr b="0" i="0" strike="noStrike" sz="1400" u="none">
                  <a:solidFill>
                    <a:srgbClr val="1E1208"/>
                  </a:solidFill>
                  <a:latin typeface="Impac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1208"/>
                </a:solidFill>
                <a:latin typeface="Arial"/>
              </a:defRPr>
            </a:pPr>
            <a:endParaRPr lang="en-US"/>
          </a:p>
        </c:txPr>
        <c:crossAx val="2094734552"/>
        <c:crosses val="autoZero"/>
        <c:auto val="1"/>
        <c:lblAlgn val="ctr"/>
        <c:noMultiLvlLbl val="1"/>
      </c:catAx>
      <c:valAx>
        <c:axId val="2094734552"/>
        <c:scaling>
          <c:orientation val="minMax"/>
          <c:max val="13"/>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Teachers</c:v>
                </c:pt>
              </c:strCache>
            </c:strRef>
          </c:tx>
          <c:spPr>
            <a:solidFill>
              <a:srgbClr val="D4762A"/>
            </a:solidFill>
            <a:effectLst/>
          </c:spPr>
          <c:invertIfNegative val="0"/>
          <c:dLbls>
            <c:numFmt formatCode="#,##0" sourceLinked="0"/>
            <c:txPr>
              <a:bodyPr/>
              <a:lstStyle/>
              <a:p>
                <a:pPr>
                  <a:defRPr b="0" i="0" strike="noStrike" sz="1400" u="none">
                    <a:solidFill>
                      <a:srgbClr val="1E1208"/>
                    </a:solidFill>
                    <a:latin typeface="Impact"/>
                  </a:defRPr>
                </a:pPr>
              </a:p>
            </c:txPr>
            <c:showLegendKey val="0"/>
            <c:showVal val="1"/>
            <c:showCatName val="0"/>
            <c:showSerName val="0"/>
            <c:showPercent val="0"/>
            <c:showBubbleSize val="0"/>
            <c:showLeaderLines val="0"/>
          </c:dLbls>
          <c:cat>
            <c:multiLvlStrRef>
              <c:f>Sheet1!$A$2:$A$6</c:f>
              <c:multiLvlStrCache>
                <c:ptCount val="5"/>
                <c:lvl>
                  <c:pt idx="0">
                    <c:v>Marking</c:v>
                  </c:pt>
                  <c:pt idx="1">
                    <c:v>Creating questions</c:v>
                  </c:pt>
                  <c:pt idx="2">
                    <c:v>Analysing performance</c:v>
                  </c:pt>
                  <c:pt idx="3">
                    <c:v>Calculating results</c:v>
                  </c:pt>
                  <c:pt idx="4">
                    <c:v>Recording grades</c:v>
                  </c:pt>
                </c:lvl>
              </c:multiLvlStrCache>
            </c:multiLvlStrRef>
          </c:cat>
          <c:val>
            <c:numRef>
              <c:f>Sheet1!$B$2:$B$6</c:f>
              <c:numCache>
                <c:formatCode>General</c:formatCode>
                <c:ptCount val="5"/>
                <c:pt idx="0">
                  <c:v>8</c:v>
                </c:pt>
                <c:pt idx="1">
                  <c:v>6</c:v>
                </c:pt>
                <c:pt idx="2">
                  <c:v>5</c:v>
                </c:pt>
                <c:pt idx="3">
                  <c:v>4</c:v>
                </c:pt>
                <c:pt idx="4">
                  <c:v>3</c:v>
                </c:pt>
              </c:numCache>
            </c:numRef>
          </c:val>
        </c:ser>
        <c:dLbls>
          <c:numFmt formatCode="#,##0" sourceLinked="0"/>
          <c:txPr>
            <a:bodyPr/>
            <a:lstStyle/>
            <a:p>
              <a:pPr>
                <a:defRPr b="0" i="0" strike="noStrike" sz="1400" u="none">
                  <a:solidFill>
                    <a:srgbClr val="1E1208"/>
                  </a:solidFill>
                  <a:latin typeface="Impac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1208"/>
                </a:solidFill>
                <a:latin typeface="Arial"/>
              </a:defRPr>
            </a:pPr>
            <a:endParaRPr lang="en-US"/>
          </a:p>
        </c:txPr>
        <c:crossAx val="2094734552"/>
        <c:crosses val="autoZero"/>
        <c:auto val="1"/>
        <c:lblAlgn val="ctr"/>
        <c:noMultiLvlLbl val="1"/>
      </c:catAx>
      <c:valAx>
        <c:axId val="2094734552"/>
        <c:scaling>
          <c:orientation val="minMax"/>
          <c:max val="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Welcome everyone. The ice breaker answers on page 1 of your guide will come back at the end. Today: a short film (already shown), then this strategy section, then a live demo,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This is the idea in one line. Schools run on many separate tools. We built one connected system around how a school actually works: assess, learn, practise.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Walk the eight steps. The assessment itself may take one hour; the work around it takes much longer. Ask: where does the time go in your department? (Their ice breaker answers may already mention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Manchester High School is about 1,800 students. Every test, lesson and class produces information. The question is whether teachers and leaders can see it, in time to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Twelve students filled in a short paper survey. A small sample, so read it as a signal, not a verdict. Step-by-step explanations came first, then practice questions. Ask the room: do these sound like your students? Wifi and offline access came up unprompted.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Ten teachers. Marking is the biggest time cost (8 of 10). Nine of ten want the system to show what an absent student missed, and nine of ten want activities for different ability levels. Eight of ten want AI-assisted lesson planning. Everything on this slide is something we have now built; the last two slides before the demo show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One school, three products with three different jobs. Assess measures learning. Learning delivers and recovers it. Play makes practice engaging. Two are already built and in use at Manchester; Play is built and held back until you choose to launch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half a minute. One line: Smart Assess is for assessment only. The next four slides show building, marking, results and security. 8 of 10 teachers named marking as their biggest time cost, so that is where we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Smart Assess is for assessments only: set it, sit it, mark it, understand it. Walk the six cards quickly. The demo will show building a test and the results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This answers the biggest survey signal: marking. Objective questions are marked the moment a student submits. For essays the teacher defines marking points; the AI can suggest a mark for each point with the words that earned it, flags where it is unsure, and the teacher edits and saves. The AI never saves a mark, never sees a student name, and only runs when a teacher asks. It is switched on per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Teachers asked who is struggling and what the common mistakes are (8 and 7 of 10). Exam insight shows, per test, which questions the class missed, the wrong answer most students chose, which students may need support and why, and the class against its last five tests. Students get My Topics: their own results by topic, with a practise button. Leaders get department and school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skip if you are short of time.
About 1 minute.
Fair and secure by design. Tab switches are logged and pasting is blocked. A student can only be signed in on one device. A lost connection does not lose the exam. Teachers can switch on read-aloud support. Integrity flags are only prompts: a person always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half a minute. Assessment tells you what happened; Smart Learning helps you act on it. The next slides cover lessons, catch-up, study support and the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Smart Learning is for learning only: lessons, study support, catch-up and reading. Assessment tells you what happened; Learning helps you act on it. Lessons follow the national curriculum 5E model. Short check questions come at three levels, support, core and stretch, which answers the 9 of 10 who asked for different activities for different ability levels. The AI drafts a lesson plan from a subject, grade and topic; the teacher reviews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The scenario: a student misses three days. The teacher records when each lesson was taught. The absent student is offered the lesson as a catch-up, works through it at their own pace, and the teacher sees who has caught up. 9 of 10 teachers asked for exactly this. The screen on the left is a real lesson from the Manchester demo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What students and teachers told us they want, and what is built: flashcards (7 of 12 students chose them) with review spacing, so cards you miss come back sooner; support, core and stretch practice per lesson; a "Current and future" page for students and teachers (what is happening now and what is coming, including upcoming assignment reminders, with no email); and the teacher resource space. The screen on the right is a real lesson builder from the demo school, with the optional AI drafting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skip if you are short of time.
About 1 minute.
The Library: books for the curriculum and books for the joy of reading, in the same place as the lessons. Smart Assess Ja chooses and clears every title (public domain or openly licensed), so schools do not upload books. The Library is built and switched on; titles are being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half a minute. Built and tested, held back until the school chooses to launch it. The next slide shows the 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Smart Play is built and tested but held back until you choose to launch it. Quick, fun practice for the classroom. It does not replace formal assessment and it never holds the school's official results. Games and exams are kept apart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This is the point of one connected system. A weak topic found in Smart Assess leads to a lesson in Smart Learning or a game in Smart Play, then back to assessment to see if it worked. No product reaches into another product's data; they share the school, the people and the topic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skip if you are short of time.
About 1.5 minutes.
Everyone sees what they need and nothing more. Teachers see classrooms. Heads of department see departments. Principals and administrators see the school. Each role has its own home page and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Be fair to the other tools: they are strong at their own jobs. Each has its own way of locking down an exam: Google needs school-managed Chromebooks, Microsoft the Windows Take a Test app, Moodle uses Safe Exam Browser, Canvas uses a third-party browser. All four auto-mark objective questions, and Moodle and Canvas report on each question, quiz by quiz. Kahoot and Quizizz are built for live games and practice. Our point is not that others cannot do one of these things; it is how many tools and handoffs a school needs. Sources are in Competitor-claims-verified.md.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Be clear about what this is not. It is not a teacher replacement: teachers stay in control of questions, marking and decisions. AI can assist with drafting and review; a person decides. It is not just a PDF on a screen: it supports the work before, during and after an assessment. And it is not three disconnected apps: the products share the school, the people and the topics.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Trust, data and AI. Each school's data lives in its own separate environment. Access rules are enforced by the database itself. Two-factor sign-in is required for every staff account, which you set up today. AI helps a teacher write and suggest; it never saves a mark and never decides. Every suggestion is reviewed by a person before it is used. The optional AI tutor stays inside a lesson, is switched on by the school, can be switched off by the principal at any time, and its conversations can be read by the teacher; worrying conversations are flagged for an adult.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This closes the loop on the survey. Left: what Manchester students and teachers told us. Right: what now exists. Be honest about the two that are not finished: step-by-step explanations are partly covered by lessons and the optional AI tutor, and offline use of flashcards and opened lessons is built and in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A starting proposal, not a plan handed down. Today is step one: experience it. Then choose where to start, pilot it with real classes, review the evidence together, and decide how to widen it. Scope, timing and measures are decided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0.5 minutes.
Hand over to the live demo. Teacher, student, leadership. Everyone signs in using page 6 of their guide. Remind them the password changes on first sign-in and that they will need their authenticator app. The system administrator is signed in by the facilitator. The questions page of the guide is for anything that comes up; we come back to questions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1.xml"/><Relationship Id="rId3" Type="http://schemas.openxmlformats.org/officeDocument/2006/relationships/chart" Target="/ppt/charts/chart2.xml"/><Relationship Id="rId1" Type="http://schemas.openxmlformats.org/officeDocument/2006/relationships/image" Target="../media/Slide-5-image-1.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Slide-6-image-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Shape 10"/>
          <p:cNvSpPr/>
          <p:nvPr/>
        </p:nvSpPr>
        <p:spPr>
          <a:xfrm>
            <a:off x="1417320" y="777240"/>
            <a:ext cx="8412480" cy="4206240"/>
          </a:xfrm>
          <a:prstGeom prst="rect">
            <a:avLst/>
          </a:prstGeom>
          <a:solidFill>
            <a:srgbClr val="1E1208"/>
          </a:solidFill>
          <a:ln/>
        </p:spPr>
      </p:sp>
      <p:sp>
        <p:nvSpPr>
          <p:cNvPr id="14" name="Shape 11"/>
          <p:cNvSpPr/>
          <p:nvPr/>
        </p:nvSpPr>
        <p:spPr>
          <a:xfrm>
            <a:off x="1417320" y="5074920"/>
            <a:ext cx="8412480" cy="128016"/>
          </a:xfrm>
          <a:prstGeom prst="rect">
            <a:avLst/>
          </a:prstGeom>
          <a:solidFill>
            <a:srgbClr val="E3B51E"/>
          </a:solidFill>
          <a:ln/>
        </p:spPr>
      </p:sp>
      <p:sp>
        <p:nvSpPr>
          <p:cNvPr id="15" name="Text 12"/>
          <p:cNvSpPr/>
          <p:nvPr/>
        </p:nvSpPr>
        <p:spPr>
          <a:xfrm>
            <a:off x="1828800" y="1097280"/>
            <a:ext cx="7315200" cy="27432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E3B51E"/>
                </a:solidFill>
                <a:latin typeface="Courier New" pitchFamily="34" charset="0"/>
                <a:ea typeface="Courier New" pitchFamily="34" charset="-122"/>
                <a:cs typeface="Courier New" pitchFamily="34" charset="-120"/>
              </a:rPr>
              <a:t>STRATEGY SESSION AND LIVE DEMONSTRATION</a:t>
            </a:r>
            <a:endParaRPr lang="en-US" sz="1200" dirty="0"/>
          </a:p>
        </p:txBody>
      </p:sp>
      <p:sp>
        <p:nvSpPr>
          <p:cNvPr id="16" name="Text 13"/>
          <p:cNvSpPr/>
          <p:nvPr/>
        </p:nvSpPr>
        <p:spPr>
          <a:xfrm>
            <a:off x="1828800" y="1508760"/>
            <a:ext cx="7680960" cy="3200400"/>
          </a:xfrm>
          <a:prstGeom prst="rect">
            <a:avLst/>
          </a:prstGeom>
          <a:noFill/>
          <a:ln/>
        </p:spPr>
        <p:txBody>
          <a:bodyPr wrap="square" lIns="0" tIns="0" rIns="0" bIns="0" rtlCol="0" anchor="t"/>
          <a:lstStyle/>
          <a:p>
            <a:pPr indent="0" marL="0">
              <a:lnSpc>
                <a:spcPct val="90000"/>
              </a:lnSpc>
              <a:buNone/>
            </a:pPr>
            <a:r>
              <a:rPr lang="en-US" sz="8400" dirty="0">
                <a:solidFill>
                  <a:srgbClr val="FFFFFF"/>
                </a:solidFill>
                <a:latin typeface="Impact" pitchFamily="34" charset="0"/>
                <a:ea typeface="Impact" pitchFamily="34" charset="-122"/>
                <a:cs typeface="Impact" pitchFamily="34" charset="-120"/>
              </a:rPr>
              <a:t>SMART</a:t>
            </a:r>
            <a:endParaRPr lang="en-US" sz="8400" dirty="0"/>
          </a:p>
          <a:p>
            <a:pPr indent="0" marL="0">
              <a:lnSpc>
                <a:spcPct val="90000"/>
              </a:lnSpc>
              <a:buNone/>
            </a:pPr>
            <a:r>
              <a:rPr lang="en-US" sz="8400" dirty="0">
                <a:solidFill>
                  <a:srgbClr val="FFFFFF"/>
                </a:solidFill>
                <a:latin typeface="Impact" pitchFamily="34" charset="0"/>
                <a:ea typeface="Impact" pitchFamily="34" charset="-122"/>
                <a:cs typeface="Impact" pitchFamily="34" charset="-120"/>
              </a:rPr>
              <a:t>ASSESS </a:t>
            </a:r>
            <a:endParaRPr lang="en-US" sz="8400" dirty="0"/>
          </a:p>
          <a:p>
            <a:pPr indent="0" marL="0">
              <a:lnSpc>
                <a:spcPct val="90000"/>
              </a:lnSpc>
              <a:buNone/>
            </a:pPr>
            <a:r>
              <a:rPr lang="en-US" sz="8400" dirty="0">
                <a:solidFill>
                  <a:srgbClr val="E3B51E"/>
                </a:solidFill>
                <a:latin typeface="Impact" pitchFamily="34" charset="0"/>
                <a:ea typeface="Impact" pitchFamily="34" charset="-122"/>
                <a:cs typeface="Impact" pitchFamily="34" charset="-120"/>
              </a:rPr>
              <a:t>JA</a:t>
            </a:r>
            <a:endParaRPr lang="en-US" sz="8400" dirty="0"/>
          </a:p>
        </p:txBody>
      </p:sp>
      <p:sp>
        <p:nvSpPr>
          <p:cNvPr id="17" name="Text 14"/>
          <p:cNvSpPr/>
          <p:nvPr/>
        </p:nvSpPr>
        <p:spPr>
          <a:xfrm>
            <a:off x="1417320" y="5577840"/>
            <a:ext cx="8412480" cy="457200"/>
          </a:xfrm>
          <a:prstGeom prst="rect">
            <a:avLst/>
          </a:prstGeom>
          <a:noFill/>
          <a:ln/>
        </p:spPr>
        <p:txBody>
          <a:bodyPr wrap="square" lIns="0" tIns="0" rIns="0" bIns="0" rtlCol="0" anchor="t"/>
          <a:lstStyle/>
          <a:p>
            <a:pPr algn="l" indent="0" marL="0">
              <a:lnSpc>
                <a:spcPct val="110000"/>
              </a:lnSpc>
              <a:buNone/>
            </a:pPr>
            <a:r>
              <a:rPr lang="en-US" sz="2400" b="1" dirty="0">
                <a:solidFill>
                  <a:srgbClr val="1E1208"/>
                </a:solidFill>
                <a:latin typeface="Arial" pitchFamily="34" charset="0"/>
                <a:ea typeface="Arial" pitchFamily="34" charset="-122"/>
                <a:cs typeface="Arial" pitchFamily="34" charset="-120"/>
              </a:rPr>
              <a:t>Smarter assessments. Better learning.</a:t>
            </a:r>
            <a:endParaRPr lang="en-US" sz="2400" dirty="0"/>
          </a:p>
        </p:txBody>
      </p:sp>
      <p:sp>
        <p:nvSpPr>
          <p:cNvPr id="18" name="Text 15"/>
          <p:cNvSpPr/>
          <p:nvPr/>
        </p:nvSpPr>
        <p:spPr>
          <a:xfrm>
            <a:off x="1417320" y="6172200"/>
            <a:ext cx="8229600" cy="27432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1E1208"/>
                </a:solidFill>
                <a:latin typeface="Courier New" pitchFamily="34" charset="0"/>
                <a:ea typeface="Courier New" pitchFamily="34" charset="-122"/>
                <a:cs typeface="Courier New" pitchFamily="34" charset="-120"/>
              </a:rPr>
              <a:t>BUILT FOR MANCHESTER HIGH SCHOOL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WHY WE BUILT IT</a:t>
            </a:r>
            <a:endParaRPr lang="en-US" sz="1150" dirty="0"/>
          </a:p>
        </p:txBody>
      </p:sp>
      <p:sp>
        <p:nvSpPr>
          <p:cNvPr id="14" name="Text 11"/>
          <p:cNvSpPr/>
          <p:nvPr/>
        </p:nvSpPr>
        <p:spPr>
          <a:xfrm>
            <a:off x="1417320" y="1188720"/>
            <a:ext cx="9326880" cy="2926080"/>
          </a:xfrm>
          <a:prstGeom prst="rect">
            <a:avLst/>
          </a:prstGeom>
          <a:noFill/>
          <a:ln/>
        </p:spPr>
        <p:txBody>
          <a:bodyPr wrap="square" lIns="0" tIns="0" rIns="0" bIns="0" rtlCol="0" anchor="t"/>
          <a:lstStyle/>
          <a:p>
            <a:pPr indent="0" marL="0">
              <a:lnSpc>
                <a:spcPct val="95000"/>
              </a:lnSpc>
              <a:buNone/>
            </a:pPr>
            <a:r>
              <a:rPr lang="en-US" sz="6000" dirty="0">
                <a:solidFill>
                  <a:srgbClr val="1E1208"/>
                </a:solidFill>
                <a:latin typeface="Impact" pitchFamily="34" charset="0"/>
                <a:ea typeface="Impact" pitchFamily="34" charset="-122"/>
                <a:cs typeface="Impact" pitchFamily="34" charset="-120"/>
              </a:rPr>
              <a:t>TECHNOLOGY FINALLY ORGANISED AROUND HOW A SCHOOL ACTUALLY WORKS.</a:t>
            </a:r>
            <a:endParaRPr lang="en-US" sz="6000" dirty="0"/>
          </a:p>
        </p:txBody>
      </p:sp>
      <p:sp>
        <p:nvSpPr>
          <p:cNvPr id="15" name="Text 12"/>
          <p:cNvSpPr/>
          <p:nvPr/>
        </p:nvSpPr>
        <p:spPr>
          <a:xfrm>
            <a:off x="1417320" y="4526280"/>
            <a:ext cx="8229600" cy="457200"/>
          </a:xfrm>
          <a:prstGeom prst="rect">
            <a:avLst/>
          </a:prstGeom>
          <a:noFill/>
          <a:ln/>
        </p:spPr>
        <p:txBody>
          <a:bodyPr wrap="square" lIns="0" tIns="0" rIns="0" bIns="0" rtlCol="0" anchor="t"/>
          <a:lstStyle/>
          <a:p>
            <a:pPr algn="l" indent="0" marL="0">
              <a:lnSpc>
                <a:spcPct val="110000"/>
              </a:lnSpc>
              <a:buNone/>
            </a:pPr>
            <a:r>
              <a:rPr lang="en-US" sz="2400" b="1" dirty="0">
                <a:solidFill>
                  <a:srgbClr val="1E1208"/>
                </a:solidFill>
                <a:latin typeface="Arial" pitchFamily="34" charset="0"/>
                <a:ea typeface="Arial" pitchFamily="34" charset="-122"/>
                <a:cs typeface="Arial" pitchFamily="34" charset="-120"/>
              </a:rPr>
              <a:t>That is the idea behind Smart Assess Ja.</a:t>
            </a:r>
            <a:endParaRPr lang="en-US" sz="2400" dirty="0"/>
          </a:p>
        </p:txBody>
      </p:sp>
      <p:sp>
        <p:nvSpPr>
          <p:cNvPr id="16" name="Shape 13"/>
          <p:cNvSpPr/>
          <p:nvPr/>
        </p:nvSpPr>
        <p:spPr>
          <a:xfrm>
            <a:off x="1417320" y="5349240"/>
            <a:ext cx="1645920" cy="310896"/>
          </a:xfrm>
          <a:prstGeom prst="rect">
            <a:avLst/>
          </a:prstGeom>
          <a:solidFill>
            <a:srgbClr val="D4762A"/>
          </a:solidFill>
          <a:ln w="19050">
            <a:solidFill>
              <a:srgbClr val="1E1208"/>
            </a:solidFill>
            <a:prstDash val="solid"/>
          </a:ln>
        </p:spPr>
      </p:sp>
      <p:sp>
        <p:nvSpPr>
          <p:cNvPr id="17" name="Text 14"/>
          <p:cNvSpPr/>
          <p:nvPr/>
        </p:nvSpPr>
        <p:spPr>
          <a:xfrm>
            <a:off x="1417320" y="5349240"/>
            <a:ext cx="1645920" cy="310896"/>
          </a:xfrm>
          <a:prstGeom prst="rect">
            <a:avLst/>
          </a:prstGeom>
          <a:noFill/>
          <a:ln/>
        </p:spPr>
        <p:txBody>
          <a:bodyPr wrap="square" lIns="0" tIns="0" rIns="0" bIns="0" rtlCol="0" anchor="ctr"/>
          <a:lstStyle/>
          <a:p>
            <a:pPr algn="ctr" indent="0" marL="0">
              <a:lnSpc>
                <a:spcPct val="110000"/>
              </a:lnSpc>
              <a:buNone/>
            </a:pPr>
            <a:r>
              <a:rPr lang="en-US" sz="1000" b="1" spc="200" kern="0" dirty="0">
                <a:solidFill>
                  <a:srgbClr val="1E1208"/>
                </a:solidFill>
                <a:latin typeface="Courier New" pitchFamily="34" charset="0"/>
                <a:ea typeface="Courier New" pitchFamily="34" charset="-122"/>
                <a:cs typeface="Courier New" pitchFamily="34" charset="-120"/>
              </a:rPr>
              <a:t>ASSESS</a:t>
            </a:r>
            <a:endParaRPr lang="en-US" sz="1000" dirty="0"/>
          </a:p>
        </p:txBody>
      </p:sp>
      <p:sp>
        <p:nvSpPr>
          <p:cNvPr id="18" name="Shape 15"/>
          <p:cNvSpPr/>
          <p:nvPr/>
        </p:nvSpPr>
        <p:spPr>
          <a:xfrm>
            <a:off x="3246120" y="5349240"/>
            <a:ext cx="1645920" cy="310896"/>
          </a:xfrm>
          <a:prstGeom prst="rect">
            <a:avLst/>
          </a:prstGeom>
          <a:solidFill>
            <a:srgbClr val="E3B51E"/>
          </a:solidFill>
          <a:ln w="19050">
            <a:solidFill>
              <a:srgbClr val="1E1208"/>
            </a:solidFill>
            <a:prstDash val="solid"/>
          </a:ln>
        </p:spPr>
      </p:sp>
      <p:sp>
        <p:nvSpPr>
          <p:cNvPr id="19" name="Text 16"/>
          <p:cNvSpPr/>
          <p:nvPr/>
        </p:nvSpPr>
        <p:spPr>
          <a:xfrm>
            <a:off x="3246120" y="5349240"/>
            <a:ext cx="1645920" cy="310896"/>
          </a:xfrm>
          <a:prstGeom prst="rect">
            <a:avLst/>
          </a:prstGeom>
          <a:noFill/>
          <a:ln/>
        </p:spPr>
        <p:txBody>
          <a:bodyPr wrap="square" lIns="0" tIns="0" rIns="0" bIns="0" rtlCol="0" anchor="ctr"/>
          <a:lstStyle/>
          <a:p>
            <a:pPr algn="ctr" indent="0" marL="0">
              <a:lnSpc>
                <a:spcPct val="110000"/>
              </a:lnSpc>
              <a:buNone/>
            </a:pPr>
            <a:r>
              <a:rPr lang="en-US" sz="1000" b="1" spc="200" kern="0" dirty="0">
                <a:solidFill>
                  <a:srgbClr val="1E1208"/>
                </a:solidFill>
                <a:latin typeface="Courier New" pitchFamily="34" charset="0"/>
                <a:ea typeface="Courier New" pitchFamily="34" charset="-122"/>
                <a:cs typeface="Courier New" pitchFamily="34" charset="-120"/>
              </a:rPr>
              <a:t>LEARN</a:t>
            </a:r>
            <a:endParaRPr lang="en-US" sz="1000" dirty="0"/>
          </a:p>
        </p:txBody>
      </p:sp>
      <p:sp>
        <p:nvSpPr>
          <p:cNvPr id="20" name="Shape 17"/>
          <p:cNvSpPr/>
          <p:nvPr/>
        </p:nvSpPr>
        <p:spPr>
          <a:xfrm>
            <a:off x="5074920" y="5349240"/>
            <a:ext cx="1645920" cy="310896"/>
          </a:xfrm>
          <a:prstGeom prst="rect">
            <a:avLst/>
          </a:prstGeom>
          <a:solidFill>
            <a:srgbClr val="1E1208"/>
          </a:solidFill>
          <a:ln w="19050">
            <a:solidFill>
              <a:srgbClr val="1E1208"/>
            </a:solidFill>
            <a:prstDash val="solid"/>
          </a:ln>
        </p:spPr>
      </p:sp>
      <p:sp>
        <p:nvSpPr>
          <p:cNvPr id="21" name="Text 18"/>
          <p:cNvSpPr/>
          <p:nvPr/>
        </p:nvSpPr>
        <p:spPr>
          <a:xfrm>
            <a:off x="5074920" y="5349240"/>
            <a:ext cx="1645920" cy="310896"/>
          </a:xfrm>
          <a:prstGeom prst="rect">
            <a:avLst/>
          </a:prstGeom>
          <a:noFill/>
          <a:ln/>
        </p:spPr>
        <p:txBody>
          <a:bodyPr wrap="square" lIns="0" tIns="0" rIns="0" bIns="0" rtlCol="0" anchor="ctr"/>
          <a:lstStyle/>
          <a:p>
            <a:pPr algn="ctr" indent="0" marL="0">
              <a:lnSpc>
                <a:spcPct val="110000"/>
              </a:lnSpc>
              <a:buNone/>
            </a:pPr>
            <a:r>
              <a:rPr lang="en-US" sz="1000" b="1" spc="200" kern="0" dirty="0">
                <a:solidFill>
                  <a:srgbClr val="FFFFFF"/>
                </a:solidFill>
                <a:latin typeface="Courier New" pitchFamily="34" charset="0"/>
                <a:ea typeface="Courier New" pitchFamily="34" charset="-122"/>
                <a:cs typeface="Courier New" pitchFamily="34" charset="-120"/>
              </a:rPr>
              <a:t>PRACTISE</a:t>
            </a:r>
            <a:endParaRPr lang="en-US" sz="1000" dirty="0"/>
          </a:p>
        </p:txBody>
      </p:sp>
      <p:sp>
        <p:nvSpPr>
          <p:cNvPr id="22" name="Text 19"/>
          <p:cNvSpPr/>
          <p:nvPr/>
        </p:nvSpPr>
        <p:spPr>
          <a:xfrm>
            <a:off x="1417320" y="5943600"/>
            <a:ext cx="9144000" cy="365760"/>
          </a:xfrm>
          <a:prstGeom prst="rect">
            <a:avLst/>
          </a:prstGeom>
          <a:noFill/>
          <a:ln/>
        </p:spPr>
        <p:txBody>
          <a:bodyPr wrap="square" lIns="0" tIns="0" rIns="0" bIns="0" rtlCol="0" anchor="t"/>
          <a:lstStyle/>
          <a:p>
            <a:pPr algn="l" indent="0" marL="0">
              <a:lnSpc>
                <a:spcPct val="110000"/>
              </a:lnSpc>
              <a:buNone/>
            </a:pPr>
            <a:r>
              <a:rPr lang="en-US" sz="1600" dirty="0">
                <a:solidFill>
                  <a:srgbClr val="555555"/>
                </a:solidFill>
                <a:latin typeface="Arial" pitchFamily="34" charset="0"/>
                <a:ea typeface="Arial" pitchFamily="34" charset="-122"/>
                <a:cs typeface="Arial" pitchFamily="34" charset="-120"/>
              </a:rPr>
              <a:t>One school. One set of people. One shared topic list.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THE PROBLEM</a:t>
            </a:r>
            <a:endParaRPr lang="en-US" sz="115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indent="0" marL="0">
              <a:buNone/>
            </a:pPr>
            <a:r>
              <a:rPr lang="en-US" sz="4300" dirty="0">
                <a:solidFill>
                  <a:srgbClr val="1E1208"/>
                </a:solidFill>
                <a:latin typeface="Impact" pitchFamily="34" charset="0"/>
                <a:ea typeface="Impact" pitchFamily="34" charset="-122"/>
                <a:cs typeface="Impact" pitchFamily="34" charset="-120"/>
              </a:rPr>
              <a:t>EVERY TERM, LEARNING TRAVELS ONTO PAPER, AND BACK AGAIN</a:t>
            </a:r>
            <a:endParaRPr lang="en-US" sz="4300" dirty="0"/>
          </a:p>
        </p:txBody>
      </p:sp>
      <p:sp>
        <p:nvSpPr>
          <p:cNvPr id="15" name="Shape 12"/>
          <p:cNvSpPr/>
          <p:nvPr/>
        </p:nvSpPr>
        <p:spPr>
          <a:xfrm>
            <a:off x="1417320" y="2148840"/>
            <a:ext cx="2240280" cy="1508760"/>
          </a:xfrm>
          <a:prstGeom prst="rect">
            <a:avLst/>
          </a:prstGeom>
          <a:solidFill>
            <a:srgbClr val="FFFFFF"/>
          </a:solidFill>
          <a:ln w="25400">
            <a:solidFill>
              <a:srgbClr val="1E1208"/>
            </a:solidFill>
            <a:prstDash val="solid"/>
          </a:ln>
        </p:spPr>
      </p:sp>
      <p:sp>
        <p:nvSpPr>
          <p:cNvPr id="16" name="Shape 13"/>
          <p:cNvSpPr/>
          <p:nvPr/>
        </p:nvSpPr>
        <p:spPr>
          <a:xfrm>
            <a:off x="1417320" y="2148840"/>
            <a:ext cx="640080" cy="1508760"/>
          </a:xfrm>
          <a:prstGeom prst="rect">
            <a:avLst/>
          </a:prstGeom>
          <a:solidFill>
            <a:srgbClr val="FBE9D6"/>
          </a:solidFill>
          <a:ln w="25400">
            <a:solidFill>
              <a:srgbClr val="1E1208"/>
            </a:solidFill>
            <a:prstDash val="solid"/>
          </a:ln>
        </p:spPr>
      </p:sp>
      <p:sp>
        <p:nvSpPr>
          <p:cNvPr id="17" name="Text 14"/>
          <p:cNvSpPr/>
          <p:nvPr/>
        </p:nvSpPr>
        <p:spPr>
          <a:xfrm>
            <a:off x="1417320" y="2148840"/>
            <a:ext cx="640080" cy="1508760"/>
          </a:xfrm>
          <a:prstGeom prst="rect">
            <a:avLst/>
          </a:prstGeom>
          <a:noFill/>
          <a:ln/>
        </p:spPr>
        <p:txBody>
          <a:bodyPr wrap="square" lIns="0" tIns="0" rIns="0" bIns="0" rtlCol="0" anchor="ctr"/>
          <a:lstStyle/>
          <a:p>
            <a:pPr algn="ctr" indent="0" marL="0">
              <a:lnSpc>
                <a:spcPct val="110000"/>
              </a:lnSpc>
              <a:buNone/>
            </a:pPr>
            <a:r>
              <a:rPr lang="en-US" sz="3600" dirty="0">
                <a:solidFill>
                  <a:srgbClr val="1E1208"/>
                </a:solidFill>
                <a:latin typeface="Impact" pitchFamily="34" charset="0"/>
                <a:ea typeface="Impact" pitchFamily="34" charset="-122"/>
                <a:cs typeface="Impact" pitchFamily="34" charset="-120"/>
              </a:rPr>
              <a:t>1</a:t>
            </a:r>
            <a:endParaRPr lang="en-US" sz="3600" dirty="0"/>
          </a:p>
        </p:txBody>
      </p:sp>
      <p:sp>
        <p:nvSpPr>
          <p:cNvPr id="18" name="Text 15"/>
          <p:cNvSpPr/>
          <p:nvPr/>
        </p:nvSpPr>
        <p:spPr>
          <a:xfrm>
            <a:off x="2167128" y="2377440"/>
            <a:ext cx="1417320" cy="365760"/>
          </a:xfrm>
          <a:prstGeom prst="rect">
            <a:avLst/>
          </a:prstGeom>
          <a:noFill/>
          <a:ln/>
        </p:spPr>
        <p:txBody>
          <a:bodyPr wrap="square" lIns="0" tIns="0" rIns="0" bIns="0" rtlCol="0" anchor="t"/>
          <a:lstStyle/>
          <a:p>
            <a:pPr algn="l" indent="0" marL="0">
              <a:lnSpc>
                <a:spcPct val="110000"/>
              </a:lnSpc>
              <a:buNone/>
            </a:pPr>
            <a:r>
              <a:rPr lang="en-US" sz="2000" dirty="0">
                <a:solidFill>
                  <a:srgbClr val="1E1208"/>
                </a:solidFill>
                <a:latin typeface="Impact" pitchFamily="34" charset="0"/>
                <a:ea typeface="Impact" pitchFamily="34" charset="-122"/>
                <a:cs typeface="Impact" pitchFamily="34" charset="-120"/>
              </a:rPr>
              <a:t>CREATE</a:t>
            </a:r>
            <a:endParaRPr lang="en-US" sz="2000" dirty="0"/>
          </a:p>
        </p:txBody>
      </p:sp>
      <p:sp>
        <p:nvSpPr>
          <p:cNvPr id="19" name="Text 16"/>
          <p:cNvSpPr/>
          <p:nvPr/>
        </p:nvSpPr>
        <p:spPr>
          <a:xfrm>
            <a:off x="2167128" y="2834640"/>
            <a:ext cx="1417320" cy="73152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Teacher creates the exam</a:t>
            </a:r>
            <a:endParaRPr lang="en-US" sz="1250" dirty="0"/>
          </a:p>
        </p:txBody>
      </p:sp>
      <p:sp>
        <p:nvSpPr>
          <p:cNvPr id="20" name="Shape 17"/>
          <p:cNvSpPr/>
          <p:nvPr/>
        </p:nvSpPr>
        <p:spPr>
          <a:xfrm>
            <a:off x="3813048" y="2148840"/>
            <a:ext cx="2240280" cy="1508760"/>
          </a:xfrm>
          <a:prstGeom prst="rect">
            <a:avLst/>
          </a:prstGeom>
          <a:solidFill>
            <a:srgbClr val="FFFFFF"/>
          </a:solidFill>
          <a:ln w="25400">
            <a:solidFill>
              <a:srgbClr val="1E1208"/>
            </a:solidFill>
            <a:prstDash val="solid"/>
          </a:ln>
        </p:spPr>
      </p:sp>
      <p:sp>
        <p:nvSpPr>
          <p:cNvPr id="21" name="Shape 18"/>
          <p:cNvSpPr/>
          <p:nvPr/>
        </p:nvSpPr>
        <p:spPr>
          <a:xfrm>
            <a:off x="3813048" y="2148840"/>
            <a:ext cx="640080" cy="1508760"/>
          </a:xfrm>
          <a:prstGeom prst="rect">
            <a:avLst/>
          </a:prstGeom>
          <a:solidFill>
            <a:srgbClr val="FBE9D6"/>
          </a:solidFill>
          <a:ln w="25400">
            <a:solidFill>
              <a:srgbClr val="1E1208"/>
            </a:solidFill>
            <a:prstDash val="solid"/>
          </a:ln>
        </p:spPr>
      </p:sp>
      <p:sp>
        <p:nvSpPr>
          <p:cNvPr id="22" name="Text 19"/>
          <p:cNvSpPr/>
          <p:nvPr/>
        </p:nvSpPr>
        <p:spPr>
          <a:xfrm>
            <a:off x="3813048" y="2148840"/>
            <a:ext cx="640080" cy="1508760"/>
          </a:xfrm>
          <a:prstGeom prst="rect">
            <a:avLst/>
          </a:prstGeom>
          <a:noFill/>
          <a:ln/>
        </p:spPr>
        <p:txBody>
          <a:bodyPr wrap="square" lIns="0" tIns="0" rIns="0" bIns="0" rtlCol="0" anchor="ctr"/>
          <a:lstStyle/>
          <a:p>
            <a:pPr algn="ctr" indent="0" marL="0">
              <a:lnSpc>
                <a:spcPct val="110000"/>
              </a:lnSpc>
              <a:buNone/>
            </a:pPr>
            <a:r>
              <a:rPr lang="en-US" sz="3600" dirty="0">
                <a:solidFill>
                  <a:srgbClr val="1E1208"/>
                </a:solidFill>
                <a:latin typeface="Impact" pitchFamily="34" charset="0"/>
                <a:ea typeface="Impact" pitchFamily="34" charset="-122"/>
                <a:cs typeface="Impact" pitchFamily="34" charset="-120"/>
              </a:rPr>
              <a:t>2</a:t>
            </a:r>
            <a:endParaRPr lang="en-US" sz="3600" dirty="0"/>
          </a:p>
        </p:txBody>
      </p:sp>
      <p:sp>
        <p:nvSpPr>
          <p:cNvPr id="23" name="Text 20"/>
          <p:cNvSpPr/>
          <p:nvPr/>
        </p:nvSpPr>
        <p:spPr>
          <a:xfrm>
            <a:off x="4562856" y="2377440"/>
            <a:ext cx="1417320" cy="365760"/>
          </a:xfrm>
          <a:prstGeom prst="rect">
            <a:avLst/>
          </a:prstGeom>
          <a:noFill/>
          <a:ln/>
        </p:spPr>
        <p:txBody>
          <a:bodyPr wrap="square" lIns="0" tIns="0" rIns="0" bIns="0" rtlCol="0" anchor="t"/>
          <a:lstStyle/>
          <a:p>
            <a:pPr algn="l" indent="0" marL="0">
              <a:lnSpc>
                <a:spcPct val="110000"/>
              </a:lnSpc>
              <a:buNone/>
            </a:pPr>
            <a:r>
              <a:rPr lang="en-US" sz="2000" dirty="0">
                <a:solidFill>
                  <a:srgbClr val="1E1208"/>
                </a:solidFill>
                <a:latin typeface="Impact" pitchFamily="34" charset="0"/>
                <a:ea typeface="Impact" pitchFamily="34" charset="-122"/>
                <a:cs typeface="Impact" pitchFamily="34" charset="-120"/>
              </a:rPr>
              <a:t>PRINT</a:t>
            </a:r>
            <a:endParaRPr lang="en-US" sz="2000" dirty="0"/>
          </a:p>
        </p:txBody>
      </p:sp>
      <p:sp>
        <p:nvSpPr>
          <p:cNvPr id="24" name="Text 21"/>
          <p:cNvSpPr/>
          <p:nvPr/>
        </p:nvSpPr>
        <p:spPr>
          <a:xfrm>
            <a:off x="4562856" y="2834640"/>
            <a:ext cx="1417320" cy="73152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Copies are printed</a:t>
            </a:r>
            <a:endParaRPr lang="en-US" sz="1250" dirty="0"/>
          </a:p>
        </p:txBody>
      </p:sp>
      <p:sp>
        <p:nvSpPr>
          <p:cNvPr id="25" name="Shape 22"/>
          <p:cNvSpPr/>
          <p:nvPr/>
        </p:nvSpPr>
        <p:spPr>
          <a:xfrm>
            <a:off x="6208776" y="2148840"/>
            <a:ext cx="2240280" cy="1508760"/>
          </a:xfrm>
          <a:prstGeom prst="rect">
            <a:avLst/>
          </a:prstGeom>
          <a:solidFill>
            <a:srgbClr val="FFFFFF"/>
          </a:solidFill>
          <a:ln w="25400">
            <a:solidFill>
              <a:srgbClr val="1E1208"/>
            </a:solidFill>
            <a:prstDash val="solid"/>
          </a:ln>
        </p:spPr>
      </p:sp>
      <p:sp>
        <p:nvSpPr>
          <p:cNvPr id="26" name="Shape 23"/>
          <p:cNvSpPr/>
          <p:nvPr/>
        </p:nvSpPr>
        <p:spPr>
          <a:xfrm>
            <a:off x="6208776" y="2148840"/>
            <a:ext cx="640080" cy="1508760"/>
          </a:xfrm>
          <a:prstGeom prst="rect">
            <a:avLst/>
          </a:prstGeom>
          <a:solidFill>
            <a:srgbClr val="FBE9D6"/>
          </a:solidFill>
          <a:ln w="25400">
            <a:solidFill>
              <a:srgbClr val="1E1208"/>
            </a:solidFill>
            <a:prstDash val="solid"/>
          </a:ln>
        </p:spPr>
      </p:sp>
      <p:sp>
        <p:nvSpPr>
          <p:cNvPr id="27" name="Text 24"/>
          <p:cNvSpPr/>
          <p:nvPr/>
        </p:nvSpPr>
        <p:spPr>
          <a:xfrm>
            <a:off x="6208776" y="2148840"/>
            <a:ext cx="640080" cy="1508760"/>
          </a:xfrm>
          <a:prstGeom prst="rect">
            <a:avLst/>
          </a:prstGeom>
          <a:noFill/>
          <a:ln/>
        </p:spPr>
        <p:txBody>
          <a:bodyPr wrap="square" lIns="0" tIns="0" rIns="0" bIns="0" rtlCol="0" anchor="ctr"/>
          <a:lstStyle/>
          <a:p>
            <a:pPr algn="ctr" indent="0" marL="0">
              <a:lnSpc>
                <a:spcPct val="110000"/>
              </a:lnSpc>
              <a:buNone/>
            </a:pPr>
            <a:r>
              <a:rPr lang="en-US" sz="3600" dirty="0">
                <a:solidFill>
                  <a:srgbClr val="1E1208"/>
                </a:solidFill>
                <a:latin typeface="Impact" pitchFamily="34" charset="0"/>
                <a:ea typeface="Impact" pitchFamily="34" charset="-122"/>
                <a:cs typeface="Impact" pitchFamily="34" charset="-120"/>
              </a:rPr>
              <a:t>3</a:t>
            </a:r>
            <a:endParaRPr lang="en-US" sz="3600" dirty="0"/>
          </a:p>
        </p:txBody>
      </p:sp>
      <p:sp>
        <p:nvSpPr>
          <p:cNvPr id="28" name="Text 25"/>
          <p:cNvSpPr/>
          <p:nvPr/>
        </p:nvSpPr>
        <p:spPr>
          <a:xfrm>
            <a:off x="6958584" y="2377440"/>
            <a:ext cx="1417320" cy="365760"/>
          </a:xfrm>
          <a:prstGeom prst="rect">
            <a:avLst/>
          </a:prstGeom>
          <a:noFill/>
          <a:ln/>
        </p:spPr>
        <p:txBody>
          <a:bodyPr wrap="square" lIns="0" tIns="0" rIns="0" bIns="0" rtlCol="0" anchor="t"/>
          <a:lstStyle/>
          <a:p>
            <a:pPr algn="l" indent="0" marL="0">
              <a:lnSpc>
                <a:spcPct val="110000"/>
              </a:lnSpc>
              <a:buNone/>
            </a:pPr>
            <a:r>
              <a:rPr lang="en-US" sz="2000" dirty="0">
                <a:solidFill>
                  <a:srgbClr val="1E1208"/>
                </a:solidFill>
                <a:latin typeface="Impact" pitchFamily="34" charset="0"/>
                <a:ea typeface="Impact" pitchFamily="34" charset="-122"/>
                <a:cs typeface="Impact" pitchFamily="34" charset="-120"/>
              </a:rPr>
              <a:t>COPY</a:t>
            </a:r>
            <a:endParaRPr lang="en-US" sz="2000" dirty="0"/>
          </a:p>
        </p:txBody>
      </p:sp>
      <p:sp>
        <p:nvSpPr>
          <p:cNvPr id="29" name="Text 26"/>
          <p:cNvSpPr/>
          <p:nvPr/>
        </p:nvSpPr>
        <p:spPr>
          <a:xfrm>
            <a:off x="6958584" y="2834640"/>
            <a:ext cx="1417320" cy="73152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Enough papers are prepared</a:t>
            </a:r>
            <a:endParaRPr lang="en-US" sz="1250" dirty="0"/>
          </a:p>
        </p:txBody>
      </p:sp>
      <p:sp>
        <p:nvSpPr>
          <p:cNvPr id="30" name="Shape 27"/>
          <p:cNvSpPr/>
          <p:nvPr/>
        </p:nvSpPr>
        <p:spPr>
          <a:xfrm>
            <a:off x="8604504" y="2148840"/>
            <a:ext cx="2240280" cy="1508760"/>
          </a:xfrm>
          <a:prstGeom prst="rect">
            <a:avLst/>
          </a:prstGeom>
          <a:solidFill>
            <a:srgbClr val="FFFFFF"/>
          </a:solidFill>
          <a:ln w="25400">
            <a:solidFill>
              <a:srgbClr val="1E1208"/>
            </a:solidFill>
            <a:prstDash val="solid"/>
          </a:ln>
        </p:spPr>
      </p:sp>
      <p:sp>
        <p:nvSpPr>
          <p:cNvPr id="31" name="Shape 28"/>
          <p:cNvSpPr/>
          <p:nvPr/>
        </p:nvSpPr>
        <p:spPr>
          <a:xfrm>
            <a:off x="8604504" y="2148840"/>
            <a:ext cx="640080" cy="1508760"/>
          </a:xfrm>
          <a:prstGeom prst="rect">
            <a:avLst/>
          </a:prstGeom>
          <a:solidFill>
            <a:srgbClr val="FBE9D6"/>
          </a:solidFill>
          <a:ln w="25400">
            <a:solidFill>
              <a:srgbClr val="1E1208"/>
            </a:solidFill>
            <a:prstDash val="solid"/>
          </a:ln>
        </p:spPr>
      </p:sp>
      <p:sp>
        <p:nvSpPr>
          <p:cNvPr id="32" name="Text 29"/>
          <p:cNvSpPr/>
          <p:nvPr/>
        </p:nvSpPr>
        <p:spPr>
          <a:xfrm>
            <a:off x="8604504" y="2148840"/>
            <a:ext cx="640080" cy="1508760"/>
          </a:xfrm>
          <a:prstGeom prst="rect">
            <a:avLst/>
          </a:prstGeom>
          <a:noFill/>
          <a:ln/>
        </p:spPr>
        <p:txBody>
          <a:bodyPr wrap="square" lIns="0" tIns="0" rIns="0" bIns="0" rtlCol="0" anchor="ctr"/>
          <a:lstStyle/>
          <a:p>
            <a:pPr algn="ctr" indent="0" marL="0">
              <a:lnSpc>
                <a:spcPct val="110000"/>
              </a:lnSpc>
              <a:buNone/>
            </a:pPr>
            <a:r>
              <a:rPr lang="en-US" sz="3600" dirty="0">
                <a:solidFill>
                  <a:srgbClr val="1E1208"/>
                </a:solidFill>
                <a:latin typeface="Impact" pitchFamily="34" charset="0"/>
                <a:ea typeface="Impact" pitchFamily="34" charset="-122"/>
                <a:cs typeface="Impact" pitchFamily="34" charset="-120"/>
              </a:rPr>
              <a:t>4</a:t>
            </a:r>
            <a:endParaRPr lang="en-US" sz="3600" dirty="0"/>
          </a:p>
        </p:txBody>
      </p:sp>
      <p:sp>
        <p:nvSpPr>
          <p:cNvPr id="33" name="Text 30"/>
          <p:cNvSpPr/>
          <p:nvPr/>
        </p:nvSpPr>
        <p:spPr>
          <a:xfrm>
            <a:off x="9354312" y="2377440"/>
            <a:ext cx="1417320" cy="365760"/>
          </a:xfrm>
          <a:prstGeom prst="rect">
            <a:avLst/>
          </a:prstGeom>
          <a:noFill/>
          <a:ln/>
        </p:spPr>
        <p:txBody>
          <a:bodyPr wrap="square" lIns="0" tIns="0" rIns="0" bIns="0" rtlCol="0" anchor="t"/>
          <a:lstStyle/>
          <a:p>
            <a:pPr algn="l" indent="0" marL="0">
              <a:lnSpc>
                <a:spcPct val="110000"/>
              </a:lnSpc>
              <a:buNone/>
            </a:pPr>
            <a:r>
              <a:rPr lang="en-US" sz="2000" dirty="0">
                <a:solidFill>
                  <a:srgbClr val="1E1208"/>
                </a:solidFill>
                <a:latin typeface="Impact" pitchFamily="34" charset="0"/>
                <a:ea typeface="Impact" pitchFamily="34" charset="-122"/>
                <a:cs typeface="Impact" pitchFamily="34" charset="-120"/>
              </a:rPr>
              <a:t>ADMINISTER</a:t>
            </a:r>
            <a:endParaRPr lang="en-US" sz="2000" dirty="0"/>
          </a:p>
        </p:txBody>
      </p:sp>
      <p:sp>
        <p:nvSpPr>
          <p:cNvPr id="34" name="Text 31"/>
          <p:cNvSpPr/>
          <p:nvPr/>
        </p:nvSpPr>
        <p:spPr>
          <a:xfrm>
            <a:off x="9354312" y="2834640"/>
            <a:ext cx="1417320" cy="73152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Students sit the exam</a:t>
            </a:r>
            <a:endParaRPr lang="en-US" sz="1250" dirty="0"/>
          </a:p>
        </p:txBody>
      </p:sp>
      <p:sp>
        <p:nvSpPr>
          <p:cNvPr id="35" name="Shape 32"/>
          <p:cNvSpPr/>
          <p:nvPr/>
        </p:nvSpPr>
        <p:spPr>
          <a:xfrm>
            <a:off x="1417320" y="3840480"/>
            <a:ext cx="2240280" cy="1508760"/>
          </a:xfrm>
          <a:prstGeom prst="rect">
            <a:avLst/>
          </a:prstGeom>
          <a:solidFill>
            <a:srgbClr val="FFFFFF"/>
          </a:solidFill>
          <a:ln w="25400">
            <a:solidFill>
              <a:srgbClr val="1E1208"/>
            </a:solidFill>
            <a:prstDash val="solid"/>
          </a:ln>
        </p:spPr>
      </p:sp>
      <p:sp>
        <p:nvSpPr>
          <p:cNvPr id="36" name="Shape 33"/>
          <p:cNvSpPr/>
          <p:nvPr/>
        </p:nvSpPr>
        <p:spPr>
          <a:xfrm>
            <a:off x="1417320" y="3840480"/>
            <a:ext cx="640080" cy="1508760"/>
          </a:xfrm>
          <a:prstGeom prst="rect">
            <a:avLst/>
          </a:prstGeom>
          <a:solidFill>
            <a:srgbClr val="FBE9D6"/>
          </a:solidFill>
          <a:ln w="25400">
            <a:solidFill>
              <a:srgbClr val="1E1208"/>
            </a:solidFill>
            <a:prstDash val="solid"/>
          </a:ln>
        </p:spPr>
      </p:sp>
      <p:sp>
        <p:nvSpPr>
          <p:cNvPr id="37" name="Text 34"/>
          <p:cNvSpPr/>
          <p:nvPr/>
        </p:nvSpPr>
        <p:spPr>
          <a:xfrm>
            <a:off x="1417320" y="3840480"/>
            <a:ext cx="640080" cy="1508760"/>
          </a:xfrm>
          <a:prstGeom prst="rect">
            <a:avLst/>
          </a:prstGeom>
          <a:noFill/>
          <a:ln/>
        </p:spPr>
        <p:txBody>
          <a:bodyPr wrap="square" lIns="0" tIns="0" rIns="0" bIns="0" rtlCol="0" anchor="ctr"/>
          <a:lstStyle/>
          <a:p>
            <a:pPr algn="ctr" indent="0" marL="0">
              <a:lnSpc>
                <a:spcPct val="110000"/>
              </a:lnSpc>
              <a:buNone/>
            </a:pPr>
            <a:r>
              <a:rPr lang="en-US" sz="3600" dirty="0">
                <a:solidFill>
                  <a:srgbClr val="1E1208"/>
                </a:solidFill>
                <a:latin typeface="Impact" pitchFamily="34" charset="0"/>
                <a:ea typeface="Impact" pitchFamily="34" charset="-122"/>
                <a:cs typeface="Impact" pitchFamily="34" charset="-120"/>
              </a:rPr>
              <a:t>5</a:t>
            </a:r>
            <a:endParaRPr lang="en-US" sz="3600" dirty="0"/>
          </a:p>
        </p:txBody>
      </p:sp>
      <p:sp>
        <p:nvSpPr>
          <p:cNvPr id="38" name="Text 35"/>
          <p:cNvSpPr/>
          <p:nvPr/>
        </p:nvSpPr>
        <p:spPr>
          <a:xfrm>
            <a:off x="2167128" y="4069080"/>
            <a:ext cx="1417320" cy="365760"/>
          </a:xfrm>
          <a:prstGeom prst="rect">
            <a:avLst/>
          </a:prstGeom>
          <a:noFill/>
          <a:ln/>
        </p:spPr>
        <p:txBody>
          <a:bodyPr wrap="square" lIns="0" tIns="0" rIns="0" bIns="0" rtlCol="0" anchor="t"/>
          <a:lstStyle/>
          <a:p>
            <a:pPr algn="l" indent="0" marL="0">
              <a:lnSpc>
                <a:spcPct val="110000"/>
              </a:lnSpc>
              <a:buNone/>
            </a:pPr>
            <a:r>
              <a:rPr lang="en-US" sz="2000" dirty="0">
                <a:solidFill>
                  <a:srgbClr val="1E1208"/>
                </a:solidFill>
                <a:latin typeface="Impact" pitchFamily="34" charset="0"/>
                <a:ea typeface="Impact" pitchFamily="34" charset="-122"/>
                <a:cs typeface="Impact" pitchFamily="34" charset="-120"/>
              </a:rPr>
              <a:t>COLLECT</a:t>
            </a:r>
            <a:endParaRPr lang="en-US" sz="2000" dirty="0"/>
          </a:p>
        </p:txBody>
      </p:sp>
      <p:sp>
        <p:nvSpPr>
          <p:cNvPr id="39" name="Text 36"/>
          <p:cNvSpPr/>
          <p:nvPr/>
        </p:nvSpPr>
        <p:spPr>
          <a:xfrm>
            <a:off x="2167128" y="4526280"/>
            <a:ext cx="1417320" cy="73152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Papers come back</a:t>
            </a:r>
            <a:endParaRPr lang="en-US" sz="1250" dirty="0"/>
          </a:p>
        </p:txBody>
      </p:sp>
      <p:sp>
        <p:nvSpPr>
          <p:cNvPr id="40" name="Shape 37"/>
          <p:cNvSpPr/>
          <p:nvPr/>
        </p:nvSpPr>
        <p:spPr>
          <a:xfrm>
            <a:off x="3813048" y="3840480"/>
            <a:ext cx="2240280" cy="1508760"/>
          </a:xfrm>
          <a:prstGeom prst="rect">
            <a:avLst/>
          </a:prstGeom>
          <a:solidFill>
            <a:srgbClr val="FFFFFF"/>
          </a:solidFill>
          <a:ln w="25400">
            <a:solidFill>
              <a:srgbClr val="1E1208"/>
            </a:solidFill>
            <a:prstDash val="solid"/>
          </a:ln>
        </p:spPr>
      </p:sp>
      <p:sp>
        <p:nvSpPr>
          <p:cNvPr id="41" name="Shape 38"/>
          <p:cNvSpPr/>
          <p:nvPr/>
        </p:nvSpPr>
        <p:spPr>
          <a:xfrm>
            <a:off x="3813048" y="3840480"/>
            <a:ext cx="640080" cy="1508760"/>
          </a:xfrm>
          <a:prstGeom prst="rect">
            <a:avLst/>
          </a:prstGeom>
          <a:solidFill>
            <a:srgbClr val="FBE9D6"/>
          </a:solidFill>
          <a:ln w="25400">
            <a:solidFill>
              <a:srgbClr val="1E1208"/>
            </a:solidFill>
            <a:prstDash val="solid"/>
          </a:ln>
        </p:spPr>
      </p:sp>
      <p:sp>
        <p:nvSpPr>
          <p:cNvPr id="42" name="Text 39"/>
          <p:cNvSpPr/>
          <p:nvPr/>
        </p:nvSpPr>
        <p:spPr>
          <a:xfrm>
            <a:off x="3813048" y="3840480"/>
            <a:ext cx="640080" cy="1508760"/>
          </a:xfrm>
          <a:prstGeom prst="rect">
            <a:avLst/>
          </a:prstGeom>
          <a:noFill/>
          <a:ln/>
        </p:spPr>
        <p:txBody>
          <a:bodyPr wrap="square" lIns="0" tIns="0" rIns="0" bIns="0" rtlCol="0" anchor="ctr"/>
          <a:lstStyle/>
          <a:p>
            <a:pPr algn="ctr" indent="0" marL="0">
              <a:lnSpc>
                <a:spcPct val="110000"/>
              </a:lnSpc>
              <a:buNone/>
            </a:pPr>
            <a:r>
              <a:rPr lang="en-US" sz="3600" dirty="0">
                <a:solidFill>
                  <a:srgbClr val="1E1208"/>
                </a:solidFill>
                <a:latin typeface="Impact" pitchFamily="34" charset="0"/>
                <a:ea typeface="Impact" pitchFamily="34" charset="-122"/>
                <a:cs typeface="Impact" pitchFamily="34" charset="-120"/>
              </a:rPr>
              <a:t>6</a:t>
            </a:r>
            <a:endParaRPr lang="en-US" sz="3600" dirty="0"/>
          </a:p>
        </p:txBody>
      </p:sp>
      <p:sp>
        <p:nvSpPr>
          <p:cNvPr id="43" name="Text 40"/>
          <p:cNvSpPr/>
          <p:nvPr/>
        </p:nvSpPr>
        <p:spPr>
          <a:xfrm>
            <a:off x="4562856" y="4069080"/>
            <a:ext cx="1417320" cy="365760"/>
          </a:xfrm>
          <a:prstGeom prst="rect">
            <a:avLst/>
          </a:prstGeom>
          <a:noFill/>
          <a:ln/>
        </p:spPr>
        <p:txBody>
          <a:bodyPr wrap="square" lIns="0" tIns="0" rIns="0" bIns="0" rtlCol="0" anchor="t"/>
          <a:lstStyle/>
          <a:p>
            <a:pPr algn="l" indent="0" marL="0">
              <a:lnSpc>
                <a:spcPct val="110000"/>
              </a:lnSpc>
              <a:buNone/>
            </a:pPr>
            <a:r>
              <a:rPr lang="en-US" sz="2000" dirty="0">
                <a:solidFill>
                  <a:srgbClr val="1E1208"/>
                </a:solidFill>
                <a:latin typeface="Impact" pitchFamily="34" charset="0"/>
                <a:ea typeface="Impact" pitchFamily="34" charset="-122"/>
                <a:cs typeface="Impact" pitchFamily="34" charset="-120"/>
              </a:rPr>
              <a:t>MARK</a:t>
            </a:r>
            <a:endParaRPr lang="en-US" sz="2000" dirty="0"/>
          </a:p>
        </p:txBody>
      </p:sp>
      <p:sp>
        <p:nvSpPr>
          <p:cNvPr id="44" name="Text 41"/>
          <p:cNvSpPr/>
          <p:nvPr/>
        </p:nvSpPr>
        <p:spPr>
          <a:xfrm>
            <a:off x="4562856" y="4526280"/>
            <a:ext cx="1417320" cy="73152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Teacher marks</a:t>
            </a:r>
            <a:endParaRPr lang="en-US" sz="1250" dirty="0"/>
          </a:p>
        </p:txBody>
      </p:sp>
      <p:sp>
        <p:nvSpPr>
          <p:cNvPr id="45" name="Shape 42"/>
          <p:cNvSpPr/>
          <p:nvPr/>
        </p:nvSpPr>
        <p:spPr>
          <a:xfrm>
            <a:off x="6208776" y="3840480"/>
            <a:ext cx="2240280" cy="1508760"/>
          </a:xfrm>
          <a:prstGeom prst="rect">
            <a:avLst/>
          </a:prstGeom>
          <a:solidFill>
            <a:srgbClr val="FFFFFF"/>
          </a:solidFill>
          <a:ln w="25400">
            <a:solidFill>
              <a:srgbClr val="1E1208"/>
            </a:solidFill>
            <a:prstDash val="solid"/>
          </a:ln>
        </p:spPr>
      </p:sp>
      <p:sp>
        <p:nvSpPr>
          <p:cNvPr id="46" name="Shape 43"/>
          <p:cNvSpPr/>
          <p:nvPr/>
        </p:nvSpPr>
        <p:spPr>
          <a:xfrm>
            <a:off x="6208776" y="3840480"/>
            <a:ext cx="640080" cy="1508760"/>
          </a:xfrm>
          <a:prstGeom prst="rect">
            <a:avLst/>
          </a:prstGeom>
          <a:solidFill>
            <a:srgbClr val="FBE9D6"/>
          </a:solidFill>
          <a:ln w="25400">
            <a:solidFill>
              <a:srgbClr val="1E1208"/>
            </a:solidFill>
            <a:prstDash val="solid"/>
          </a:ln>
        </p:spPr>
      </p:sp>
      <p:sp>
        <p:nvSpPr>
          <p:cNvPr id="47" name="Text 44"/>
          <p:cNvSpPr/>
          <p:nvPr/>
        </p:nvSpPr>
        <p:spPr>
          <a:xfrm>
            <a:off x="6208776" y="3840480"/>
            <a:ext cx="640080" cy="1508760"/>
          </a:xfrm>
          <a:prstGeom prst="rect">
            <a:avLst/>
          </a:prstGeom>
          <a:noFill/>
          <a:ln/>
        </p:spPr>
        <p:txBody>
          <a:bodyPr wrap="square" lIns="0" tIns="0" rIns="0" bIns="0" rtlCol="0" anchor="ctr"/>
          <a:lstStyle/>
          <a:p>
            <a:pPr algn="ctr" indent="0" marL="0">
              <a:lnSpc>
                <a:spcPct val="110000"/>
              </a:lnSpc>
              <a:buNone/>
            </a:pPr>
            <a:r>
              <a:rPr lang="en-US" sz="3600" dirty="0">
                <a:solidFill>
                  <a:srgbClr val="1E1208"/>
                </a:solidFill>
                <a:latin typeface="Impact" pitchFamily="34" charset="0"/>
                <a:ea typeface="Impact" pitchFamily="34" charset="-122"/>
                <a:cs typeface="Impact" pitchFamily="34" charset="-120"/>
              </a:rPr>
              <a:t>7</a:t>
            </a:r>
            <a:endParaRPr lang="en-US" sz="3600" dirty="0"/>
          </a:p>
        </p:txBody>
      </p:sp>
      <p:sp>
        <p:nvSpPr>
          <p:cNvPr id="48" name="Text 45"/>
          <p:cNvSpPr/>
          <p:nvPr/>
        </p:nvSpPr>
        <p:spPr>
          <a:xfrm>
            <a:off x="6958584" y="4069080"/>
            <a:ext cx="1417320" cy="365760"/>
          </a:xfrm>
          <a:prstGeom prst="rect">
            <a:avLst/>
          </a:prstGeom>
          <a:noFill/>
          <a:ln/>
        </p:spPr>
        <p:txBody>
          <a:bodyPr wrap="square" lIns="0" tIns="0" rIns="0" bIns="0" rtlCol="0" anchor="t"/>
          <a:lstStyle/>
          <a:p>
            <a:pPr algn="l" indent="0" marL="0">
              <a:lnSpc>
                <a:spcPct val="110000"/>
              </a:lnSpc>
              <a:buNone/>
            </a:pPr>
            <a:r>
              <a:rPr lang="en-US" sz="2000" dirty="0">
                <a:solidFill>
                  <a:srgbClr val="1E1208"/>
                </a:solidFill>
                <a:latin typeface="Impact" pitchFamily="34" charset="0"/>
                <a:ea typeface="Impact" pitchFamily="34" charset="-122"/>
                <a:cs typeface="Impact" pitchFamily="34" charset="-120"/>
              </a:rPr>
              <a:t>RECORD</a:t>
            </a:r>
            <a:endParaRPr lang="en-US" sz="2000" dirty="0"/>
          </a:p>
        </p:txBody>
      </p:sp>
      <p:sp>
        <p:nvSpPr>
          <p:cNvPr id="49" name="Text 46"/>
          <p:cNvSpPr/>
          <p:nvPr/>
        </p:nvSpPr>
        <p:spPr>
          <a:xfrm>
            <a:off x="6958584" y="4526280"/>
            <a:ext cx="1417320" cy="73152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Grades are entered</a:t>
            </a:r>
            <a:endParaRPr lang="en-US" sz="1250" dirty="0"/>
          </a:p>
        </p:txBody>
      </p:sp>
      <p:sp>
        <p:nvSpPr>
          <p:cNvPr id="50" name="Shape 47"/>
          <p:cNvSpPr/>
          <p:nvPr/>
        </p:nvSpPr>
        <p:spPr>
          <a:xfrm>
            <a:off x="8604504" y="3840480"/>
            <a:ext cx="2240280" cy="1508760"/>
          </a:xfrm>
          <a:prstGeom prst="rect">
            <a:avLst/>
          </a:prstGeom>
          <a:solidFill>
            <a:srgbClr val="FFFFFF"/>
          </a:solidFill>
          <a:ln w="25400">
            <a:solidFill>
              <a:srgbClr val="1E1208"/>
            </a:solidFill>
            <a:prstDash val="solid"/>
          </a:ln>
        </p:spPr>
      </p:sp>
      <p:sp>
        <p:nvSpPr>
          <p:cNvPr id="51" name="Shape 48"/>
          <p:cNvSpPr/>
          <p:nvPr/>
        </p:nvSpPr>
        <p:spPr>
          <a:xfrm>
            <a:off x="8604504" y="3840480"/>
            <a:ext cx="640080" cy="1508760"/>
          </a:xfrm>
          <a:prstGeom prst="rect">
            <a:avLst/>
          </a:prstGeom>
          <a:solidFill>
            <a:srgbClr val="D4762A"/>
          </a:solidFill>
          <a:ln w="25400">
            <a:solidFill>
              <a:srgbClr val="1E1208"/>
            </a:solidFill>
            <a:prstDash val="solid"/>
          </a:ln>
        </p:spPr>
      </p:sp>
      <p:sp>
        <p:nvSpPr>
          <p:cNvPr id="52" name="Text 49"/>
          <p:cNvSpPr/>
          <p:nvPr/>
        </p:nvSpPr>
        <p:spPr>
          <a:xfrm>
            <a:off x="8604504" y="3840480"/>
            <a:ext cx="640080" cy="1508760"/>
          </a:xfrm>
          <a:prstGeom prst="rect">
            <a:avLst/>
          </a:prstGeom>
          <a:noFill/>
          <a:ln/>
        </p:spPr>
        <p:txBody>
          <a:bodyPr wrap="square" lIns="0" tIns="0" rIns="0" bIns="0" rtlCol="0" anchor="ctr"/>
          <a:lstStyle/>
          <a:p>
            <a:pPr algn="ctr" indent="0" marL="0">
              <a:lnSpc>
                <a:spcPct val="110000"/>
              </a:lnSpc>
              <a:buNone/>
            </a:pPr>
            <a:r>
              <a:rPr lang="en-US" sz="3600" dirty="0">
                <a:solidFill>
                  <a:srgbClr val="1E1208"/>
                </a:solidFill>
                <a:latin typeface="Impact" pitchFamily="34" charset="0"/>
                <a:ea typeface="Impact" pitchFamily="34" charset="-122"/>
                <a:cs typeface="Impact" pitchFamily="34" charset="-120"/>
              </a:rPr>
              <a:t>8</a:t>
            </a:r>
            <a:endParaRPr lang="en-US" sz="3600" dirty="0"/>
          </a:p>
        </p:txBody>
      </p:sp>
      <p:sp>
        <p:nvSpPr>
          <p:cNvPr id="53" name="Text 50"/>
          <p:cNvSpPr/>
          <p:nvPr/>
        </p:nvSpPr>
        <p:spPr>
          <a:xfrm>
            <a:off x="9354312" y="4069080"/>
            <a:ext cx="1417320" cy="365760"/>
          </a:xfrm>
          <a:prstGeom prst="rect">
            <a:avLst/>
          </a:prstGeom>
          <a:noFill/>
          <a:ln/>
        </p:spPr>
        <p:txBody>
          <a:bodyPr wrap="square" lIns="0" tIns="0" rIns="0" bIns="0" rtlCol="0" anchor="t"/>
          <a:lstStyle/>
          <a:p>
            <a:pPr algn="l" indent="0" marL="0">
              <a:lnSpc>
                <a:spcPct val="110000"/>
              </a:lnSpc>
              <a:buNone/>
            </a:pPr>
            <a:r>
              <a:rPr lang="en-US" sz="2000" dirty="0">
                <a:solidFill>
                  <a:srgbClr val="1E1208"/>
                </a:solidFill>
                <a:latin typeface="Impact" pitchFamily="34" charset="0"/>
                <a:ea typeface="Impact" pitchFamily="34" charset="-122"/>
                <a:cs typeface="Impact" pitchFamily="34" charset="-120"/>
              </a:rPr>
              <a:t>ANALYSE</a:t>
            </a:r>
            <a:endParaRPr lang="en-US" sz="2000" dirty="0"/>
          </a:p>
        </p:txBody>
      </p:sp>
      <p:sp>
        <p:nvSpPr>
          <p:cNvPr id="54" name="Text 51"/>
          <p:cNvSpPr/>
          <p:nvPr/>
        </p:nvSpPr>
        <p:spPr>
          <a:xfrm>
            <a:off x="9354312" y="4526280"/>
            <a:ext cx="1417320" cy="73152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Results are interpreted</a:t>
            </a:r>
            <a:endParaRPr lang="en-US" sz="1250" dirty="0"/>
          </a:p>
        </p:txBody>
      </p:sp>
      <p:sp>
        <p:nvSpPr>
          <p:cNvPr id="55" name="Shape 52"/>
          <p:cNvSpPr/>
          <p:nvPr/>
        </p:nvSpPr>
        <p:spPr>
          <a:xfrm>
            <a:off x="1417320" y="5623560"/>
            <a:ext cx="9509760" cy="502920"/>
          </a:xfrm>
          <a:prstGeom prst="rect">
            <a:avLst/>
          </a:prstGeom>
          <a:solidFill>
            <a:srgbClr val="1E1208"/>
          </a:solidFill>
          <a:ln/>
        </p:spPr>
      </p:sp>
      <p:sp>
        <p:nvSpPr>
          <p:cNvPr id="56" name="Text 53"/>
          <p:cNvSpPr/>
          <p:nvPr/>
        </p:nvSpPr>
        <p:spPr>
          <a:xfrm>
            <a:off x="1600200" y="5623560"/>
            <a:ext cx="9144000" cy="502920"/>
          </a:xfrm>
          <a:prstGeom prst="rect">
            <a:avLst/>
          </a:prstGeom>
          <a:noFill/>
          <a:ln/>
        </p:spPr>
        <p:txBody>
          <a:bodyPr wrap="square" lIns="0" tIns="0" rIns="0" bIns="0" rtlCol="0" anchor="ctr"/>
          <a:lstStyle/>
          <a:p>
            <a:pPr algn="l" indent="0" marL="0">
              <a:lnSpc>
                <a:spcPct val="110000"/>
              </a:lnSpc>
              <a:buNone/>
            </a:pPr>
            <a:r>
              <a:rPr lang="en-US" sz="1500" b="1" dirty="0">
                <a:solidFill>
                  <a:srgbClr val="FFFFFF"/>
                </a:solidFill>
                <a:latin typeface="Arial" pitchFamily="34" charset="0"/>
                <a:ea typeface="Arial" pitchFamily="34" charset="-122"/>
                <a:cs typeface="Arial" pitchFamily="34" charset="-120"/>
              </a:rPr>
              <a:t>Time. Cost. Paper. Administration. Repetition.</a:t>
            </a:r>
            <a:endParaRPr lang="en-US" sz="1500" dirty="0"/>
          </a:p>
        </p:txBody>
      </p:sp>
      <p:sp>
        <p:nvSpPr>
          <p:cNvPr id="57" name="Text 54"/>
          <p:cNvSpPr/>
          <p:nvPr/>
        </p:nvSpPr>
        <p:spPr>
          <a:xfrm>
            <a:off x="1417320" y="6217920"/>
            <a:ext cx="9509760" cy="320040"/>
          </a:xfrm>
          <a:prstGeom prst="rect">
            <a:avLst/>
          </a:prstGeom>
          <a:noFill/>
          <a:ln/>
        </p:spPr>
        <p:txBody>
          <a:bodyPr wrap="square" lIns="0" tIns="0" rIns="0" bIns="0" rtlCol="0" anchor="t"/>
          <a:lstStyle/>
          <a:p>
            <a:pPr algn="l" indent="0" marL="0">
              <a:lnSpc>
                <a:spcPct val="110000"/>
              </a:lnSpc>
              <a:buNone/>
            </a:pPr>
            <a:r>
              <a:rPr lang="en-US" sz="1400" dirty="0">
                <a:solidFill>
                  <a:srgbClr val="555555"/>
                </a:solidFill>
                <a:latin typeface="Arial" pitchFamily="34" charset="0"/>
                <a:ea typeface="Arial" pitchFamily="34" charset="-122"/>
                <a:cs typeface="Arial" pitchFamily="34" charset="-120"/>
              </a:rPr>
              <a:t>The assessment itself may take one hour. The work around it can take much longer.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YOUR SCHOOL</a:t>
            </a:r>
            <a:endParaRPr lang="en-US" sz="115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indent="0" marL="0">
              <a:buNone/>
            </a:pPr>
            <a:r>
              <a:rPr lang="en-US" sz="4600" dirty="0">
                <a:solidFill>
                  <a:srgbClr val="1E1208"/>
                </a:solidFill>
                <a:latin typeface="Impact" pitchFamily="34" charset="0"/>
                <a:ea typeface="Impact" pitchFamily="34" charset="-122"/>
                <a:cs typeface="Impact" pitchFamily="34" charset="-120"/>
              </a:rPr>
              <a:t>ONE SCHOOL OF ABOUT 1,800 STUDENTS</a:t>
            </a:r>
            <a:endParaRPr lang="en-US" sz="4600" dirty="0"/>
          </a:p>
        </p:txBody>
      </p:sp>
      <p:sp>
        <p:nvSpPr>
          <p:cNvPr id="15" name="Shape 12"/>
          <p:cNvSpPr/>
          <p:nvPr/>
        </p:nvSpPr>
        <p:spPr>
          <a:xfrm>
            <a:off x="1417320" y="1965960"/>
            <a:ext cx="3840480" cy="3749040"/>
          </a:xfrm>
          <a:prstGeom prst="rect">
            <a:avLst/>
          </a:prstGeom>
          <a:solidFill>
            <a:srgbClr val="D4762A"/>
          </a:solidFill>
          <a:ln w="25400">
            <a:solidFill>
              <a:srgbClr val="1E1208"/>
            </a:solidFill>
            <a:prstDash val="solid"/>
          </a:ln>
        </p:spPr>
      </p:sp>
      <p:sp>
        <p:nvSpPr>
          <p:cNvPr id="16" name="Text 13"/>
          <p:cNvSpPr/>
          <p:nvPr/>
        </p:nvSpPr>
        <p:spPr>
          <a:xfrm>
            <a:off x="1645920" y="2194560"/>
            <a:ext cx="3474720" cy="1645920"/>
          </a:xfrm>
          <a:prstGeom prst="rect">
            <a:avLst/>
          </a:prstGeom>
          <a:noFill/>
          <a:ln/>
        </p:spPr>
        <p:txBody>
          <a:bodyPr wrap="square" lIns="0" tIns="0" rIns="0" bIns="0" rtlCol="0" anchor="t"/>
          <a:lstStyle/>
          <a:p>
            <a:pPr algn="l" indent="0" marL="0">
              <a:lnSpc>
                <a:spcPct val="110000"/>
              </a:lnSpc>
              <a:buNone/>
            </a:pPr>
            <a:r>
              <a:rPr lang="en-US" sz="8800" dirty="0">
                <a:solidFill>
                  <a:srgbClr val="1E1208"/>
                </a:solidFill>
                <a:latin typeface="Impact" pitchFamily="34" charset="0"/>
                <a:ea typeface="Impact" pitchFamily="34" charset="-122"/>
                <a:cs typeface="Impact" pitchFamily="34" charset="-120"/>
              </a:rPr>
              <a:t>≈1,800</a:t>
            </a:r>
            <a:endParaRPr lang="en-US" sz="8800" dirty="0"/>
          </a:p>
        </p:txBody>
      </p:sp>
      <p:sp>
        <p:nvSpPr>
          <p:cNvPr id="17" name="Text 14"/>
          <p:cNvSpPr/>
          <p:nvPr/>
        </p:nvSpPr>
        <p:spPr>
          <a:xfrm>
            <a:off x="1645920" y="3840480"/>
            <a:ext cx="3383280" cy="640080"/>
          </a:xfrm>
          <a:prstGeom prst="rect">
            <a:avLst/>
          </a:prstGeom>
          <a:noFill/>
          <a:ln/>
        </p:spPr>
        <p:txBody>
          <a:bodyPr wrap="square" lIns="0" tIns="0" rIns="0" bIns="0" rtlCol="0" anchor="t"/>
          <a:lstStyle/>
          <a:p>
            <a:pPr algn="l" indent="0" marL="0">
              <a:lnSpc>
                <a:spcPct val="110000"/>
              </a:lnSpc>
              <a:buNone/>
            </a:pPr>
            <a:r>
              <a:rPr lang="en-US" sz="3000" dirty="0">
                <a:solidFill>
                  <a:srgbClr val="1E1208"/>
                </a:solidFill>
                <a:latin typeface="Impact" pitchFamily="34" charset="0"/>
                <a:ea typeface="Impact" pitchFamily="34" charset="-122"/>
                <a:cs typeface="Impact" pitchFamily="34" charset="-120"/>
              </a:rPr>
              <a:t>STUDENTS</a:t>
            </a:r>
            <a:endParaRPr lang="en-US" sz="3000" dirty="0"/>
          </a:p>
        </p:txBody>
      </p:sp>
      <p:sp>
        <p:nvSpPr>
          <p:cNvPr id="18" name="Text 15"/>
          <p:cNvSpPr/>
          <p:nvPr/>
        </p:nvSpPr>
        <p:spPr>
          <a:xfrm>
            <a:off x="1645920" y="4526280"/>
            <a:ext cx="3383280" cy="1005840"/>
          </a:xfrm>
          <a:prstGeom prst="rect">
            <a:avLst/>
          </a:prstGeom>
          <a:noFill/>
          <a:ln/>
        </p:spPr>
        <p:txBody>
          <a:bodyPr wrap="square" lIns="0" tIns="0" rIns="0" bIns="0" rtlCol="0" anchor="t"/>
          <a:lstStyle/>
          <a:p>
            <a:pPr algn="l" indent="0" marL="0">
              <a:lnSpc>
                <a:spcPct val="110000"/>
              </a:lnSpc>
              <a:buNone/>
            </a:pPr>
            <a:r>
              <a:rPr lang="en-US" sz="1400" b="1" dirty="0">
                <a:solidFill>
                  <a:srgbClr val="1E1208"/>
                </a:solidFill>
                <a:latin typeface="Arial" pitchFamily="34" charset="0"/>
                <a:ea typeface="Arial" pitchFamily="34" charset="-122"/>
                <a:cs typeface="Arial" pitchFamily="34" charset="-120"/>
              </a:rPr>
              <a:t>Every test, lesson and class creates information. The question is whether teachers and leaders can see it.</a:t>
            </a:r>
            <a:endParaRPr lang="en-US" sz="1400" dirty="0"/>
          </a:p>
        </p:txBody>
      </p:sp>
      <p:sp>
        <p:nvSpPr>
          <p:cNvPr id="19" name="Shape 16"/>
          <p:cNvSpPr/>
          <p:nvPr/>
        </p:nvSpPr>
        <p:spPr>
          <a:xfrm>
            <a:off x="5486400" y="1965960"/>
            <a:ext cx="5440680" cy="841248"/>
          </a:xfrm>
          <a:prstGeom prst="rect">
            <a:avLst/>
          </a:prstGeom>
          <a:solidFill>
            <a:srgbClr val="FFFFFF"/>
          </a:solidFill>
          <a:ln w="25400">
            <a:solidFill>
              <a:srgbClr val="1E1208"/>
            </a:solidFill>
            <a:prstDash val="solid"/>
          </a:ln>
        </p:spPr>
      </p:sp>
      <p:sp>
        <p:nvSpPr>
          <p:cNvPr id="20" name="Text 17"/>
          <p:cNvSpPr/>
          <p:nvPr/>
        </p:nvSpPr>
        <p:spPr>
          <a:xfrm>
            <a:off x="5669280" y="2075688"/>
            <a:ext cx="5120640" cy="320040"/>
          </a:xfrm>
          <a:prstGeom prst="rect">
            <a:avLst/>
          </a:prstGeom>
          <a:noFill/>
          <a:ln/>
        </p:spPr>
        <p:txBody>
          <a:bodyPr wrap="square" lIns="0" tIns="0" rIns="0" bIns="0" rtlCol="0" anchor="t"/>
          <a:lstStyle/>
          <a:p>
            <a:pPr algn="l" indent="0" marL="0">
              <a:lnSpc>
                <a:spcPct val="110000"/>
              </a:lnSpc>
              <a:buNone/>
            </a:pPr>
            <a:r>
              <a:rPr lang="en-US" sz="2000" dirty="0">
                <a:solidFill>
                  <a:srgbClr val="1E1208"/>
                </a:solidFill>
                <a:latin typeface="Impact" pitchFamily="34" charset="0"/>
                <a:ea typeface="Impact" pitchFamily="34" charset="-122"/>
                <a:cs typeface="Impact" pitchFamily="34" charset="-120"/>
              </a:rPr>
              <a:t>STUDENTS</a:t>
            </a:r>
            <a:endParaRPr lang="en-US" sz="2000" dirty="0"/>
          </a:p>
        </p:txBody>
      </p:sp>
      <p:sp>
        <p:nvSpPr>
          <p:cNvPr id="21" name="Text 18"/>
          <p:cNvSpPr/>
          <p:nvPr/>
        </p:nvSpPr>
        <p:spPr>
          <a:xfrm>
            <a:off x="5669280" y="2423160"/>
            <a:ext cx="5120640" cy="320040"/>
          </a:xfrm>
          <a:prstGeom prst="rect">
            <a:avLst/>
          </a:prstGeom>
          <a:noFill/>
          <a:ln/>
        </p:spPr>
        <p:txBody>
          <a:bodyPr wrap="square" lIns="0" tIns="0" rIns="0" bIns="0" rtlCol="0" anchor="t"/>
          <a:lstStyle/>
          <a:p>
            <a:pPr algn="l" indent="0" marL="0">
              <a:lnSpc>
                <a:spcPct val="110000"/>
              </a:lnSpc>
              <a:buNone/>
            </a:pPr>
            <a:r>
              <a:rPr lang="en-US" sz="1300" dirty="0">
                <a:solidFill>
                  <a:srgbClr val="555555"/>
                </a:solidFill>
                <a:latin typeface="Arial" pitchFamily="34" charset="0"/>
                <a:ea typeface="Arial" pitchFamily="34" charset="-122"/>
                <a:cs typeface="Arial" pitchFamily="34" charset="-120"/>
              </a:rPr>
              <a:t>Take work, see results, catch up</a:t>
            </a:r>
            <a:endParaRPr lang="en-US" sz="1300" dirty="0"/>
          </a:p>
        </p:txBody>
      </p:sp>
      <p:sp>
        <p:nvSpPr>
          <p:cNvPr id="22" name="Shape 19"/>
          <p:cNvSpPr/>
          <p:nvPr/>
        </p:nvSpPr>
        <p:spPr>
          <a:xfrm>
            <a:off x="5486400" y="2926080"/>
            <a:ext cx="5440680" cy="841248"/>
          </a:xfrm>
          <a:prstGeom prst="rect">
            <a:avLst/>
          </a:prstGeom>
          <a:solidFill>
            <a:srgbClr val="FFFFFF"/>
          </a:solidFill>
          <a:ln w="25400">
            <a:solidFill>
              <a:srgbClr val="1E1208"/>
            </a:solidFill>
            <a:prstDash val="solid"/>
          </a:ln>
        </p:spPr>
      </p:sp>
      <p:sp>
        <p:nvSpPr>
          <p:cNvPr id="23" name="Text 20"/>
          <p:cNvSpPr/>
          <p:nvPr/>
        </p:nvSpPr>
        <p:spPr>
          <a:xfrm>
            <a:off x="5669280" y="3035808"/>
            <a:ext cx="5120640" cy="320040"/>
          </a:xfrm>
          <a:prstGeom prst="rect">
            <a:avLst/>
          </a:prstGeom>
          <a:noFill/>
          <a:ln/>
        </p:spPr>
        <p:txBody>
          <a:bodyPr wrap="square" lIns="0" tIns="0" rIns="0" bIns="0" rtlCol="0" anchor="t"/>
          <a:lstStyle/>
          <a:p>
            <a:pPr algn="l" indent="0" marL="0">
              <a:lnSpc>
                <a:spcPct val="110000"/>
              </a:lnSpc>
              <a:buNone/>
            </a:pPr>
            <a:r>
              <a:rPr lang="en-US" sz="2000" dirty="0">
                <a:solidFill>
                  <a:srgbClr val="1E1208"/>
                </a:solidFill>
                <a:latin typeface="Impact" pitchFamily="34" charset="0"/>
                <a:ea typeface="Impact" pitchFamily="34" charset="-122"/>
                <a:cs typeface="Impact" pitchFamily="34" charset="-120"/>
              </a:rPr>
              <a:t>TEACHERS</a:t>
            </a:r>
            <a:endParaRPr lang="en-US" sz="2000" dirty="0"/>
          </a:p>
        </p:txBody>
      </p:sp>
      <p:sp>
        <p:nvSpPr>
          <p:cNvPr id="24" name="Text 21"/>
          <p:cNvSpPr/>
          <p:nvPr/>
        </p:nvSpPr>
        <p:spPr>
          <a:xfrm>
            <a:off x="5669280" y="3383280"/>
            <a:ext cx="5120640" cy="320040"/>
          </a:xfrm>
          <a:prstGeom prst="rect">
            <a:avLst/>
          </a:prstGeom>
          <a:noFill/>
          <a:ln/>
        </p:spPr>
        <p:txBody>
          <a:bodyPr wrap="square" lIns="0" tIns="0" rIns="0" bIns="0" rtlCol="0" anchor="t"/>
          <a:lstStyle/>
          <a:p>
            <a:pPr algn="l" indent="0" marL="0">
              <a:lnSpc>
                <a:spcPct val="110000"/>
              </a:lnSpc>
              <a:buNone/>
            </a:pPr>
            <a:r>
              <a:rPr lang="en-US" sz="1300" dirty="0">
                <a:solidFill>
                  <a:srgbClr val="555555"/>
                </a:solidFill>
                <a:latin typeface="Arial" pitchFamily="34" charset="0"/>
                <a:ea typeface="Arial" pitchFamily="34" charset="-122"/>
                <a:cs typeface="Arial" pitchFamily="34" charset="-120"/>
              </a:rPr>
              <a:t>Set, mark and teach</a:t>
            </a:r>
            <a:endParaRPr lang="en-US" sz="1300" dirty="0"/>
          </a:p>
        </p:txBody>
      </p:sp>
      <p:sp>
        <p:nvSpPr>
          <p:cNvPr id="25" name="Shape 22"/>
          <p:cNvSpPr/>
          <p:nvPr/>
        </p:nvSpPr>
        <p:spPr>
          <a:xfrm>
            <a:off x="5486400" y="3886200"/>
            <a:ext cx="5440680" cy="841248"/>
          </a:xfrm>
          <a:prstGeom prst="rect">
            <a:avLst/>
          </a:prstGeom>
          <a:solidFill>
            <a:srgbClr val="FFFFFF"/>
          </a:solidFill>
          <a:ln w="25400">
            <a:solidFill>
              <a:srgbClr val="1E1208"/>
            </a:solidFill>
            <a:prstDash val="solid"/>
          </a:ln>
        </p:spPr>
      </p:sp>
      <p:sp>
        <p:nvSpPr>
          <p:cNvPr id="26" name="Text 23"/>
          <p:cNvSpPr/>
          <p:nvPr/>
        </p:nvSpPr>
        <p:spPr>
          <a:xfrm>
            <a:off x="5669280" y="3995928"/>
            <a:ext cx="5120640" cy="320040"/>
          </a:xfrm>
          <a:prstGeom prst="rect">
            <a:avLst/>
          </a:prstGeom>
          <a:noFill/>
          <a:ln/>
        </p:spPr>
        <p:txBody>
          <a:bodyPr wrap="square" lIns="0" tIns="0" rIns="0" bIns="0" rtlCol="0" anchor="t"/>
          <a:lstStyle/>
          <a:p>
            <a:pPr algn="l" indent="0" marL="0">
              <a:lnSpc>
                <a:spcPct val="110000"/>
              </a:lnSpc>
              <a:buNone/>
            </a:pPr>
            <a:r>
              <a:rPr lang="en-US" sz="2000" dirty="0">
                <a:solidFill>
                  <a:srgbClr val="1E1208"/>
                </a:solidFill>
                <a:latin typeface="Impact" pitchFamily="34" charset="0"/>
                <a:ea typeface="Impact" pitchFamily="34" charset="-122"/>
                <a:cs typeface="Impact" pitchFamily="34" charset="-120"/>
              </a:rPr>
              <a:t>HEADS OF DEPARTMENT</a:t>
            </a:r>
            <a:endParaRPr lang="en-US" sz="2000" dirty="0"/>
          </a:p>
        </p:txBody>
      </p:sp>
      <p:sp>
        <p:nvSpPr>
          <p:cNvPr id="27" name="Text 24"/>
          <p:cNvSpPr/>
          <p:nvPr/>
        </p:nvSpPr>
        <p:spPr>
          <a:xfrm>
            <a:off x="5669280" y="4343400"/>
            <a:ext cx="5120640" cy="320040"/>
          </a:xfrm>
          <a:prstGeom prst="rect">
            <a:avLst/>
          </a:prstGeom>
          <a:noFill/>
          <a:ln/>
        </p:spPr>
        <p:txBody>
          <a:bodyPr wrap="square" lIns="0" tIns="0" rIns="0" bIns="0" rtlCol="0" anchor="t"/>
          <a:lstStyle/>
          <a:p>
            <a:pPr algn="l" indent="0" marL="0">
              <a:lnSpc>
                <a:spcPct val="110000"/>
              </a:lnSpc>
              <a:buNone/>
            </a:pPr>
            <a:r>
              <a:rPr lang="en-US" sz="1300" dirty="0">
                <a:solidFill>
                  <a:srgbClr val="555555"/>
                </a:solidFill>
                <a:latin typeface="Arial" pitchFamily="34" charset="0"/>
                <a:ea typeface="Arial" pitchFamily="34" charset="-122"/>
                <a:cs typeface="Arial" pitchFamily="34" charset="-120"/>
              </a:rPr>
              <a:t>See a whole department</a:t>
            </a:r>
            <a:endParaRPr lang="en-US" sz="1300" dirty="0"/>
          </a:p>
        </p:txBody>
      </p:sp>
      <p:sp>
        <p:nvSpPr>
          <p:cNvPr id="28" name="Shape 25"/>
          <p:cNvSpPr/>
          <p:nvPr/>
        </p:nvSpPr>
        <p:spPr>
          <a:xfrm>
            <a:off x="5486400" y="4846320"/>
            <a:ext cx="5440680" cy="841248"/>
          </a:xfrm>
          <a:prstGeom prst="rect">
            <a:avLst/>
          </a:prstGeom>
          <a:solidFill>
            <a:srgbClr val="FFFFFF"/>
          </a:solidFill>
          <a:ln w="25400">
            <a:solidFill>
              <a:srgbClr val="1E1208"/>
            </a:solidFill>
            <a:prstDash val="solid"/>
          </a:ln>
        </p:spPr>
      </p:sp>
      <p:sp>
        <p:nvSpPr>
          <p:cNvPr id="29" name="Text 26"/>
          <p:cNvSpPr/>
          <p:nvPr/>
        </p:nvSpPr>
        <p:spPr>
          <a:xfrm>
            <a:off x="5669280" y="4956048"/>
            <a:ext cx="5120640" cy="320040"/>
          </a:xfrm>
          <a:prstGeom prst="rect">
            <a:avLst/>
          </a:prstGeom>
          <a:noFill/>
          <a:ln/>
        </p:spPr>
        <p:txBody>
          <a:bodyPr wrap="square" lIns="0" tIns="0" rIns="0" bIns="0" rtlCol="0" anchor="t"/>
          <a:lstStyle/>
          <a:p>
            <a:pPr algn="l" indent="0" marL="0">
              <a:lnSpc>
                <a:spcPct val="110000"/>
              </a:lnSpc>
              <a:buNone/>
            </a:pPr>
            <a:r>
              <a:rPr lang="en-US" sz="2000" dirty="0">
                <a:solidFill>
                  <a:srgbClr val="1E1208"/>
                </a:solidFill>
                <a:latin typeface="Impact" pitchFamily="34" charset="0"/>
                <a:ea typeface="Impact" pitchFamily="34" charset="-122"/>
                <a:cs typeface="Impact" pitchFamily="34" charset="-120"/>
              </a:rPr>
              <a:t>PRINCIPAL AND ADMINISTRATORS</a:t>
            </a:r>
            <a:endParaRPr lang="en-US" sz="2000" dirty="0"/>
          </a:p>
        </p:txBody>
      </p:sp>
      <p:sp>
        <p:nvSpPr>
          <p:cNvPr id="30" name="Text 27"/>
          <p:cNvSpPr/>
          <p:nvPr/>
        </p:nvSpPr>
        <p:spPr>
          <a:xfrm>
            <a:off x="5669280" y="5303520"/>
            <a:ext cx="5120640" cy="320040"/>
          </a:xfrm>
          <a:prstGeom prst="rect">
            <a:avLst/>
          </a:prstGeom>
          <a:noFill/>
          <a:ln/>
        </p:spPr>
        <p:txBody>
          <a:bodyPr wrap="square" lIns="0" tIns="0" rIns="0" bIns="0" rtlCol="0" anchor="t"/>
          <a:lstStyle/>
          <a:p>
            <a:pPr algn="l" indent="0" marL="0">
              <a:lnSpc>
                <a:spcPct val="110000"/>
              </a:lnSpc>
              <a:buNone/>
            </a:pPr>
            <a:r>
              <a:rPr lang="en-US" sz="1300" dirty="0">
                <a:solidFill>
                  <a:srgbClr val="555555"/>
                </a:solidFill>
                <a:latin typeface="Arial" pitchFamily="34" charset="0"/>
                <a:ea typeface="Arial" pitchFamily="34" charset="-122"/>
                <a:cs typeface="Arial" pitchFamily="34" charset="-120"/>
              </a:rPr>
              <a:t>See the whole school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368735" y="502920"/>
            <a:ext cx="822960" cy="1152144"/>
          </a:xfrm>
          <a:prstGeom prst="rect">
            <a:avLst/>
          </a:prstGeom>
          <a:solidFill>
            <a:srgbClr val="FDFDFB"/>
          </a:solidFill>
          <a:ln w="25400">
            <a:solidFill>
              <a:srgbClr val="1E1208"/>
            </a:solidFill>
            <a:prstDash val="solid"/>
          </a:ln>
        </p:spPr>
      </p:sp>
      <p:sp>
        <p:nvSpPr>
          <p:cNvPr id="3" name="Text 1"/>
          <p:cNvSpPr/>
          <p:nvPr/>
        </p:nvSpPr>
        <p:spPr>
          <a:xfrm>
            <a:off x="11368735" y="502920"/>
            <a:ext cx="822960"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WHAT 12 MANCHESTER STUDENTS TOLD US</a:t>
            </a:r>
            <a:endParaRPr lang="en-US" sz="115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indent="0" marL="0">
              <a:buNone/>
            </a:pPr>
            <a:r>
              <a:rPr lang="en-US" sz="4600" dirty="0">
                <a:solidFill>
                  <a:srgbClr val="1E1208"/>
                </a:solidFill>
                <a:latin typeface="Impact" pitchFamily="34" charset="0"/>
                <a:ea typeface="Impact" pitchFamily="34" charset="-122"/>
                <a:cs typeface="Impact" pitchFamily="34" charset="-120"/>
              </a:rPr>
              <a:t>STUDENTS WANT TO BE SHOWN HOW</a:t>
            </a:r>
            <a:endParaRPr lang="en-US" sz="4600" dirty="0"/>
          </a:p>
        </p:txBody>
      </p:sp>
      <p:sp>
        <p:nvSpPr>
          <p:cNvPr id="15" name="Text 12"/>
          <p:cNvSpPr/>
          <p:nvPr/>
        </p:nvSpPr>
        <p:spPr>
          <a:xfrm>
            <a:off x="1417320" y="1874520"/>
            <a:ext cx="4754880" cy="274320"/>
          </a:xfrm>
          <a:prstGeom prst="rect">
            <a:avLst/>
          </a:prstGeom>
          <a:noFill/>
          <a:ln/>
        </p:spPr>
        <p:txBody>
          <a:bodyPr wrap="square" lIns="0" tIns="0" rIns="0" bIns="0" rtlCol="0" anchor="t"/>
          <a:lstStyle/>
          <a:p>
            <a:pPr algn="l" indent="0" marL="0">
              <a:lnSpc>
                <a:spcPct val="110000"/>
              </a:lnSpc>
              <a:buNone/>
            </a:pPr>
            <a:r>
              <a:rPr lang="en-US" sz="1050" b="1" spc="100" kern="0" dirty="0">
                <a:solidFill>
                  <a:srgbClr val="1E1208"/>
                </a:solidFill>
                <a:latin typeface="Courier New" pitchFamily="34" charset="0"/>
                <a:ea typeface="Courier New" pitchFamily="34" charset="-122"/>
                <a:cs typeface="Courier New" pitchFamily="34" charset="-120"/>
              </a:rPr>
              <a:t>WHAT WOULD HELP YOU LEARN A DIFFICULT TOPIC?</a:t>
            </a:r>
            <a:endParaRPr lang="en-US" sz="1050" dirty="0"/>
          </a:p>
        </p:txBody>
      </p:sp>
      <p:graphicFrame>
        <p:nvGraphicFramePr>
          <p:cNvPr id="16" name="Chart 0" descr=""/>
          <p:cNvGraphicFramePr/>
          <p:nvPr/>
        </p:nvGraphicFramePr>
        <p:xfrm>
          <a:off x="1325880" y="2148840"/>
          <a:ext cx="4937760" cy="3200400"/>
        </p:xfrm>
        <a:graphic xmlns:a="http://schemas.openxmlformats.org/drawingml/2006/main">
          <a:graphicData uri="http://schemas.openxmlformats.org/drawingml/2006/chart">
            <c:chart xmlns:c="http://schemas.openxmlformats.org/drawingml/2006/chart" r:id="rId2"/>
          </a:graphicData>
        </a:graphic>
      </p:graphicFrame>
      <p:sp>
        <p:nvSpPr>
          <p:cNvPr id="17" name="Text 13"/>
          <p:cNvSpPr/>
          <p:nvPr/>
        </p:nvSpPr>
        <p:spPr>
          <a:xfrm>
            <a:off x="6400800" y="1874520"/>
            <a:ext cx="4572000" cy="274320"/>
          </a:xfrm>
          <a:prstGeom prst="rect">
            <a:avLst/>
          </a:prstGeom>
          <a:noFill/>
          <a:ln/>
        </p:spPr>
        <p:txBody>
          <a:bodyPr wrap="square" lIns="0" tIns="0" rIns="0" bIns="0" rtlCol="0" anchor="t"/>
          <a:lstStyle/>
          <a:p>
            <a:pPr algn="l" indent="0" marL="0">
              <a:lnSpc>
                <a:spcPct val="110000"/>
              </a:lnSpc>
              <a:buNone/>
            </a:pPr>
            <a:r>
              <a:rPr lang="en-US" sz="1050" b="1" spc="100" kern="0" dirty="0">
                <a:solidFill>
                  <a:srgbClr val="1E1208"/>
                </a:solidFill>
                <a:latin typeface="Courier New" pitchFamily="34" charset="0"/>
                <a:ea typeface="Courier New" pitchFamily="34" charset="-122"/>
                <a:cs typeface="Courier New" pitchFamily="34" charset="-120"/>
              </a:rPr>
              <a:t>WHAT WOULD YOU WANT TO SEE ABOUT YOUR PROGRESS?</a:t>
            </a:r>
            <a:endParaRPr lang="en-US" sz="1050" dirty="0"/>
          </a:p>
        </p:txBody>
      </p:sp>
      <p:graphicFrame>
        <p:nvGraphicFramePr>
          <p:cNvPr id="18" name="Chart 1" descr=""/>
          <p:cNvGraphicFramePr/>
          <p:nvPr/>
        </p:nvGraphicFramePr>
        <p:xfrm>
          <a:off x="6309360" y="2148840"/>
          <a:ext cx="4663440" cy="3200400"/>
        </p:xfrm>
        <a:graphic xmlns:a="http://schemas.openxmlformats.org/drawingml/2006/main">
          <a:graphicData uri="http://schemas.openxmlformats.org/drawingml/2006/chart">
            <c:chart xmlns:c="http://schemas.openxmlformats.org/drawingml/2006/chart" r:id="rId3"/>
          </a:graphicData>
        </a:graphic>
      </p:graphicFrame>
      <p:sp>
        <p:nvSpPr>
          <p:cNvPr id="19" name="Shape 14"/>
          <p:cNvSpPr/>
          <p:nvPr/>
        </p:nvSpPr>
        <p:spPr>
          <a:xfrm>
            <a:off x="1417320" y="5532120"/>
            <a:ext cx="9509760" cy="502920"/>
          </a:xfrm>
          <a:prstGeom prst="rect">
            <a:avLst/>
          </a:prstGeom>
          <a:solidFill>
            <a:srgbClr val="1E1208"/>
          </a:solidFill>
          <a:ln/>
        </p:spPr>
      </p:sp>
      <p:sp>
        <p:nvSpPr>
          <p:cNvPr id="20" name="Text 15"/>
          <p:cNvSpPr/>
          <p:nvPr/>
        </p:nvSpPr>
        <p:spPr>
          <a:xfrm>
            <a:off x="1600200" y="5532120"/>
            <a:ext cx="9144000" cy="502920"/>
          </a:xfrm>
          <a:prstGeom prst="rect">
            <a:avLst/>
          </a:prstGeom>
          <a:noFill/>
          <a:ln/>
        </p:spPr>
        <p:txBody>
          <a:bodyPr wrap="square" lIns="0" tIns="0" rIns="0" bIns="0" rtlCol="0" anchor="ctr"/>
          <a:lstStyle/>
          <a:p>
            <a:pPr algn="l" indent="0" marL="0">
              <a:lnSpc>
                <a:spcPct val="110000"/>
              </a:lnSpc>
              <a:buNone/>
            </a:pPr>
            <a:r>
              <a:rPr lang="en-US" sz="1500" b="1" dirty="0">
                <a:solidFill>
                  <a:srgbClr val="FFFFFF"/>
                </a:solidFill>
                <a:latin typeface="Arial" pitchFamily="34" charset="0"/>
                <a:ea typeface="Arial" pitchFamily="34" charset="-122"/>
                <a:cs typeface="Arial" pitchFamily="34" charset="-120"/>
              </a:rPr>
              <a:t>10 of 12 want help studying for exams. 7 of 12 chose flashcards for practice.</a:t>
            </a:r>
            <a:endParaRPr lang="en-US" sz="1500" dirty="0"/>
          </a:p>
        </p:txBody>
      </p:sp>
      <p:sp>
        <p:nvSpPr>
          <p:cNvPr id="21" name="Text 16"/>
          <p:cNvSpPr/>
          <p:nvPr/>
        </p:nvSpPr>
        <p:spPr>
          <a:xfrm>
            <a:off x="1417320" y="6583680"/>
            <a:ext cx="9509760" cy="274320"/>
          </a:xfrm>
          <a:prstGeom prst="rect">
            <a:avLst/>
          </a:prstGeom>
          <a:noFill/>
          <a:ln/>
        </p:spPr>
        <p:txBody>
          <a:bodyPr wrap="square" lIns="0" tIns="0" rIns="0" bIns="0" rtlCol="0" anchor="t"/>
          <a:lstStyle/>
          <a:p>
            <a:pPr algn="l" indent="0" marL="0">
              <a:lnSpc>
                <a:spcPct val="110000"/>
              </a:lnSpc>
              <a:buNone/>
            </a:pPr>
            <a:r>
              <a:rPr lang="en-US" sz="900" dirty="0">
                <a:solidFill>
                  <a:srgbClr val="555555"/>
                </a:solidFill>
                <a:latin typeface="Arial" pitchFamily="34" charset="0"/>
                <a:ea typeface="Arial" pitchFamily="34" charset="-122"/>
                <a:cs typeface="Arial" pitchFamily="34" charset="-120"/>
              </a:rPr>
              <a:t>Manchester High School student survey, 12 students, who ticked as many answers as they liked. A small sample: read it as a signal.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368735" y="502920"/>
            <a:ext cx="822960" cy="1152144"/>
          </a:xfrm>
          <a:prstGeom prst="rect">
            <a:avLst/>
          </a:prstGeom>
          <a:solidFill>
            <a:srgbClr val="FDFDFB"/>
          </a:solidFill>
          <a:ln w="25400">
            <a:solidFill>
              <a:srgbClr val="1E1208"/>
            </a:solidFill>
            <a:prstDash val="solid"/>
          </a:ln>
        </p:spPr>
      </p:sp>
      <p:sp>
        <p:nvSpPr>
          <p:cNvPr id="3" name="Text 1"/>
          <p:cNvSpPr/>
          <p:nvPr/>
        </p:nvSpPr>
        <p:spPr>
          <a:xfrm>
            <a:off x="11368735" y="502920"/>
            <a:ext cx="822960"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WHAT 10 MANCHESTER TEACHERS TOLD US</a:t>
            </a:r>
            <a:endParaRPr lang="en-US" sz="115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indent="0" marL="0">
              <a:buNone/>
            </a:pPr>
            <a:r>
              <a:rPr lang="en-US" sz="4600" dirty="0">
                <a:solidFill>
                  <a:srgbClr val="1E1208"/>
                </a:solidFill>
                <a:latin typeface="Impact" pitchFamily="34" charset="0"/>
                <a:ea typeface="Impact" pitchFamily="34" charset="-122"/>
                <a:cs typeface="Impact" pitchFamily="34" charset="-120"/>
              </a:rPr>
              <a:t>MARKING IS WHERE THE TIME GOES</a:t>
            </a:r>
            <a:endParaRPr lang="en-US" sz="4600" dirty="0"/>
          </a:p>
        </p:txBody>
      </p:sp>
      <p:sp>
        <p:nvSpPr>
          <p:cNvPr id="15" name="Text 12"/>
          <p:cNvSpPr/>
          <p:nvPr/>
        </p:nvSpPr>
        <p:spPr>
          <a:xfrm>
            <a:off x="1417320" y="1874520"/>
            <a:ext cx="5669280" cy="274320"/>
          </a:xfrm>
          <a:prstGeom prst="rect">
            <a:avLst/>
          </a:prstGeom>
          <a:noFill/>
          <a:ln/>
        </p:spPr>
        <p:txBody>
          <a:bodyPr wrap="square" lIns="0" tIns="0" rIns="0" bIns="0" rtlCol="0" anchor="t"/>
          <a:lstStyle/>
          <a:p>
            <a:pPr algn="l" indent="0" marL="0">
              <a:lnSpc>
                <a:spcPct val="110000"/>
              </a:lnSpc>
              <a:buNone/>
            </a:pPr>
            <a:r>
              <a:rPr lang="en-US" sz="1050" b="1" spc="100" kern="0" dirty="0">
                <a:solidFill>
                  <a:srgbClr val="1E1208"/>
                </a:solidFill>
                <a:latin typeface="Courier New" pitchFamily="34" charset="0"/>
                <a:ea typeface="Courier New" pitchFamily="34" charset="-122"/>
                <a:cs typeface="Courier New" pitchFamily="34" charset="-120"/>
              </a:rPr>
              <a:t>WHICH PARTS OF ASSESSMENT TAKE THE MOST TIME OR EFFORT?</a:t>
            </a:r>
            <a:endParaRPr lang="en-US" sz="1050" dirty="0"/>
          </a:p>
        </p:txBody>
      </p:sp>
      <p:graphicFrame>
        <p:nvGraphicFramePr>
          <p:cNvPr id="16" name="Chart 0" descr=""/>
          <p:cNvGraphicFramePr/>
          <p:nvPr/>
        </p:nvGraphicFramePr>
        <p:xfrm>
          <a:off x="1325880" y="2148840"/>
          <a:ext cx="5669280" cy="3017520"/>
        </p:xfrm>
        <a:graphic xmlns:a="http://schemas.openxmlformats.org/drawingml/2006/main">
          <a:graphicData uri="http://schemas.openxmlformats.org/drawingml/2006/chart">
            <c:chart xmlns:c="http://schemas.openxmlformats.org/drawingml/2006/chart" r:id="rId2"/>
          </a:graphicData>
        </a:graphic>
      </p:graphicFrame>
      <p:sp>
        <p:nvSpPr>
          <p:cNvPr id="17" name="Shape 13"/>
          <p:cNvSpPr/>
          <p:nvPr/>
        </p:nvSpPr>
        <p:spPr>
          <a:xfrm>
            <a:off x="7315200" y="1965960"/>
            <a:ext cx="3611880" cy="960120"/>
          </a:xfrm>
          <a:prstGeom prst="rect">
            <a:avLst/>
          </a:prstGeom>
          <a:solidFill>
            <a:srgbClr val="D4762A"/>
          </a:solidFill>
          <a:ln w="25400">
            <a:solidFill>
              <a:srgbClr val="1E1208"/>
            </a:solidFill>
            <a:prstDash val="solid"/>
          </a:ln>
        </p:spPr>
      </p:sp>
      <p:sp>
        <p:nvSpPr>
          <p:cNvPr id="18" name="Text 14"/>
          <p:cNvSpPr/>
          <p:nvPr/>
        </p:nvSpPr>
        <p:spPr>
          <a:xfrm>
            <a:off x="7452360" y="1965960"/>
            <a:ext cx="640080" cy="960120"/>
          </a:xfrm>
          <a:prstGeom prst="rect">
            <a:avLst/>
          </a:prstGeom>
          <a:noFill/>
          <a:ln/>
        </p:spPr>
        <p:txBody>
          <a:bodyPr wrap="square" lIns="0" tIns="0" rIns="0" bIns="0" rtlCol="0" anchor="ctr"/>
          <a:lstStyle/>
          <a:p>
            <a:pPr algn="l" indent="0" marL="0">
              <a:lnSpc>
                <a:spcPct val="110000"/>
              </a:lnSpc>
              <a:buNone/>
            </a:pPr>
            <a:r>
              <a:rPr lang="en-US" sz="4600" dirty="0">
                <a:solidFill>
                  <a:srgbClr val="1E1208"/>
                </a:solidFill>
                <a:latin typeface="Impact" pitchFamily="34" charset="0"/>
                <a:ea typeface="Impact" pitchFamily="34" charset="-122"/>
                <a:cs typeface="Impact" pitchFamily="34" charset="-120"/>
              </a:rPr>
              <a:t>9</a:t>
            </a:r>
            <a:endParaRPr lang="en-US" sz="4600" dirty="0"/>
          </a:p>
        </p:txBody>
      </p:sp>
      <p:sp>
        <p:nvSpPr>
          <p:cNvPr id="19" name="Text 15"/>
          <p:cNvSpPr/>
          <p:nvPr/>
        </p:nvSpPr>
        <p:spPr>
          <a:xfrm>
            <a:off x="8092440" y="2075688"/>
            <a:ext cx="914400" cy="274320"/>
          </a:xfrm>
          <a:prstGeom prst="rect">
            <a:avLst/>
          </a:prstGeom>
          <a:noFill/>
          <a:ln/>
        </p:spPr>
        <p:txBody>
          <a:bodyPr wrap="square" lIns="0" tIns="0" rIns="0" bIns="0" rtlCol="0" anchor="t"/>
          <a:lstStyle/>
          <a:p>
            <a:pPr algn="l" indent="0" marL="0">
              <a:lnSpc>
                <a:spcPct val="110000"/>
              </a:lnSpc>
              <a:buNone/>
            </a:pPr>
            <a:r>
              <a:rPr lang="en-US" sz="1400" dirty="0">
                <a:solidFill>
                  <a:srgbClr val="1E1208"/>
                </a:solidFill>
                <a:latin typeface="Impact" pitchFamily="34" charset="0"/>
                <a:ea typeface="Impact" pitchFamily="34" charset="-122"/>
                <a:cs typeface="Impact" pitchFamily="34" charset="-120"/>
              </a:rPr>
              <a:t>OF 10</a:t>
            </a:r>
            <a:endParaRPr lang="en-US" sz="1400" dirty="0"/>
          </a:p>
        </p:txBody>
      </p:sp>
      <p:sp>
        <p:nvSpPr>
          <p:cNvPr id="20" name="Text 16"/>
          <p:cNvSpPr/>
          <p:nvPr/>
        </p:nvSpPr>
        <p:spPr>
          <a:xfrm>
            <a:off x="8092440" y="2313432"/>
            <a:ext cx="2743200" cy="594360"/>
          </a:xfrm>
          <a:prstGeom prst="rect">
            <a:avLst/>
          </a:prstGeom>
          <a:noFill/>
          <a:ln/>
        </p:spPr>
        <p:txBody>
          <a:bodyPr wrap="square" lIns="0" tIns="0" rIns="0" bIns="0" rtlCol="0" anchor="t"/>
          <a:lstStyle/>
          <a:p>
            <a:pPr algn="l" indent="0" marL="0">
              <a:lnSpc>
                <a:spcPct val="110000"/>
              </a:lnSpc>
              <a:buNone/>
            </a:pPr>
            <a:r>
              <a:rPr lang="en-US" sz="1150" b="1" dirty="0">
                <a:solidFill>
                  <a:srgbClr val="1E1208"/>
                </a:solidFill>
                <a:latin typeface="Arial" pitchFamily="34" charset="0"/>
                <a:ea typeface="Arial" pitchFamily="34" charset="-122"/>
                <a:cs typeface="Arial" pitchFamily="34" charset="-120"/>
              </a:rPr>
              <a:t>want the system to show what an absent student missed</a:t>
            </a:r>
            <a:endParaRPr lang="en-US" sz="1150" dirty="0"/>
          </a:p>
        </p:txBody>
      </p:sp>
      <p:sp>
        <p:nvSpPr>
          <p:cNvPr id="21" name="Shape 17"/>
          <p:cNvSpPr/>
          <p:nvPr/>
        </p:nvSpPr>
        <p:spPr>
          <a:xfrm>
            <a:off x="7315200" y="3063240"/>
            <a:ext cx="3611880" cy="960120"/>
          </a:xfrm>
          <a:prstGeom prst="rect">
            <a:avLst/>
          </a:prstGeom>
          <a:solidFill>
            <a:srgbClr val="E3B51E"/>
          </a:solidFill>
          <a:ln w="25400">
            <a:solidFill>
              <a:srgbClr val="1E1208"/>
            </a:solidFill>
            <a:prstDash val="solid"/>
          </a:ln>
        </p:spPr>
      </p:sp>
      <p:sp>
        <p:nvSpPr>
          <p:cNvPr id="22" name="Text 18"/>
          <p:cNvSpPr/>
          <p:nvPr/>
        </p:nvSpPr>
        <p:spPr>
          <a:xfrm>
            <a:off x="7452360" y="3063240"/>
            <a:ext cx="640080" cy="960120"/>
          </a:xfrm>
          <a:prstGeom prst="rect">
            <a:avLst/>
          </a:prstGeom>
          <a:noFill/>
          <a:ln/>
        </p:spPr>
        <p:txBody>
          <a:bodyPr wrap="square" lIns="0" tIns="0" rIns="0" bIns="0" rtlCol="0" anchor="ctr"/>
          <a:lstStyle/>
          <a:p>
            <a:pPr algn="l" indent="0" marL="0">
              <a:lnSpc>
                <a:spcPct val="110000"/>
              </a:lnSpc>
              <a:buNone/>
            </a:pPr>
            <a:r>
              <a:rPr lang="en-US" sz="4600" dirty="0">
                <a:solidFill>
                  <a:srgbClr val="1E1208"/>
                </a:solidFill>
                <a:latin typeface="Impact" pitchFamily="34" charset="0"/>
                <a:ea typeface="Impact" pitchFamily="34" charset="-122"/>
                <a:cs typeface="Impact" pitchFamily="34" charset="-120"/>
              </a:rPr>
              <a:t>9</a:t>
            </a:r>
            <a:endParaRPr lang="en-US" sz="4600" dirty="0"/>
          </a:p>
        </p:txBody>
      </p:sp>
      <p:sp>
        <p:nvSpPr>
          <p:cNvPr id="23" name="Text 19"/>
          <p:cNvSpPr/>
          <p:nvPr/>
        </p:nvSpPr>
        <p:spPr>
          <a:xfrm>
            <a:off x="8092440" y="3172968"/>
            <a:ext cx="914400" cy="274320"/>
          </a:xfrm>
          <a:prstGeom prst="rect">
            <a:avLst/>
          </a:prstGeom>
          <a:noFill/>
          <a:ln/>
        </p:spPr>
        <p:txBody>
          <a:bodyPr wrap="square" lIns="0" tIns="0" rIns="0" bIns="0" rtlCol="0" anchor="t"/>
          <a:lstStyle/>
          <a:p>
            <a:pPr algn="l" indent="0" marL="0">
              <a:lnSpc>
                <a:spcPct val="110000"/>
              </a:lnSpc>
              <a:buNone/>
            </a:pPr>
            <a:r>
              <a:rPr lang="en-US" sz="1400" dirty="0">
                <a:solidFill>
                  <a:srgbClr val="1E1208"/>
                </a:solidFill>
                <a:latin typeface="Impact" pitchFamily="34" charset="0"/>
                <a:ea typeface="Impact" pitchFamily="34" charset="-122"/>
                <a:cs typeface="Impact" pitchFamily="34" charset="-120"/>
              </a:rPr>
              <a:t>OF 10</a:t>
            </a:r>
            <a:endParaRPr lang="en-US" sz="1400" dirty="0"/>
          </a:p>
        </p:txBody>
      </p:sp>
      <p:sp>
        <p:nvSpPr>
          <p:cNvPr id="24" name="Text 20"/>
          <p:cNvSpPr/>
          <p:nvPr/>
        </p:nvSpPr>
        <p:spPr>
          <a:xfrm>
            <a:off x="8092440" y="3410712"/>
            <a:ext cx="2743200" cy="594360"/>
          </a:xfrm>
          <a:prstGeom prst="rect">
            <a:avLst/>
          </a:prstGeom>
          <a:noFill/>
          <a:ln/>
        </p:spPr>
        <p:txBody>
          <a:bodyPr wrap="square" lIns="0" tIns="0" rIns="0" bIns="0" rtlCol="0" anchor="t"/>
          <a:lstStyle/>
          <a:p>
            <a:pPr algn="l" indent="0" marL="0">
              <a:lnSpc>
                <a:spcPct val="110000"/>
              </a:lnSpc>
              <a:buNone/>
            </a:pPr>
            <a:r>
              <a:rPr lang="en-US" sz="1150" b="1" dirty="0">
                <a:solidFill>
                  <a:srgbClr val="1E1208"/>
                </a:solidFill>
                <a:latin typeface="Arial" pitchFamily="34" charset="0"/>
                <a:ea typeface="Arial" pitchFamily="34" charset="-122"/>
                <a:cs typeface="Arial" pitchFamily="34" charset="-120"/>
              </a:rPr>
              <a:t>want different activities for different ability levels</a:t>
            </a:r>
            <a:endParaRPr lang="en-US" sz="1150" dirty="0"/>
          </a:p>
        </p:txBody>
      </p:sp>
      <p:sp>
        <p:nvSpPr>
          <p:cNvPr id="25" name="Shape 21"/>
          <p:cNvSpPr/>
          <p:nvPr/>
        </p:nvSpPr>
        <p:spPr>
          <a:xfrm>
            <a:off x="7315200" y="4160520"/>
            <a:ext cx="3611880" cy="960120"/>
          </a:xfrm>
          <a:prstGeom prst="rect">
            <a:avLst/>
          </a:prstGeom>
          <a:solidFill>
            <a:srgbClr val="FBE9D6"/>
          </a:solidFill>
          <a:ln w="25400">
            <a:solidFill>
              <a:srgbClr val="1E1208"/>
            </a:solidFill>
            <a:prstDash val="solid"/>
          </a:ln>
        </p:spPr>
      </p:sp>
      <p:sp>
        <p:nvSpPr>
          <p:cNvPr id="26" name="Text 22"/>
          <p:cNvSpPr/>
          <p:nvPr/>
        </p:nvSpPr>
        <p:spPr>
          <a:xfrm>
            <a:off x="7452360" y="4160520"/>
            <a:ext cx="640080" cy="960120"/>
          </a:xfrm>
          <a:prstGeom prst="rect">
            <a:avLst/>
          </a:prstGeom>
          <a:noFill/>
          <a:ln/>
        </p:spPr>
        <p:txBody>
          <a:bodyPr wrap="square" lIns="0" tIns="0" rIns="0" bIns="0" rtlCol="0" anchor="ctr"/>
          <a:lstStyle/>
          <a:p>
            <a:pPr algn="l" indent="0" marL="0">
              <a:lnSpc>
                <a:spcPct val="110000"/>
              </a:lnSpc>
              <a:buNone/>
            </a:pPr>
            <a:r>
              <a:rPr lang="en-US" sz="4600" dirty="0">
                <a:solidFill>
                  <a:srgbClr val="1E1208"/>
                </a:solidFill>
                <a:latin typeface="Impact" pitchFamily="34" charset="0"/>
                <a:ea typeface="Impact" pitchFamily="34" charset="-122"/>
                <a:cs typeface="Impact" pitchFamily="34" charset="-120"/>
              </a:rPr>
              <a:t>8</a:t>
            </a:r>
            <a:endParaRPr lang="en-US" sz="4600" dirty="0"/>
          </a:p>
        </p:txBody>
      </p:sp>
      <p:sp>
        <p:nvSpPr>
          <p:cNvPr id="27" name="Text 23"/>
          <p:cNvSpPr/>
          <p:nvPr/>
        </p:nvSpPr>
        <p:spPr>
          <a:xfrm>
            <a:off x="8092440" y="4270248"/>
            <a:ext cx="914400" cy="274320"/>
          </a:xfrm>
          <a:prstGeom prst="rect">
            <a:avLst/>
          </a:prstGeom>
          <a:noFill/>
          <a:ln/>
        </p:spPr>
        <p:txBody>
          <a:bodyPr wrap="square" lIns="0" tIns="0" rIns="0" bIns="0" rtlCol="0" anchor="t"/>
          <a:lstStyle/>
          <a:p>
            <a:pPr algn="l" indent="0" marL="0">
              <a:lnSpc>
                <a:spcPct val="110000"/>
              </a:lnSpc>
              <a:buNone/>
            </a:pPr>
            <a:r>
              <a:rPr lang="en-US" sz="1400" dirty="0">
                <a:solidFill>
                  <a:srgbClr val="1E1208"/>
                </a:solidFill>
                <a:latin typeface="Impact" pitchFamily="34" charset="0"/>
                <a:ea typeface="Impact" pitchFamily="34" charset="-122"/>
                <a:cs typeface="Impact" pitchFamily="34" charset="-120"/>
              </a:rPr>
              <a:t>OF 10</a:t>
            </a:r>
            <a:endParaRPr lang="en-US" sz="1400" dirty="0"/>
          </a:p>
        </p:txBody>
      </p:sp>
      <p:sp>
        <p:nvSpPr>
          <p:cNvPr id="28" name="Text 24"/>
          <p:cNvSpPr/>
          <p:nvPr/>
        </p:nvSpPr>
        <p:spPr>
          <a:xfrm>
            <a:off x="8092440" y="4507992"/>
            <a:ext cx="2743200" cy="594360"/>
          </a:xfrm>
          <a:prstGeom prst="rect">
            <a:avLst/>
          </a:prstGeom>
          <a:noFill/>
          <a:ln/>
        </p:spPr>
        <p:txBody>
          <a:bodyPr wrap="square" lIns="0" tIns="0" rIns="0" bIns="0" rtlCol="0" anchor="t"/>
          <a:lstStyle/>
          <a:p>
            <a:pPr algn="l" indent="0" marL="0">
              <a:lnSpc>
                <a:spcPct val="110000"/>
              </a:lnSpc>
              <a:buNone/>
            </a:pPr>
            <a:r>
              <a:rPr lang="en-US" sz="1150" b="1" dirty="0">
                <a:solidFill>
                  <a:srgbClr val="1E1208"/>
                </a:solidFill>
                <a:latin typeface="Arial" pitchFamily="34" charset="0"/>
                <a:ea typeface="Arial" pitchFamily="34" charset="-122"/>
                <a:cs typeface="Arial" pitchFamily="34" charset="-120"/>
              </a:rPr>
              <a:t>want AI-assisted lesson planning</a:t>
            </a:r>
            <a:endParaRPr lang="en-US" sz="1150" dirty="0"/>
          </a:p>
        </p:txBody>
      </p:sp>
      <p:sp>
        <p:nvSpPr>
          <p:cNvPr id="29" name="Shape 25"/>
          <p:cNvSpPr/>
          <p:nvPr/>
        </p:nvSpPr>
        <p:spPr>
          <a:xfrm>
            <a:off x="1417320" y="5394960"/>
            <a:ext cx="9509760" cy="502920"/>
          </a:xfrm>
          <a:prstGeom prst="rect">
            <a:avLst/>
          </a:prstGeom>
          <a:solidFill>
            <a:srgbClr val="1E1208"/>
          </a:solidFill>
          <a:ln/>
        </p:spPr>
      </p:sp>
      <p:sp>
        <p:nvSpPr>
          <p:cNvPr id="30" name="Text 26"/>
          <p:cNvSpPr/>
          <p:nvPr/>
        </p:nvSpPr>
        <p:spPr>
          <a:xfrm>
            <a:off x="1600200" y="5394960"/>
            <a:ext cx="9144000" cy="502920"/>
          </a:xfrm>
          <a:prstGeom prst="rect">
            <a:avLst/>
          </a:prstGeom>
          <a:noFill/>
          <a:ln/>
        </p:spPr>
        <p:txBody>
          <a:bodyPr wrap="square" lIns="0" tIns="0" rIns="0" bIns="0" rtlCol="0" anchor="ctr"/>
          <a:lstStyle/>
          <a:p>
            <a:pPr algn="l" indent="0" marL="0">
              <a:lnSpc>
                <a:spcPct val="110000"/>
              </a:lnSpc>
              <a:buNone/>
            </a:pPr>
            <a:r>
              <a:rPr lang="en-US" sz="1300" b="1" dirty="0">
                <a:solidFill>
                  <a:srgbClr val="FFFFFF"/>
                </a:solidFill>
                <a:latin typeface="Arial" pitchFamily="34" charset="0"/>
                <a:ea typeface="Arial" pitchFamily="34" charset="-122"/>
                <a:cs typeface="Arial" pitchFamily="34" charset="-120"/>
              </a:rPr>
              <a:t>"A learning gap tracker that analyses assessment results and suggests activities for reteaching and practice."</a:t>
            </a:r>
            <a:endParaRPr lang="en-US" sz="1300" dirty="0"/>
          </a:p>
        </p:txBody>
      </p:sp>
      <p:sp>
        <p:nvSpPr>
          <p:cNvPr id="31" name="Text 27"/>
          <p:cNvSpPr/>
          <p:nvPr/>
        </p:nvSpPr>
        <p:spPr>
          <a:xfrm>
            <a:off x="1417320" y="6583680"/>
            <a:ext cx="9509760" cy="274320"/>
          </a:xfrm>
          <a:prstGeom prst="rect">
            <a:avLst/>
          </a:prstGeom>
          <a:noFill/>
          <a:ln/>
        </p:spPr>
        <p:txBody>
          <a:bodyPr wrap="square" lIns="0" tIns="0" rIns="0" bIns="0" rtlCol="0" anchor="t"/>
          <a:lstStyle/>
          <a:p>
            <a:pPr algn="l" indent="0" marL="0">
              <a:lnSpc>
                <a:spcPct val="110000"/>
              </a:lnSpc>
              <a:buNone/>
            </a:pPr>
            <a:r>
              <a:rPr lang="en-US" sz="900" dirty="0">
                <a:solidFill>
                  <a:srgbClr val="555555"/>
                </a:solidFill>
                <a:latin typeface="Arial" pitchFamily="34" charset="0"/>
                <a:ea typeface="Arial" pitchFamily="34" charset="-122"/>
                <a:cs typeface="Arial" pitchFamily="34" charset="-120"/>
              </a:rPr>
              <a:t>Manchester High School teacher survey, 10 teachers, who could tick as many answers as they liked. A small sample, so read it as a signal.</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368735" y="1764792"/>
            <a:ext cx="822960" cy="1152144"/>
          </a:xfrm>
          <a:prstGeom prst="rect">
            <a:avLst/>
          </a:prstGeom>
          <a:solidFill>
            <a:srgbClr val="D4762A"/>
          </a:solidFill>
          <a:ln w="25400">
            <a:solidFill>
              <a:srgbClr val="1E1208"/>
            </a:solidFill>
            <a:prstDash val="solid"/>
          </a:ln>
        </p:spPr>
      </p:sp>
      <p:sp>
        <p:nvSpPr>
          <p:cNvPr id="5" name="Text 3"/>
          <p:cNvSpPr/>
          <p:nvPr/>
        </p:nvSpPr>
        <p:spPr>
          <a:xfrm>
            <a:off x="11368735" y="1764792"/>
            <a:ext cx="822960"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ONE SCHOOL, THREE PRODUCTS</a:t>
            </a:r>
            <a:endParaRPr lang="en-US" sz="115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indent="0" marL="0">
              <a:buNone/>
            </a:pPr>
            <a:r>
              <a:rPr lang="en-US" sz="5000" dirty="0">
                <a:solidFill>
                  <a:srgbClr val="1E1208"/>
                </a:solidFill>
                <a:latin typeface="Impact" pitchFamily="34" charset="0"/>
                <a:ea typeface="Impact" pitchFamily="34" charset="-122"/>
                <a:cs typeface="Impact" pitchFamily="34" charset="-120"/>
              </a:rPr>
              <a:t>ALREADY BUILT. READY TO USE.</a:t>
            </a:r>
            <a:endParaRPr lang="en-US" sz="5000" dirty="0"/>
          </a:p>
        </p:txBody>
      </p:sp>
      <p:sp>
        <p:nvSpPr>
          <p:cNvPr id="15" name="Shape 12"/>
          <p:cNvSpPr/>
          <p:nvPr/>
        </p:nvSpPr>
        <p:spPr>
          <a:xfrm>
            <a:off x="1417320" y="2011680"/>
            <a:ext cx="9509760" cy="1188720"/>
          </a:xfrm>
          <a:prstGeom prst="rect">
            <a:avLst/>
          </a:prstGeom>
          <a:solidFill>
            <a:srgbClr val="FFFFFF"/>
          </a:solidFill>
          <a:ln w="25400">
            <a:solidFill>
              <a:srgbClr val="1E1208"/>
            </a:solidFill>
            <a:prstDash val="solid"/>
          </a:ln>
        </p:spPr>
      </p:sp>
      <p:sp>
        <p:nvSpPr>
          <p:cNvPr id="16" name="Shape 13"/>
          <p:cNvSpPr/>
          <p:nvPr/>
        </p:nvSpPr>
        <p:spPr>
          <a:xfrm>
            <a:off x="1417320" y="2011680"/>
            <a:ext cx="1188720" cy="1188720"/>
          </a:xfrm>
          <a:prstGeom prst="rect">
            <a:avLst/>
          </a:prstGeom>
          <a:solidFill>
            <a:srgbClr val="D4762A"/>
          </a:solidFill>
          <a:ln w="25400">
            <a:solidFill>
              <a:srgbClr val="1E1208"/>
            </a:solidFill>
            <a:prstDash val="solid"/>
          </a:ln>
        </p:spPr>
      </p:sp>
      <p:sp>
        <p:nvSpPr>
          <p:cNvPr id="17" name="Text 14"/>
          <p:cNvSpPr/>
          <p:nvPr/>
        </p:nvSpPr>
        <p:spPr>
          <a:xfrm>
            <a:off x="1417320" y="2011680"/>
            <a:ext cx="1188720" cy="1188720"/>
          </a:xfrm>
          <a:prstGeom prst="rect">
            <a:avLst/>
          </a:prstGeom>
          <a:noFill/>
          <a:ln/>
        </p:spPr>
        <p:txBody>
          <a:bodyPr wrap="square" lIns="0" tIns="0" rIns="0" bIns="0" rtlCol="0" anchor="ctr"/>
          <a:lstStyle/>
          <a:p>
            <a:pPr algn="ctr" indent="0" marL="0">
              <a:lnSpc>
                <a:spcPct val="110000"/>
              </a:lnSpc>
              <a:buNone/>
            </a:pPr>
            <a:r>
              <a:rPr lang="en-US" sz="5600" dirty="0">
                <a:solidFill>
                  <a:srgbClr val="1E1208"/>
                </a:solidFill>
                <a:latin typeface="Impact" pitchFamily="34" charset="0"/>
                <a:ea typeface="Impact" pitchFamily="34" charset="-122"/>
                <a:cs typeface="Impact" pitchFamily="34" charset="-120"/>
              </a:rPr>
              <a:t>1</a:t>
            </a:r>
            <a:endParaRPr lang="en-US" sz="5600" dirty="0"/>
          </a:p>
        </p:txBody>
      </p:sp>
      <p:sp>
        <p:nvSpPr>
          <p:cNvPr id="18" name="Text 15"/>
          <p:cNvSpPr/>
          <p:nvPr/>
        </p:nvSpPr>
        <p:spPr>
          <a:xfrm>
            <a:off x="2834640" y="2176272"/>
            <a:ext cx="4937760" cy="457200"/>
          </a:xfrm>
          <a:prstGeom prst="rect">
            <a:avLst/>
          </a:prstGeom>
          <a:noFill/>
          <a:ln/>
        </p:spPr>
        <p:txBody>
          <a:bodyPr wrap="square" lIns="0" tIns="0" rIns="0" bIns="0" rtlCol="0" anchor="t"/>
          <a:lstStyle/>
          <a:p>
            <a:pPr algn="l" indent="0" marL="0">
              <a:lnSpc>
                <a:spcPct val="110000"/>
              </a:lnSpc>
              <a:buNone/>
            </a:pPr>
            <a:r>
              <a:rPr lang="en-US" sz="2800" dirty="0">
                <a:solidFill>
                  <a:srgbClr val="1E1208"/>
                </a:solidFill>
                <a:latin typeface="Impact" pitchFamily="34" charset="0"/>
                <a:ea typeface="Impact" pitchFamily="34" charset="-122"/>
                <a:cs typeface="Impact" pitchFamily="34" charset="-120"/>
              </a:rPr>
              <a:t>SMART ASSESS</a:t>
            </a:r>
            <a:endParaRPr lang="en-US" sz="2800" dirty="0"/>
          </a:p>
        </p:txBody>
      </p:sp>
      <p:sp>
        <p:nvSpPr>
          <p:cNvPr id="19" name="Text 16"/>
          <p:cNvSpPr/>
          <p:nvPr/>
        </p:nvSpPr>
        <p:spPr>
          <a:xfrm>
            <a:off x="2834640" y="2670048"/>
            <a:ext cx="5760720" cy="457200"/>
          </a:xfrm>
          <a:prstGeom prst="rect">
            <a:avLst/>
          </a:prstGeom>
          <a:noFill/>
          <a:ln/>
        </p:spPr>
        <p:txBody>
          <a:bodyPr wrap="square" lIns="0" tIns="0" rIns="0" bIns="0" rtlCol="0" anchor="t"/>
          <a:lstStyle/>
          <a:p>
            <a:pPr algn="l" indent="0" marL="0">
              <a:lnSpc>
                <a:spcPct val="110000"/>
              </a:lnSpc>
              <a:buNone/>
            </a:pPr>
            <a:r>
              <a:rPr lang="en-US" sz="1450" dirty="0">
                <a:solidFill>
                  <a:srgbClr val="555555"/>
                </a:solidFill>
                <a:latin typeface="Arial" pitchFamily="34" charset="0"/>
                <a:ea typeface="Arial" pitchFamily="34" charset="-122"/>
                <a:cs typeface="Arial" pitchFamily="34" charset="-120"/>
              </a:rPr>
              <a:t>Measure learning. Set, sit, mark and understand tests, exams and results.</a:t>
            </a:r>
            <a:endParaRPr lang="en-US" sz="1450" dirty="0"/>
          </a:p>
        </p:txBody>
      </p:sp>
      <p:sp>
        <p:nvSpPr>
          <p:cNvPr id="20" name="Shape 17"/>
          <p:cNvSpPr/>
          <p:nvPr/>
        </p:nvSpPr>
        <p:spPr>
          <a:xfrm>
            <a:off x="8823960" y="2450592"/>
            <a:ext cx="1920240" cy="310896"/>
          </a:xfrm>
          <a:prstGeom prst="rect">
            <a:avLst/>
          </a:prstGeom>
          <a:solidFill>
            <a:srgbClr val="1E1208"/>
          </a:solidFill>
          <a:ln w="19050">
            <a:solidFill>
              <a:srgbClr val="1E1208"/>
            </a:solidFill>
            <a:prstDash val="solid"/>
          </a:ln>
        </p:spPr>
      </p:sp>
      <p:sp>
        <p:nvSpPr>
          <p:cNvPr id="21" name="Text 18"/>
          <p:cNvSpPr/>
          <p:nvPr/>
        </p:nvSpPr>
        <p:spPr>
          <a:xfrm>
            <a:off x="8823960" y="2450592"/>
            <a:ext cx="1920240" cy="310896"/>
          </a:xfrm>
          <a:prstGeom prst="rect">
            <a:avLst/>
          </a:prstGeom>
          <a:noFill/>
          <a:ln/>
        </p:spPr>
        <p:txBody>
          <a:bodyPr wrap="square" lIns="0" tIns="0" rIns="0" bIns="0" rtlCol="0" anchor="ctr"/>
          <a:lstStyle/>
          <a:p>
            <a:pPr algn="ctr" indent="0" marL="0">
              <a:lnSpc>
                <a:spcPct val="110000"/>
              </a:lnSpc>
              <a:buNone/>
            </a:pPr>
            <a:r>
              <a:rPr lang="en-US" sz="1000" b="1" spc="200" kern="0" dirty="0">
                <a:solidFill>
                  <a:srgbClr val="FFFFFF"/>
                </a:solidFill>
                <a:latin typeface="Courier New" pitchFamily="34" charset="0"/>
                <a:ea typeface="Courier New" pitchFamily="34" charset="-122"/>
                <a:cs typeface="Courier New" pitchFamily="34" charset="-120"/>
              </a:rPr>
              <a:t>ALREADY BUILT</a:t>
            </a:r>
            <a:endParaRPr lang="en-US" sz="1000" dirty="0"/>
          </a:p>
        </p:txBody>
      </p:sp>
      <p:sp>
        <p:nvSpPr>
          <p:cNvPr id="22" name="Shape 19"/>
          <p:cNvSpPr/>
          <p:nvPr/>
        </p:nvSpPr>
        <p:spPr>
          <a:xfrm>
            <a:off x="1417320" y="3337560"/>
            <a:ext cx="9509760" cy="1188720"/>
          </a:xfrm>
          <a:prstGeom prst="rect">
            <a:avLst/>
          </a:prstGeom>
          <a:solidFill>
            <a:srgbClr val="FFFFFF"/>
          </a:solidFill>
          <a:ln w="25400">
            <a:solidFill>
              <a:srgbClr val="1E1208"/>
            </a:solidFill>
            <a:prstDash val="solid"/>
          </a:ln>
        </p:spPr>
      </p:sp>
      <p:sp>
        <p:nvSpPr>
          <p:cNvPr id="23" name="Shape 20"/>
          <p:cNvSpPr/>
          <p:nvPr/>
        </p:nvSpPr>
        <p:spPr>
          <a:xfrm>
            <a:off x="1417320" y="3337560"/>
            <a:ext cx="1188720" cy="1188720"/>
          </a:xfrm>
          <a:prstGeom prst="rect">
            <a:avLst/>
          </a:prstGeom>
          <a:solidFill>
            <a:srgbClr val="E3B51E"/>
          </a:solidFill>
          <a:ln w="25400">
            <a:solidFill>
              <a:srgbClr val="1E1208"/>
            </a:solidFill>
            <a:prstDash val="solid"/>
          </a:ln>
        </p:spPr>
      </p:sp>
      <p:sp>
        <p:nvSpPr>
          <p:cNvPr id="24" name="Text 21"/>
          <p:cNvSpPr/>
          <p:nvPr/>
        </p:nvSpPr>
        <p:spPr>
          <a:xfrm>
            <a:off x="1417320" y="3337560"/>
            <a:ext cx="1188720" cy="1188720"/>
          </a:xfrm>
          <a:prstGeom prst="rect">
            <a:avLst/>
          </a:prstGeom>
          <a:noFill/>
          <a:ln/>
        </p:spPr>
        <p:txBody>
          <a:bodyPr wrap="square" lIns="0" tIns="0" rIns="0" bIns="0" rtlCol="0" anchor="ctr"/>
          <a:lstStyle/>
          <a:p>
            <a:pPr algn="ctr" indent="0" marL="0">
              <a:lnSpc>
                <a:spcPct val="110000"/>
              </a:lnSpc>
              <a:buNone/>
            </a:pPr>
            <a:r>
              <a:rPr lang="en-US" sz="5600" dirty="0">
                <a:solidFill>
                  <a:srgbClr val="1E1208"/>
                </a:solidFill>
                <a:latin typeface="Impact" pitchFamily="34" charset="0"/>
                <a:ea typeface="Impact" pitchFamily="34" charset="-122"/>
                <a:cs typeface="Impact" pitchFamily="34" charset="-120"/>
              </a:rPr>
              <a:t>2</a:t>
            </a:r>
            <a:endParaRPr lang="en-US" sz="5600" dirty="0"/>
          </a:p>
        </p:txBody>
      </p:sp>
      <p:sp>
        <p:nvSpPr>
          <p:cNvPr id="25" name="Text 22"/>
          <p:cNvSpPr/>
          <p:nvPr/>
        </p:nvSpPr>
        <p:spPr>
          <a:xfrm>
            <a:off x="2834640" y="3502152"/>
            <a:ext cx="4937760" cy="457200"/>
          </a:xfrm>
          <a:prstGeom prst="rect">
            <a:avLst/>
          </a:prstGeom>
          <a:noFill/>
          <a:ln/>
        </p:spPr>
        <p:txBody>
          <a:bodyPr wrap="square" lIns="0" tIns="0" rIns="0" bIns="0" rtlCol="0" anchor="t"/>
          <a:lstStyle/>
          <a:p>
            <a:pPr algn="l" indent="0" marL="0">
              <a:lnSpc>
                <a:spcPct val="110000"/>
              </a:lnSpc>
              <a:buNone/>
            </a:pPr>
            <a:r>
              <a:rPr lang="en-US" sz="2800" dirty="0">
                <a:solidFill>
                  <a:srgbClr val="1E1208"/>
                </a:solidFill>
                <a:latin typeface="Impact" pitchFamily="34" charset="0"/>
                <a:ea typeface="Impact" pitchFamily="34" charset="-122"/>
                <a:cs typeface="Impact" pitchFamily="34" charset="-120"/>
              </a:rPr>
              <a:t>SMART LEARNING</a:t>
            </a:r>
            <a:endParaRPr lang="en-US" sz="2800" dirty="0"/>
          </a:p>
        </p:txBody>
      </p:sp>
      <p:sp>
        <p:nvSpPr>
          <p:cNvPr id="26" name="Text 23"/>
          <p:cNvSpPr/>
          <p:nvPr/>
        </p:nvSpPr>
        <p:spPr>
          <a:xfrm>
            <a:off x="2834640" y="3995928"/>
            <a:ext cx="5760720" cy="457200"/>
          </a:xfrm>
          <a:prstGeom prst="rect">
            <a:avLst/>
          </a:prstGeom>
          <a:noFill/>
          <a:ln/>
        </p:spPr>
        <p:txBody>
          <a:bodyPr wrap="square" lIns="0" tIns="0" rIns="0" bIns="0" rtlCol="0" anchor="t"/>
          <a:lstStyle/>
          <a:p>
            <a:pPr algn="l" indent="0" marL="0">
              <a:lnSpc>
                <a:spcPct val="110000"/>
              </a:lnSpc>
              <a:buNone/>
            </a:pPr>
            <a:r>
              <a:rPr lang="en-US" sz="1450" dirty="0">
                <a:solidFill>
                  <a:srgbClr val="555555"/>
                </a:solidFill>
                <a:latin typeface="Arial" pitchFamily="34" charset="0"/>
                <a:ea typeface="Arial" pitchFamily="34" charset="-122"/>
                <a:cs typeface="Arial" pitchFamily="34" charset="-120"/>
              </a:rPr>
              <a:t>Deliver and recover learning. Lessons, plans, study support and catch-up.</a:t>
            </a:r>
            <a:endParaRPr lang="en-US" sz="1450" dirty="0"/>
          </a:p>
        </p:txBody>
      </p:sp>
      <p:sp>
        <p:nvSpPr>
          <p:cNvPr id="27" name="Shape 24"/>
          <p:cNvSpPr/>
          <p:nvPr/>
        </p:nvSpPr>
        <p:spPr>
          <a:xfrm>
            <a:off x="8823960" y="3776472"/>
            <a:ext cx="1920240" cy="310896"/>
          </a:xfrm>
          <a:prstGeom prst="rect">
            <a:avLst/>
          </a:prstGeom>
          <a:solidFill>
            <a:srgbClr val="1E1208"/>
          </a:solidFill>
          <a:ln w="19050">
            <a:solidFill>
              <a:srgbClr val="1E1208"/>
            </a:solidFill>
            <a:prstDash val="solid"/>
          </a:ln>
        </p:spPr>
      </p:sp>
      <p:sp>
        <p:nvSpPr>
          <p:cNvPr id="28" name="Text 25"/>
          <p:cNvSpPr/>
          <p:nvPr/>
        </p:nvSpPr>
        <p:spPr>
          <a:xfrm>
            <a:off x="8823960" y="3776472"/>
            <a:ext cx="1920240" cy="310896"/>
          </a:xfrm>
          <a:prstGeom prst="rect">
            <a:avLst/>
          </a:prstGeom>
          <a:noFill/>
          <a:ln/>
        </p:spPr>
        <p:txBody>
          <a:bodyPr wrap="square" lIns="0" tIns="0" rIns="0" bIns="0" rtlCol="0" anchor="ctr"/>
          <a:lstStyle/>
          <a:p>
            <a:pPr algn="ctr" indent="0" marL="0">
              <a:lnSpc>
                <a:spcPct val="110000"/>
              </a:lnSpc>
              <a:buNone/>
            </a:pPr>
            <a:r>
              <a:rPr lang="en-US" sz="1000" b="1" spc="200" kern="0" dirty="0">
                <a:solidFill>
                  <a:srgbClr val="FFFFFF"/>
                </a:solidFill>
                <a:latin typeface="Courier New" pitchFamily="34" charset="0"/>
                <a:ea typeface="Courier New" pitchFamily="34" charset="-122"/>
                <a:cs typeface="Courier New" pitchFamily="34" charset="-120"/>
              </a:rPr>
              <a:t>ALREADY BUILT</a:t>
            </a:r>
            <a:endParaRPr lang="en-US" sz="1000" dirty="0"/>
          </a:p>
        </p:txBody>
      </p:sp>
      <p:sp>
        <p:nvSpPr>
          <p:cNvPr id="29" name="Shape 26"/>
          <p:cNvSpPr/>
          <p:nvPr/>
        </p:nvSpPr>
        <p:spPr>
          <a:xfrm>
            <a:off x="1417320" y="4663440"/>
            <a:ext cx="9509760" cy="1188720"/>
          </a:xfrm>
          <a:prstGeom prst="rect">
            <a:avLst/>
          </a:prstGeom>
          <a:solidFill>
            <a:srgbClr val="FFFFFF"/>
          </a:solidFill>
          <a:ln w="25400">
            <a:solidFill>
              <a:srgbClr val="1E1208"/>
            </a:solidFill>
            <a:prstDash val="dash"/>
          </a:ln>
        </p:spPr>
      </p:sp>
      <p:sp>
        <p:nvSpPr>
          <p:cNvPr id="30" name="Shape 27"/>
          <p:cNvSpPr/>
          <p:nvPr/>
        </p:nvSpPr>
        <p:spPr>
          <a:xfrm>
            <a:off x="1417320" y="4663440"/>
            <a:ext cx="1188720" cy="1188720"/>
          </a:xfrm>
          <a:prstGeom prst="rect">
            <a:avLst/>
          </a:prstGeom>
          <a:solidFill>
            <a:srgbClr val="FDFDFB"/>
          </a:solidFill>
          <a:ln w="25400">
            <a:solidFill>
              <a:srgbClr val="1E1208"/>
            </a:solidFill>
            <a:prstDash val="solid"/>
          </a:ln>
        </p:spPr>
      </p:sp>
      <p:sp>
        <p:nvSpPr>
          <p:cNvPr id="31" name="Text 28"/>
          <p:cNvSpPr/>
          <p:nvPr/>
        </p:nvSpPr>
        <p:spPr>
          <a:xfrm>
            <a:off x="1417320" y="4663440"/>
            <a:ext cx="1188720" cy="1188720"/>
          </a:xfrm>
          <a:prstGeom prst="rect">
            <a:avLst/>
          </a:prstGeom>
          <a:noFill/>
          <a:ln/>
        </p:spPr>
        <p:txBody>
          <a:bodyPr wrap="square" lIns="0" tIns="0" rIns="0" bIns="0" rtlCol="0" anchor="ctr"/>
          <a:lstStyle/>
          <a:p>
            <a:pPr algn="ctr" indent="0" marL="0">
              <a:lnSpc>
                <a:spcPct val="110000"/>
              </a:lnSpc>
              <a:buNone/>
            </a:pPr>
            <a:r>
              <a:rPr lang="en-US" sz="5600" dirty="0">
                <a:solidFill>
                  <a:srgbClr val="BBBBBB"/>
                </a:solidFill>
                <a:latin typeface="Impact" pitchFamily="34" charset="0"/>
                <a:ea typeface="Impact" pitchFamily="34" charset="-122"/>
                <a:cs typeface="Impact" pitchFamily="34" charset="-120"/>
              </a:rPr>
              <a:t>3</a:t>
            </a:r>
            <a:endParaRPr lang="en-US" sz="5600" dirty="0"/>
          </a:p>
        </p:txBody>
      </p:sp>
      <p:sp>
        <p:nvSpPr>
          <p:cNvPr id="32" name="Text 29"/>
          <p:cNvSpPr/>
          <p:nvPr/>
        </p:nvSpPr>
        <p:spPr>
          <a:xfrm>
            <a:off x="2834640" y="4828032"/>
            <a:ext cx="4937760" cy="457200"/>
          </a:xfrm>
          <a:prstGeom prst="rect">
            <a:avLst/>
          </a:prstGeom>
          <a:noFill/>
          <a:ln/>
        </p:spPr>
        <p:txBody>
          <a:bodyPr wrap="square" lIns="0" tIns="0" rIns="0" bIns="0" rtlCol="0" anchor="t"/>
          <a:lstStyle/>
          <a:p>
            <a:pPr algn="l" indent="0" marL="0">
              <a:lnSpc>
                <a:spcPct val="110000"/>
              </a:lnSpc>
              <a:buNone/>
            </a:pPr>
            <a:r>
              <a:rPr lang="en-US" sz="2800" dirty="0">
                <a:solidFill>
                  <a:srgbClr val="1E1208"/>
                </a:solidFill>
                <a:latin typeface="Impact" pitchFamily="34" charset="0"/>
                <a:ea typeface="Impact" pitchFamily="34" charset="-122"/>
                <a:cs typeface="Impact" pitchFamily="34" charset="-120"/>
              </a:rPr>
              <a:t>SMART PLAY</a:t>
            </a:r>
            <a:endParaRPr lang="en-US" sz="2800" dirty="0"/>
          </a:p>
        </p:txBody>
      </p:sp>
      <p:sp>
        <p:nvSpPr>
          <p:cNvPr id="33" name="Text 30"/>
          <p:cNvSpPr/>
          <p:nvPr/>
        </p:nvSpPr>
        <p:spPr>
          <a:xfrm>
            <a:off x="2834640" y="5321808"/>
            <a:ext cx="5760720" cy="457200"/>
          </a:xfrm>
          <a:prstGeom prst="rect">
            <a:avLst/>
          </a:prstGeom>
          <a:noFill/>
          <a:ln/>
        </p:spPr>
        <p:txBody>
          <a:bodyPr wrap="square" lIns="0" tIns="0" rIns="0" bIns="0" rtlCol="0" anchor="t"/>
          <a:lstStyle/>
          <a:p>
            <a:pPr algn="l" indent="0" marL="0">
              <a:lnSpc>
                <a:spcPct val="110000"/>
              </a:lnSpc>
              <a:buNone/>
            </a:pPr>
            <a:r>
              <a:rPr lang="en-US" sz="1450" dirty="0">
                <a:solidFill>
                  <a:srgbClr val="555555"/>
                </a:solidFill>
                <a:latin typeface="Arial" pitchFamily="34" charset="0"/>
                <a:ea typeface="Arial" pitchFamily="34" charset="-122"/>
                <a:cs typeface="Arial" pitchFamily="34" charset="-120"/>
              </a:rPr>
              <a:t>Engage and reinforce learning. Quick games, duels and rewards.</a:t>
            </a:r>
            <a:endParaRPr lang="en-US" sz="1450" dirty="0"/>
          </a:p>
        </p:txBody>
      </p:sp>
      <p:sp>
        <p:nvSpPr>
          <p:cNvPr id="34" name="Shape 31"/>
          <p:cNvSpPr/>
          <p:nvPr/>
        </p:nvSpPr>
        <p:spPr>
          <a:xfrm>
            <a:off x="8823960" y="5102352"/>
            <a:ext cx="1920240" cy="310896"/>
          </a:xfrm>
          <a:prstGeom prst="rect">
            <a:avLst/>
          </a:prstGeom>
          <a:solidFill>
            <a:srgbClr val="FDFDFB"/>
          </a:solidFill>
          <a:ln w="19050">
            <a:solidFill>
              <a:srgbClr val="1E1208"/>
            </a:solidFill>
            <a:prstDash val="solid"/>
          </a:ln>
        </p:spPr>
      </p:sp>
      <p:sp>
        <p:nvSpPr>
          <p:cNvPr id="35" name="Text 32"/>
          <p:cNvSpPr/>
          <p:nvPr/>
        </p:nvSpPr>
        <p:spPr>
          <a:xfrm>
            <a:off x="8823960" y="5102352"/>
            <a:ext cx="1920240" cy="310896"/>
          </a:xfrm>
          <a:prstGeom prst="rect">
            <a:avLst/>
          </a:prstGeom>
          <a:noFill/>
          <a:ln/>
        </p:spPr>
        <p:txBody>
          <a:bodyPr wrap="square" lIns="0" tIns="0" rIns="0" bIns="0" rtlCol="0" anchor="ctr"/>
          <a:lstStyle/>
          <a:p>
            <a:pPr algn="ctr" indent="0" marL="0">
              <a:lnSpc>
                <a:spcPct val="110000"/>
              </a:lnSpc>
              <a:buNone/>
            </a:pPr>
            <a:r>
              <a:rPr lang="en-US" sz="1000" b="1" spc="200" kern="0" dirty="0">
                <a:solidFill>
                  <a:srgbClr val="1E1208"/>
                </a:solidFill>
                <a:latin typeface="Courier New" pitchFamily="34" charset="0"/>
                <a:ea typeface="Courier New" pitchFamily="34" charset="-122"/>
                <a:cs typeface="Courier New" pitchFamily="34" charset="-120"/>
              </a:rPr>
              <a:t>COMING SOON</a:t>
            </a:r>
            <a:endParaRPr lang="en-US" sz="1000" dirty="0"/>
          </a:p>
        </p:txBody>
      </p:sp>
      <p:sp>
        <p:nvSpPr>
          <p:cNvPr id="36" name="Text 33"/>
          <p:cNvSpPr/>
          <p:nvPr/>
        </p:nvSpPr>
        <p:spPr>
          <a:xfrm>
            <a:off x="1417320" y="6080760"/>
            <a:ext cx="9509760" cy="365760"/>
          </a:xfrm>
          <a:prstGeom prst="rect">
            <a:avLst/>
          </a:prstGeom>
          <a:noFill/>
          <a:ln/>
        </p:spPr>
        <p:txBody>
          <a:bodyPr wrap="square" lIns="0" tIns="0" rIns="0" bIns="0" rtlCol="0" anchor="t"/>
          <a:lstStyle/>
          <a:p>
            <a:pPr algn="l" indent="0" marL="0">
              <a:lnSpc>
                <a:spcPct val="110000"/>
              </a:lnSpc>
              <a:buNone/>
            </a:pPr>
            <a:r>
              <a:rPr lang="en-US" sz="1500" b="1" dirty="0">
                <a:solidFill>
                  <a:srgbClr val="1E1208"/>
                </a:solidFill>
                <a:latin typeface="Arial" pitchFamily="34" charset="0"/>
                <a:ea typeface="Arial" pitchFamily="34" charset="-122"/>
                <a:cs typeface="Arial" pitchFamily="34" charset="-120"/>
              </a:rPr>
              <a:t>They share one school, one set of people and one topic list.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368735" y="1764792"/>
            <a:ext cx="822960" cy="1152144"/>
          </a:xfrm>
          <a:prstGeom prst="rect">
            <a:avLst/>
          </a:prstGeom>
          <a:solidFill>
            <a:srgbClr val="D4762A"/>
          </a:solidFill>
          <a:ln w="25400">
            <a:solidFill>
              <a:srgbClr val="1E1208"/>
            </a:solidFill>
            <a:prstDash val="solid"/>
          </a:ln>
        </p:spPr>
      </p:sp>
      <p:sp>
        <p:nvSpPr>
          <p:cNvPr id="5" name="Text 3"/>
          <p:cNvSpPr/>
          <p:nvPr/>
        </p:nvSpPr>
        <p:spPr>
          <a:xfrm>
            <a:off x="11368735" y="1764792"/>
            <a:ext cx="822960"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MEET THE PRODUCT</a:t>
            </a:r>
            <a:endParaRPr lang="en-US" sz="1150" dirty="0"/>
          </a:p>
        </p:txBody>
      </p:sp>
      <p:sp>
        <p:nvSpPr>
          <p:cNvPr id="14" name="Shape 11"/>
          <p:cNvSpPr/>
          <p:nvPr/>
        </p:nvSpPr>
        <p:spPr>
          <a:xfrm>
            <a:off x="1417320" y="1920240"/>
            <a:ext cx="3931920" cy="3931920"/>
          </a:xfrm>
          <a:prstGeom prst="rect">
            <a:avLst/>
          </a:prstGeom>
          <a:solidFill>
            <a:srgbClr val="D4762A"/>
          </a:solidFill>
          <a:ln w="25400">
            <a:solidFill>
              <a:srgbClr val="1E1208"/>
            </a:solidFill>
            <a:prstDash val="solid"/>
          </a:ln>
        </p:spPr>
      </p:sp>
      <p:sp>
        <p:nvSpPr>
          <p:cNvPr id="15" name="Text 12"/>
          <p:cNvSpPr/>
          <p:nvPr/>
        </p:nvSpPr>
        <p:spPr>
          <a:xfrm>
            <a:off x="1645920" y="2011680"/>
            <a:ext cx="3474720" cy="1463040"/>
          </a:xfrm>
          <a:prstGeom prst="rect">
            <a:avLst/>
          </a:prstGeom>
          <a:noFill/>
          <a:ln/>
        </p:spPr>
        <p:txBody>
          <a:bodyPr wrap="square" lIns="0" tIns="0" rIns="0" bIns="0" rtlCol="0" anchor="t"/>
          <a:lstStyle/>
          <a:p>
            <a:pPr algn="l" indent="0" marL="0">
              <a:lnSpc>
                <a:spcPct val="110000"/>
              </a:lnSpc>
              <a:buNone/>
            </a:pPr>
            <a:r>
              <a:rPr lang="en-US" sz="9600" dirty="0">
                <a:solidFill>
                  <a:srgbClr val="1E1208"/>
                </a:solidFill>
                <a:latin typeface="Impact" pitchFamily="34" charset="0"/>
                <a:ea typeface="Impact" pitchFamily="34" charset="-122"/>
                <a:cs typeface="Impact" pitchFamily="34" charset="-120"/>
              </a:rPr>
              <a:t>1</a:t>
            </a:r>
            <a:endParaRPr lang="en-US" sz="9600" dirty="0"/>
          </a:p>
        </p:txBody>
      </p:sp>
      <p:sp>
        <p:nvSpPr>
          <p:cNvPr id="16" name="Text 13"/>
          <p:cNvSpPr/>
          <p:nvPr/>
        </p:nvSpPr>
        <p:spPr>
          <a:xfrm>
            <a:off x="1645920" y="3429000"/>
            <a:ext cx="3474720" cy="1371600"/>
          </a:xfrm>
          <a:prstGeom prst="rect">
            <a:avLst/>
          </a:prstGeom>
          <a:noFill/>
          <a:ln/>
        </p:spPr>
        <p:txBody>
          <a:bodyPr wrap="square" lIns="0" tIns="0" rIns="0" bIns="0" rtlCol="0" anchor="t"/>
          <a:lstStyle/>
          <a:p>
            <a:pPr algn="l" indent="0" marL="0">
              <a:lnSpc>
                <a:spcPct val="95000"/>
              </a:lnSpc>
              <a:buNone/>
            </a:pPr>
            <a:r>
              <a:rPr lang="en-US" sz="4400" dirty="0">
                <a:solidFill>
                  <a:srgbClr val="1E1208"/>
                </a:solidFill>
                <a:latin typeface="Impact" pitchFamily="34" charset="0"/>
                <a:ea typeface="Impact" pitchFamily="34" charset="-122"/>
                <a:cs typeface="Impact" pitchFamily="34" charset="-120"/>
              </a:rPr>
              <a:t>SMART</a:t>
            </a:r>
            <a:endParaRPr lang="en-US" sz="4400" dirty="0"/>
          </a:p>
          <a:p>
            <a:pPr algn="l" indent="0" marL="0">
              <a:lnSpc>
                <a:spcPct val="95000"/>
              </a:lnSpc>
              <a:buNone/>
            </a:pPr>
            <a:r>
              <a:rPr lang="en-US" sz="4400" dirty="0">
                <a:solidFill>
                  <a:srgbClr val="1E1208"/>
                </a:solidFill>
                <a:latin typeface="Impact" pitchFamily="34" charset="0"/>
                <a:ea typeface="Impact" pitchFamily="34" charset="-122"/>
                <a:cs typeface="Impact" pitchFamily="34" charset="-120"/>
              </a:rPr>
              <a:t>ASSESS</a:t>
            </a:r>
            <a:endParaRPr lang="en-US" sz="4400" dirty="0"/>
          </a:p>
        </p:txBody>
      </p:sp>
      <p:sp>
        <p:nvSpPr>
          <p:cNvPr id="17" name="Text 14"/>
          <p:cNvSpPr/>
          <p:nvPr/>
        </p:nvSpPr>
        <p:spPr>
          <a:xfrm>
            <a:off x="1645920" y="4937760"/>
            <a:ext cx="3474720" cy="822960"/>
          </a:xfrm>
          <a:prstGeom prst="rect">
            <a:avLst/>
          </a:prstGeom>
          <a:noFill/>
          <a:ln/>
        </p:spPr>
        <p:txBody>
          <a:bodyPr wrap="square" lIns="0" tIns="0" rIns="0" bIns="0" rtlCol="0" anchor="t"/>
          <a:lstStyle/>
          <a:p>
            <a:pPr algn="l" indent="0" marL="0">
              <a:lnSpc>
                <a:spcPct val="110000"/>
              </a:lnSpc>
              <a:buNone/>
            </a:pPr>
            <a:r>
              <a:rPr lang="en-US" sz="1800" b="1" dirty="0">
                <a:solidFill>
                  <a:srgbClr val="1E1208"/>
                </a:solidFill>
                <a:latin typeface="Arial" pitchFamily="34" charset="0"/>
                <a:ea typeface="Arial" pitchFamily="34" charset="-122"/>
                <a:cs typeface="Arial" pitchFamily="34" charset="-120"/>
              </a:rPr>
              <a:t>Measure learning.</a:t>
            </a:r>
            <a:endParaRPr lang="en-US" sz="1800" dirty="0"/>
          </a:p>
        </p:txBody>
      </p:sp>
      <p:sp>
        <p:nvSpPr>
          <p:cNvPr id="18" name="Text 15"/>
          <p:cNvSpPr/>
          <p:nvPr/>
        </p:nvSpPr>
        <p:spPr>
          <a:xfrm>
            <a:off x="5623560" y="1965960"/>
            <a:ext cx="5303520" cy="1554480"/>
          </a:xfrm>
          <a:prstGeom prst="rect">
            <a:avLst/>
          </a:prstGeom>
          <a:noFill/>
          <a:ln/>
        </p:spPr>
        <p:txBody>
          <a:bodyPr wrap="square" lIns="0" tIns="0" rIns="0" bIns="0" rtlCol="0" anchor="t"/>
          <a:lstStyle/>
          <a:p>
            <a:pPr algn="l" indent="0" marL="0">
              <a:lnSpc>
                <a:spcPct val="115000"/>
              </a:lnSpc>
              <a:buNone/>
            </a:pPr>
            <a:r>
              <a:rPr lang="en-US" sz="1600" b="1" dirty="0">
                <a:solidFill>
                  <a:srgbClr val="1E1208"/>
                </a:solidFill>
                <a:latin typeface="Arial" pitchFamily="34" charset="0"/>
                <a:ea typeface="Arial" pitchFamily="34" charset="-122"/>
                <a:cs typeface="Arial" pitchFamily="34" charset="-120"/>
              </a:rPr>
              <a:t>Set, sit, mark and understand tests and exams in one secure record. Teachers save time on marking, students see exactly what to work on, and leaders see how every class and department is doing.</a:t>
            </a:r>
            <a:endParaRPr lang="en-US" sz="1600" dirty="0"/>
          </a:p>
        </p:txBody>
      </p:sp>
      <p:sp>
        <p:nvSpPr>
          <p:cNvPr id="19" name="Text 16"/>
          <p:cNvSpPr/>
          <p:nvPr/>
        </p:nvSpPr>
        <p:spPr>
          <a:xfrm>
            <a:off x="5623560" y="3703320"/>
            <a:ext cx="5303520" cy="274320"/>
          </a:xfrm>
          <a:prstGeom prst="rect">
            <a:avLst/>
          </a:prstGeom>
          <a:noFill/>
          <a:ln/>
        </p:spPr>
        <p:txBody>
          <a:bodyPr wrap="square" lIns="0" tIns="0" rIns="0" bIns="0" rtlCol="0" anchor="t"/>
          <a:lstStyle/>
          <a:p>
            <a:pPr algn="l" indent="0" marL="0">
              <a:lnSpc>
                <a:spcPct val="110000"/>
              </a:lnSpc>
              <a:buNone/>
            </a:pPr>
            <a:r>
              <a:rPr lang="en-US" sz="1100" b="1" spc="200" kern="0" dirty="0">
                <a:solidFill>
                  <a:srgbClr val="1E1208"/>
                </a:solidFill>
                <a:latin typeface="Courier New" pitchFamily="34" charset="0"/>
                <a:ea typeface="Courier New" pitchFamily="34" charset="-122"/>
                <a:cs typeface="Courier New" pitchFamily="34" charset="-120"/>
              </a:rPr>
              <a:t>WHAT IT DOES</a:t>
            </a:r>
            <a:endParaRPr lang="en-US" sz="1100" dirty="0"/>
          </a:p>
        </p:txBody>
      </p:sp>
      <p:sp>
        <p:nvSpPr>
          <p:cNvPr id="20" name="Shape 17"/>
          <p:cNvSpPr/>
          <p:nvPr/>
        </p:nvSpPr>
        <p:spPr>
          <a:xfrm>
            <a:off x="5623560" y="4041648"/>
            <a:ext cx="5303520" cy="475488"/>
          </a:xfrm>
          <a:prstGeom prst="rect">
            <a:avLst/>
          </a:prstGeom>
          <a:solidFill>
            <a:srgbClr val="FFFFFF"/>
          </a:solidFill>
          <a:ln w="25400">
            <a:solidFill>
              <a:srgbClr val="1E1208"/>
            </a:solidFill>
            <a:prstDash val="solid"/>
          </a:ln>
        </p:spPr>
      </p:sp>
      <p:sp>
        <p:nvSpPr>
          <p:cNvPr id="21" name="Text 18"/>
          <p:cNvSpPr/>
          <p:nvPr/>
        </p:nvSpPr>
        <p:spPr>
          <a:xfrm>
            <a:off x="5806440" y="4041648"/>
            <a:ext cx="4983480" cy="475488"/>
          </a:xfrm>
          <a:prstGeom prst="rect">
            <a:avLst/>
          </a:prstGeom>
          <a:noFill/>
          <a:ln/>
        </p:spPr>
        <p:txBody>
          <a:bodyPr wrap="square" lIns="0" tIns="0" rIns="0" bIns="0" rtlCol="0" anchor="ctr"/>
          <a:lstStyle/>
          <a:p>
            <a:pPr algn="l" indent="0" marL="0">
              <a:lnSpc>
                <a:spcPct val="110000"/>
              </a:lnSpc>
              <a:buNone/>
            </a:pPr>
            <a:r>
              <a:rPr lang="en-US" sz="1300" b="1" dirty="0">
                <a:solidFill>
                  <a:srgbClr val="1E1208"/>
                </a:solidFill>
                <a:latin typeface="Arial" pitchFamily="34" charset="0"/>
                <a:ea typeface="Arial" pitchFamily="34" charset="-122"/>
                <a:cs typeface="Arial" pitchFamily="34" charset="-120"/>
              </a:rPr>
              <a:t>Build tests and exams, with AI help you always review</a:t>
            </a:r>
            <a:endParaRPr lang="en-US" sz="1300" dirty="0"/>
          </a:p>
        </p:txBody>
      </p:sp>
      <p:sp>
        <p:nvSpPr>
          <p:cNvPr id="22" name="Shape 19"/>
          <p:cNvSpPr/>
          <p:nvPr/>
        </p:nvSpPr>
        <p:spPr>
          <a:xfrm>
            <a:off x="5623560" y="4590288"/>
            <a:ext cx="5303520" cy="475488"/>
          </a:xfrm>
          <a:prstGeom prst="rect">
            <a:avLst/>
          </a:prstGeom>
          <a:solidFill>
            <a:srgbClr val="FBE9D6"/>
          </a:solidFill>
          <a:ln w="25400">
            <a:solidFill>
              <a:srgbClr val="1E1208"/>
            </a:solidFill>
            <a:prstDash val="solid"/>
          </a:ln>
        </p:spPr>
      </p:sp>
      <p:sp>
        <p:nvSpPr>
          <p:cNvPr id="23" name="Text 20"/>
          <p:cNvSpPr/>
          <p:nvPr/>
        </p:nvSpPr>
        <p:spPr>
          <a:xfrm>
            <a:off x="5806440" y="4590288"/>
            <a:ext cx="4983480" cy="475488"/>
          </a:xfrm>
          <a:prstGeom prst="rect">
            <a:avLst/>
          </a:prstGeom>
          <a:noFill/>
          <a:ln/>
        </p:spPr>
        <p:txBody>
          <a:bodyPr wrap="square" lIns="0" tIns="0" rIns="0" bIns="0" rtlCol="0" anchor="ctr"/>
          <a:lstStyle/>
          <a:p>
            <a:pPr algn="l" indent="0" marL="0">
              <a:lnSpc>
                <a:spcPct val="110000"/>
              </a:lnSpc>
              <a:buNone/>
            </a:pPr>
            <a:r>
              <a:rPr lang="en-US" sz="1300" b="1" dirty="0">
                <a:solidFill>
                  <a:srgbClr val="1E1208"/>
                </a:solidFill>
                <a:latin typeface="Arial" pitchFamily="34" charset="0"/>
                <a:ea typeface="Arial" pitchFamily="34" charset="-122"/>
                <a:cs typeface="Arial" pitchFamily="34" charset="-120"/>
              </a:rPr>
              <a:t>Mark automatically, with AI-suggested essay marks you decide on</a:t>
            </a:r>
            <a:endParaRPr lang="en-US" sz="1300" dirty="0"/>
          </a:p>
        </p:txBody>
      </p:sp>
      <p:sp>
        <p:nvSpPr>
          <p:cNvPr id="24" name="Shape 21"/>
          <p:cNvSpPr/>
          <p:nvPr/>
        </p:nvSpPr>
        <p:spPr>
          <a:xfrm>
            <a:off x="5623560" y="5138928"/>
            <a:ext cx="5303520" cy="475488"/>
          </a:xfrm>
          <a:prstGeom prst="rect">
            <a:avLst/>
          </a:prstGeom>
          <a:solidFill>
            <a:srgbClr val="FFFFFF"/>
          </a:solidFill>
          <a:ln w="25400">
            <a:solidFill>
              <a:srgbClr val="1E1208"/>
            </a:solidFill>
            <a:prstDash val="solid"/>
          </a:ln>
        </p:spPr>
      </p:sp>
      <p:sp>
        <p:nvSpPr>
          <p:cNvPr id="25" name="Text 22"/>
          <p:cNvSpPr/>
          <p:nvPr/>
        </p:nvSpPr>
        <p:spPr>
          <a:xfrm>
            <a:off x="5806440" y="5138928"/>
            <a:ext cx="4983480" cy="475488"/>
          </a:xfrm>
          <a:prstGeom prst="rect">
            <a:avLst/>
          </a:prstGeom>
          <a:noFill/>
          <a:ln/>
        </p:spPr>
        <p:txBody>
          <a:bodyPr wrap="square" lIns="0" tIns="0" rIns="0" bIns="0" rtlCol="0" anchor="ctr"/>
          <a:lstStyle/>
          <a:p>
            <a:pPr algn="l" indent="0" marL="0">
              <a:lnSpc>
                <a:spcPct val="110000"/>
              </a:lnSpc>
              <a:buNone/>
            </a:pPr>
            <a:r>
              <a:rPr lang="en-US" sz="1300" b="1" dirty="0">
                <a:solidFill>
                  <a:srgbClr val="1E1208"/>
                </a:solidFill>
                <a:latin typeface="Arial" pitchFamily="34" charset="0"/>
                <a:ea typeface="Arial" pitchFamily="34" charset="-122"/>
                <a:cs typeface="Arial" pitchFamily="34" charset="-120"/>
              </a:rPr>
              <a:t>See what the class missed and who needs support</a:t>
            </a:r>
            <a:endParaRPr lang="en-US" sz="1300" dirty="0"/>
          </a:p>
        </p:txBody>
      </p:sp>
      <p:sp>
        <p:nvSpPr>
          <p:cNvPr id="26" name="Text 23"/>
          <p:cNvSpPr/>
          <p:nvPr/>
        </p:nvSpPr>
        <p:spPr>
          <a:xfrm>
            <a:off x="5623560" y="5760720"/>
            <a:ext cx="3291840" cy="457200"/>
          </a:xfrm>
          <a:prstGeom prst="rect">
            <a:avLst/>
          </a:prstGeom>
          <a:noFill/>
          <a:ln/>
        </p:spPr>
        <p:txBody>
          <a:bodyPr wrap="square" lIns="0" tIns="0" rIns="0" bIns="0" rtlCol="0" anchor="ctr"/>
          <a:lstStyle/>
          <a:p>
            <a:pPr algn="l" indent="0" marL="0">
              <a:lnSpc>
                <a:spcPct val="110000"/>
              </a:lnSpc>
              <a:buNone/>
            </a:pPr>
            <a:r>
              <a:rPr lang="en-US" sz="1200" dirty="0">
                <a:solidFill>
                  <a:srgbClr val="555555"/>
                </a:solidFill>
                <a:latin typeface="Arial" pitchFamily="34" charset="0"/>
                <a:ea typeface="Arial" pitchFamily="34" charset="-122"/>
                <a:cs typeface="Arial" pitchFamily="34" charset="-120"/>
              </a:rPr>
              <a:t>For teachers, students, heads of department and leaders.</a:t>
            </a:r>
            <a:endParaRPr lang="en-US" sz="1200" dirty="0"/>
          </a:p>
        </p:txBody>
      </p:sp>
      <p:sp>
        <p:nvSpPr>
          <p:cNvPr id="27" name="Shape 24"/>
          <p:cNvSpPr/>
          <p:nvPr/>
        </p:nvSpPr>
        <p:spPr>
          <a:xfrm>
            <a:off x="9006840" y="5824728"/>
            <a:ext cx="1920240" cy="310896"/>
          </a:xfrm>
          <a:prstGeom prst="rect">
            <a:avLst/>
          </a:prstGeom>
          <a:solidFill>
            <a:srgbClr val="1E1208"/>
          </a:solidFill>
          <a:ln w="19050">
            <a:solidFill>
              <a:srgbClr val="1E1208"/>
            </a:solidFill>
            <a:prstDash val="solid"/>
          </a:ln>
        </p:spPr>
      </p:sp>
      <p:sp>
        <p:nvSpPr>
          <p:cNvPr id="28" name="Text 25"/>
          <p:cNvSpPr/>
          <p:nvPr/>
        </p:nvSpPr>
        <p:spPr>
          <a:xfrm>
            <a:off x="9006840" y="5824728"/>
            <a:ext cx="1920240" cy="310896"/>
          </a:xfrm>
          <a:prstGeom prst="rect">
            <a:avLst/>
          </a:prstGeom>
          <a:noFill/>
          <a:ln/>
        </p:spPr>
        <p:txBody>
          <a:bodyPr wrap="square" lIns="0" tIns="0" rIns="0" bIns="0" rtlCol="0" anchor="ctr"/>
          <a:lstStyle/>
          <a:p>
            <a:pPr algn="ctr" indent="0" marL="0">
              <a:lnSpc>
                <a:spcPct val="110000"/>
              </a:lnSpc>
              <a:buNone/>
            </a:pPr>
            <a:r>
              <a:rPr lang="en-US" sz="1000" b="1" spc="200" kern="0" dirty="0">
                <a:solidFill>
                  <a:srgbClr val="FFFFFF"/>
                </a:solidFill>
                <a:latin typeface="Courier New" pitchFamily="34" charset="0"/>
                <a:ea typeface="Courier New" pitchFamily="34" charset="-122"/>
                <a:cs typeface="Courier New" pitchFamily="34" charset="-120"/>
              </a:rPr>
              <a:t>ALREADY BUILT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368735" y="1764792"/>
            <a:ext cx="822960" cy="1152144"/>
          </a:xfrm>
          <a:prstGeom prst="rect">
            <a:avLst/>
          </a:prstGeom>
          <a:solidFill>
            <a:srgbClr val="D4762A"/>
          </a:solidFill>
          <a:ln w="25400">
            <a:solidFill>
              <a:srgbClr val="1E1208"/>
            </a:solidFill>
            <a:prstDash val="solid"/>
          </a:ln>
        </p:spPr>
      </p:sp>
      <p:sp>
        <p:nvSpPr>
          <p:cNvPr id="5" name="Text 3"/>
          <p:cNvSpPr/>
          <p:nvPr/>
        </p:nvSpPr>
        <p:spPr>
          <a:xfrm>
            <a:off x="11368735" y="1764792"/>
            <a:ext cx="822960"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SMART ASSESS</a:t>
            </a:r>
            <a:endParaRPr lang="en-US" sz="115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indent="0" marL="0">
              <a:buNone/>
            </a:pPr>
            <a:r>
              <a:rPr lang="en-US" sz="4600" dirty="0">
                <a:solidFill>
                  <a:srgbClr val="1E1208"/>
                </a:solidFill>
                <a:latin typeface="Impact" pitchFamily="34" charset="0"/>
                <a:ea typeface="Impact" pitchFamily="34" charset="-122"/>
                <a:cs typeface="Impact" pitchFamily="34" charset="-120"/>
              </a:rPr>
              <a:t>EVERY ASSESSMENT, ONE SECURE RECORD</a:t>
            </a:r>
            <a:endParaRPr lang="en-US" sz="4600" dirty="0"/>
          </a:p>
        </p:txBody>
      </p:sp>
      <p:sp>
        <p:nvSpPr>
          <p:cNvPr id="15" name="Shape 12"/>
          <p:cNvSpPr/>
          <p:nvPr/>
        </p:nvSpPr>
        <p:spPr>
          <a:xfrm>
            <a:off x="9144000" y="502920"/>
            <a:ext cx="1737360" cy="310896"/>
          </a:xfrm>
          <a:prstGeom prst="rect">
            <a:avLst/>
          </a:prstGeom>
          <a:solidFill>
            <a:srgbClr val="D4762A"/>
          </a:solidFill>
          <a:ln w="19050">
            <a:solidFill>
              <a:srgbClr val="1E1208"/>
            </a:solidFill>
            <a:prstDash val="solid"/>
          </a:ln>
        </p:spPr>
      </p:sp>
      <p:sp>
        <p:nvSpPr>
          <p:cNvPr id="16" name="Text 13"/>
          <p:cNvSpPr/>
          <p:nvPr/>
        </p:nvSpPr>
        <p:spPr>
          <a:xfrm>
            <a:off x="9144000" y="502920"/>
            <a:ext cx="1737360" cy="310896"/>
          </a:xfrm>
          <a:prstGeom prst="rect">
            <a:avLst/>
          </a:prstGeom>
          <a:noFill/>
          <a:ln/>
        </p:spPr>
        <p:txBody>
          <a:bodyPr wrap="square" lIns="0" tIns="0" rIns="0" bIns="0" rtlCol="0" anchor="ctr"/>
          <a:lstStyle/>
          <a:p>
            <a:pPr algn="ctr" indent="0" marL="0">
              <a:lnSpc>
                <a:spcPct val="110000"/>
              </a:lnSpc>
              <a:buNone/>
            </a:pPr>
            <a:r>
              <a:rPr lang="en-US" sz="1000" b="1" spc="200" kern="0" dirty="0">
                <a:solidFill>
                  <a:srgbClr val="1E1208"/>
                </a:solidFill>
                <a:latin typeface="Courier New" pitchFamily="34" charset="0"/>
                <a:ea typeface="Courier New" pitchFamily="34" charset="-122"/>
                <a:cs typeface="Courier New" pitchFamily="34" charset="-120"/>
              </a:rPr>
              <a:t>ALREADY BUILT</a:t>
            </a:r>
            <a:endParaRPr lang="en-US" sz="1000" dirty="0"/>
          </a:p>
        </p:txBody>
      </p:sp>
      <p:sp>
        <p:nvSpPr>
          <p:cNvPr id="17" name="Shape 14"/>
          <p:cNvSpPr/>
          <p:nvPr/>
        </p:nvSpPr>
        <p:spPr>
          <a:xfrm>
            <a:off x="1417320" y="1965960"/>
            <a:ext cx="3017520" cy="1783080"/>
          </a:xfrm>
          <a:prstGeom prst="rect">
            <a:avLst/>
          </a:prstGeom>
          <a:solidFill>
            <a:srgbClr val="FFFFFF"/>
          </a:solidFill>
          <a:ln w="25400">
            <a:solidFill>
              <a:srgbClr val="1E1208"/>
            </a:solidFill>
            <a:prstDash val="solid"/>
          </a:ln>
        </p:spPr>
      </p:sp>
      <p:sp>
        <p:nvSpPr>
          <p:cNvPr id="18" name="Shape 15"/>
          <p:cNvSpPr/>
          <p:nvPr/>
        </p:nvSpPr>
        <p:spPr>
          <a:xfrm>
            <a:off x="1417320" y="1965960"/>
            <a:ext cx="3017520" cy="109728"/>
          </a:xfrm>
          <a:prstGeom prst="rect">
            <a:avLst/>
          </a:prstGeom>
          <a:solidFill>
            <a:srgbClr val="D4762A"/>
          </a:solidFill>
          <a:ln/>
        </p:spPr>
      </p:sp>
      <p:sp>
        <p:nvSpPr>
          <p:cNvPr id="19" name="Text 16"/>
          <p:cNvSpPr/>
          <p:nvPr/>
        </p:nvSpPr>
        <p:spPr>
          <a:xfrm>
            <a:off x="1600200" y="2240280"/>
            <a:ext cx="2651760" cy="594360"/>
          </a:xfrm>
          <a:prstGeom prst="rect">
            <a:avLst/>
          </a:prstGeom>
          <a:noFill/>
          <a:ln/>
        </p:spPr>
        <p:txBody>
          <a:bodyPr wrap="square" lIns="0" tIns="0" rIns="0" bIns="0" rtlCol="0" anchor="t"/>
          <a:lstStyle/>
          <a:p>
            <a:pPr algn="l" indent="0" marL="0">
              <a:lnSpc>
                <a:spcPct val="110000"/>
              </a:lnSpc>
              <a:buNone/>
            </a:pPr>
            <a:r>
              <a:rPr lang="en-US" sz="1700" dirty="0">
                <a:solidFill>
                  <a:srgbClr val="1E1208"/>
                </a:solidFill>
                <a:latin typeface="Impact" pitchFamily="34" charset="0"/>
                <a:ea typeface="Impact" pitchFamily="34" charset="-122"/>
                <a:cs typeface="Impact" pitchFamily="34" charset="-120"/>
              </a:rPr>
              <a:t>EXAMS, TESTS AND TASKS</a:t>
            </a:r>
            <a:endParaRPr lang="en-US" sz="1700" dirty="0"/>
          </a:p>
        </p:txBody>
      </p:sp>
      <p:sp>
        <p:nvSpPr>
          <p:cNvPr id="20" name="Text 17"/>
          <p:cNvSpPr/>
          <p:nvPr/>
        </p:nvSpPr>
        <p:spPr>
          <a:xfrm>
            <a:off x="1600200" y="2834640"/>
            <a:ext cx="2651760" cy="86868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Pop quizzes to end-of-year exams, plus assignments and homework. Five question types, with images and audio.</a:t>
            </a:r>
            <a:endParaRPr lang="en-US" sz="1250" dirty="0"/>
          </a:p>
        </p:txBody>
      </p:sp>
      <p:sp>
        <p:nvSpPr>
          <p:cNvPr id="21" name="Shape 18"/>
          <p:cNvSpPr/>
          <p:nvPr/>
        </p:nvSpPr>
        <p:spPr>
          <a:xfrm>
            <a:off x="4617720" y="1965960"/>
            <a:ext cx="3017520" cy="1783080"/>
          </a:xfrm>
          <a:prstGeom prst="rect">
            <a:avLst/>
          </a:prstGeom>
          <a:solidFill>
            <a:srgbClr val="FFFFFF"/>
          </a:solidFill>
          <a:ln w="25400">
            <a:solidFill>
              <a:srgbClr val="1E1208"/>
            </a:solidFill>
            <a:prstDash val="solid"/>
          </a:ln>
        </p:spPr>
      </p:sp>
      <p:sp>
        <p:nvSpPr>
          <p:cNvPr id="22" name="Shape 19"/>
          <p:cNvSpPr/>
          <p:nvPr/>
        </p:nvSpPr>
        <p:spPr>
          <a:xfrm>
            <a:off x="4617720" y="1965960"/>
            <a:ext cx="3017520" cy="109728"/>
          </a:xfrm>
          <a:prstGeom prst="rect">
            <a:avLst/>
          </a:prstGeom>
          <a:solidFill>
            <a:srgbClr val="D4762A"/>
          </a:solidFill>
          <a:ln/>
        </p:spPr>
      </p:sp>
      <p:sp>
        <p:nvSpPr>
          <p:cNvPr id="23" name="Text 20"/>
          <p:cNvSpPr/>
          <p:nvPr/>
        </p:nvSpPr>
        <p:spPr>
          <a:xfrm>
            <a:off x="4800600" y="2240280"/>
            <a:ext cx="2651760" cy="594360"/>
          </a:xfrm>
          <a:prstGeom prst="rect">
            <a:avLst/>
          </a:prstGeom>
          <a:noFill/>
          <a:ln/>
        </p:spPr>
        <p:txBody>
          <a:bodyPr wrap="square" lIns="0" tIns="0" rIns="0" bIns="0" rtlCol="0" anchor="t"/>
          <a:lstStyle/>
          <a:p>
            <a:pPr algn="l" indent="0" marL="0">
              <a:lnSpc>
                <a:spcPct val="110000"/>
              </a:lnSpc>
              <a:buNone/>
            </a:pPr>
            <a:r>
              <a:rPr lang="en-US" sz="1700" dirty="0">
                <a:solidFill>
                  <a:srgbClr val="1E1208"/>
                </a:solidFill>
                <a:latin typeface="Impact" pitchFamily="34" charset="0"/>
                <a:ea typeface="Impact" pitchFamily="34" charset="-122"/>
                <a:cs typeface="Impact" pitchFamily="34" charset="-120"/>
              </a:rPr>
              <a:t>QUESTION BANK</a:t>
            </a:r>
            <a:endParaRPr lang="en-US" sz="1700" dirty="0"/>
          </a:p>
        </p:txBody>
      </p:sp>
      <p:sp>
        <p:nvSpPr>
          <p:cNvPr id="24" name="Text 21"/>
          <p:cNvSpPr/>
          <p:nvPr/>
        </p:nvSpPr>
        <p:spPr>
          <a:xfrm>
            <a:off x="4800600" y="2834640"/>
            <a:ext cx="2651760" cy="86868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Save a question once, tag it to a topic, reuse it in future tests.</a:t>
            </a:r>
            <a:endParaRPr lang="en-US" sz="1250" dirty="0"/>
          </a:p>
        </p:txBody>
      </p:sp>
      <p:sp>
        <p:nvSpPr>
          <p:cNvPr id="25" name="Shape 22"/>
          <p:cNvSpPr/>
          <p:nvPr/>
        </p:nvSpPr>
        <p:spPr>
          <a:xfrm>
            <a:off x="7818120" y="1965960"/>
            <a:ext cx="3017520" cy="1783080"/>
          </a:xfrm>
          <a:prstGeom prst="rect">
            <a:avLst/>
          </a:prstGeom>
          <a:solidFill>
            <a:srgbClr val="FFFFFF"/>
          </a:solidFill>
          <a:ln w="25400">
            <a:solidFill>
              <a:srgbClr val="1E1208"/>
            </a:solidFill>
            <a:prstDash val="solid"/>
          </a:ln>
        </p:spPr>
      </p:sp>
      <p:sp>
        <p:nvSpPr>
          <p:cNvPr id="26" name="Shape 23"/>
          <p:cNvSpPr/>
          <p:nvPr/>
        </p:nvSpPr>
        <p:spPr>
          <a:xfrm>
            <a:off x="7818120" y="1965960"/>
            <a:ext cx="3017520" cy="109728"/>
          </a:xfrm>
          <a:prstGeom prst="rect">
            <a:avLst/>
          </a:prstGeom>
          <a:solidFill>
            <a:srgbClr val="D4762A"/>
          </a:solidFill>
          <a:ln/>
        </p:spPr>
      </p:sp>
      <p:sp>
        <p:nvSpPr>
          <p:cNvPr id="27" name="Text 24"/>
          <p:cNvSpPr/>
          <p:nvPr/>
        </p:nvSpPr>
        <p:spPr>
          <a:xfrm>
            <a:off x="8001000" y="2240280"/>
            <a:ext cx="2651760" cy="594360"/>
          </a:xfrm>
          <a:prstGeom prst="rect">
            <a:avLst/>
          </a:prstGeom>
          <a:noFill/>
          <a:ln/>
        </p:spPr>
        <p:txBody>
          <a:bodyPr wrap="square" lIns="0" tIns="0" rIns="0" bIns="0" rtlCol="0" anchor="t"/>
          <a:lstStyle/>
          <a:p>
            <a:pPr algn="l" indent="0" marL="0">
              <a:lnSpc>
                <a:spcPct val="110000"/>
              </a:lnSpc>
              <a:buNone/>
            </a:pPr>
            <a:r>
              <a:rPr lang="en-US" sz="1700" dirty="0">
                <a:solidFill>
                  <a:srgbClr val="1E1208"/>
                </a:solidFill>
                <a:latin typeface="Impact" pitchFamily="34" charset="0"/>
                <a:ea typeface="Impact" pitchFamily="34" charset="-122"/>
                <a:cs typeface="Impact" pitchFamily="34" charset="-120"/>
              </a:rPr>
              <a:t>SUBJECT TOOLS</a:t>
            </a:r>
            <a:endParaRPr lang="en-US" sz="1700" dirty="0"/>
          </a:p>
        </p:txBody>
      </p:sp>
      <p:sp>
        <p:nvSpPr>
          <p:cNvPr id="28" name="Text 25"/>
          <p:cNvSpPr/>
          <p:nvPr/>
        </p:nvSpPr>
        <p:spPr>
          <a:xfrm>
            <a:off x="8001000" y="2834640"/>
            <a:ext cx="2651760" cy="86868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Built for each subject, starting with an equation toolbar and calculator for maths.</a:t>
            </a:r>
            <a:endParaRPr lang="en-US" sz="1250" dirty="0"/>
          </a:p>
        </p:txBody>
      </p:sp>
      <p:sp>
        <p:nvSpPr>
          <p:cNvPr id="29" name="Shape 26"/>
          <p:cNvSpPr/>
          <p:nvPr/>
        </p:nvSpPr>
        <p:spPr>
          <a:xfrm>
            <a:off x="1417320" y="3931920"/>
            <a:ext cx="3017520" cy="1783080"/>
          </a:xfrm>
          <a:prstGeom prst="rect">
            <a:avLst/>
          </a:prstGeom>
          <a:solidFill>
            <a:srgbClr val="FFFFFF"/>
          </a:solidFill>
          <a:ln w="25400">
            <a:solidFill>
              <a:srgbClr val="1E1208"/>
            </a:solidFill>
            <a:prstDash val="solid"/>
          </a:ln>
        </p:spPr>
      </p:sp>
      <p:sp>
        <p:nvSpPr>
          <p:cNvPr id="30" name="Shape 27"/>
          <p:cNvSpPr/>
          <p:nvPr/>
        </p:nvSpPr>
        <p:spPr>
          <a:xfrm>
            <a:off x="1417320" y="3931920"/>
            <a:ext cx="3017520" cy="109728"/>
          </a:xfrm>
          <a:prstGeom prst="rect">
            <a:avLst/>
          </a:prstGeom>
          <a:solidFill>
            <a:srgbClr val="D4762A"/>
          </a:solidFill>
          <a:ln/>
        </p:spPr>
      </p:sp>
      <p:sp>
        <p:nvSpPr>
          <p:cNvPr id="31" name="Text 28"/>
          <p:cNvSpPr/>
          <p:nvPr/>
        </p:nvSpPr>
        <p:spPr>
          <a:xfrm>
            <a:off x="1600200" y="4206240"/>
            <a:ext cx="2651760" cy="594360"/>
          </a:xfrm>
          <a:prstGeom prst="rect">
            <a:avLst/>
          </a:prstGeom>
          <a:noFill/>
          <a:ln/>
        </p:spPr>
        <p:txBody>
          <a:bodyPr wrap="square" lIns="0" tIns="0" rIns="0" bIns="0" rtlCol="0" anchor="t"/>
          <a:lstStyle/>
          <a:p>
            <a:pPr algn="l" indent="0" marL="0">
              <a:lnSpc>
                <a:spcPct val="110000"/>
              </a:lnSpc>
              <a:buNone/>
            </a:pPr>
            <a:r>
              <a:rPr lang="en-US" sz="1700" dirty="0">
                <a:solidFill>
                  <a:srgbClr val="1E1208"/>
                </a:solidFill>
                <a:latin typeface="Impact" pitchFamily="34" charset="0"/>
                <a:ea typeface="Impact" pitchFamily="34" charset="-122"/>
                <a:cs typeface="Impact" pitchFamily="34" charset="-120"/>
              </a:rPr>
              <a:t>PDF IMPORT AND AI DRAFTING</a:t>
            </a:r>
            <a:endParaRPr lang="en-US" sz="1700" dirty="0"/>
          </a:p>
        </p:txBody>
      </p:sp>
      <p:sp>
        <p:nvSpPr>
          <p:cNvPr id="32" name="Text 29"/>
          <p:cNvSpPr/>
          <p:nvPr/>
        </p:nvSpPr>
        <p:spPr>
          <a:xfrm>
            <a:off x="1600200" y="4800600"/>
            <a:ext cx="2651760" cy="86868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Turn an exam PDF into questions, or draft questions from a topic. You review every one.</a:t>
            </a:r>
            <a:endParaRPr lang="en-US" sz="1250" dirty="0"/>
          </a:p>
        </p:txBody>
      </p:sp>
      <p:sp>
        <p:nvSpPr>
          <p:cNvPr id="33" name="Shape 30"/>
          <p:cNvSpPr/>
          <p:nvPr/>
        </p:nvSpPr>
        <p:spPr>
          <a:xfrm>
            <a:off x="4617720" y="3931920"/>
            <a:ext cx="3017520" cy="1783080"/>
          </a:xfrm>
          <a:prstGeom prst="rect">
            <a:avLst/>
          </a:prstGeom>
          <a:solidFill>
            <a:srgbClr val="FFFFFF"/>
          </a:solidFill>
          <a:ln w="25400">
            <a:solidFill>
              <a:srgbClr val="1E1208"/>
            </a:solidFill>
            <a:prstDash val="solid"/>
          </a:ln>
        </p:spPr>
      </p:sp>
      <p:sp>
        <p:nvSpPr>
          <p:cNvPr id="34" name="Shape 31"/>
          <p:cNvSpPr/>
          <p:nvPr/>
        </p:nvSpPr>
        <p:spPr>
          <a:xfrm>
            <a:off x="4617720" y="3931920"/>
            <a:ext cx="3017520" cy="109728"/>
          </a:xfrm>
          <a:prstGeom prst="rect">
            <a:avLst/>
          </a:prstGeom>
          <a:solidFill>
            <a:srgbClr val="D4762A"/>
          </a:solidFill>
          <a:ln/>
        </p:spPr>
      </p:sp>
      <p:sp>
        <p:nvSpPr>
          <p:cNvPr id="35" name="Text 32"/>
          <p:cNvSpPr/>
          <p:nvPr/>
        </p:nvSpPr>
        <p:spPr>
          <a:xfrm>
            <a:off x="4800600" y="4206240"/>
            <a:ext cx="2651760" cy="594360"/>
          </a:xfrm>
          <a:prstGeom prst="rect">
            <a:avLst/>
          </a:prstGeom>
          <a:noFill/>
          <a:ln/>
        </p:spPr>
        <p:txBody>
          <a:bodyPr wrap="square" lIns="0" tIns="0" rIns="0" bIns="0" rtlCol="0" anchor="t"/>
          <a:lstStyle/>
          <a:p>
            <a:pPr algn="l" indent="0" marL="0">
              <a:lnSpc>
                <a:spcPct val="110000"/>
              </a:lnSpc>
              <a:buNone/>
            </a:pPr>
            <a:r>
              <a:rPr lang="en-US" sz="1700" dirty="0">
                <a:solidFill>
                  <a:srgbClr val="1E1208"/>
                </a:solidFill>
                <a:latin typeface="Impact" pitchFamily="34" charset="0"/>
                <a:ea typeface="Impact" pitchFamily="34" charset="-122"/>
                <a:cs typeface="Impact" pitchFamily="34" charset="-120"/>
              </a:rPr>
              <a:t>SECURE SITTING</a:t>
            </a:r>
            <a:endParaRPr lang="en-US" sz="1700" dirty="0"/>
          </a:p>
        </p:txBody>
      </p:sp>
      <p:sp>
        <p:nvSpPr>
          <p:cNvPr id="36" name="Text 33"/>
          <p:cNvSpPr/>
          <p:nvPr/>
        </p:nvSpPr>
        <p:spPr>
          <a:xfrm>
            <a:off x="4800600" y="4800600"/>
            <a:ext cx="2651760" cy="86868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One device, tab-switch logging, blocked pasting, a desktop lock-down app, saved answers.</a:t>
            </a:r>
            <a:endParaRPr lang="en-US" sz="1250" dirty="0"/>
          </a:p>
        </p:txBody>
      </p:sp>
      <p:sp>
        <p:nvSpPr>
          <p:cNvPr id="37" name="Shape 34"/>
          <p:cNvSpPr/>
          <p:nvPr/>
        </p:nvSpPr>
        <p:spPr>
          <a:xfrm>
            <a:off x="7818120" y="3931920"/>
            <a:ext cx="3017520" cy="1783080"/>
          </a:xfrm>
          <a:prstGeom prst="rect">
            <a:avLst/>
          </a:prstGeom>
          <a:solidFill>
            <a:srgbClr val="FFFFFF"/>
          </a:solidFill>
          <a:ln w="25400">
            <a:solidFill>
              <a:srgbClr val="1E1208"/>
            </a:solidFill>
            <a:prstDash val="solid"/>
          </a:ln>
        </p:spPr>
      </p:sp>
      <p:sp>
        <p:nvSpPr>
          <p:cNvPr id="38" name="Shape 35"/>
          <p:cNvSpPr/>
          <p:nvPr/>
        </p:nvSpPr>
        <p:spPr>
          <a:xfrm>
            <a:off x="7818120" y="3931920"/>
            <a:ext cx="3017520" cy="109728"/>
          </a:xfrm>
          <a:prstGeom prst="rect">
            <a:avLst/>
          </a:prstGeom>
          <a:solidFill>
            <a:srgbClr val="D4762A"/>
          </a:solidFill>
          <a:ln/>
        </p:spPr>
      </p:sp>
      <p:sp>
        <p:nvSpPr>
          <p:cNvPr id="39" name="Text 36"/>
          <p:cNvSpPr/>
          <p:nvPr/>
        </p:nvSpPr>
        <p:spPr>
          <a:xfrm>
            <a:off x="8001000" y="4206240"/>
            <a:ext cx="2651760" cy="594360"/>
          </a:xfrm>
          <a:prstGeom prst="rect">
            <a:avLst/>
          </a:prstGeom>
          <a:noFill/>
          <a:ln/>
        </p:spPr>
        <p:txBody>
          <a:bodyPr wrap="square" lIns="0" tIns="0" rIns="0" bIns="0" rtlCol="0" anchor="t"/>
          <a:lstStyle/>
          <a:p>
            <a:pPr algn="l" indent="0" marL="0">
              <a:lnSpc>
                <a:spcPct val="110000"/>
              </a:lnSpc>
              <a:buNone/>
            </a:pPr>
            <a:r>
              <a:rPr lang="en-US" sz="1700" dirty="0">
                <a:solidFill>
                  <a:srgbClr val="1E1208"/>
                </a:solidFill>
                <a:latin typeface="Impact" pitchFamily="34" charset="0"/>
                <a:ea typeface="Impact" pitchFamily="34" charset="-122"/>
                <a:cs typeface="Impact" pitchFamily="34" charset="-120"/>
              </a:rPr>
              <a:t>MARKING AND RESULTS</a:t>
            </a:r>
            <a:endParaRPr lang="en-US" sz="1700" dirty="0"/>
          </a:p>
        </p:txBody>
      </p:sp>
      <p:sp>
        <p:nvSpPr>
          <p:cNvPr id="40" name="Text 37"/>
          <p:cNvSpPr/>
          <p:nvPr/>
        </p:nvSpPr>
        <p:spPr>
          <a:xfrm>
            <a:off x="8001000" y="4800600"/>
            <a:ext cx="2651760" cy="86868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Automatic marking, essay marking points, controlled release and report cards.</a:t>
            </a:r>
            <a:endParaRPr lang="en-US" sz="1250" dirty="0"/>
          </a:p>
        </p:txBody>
      </p:sp>
      <p:sp>
        <p:nvSpPr>
          <p:cNvPr id="41" name="Shape 38"/>
          <p:cNvSpPr/>
          <p:nvPr/>
        </p:nvSpPr>
        <p:spPr>
          <a:xfrm>
            <a:off x="1417320" y="5943600"/>
            <a:ext cx="9509760" cy="502920"/>
          </a:xfrm>
          <a:prstGeom prst="rect">
            <a:avLst/>
          </a:prstGeom>
          <a:solidFill>
            <a:srgbClr val="1E1208"/>
          </a:solidFill>
          <a:ln/>
        </p:spPr>
      </p:sp>
      <p:sp>
        <p:nvSpPr>
          <p:cNvPr id="42" name="Text 39"/>
          <p:cNvSpPr/>
          <p:nvPr/>
        </p:nvSpPr>
        <p:spPr>
          <a:xfrm>
            <a:off x="1600200" y="5943600"/>
            <a:ext cx="9144000" cy="502920"/>
          </a:xfrm>
          <a:prstGeom prst="rect">
            <a:avLst/>
          </a:prstGeom>
          <a:noFill/>
          <a:ln/>
        </p:spPr>
        <p:txBody>
          <a:bodyPr wrap="square" lIns="0" tIns="0" rIns="0" bIns="0" rtlCol="0" anchor="ctr"/>
          <a:lstStyle/>
          <a:p>
            <a:pPr algn="l" indent="0" marL="0">
              <a:lnSpc>
                <a:spcPct val="110000"/>
              </a:lnSpc>
              <a:buNone/>
            </a:pPr>
            <a:r>
              <a:rPr lang="en-US" sz="1400" b="1" dirty="0">
                <a:solidFill>
                  <a:srgbClr val="FFFFFF"/>
                </a:solidFill>
                <a:latin typeface="Arial" pitchFamily="34" charset="0"/>
                <a:ea typeface="Arial" pitchFamily="34" charset="-122"/>
                <a:cs typeface="Arial" pitchFamily="34" charset="-120"/>
              </a:rPr>
              <a:t>For assessment only. Lessons belong to Smart Learning, games to Smart Play.</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368735" y="1764792"/>
            <a:ext cx="822960" cy="1152144"/>
          </a:xfrm>
          <a:prstGeom prst="rect">
            <a:avLst/>
          </a:prstGeom>
          <a:solidFill>
            <a:srgbClr val="D4762A"/>
          </a:solidFill>
          <a:ln w="25400">
            <a:solidFill>
              <a:srgbClr val="1E1208"/>
            </a:solidFill>
            <a:prstDash val="solid"/>
          </a:ln>
        </p:spPr>
      </p:sp>
      <p:sp>
        <p:nvSpPr>
          <p:cNvPr id="5" name="Text 3"/>
          <p:cNvSpPr/>
          <p:nvPr/>
        </p:nvSpPr>
        <p:spPr>
          <a:xfrm>
            <a:off x="11368735" y="1764792"/>
            <a:ext cx="822960"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SMART ASSESS</a:t>
            </a:r>
            <a:endParaRPr lang="en-US" sz="115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indent="0" marL="0">
              <a:buNone/>
            </a:pPr>
            <a:r>
              <a:rPr lang="en-US" sz="4800" dirty="0">
                <a:solidFill>
                  <a:srgbClr val="1E1208"/>
                </a:solidFill>
                <a:latin typeface="Impact" pitchFamily="34" charset="0"/>
                <a:ea typeface="Impact" pitchFamily="34" charset="-122"/>
                <a:cs typeface="Impact" pitchFamily="34" charset="-120"/>
              </a:rPr>
              <a:t>MARKING THAT SAVES TIME</a:t>
            </a:r>
            <a:endParaRPr lang="en-US" sz="4800" dirty="0"/>
          </a:p>
        </p:txBody>
      </p:sp>
      <p:sp>
        <p:nvSpPr>
          <p:cNvPr id="15" name="Shape 12"/>
          <p:cNvSpPr/>
          <p:nvPr/>
        </p:nvSpPr>
        <p:spPr>
          <a:xfrm>
            <a:off x="1417320" y="2011680"/>
            <a:ext cx="1783080" cy="2468880"/>
          </a:xfrm>
          <a:prstGeom prst="rect">
            <a:avLst/>
          </a:prstGeom>
          <a:solidFill>
            <a:srgbClr val="FFFFFF"/>
          </a:solidFill>
          <a:ln w="25400">
            <a:solidFill>
              <a:srgbClr val="1E1208"/>
            </a:solidFill>
            <a:prstDash val="solid"/>
          </a:ln>
        </p:spPr>
      </p:sp>
      <p:sp>
        <p:nvSpPr>
          <p:cNvPr id="16" name="Shape 13"/>
          <p:cNvSpPr/>
          <p:nvPr/>
        </p:nvSpPr>
        <p:spPr>
          <a:xfrm>
            <a:off x="1417320" y="2011680"/>
            <a:ext cx="1783080" cy="822960"/>
          </a:xfrm>
          <a:prstGeom prst="rect">
            <a:avLst/>
          </a:prstGeom>
          <a:solidFill>
            <a:srgbClr val="E3B51E"/>
          </a:solidFill>
          <a:ln w="25400">
            <a:solidFill>
              <a:srgbClr val="1E1208"/>
            </a:solidFill>
            <a:prstDash val="solid"/>
          </a:ln>
        </p:spPr>
      </p:sp>
      <p:sp>
        <p:nvSpPr>
          <p:cNvPr id="17" name="Text 14"/>
          <p:cNvSpPr/>
          <p:nvPr/>
        </p:nvSpPr>
        <p:spPr>
          <a:xfrm>
            <a:off x="1417320" y="2011680"/>
            <a:ext cx="1783080" cy="822960"/>
          </a:xfrm>
          <a:prstGeom prst="rect">
            <a:avLst/>
          </a:prstGeom>
          <a:noFill/>
          <a:ln/>
        </p:spPr>
        <p:txBody>
          <a:bodyPr wrap="square" lIns="0" tIns="0" rIns="0" bIns="0" rtlCol="0" anchor="ctr"/>
          <a:lstStyle/>
          <a:p>
            <a:pPr algn="ctr" indent="0" marL="0">
              <a:lnSpc>
                <a:spcPct val="110000"/>
              </a:lnSpc>
              <a:buNone/>
            </a:pPr>
            <a:r>
              <a:rPr lang="en-US" sz="4400" dirty="0">
                <a:solidFill>
                  <a:srgbClr val="1E1208"/>
                </a:solidFill>
                <a:latin typeface="Impact" pitchFamily="34" charset="0"/>
                <a:ea typeface="Impact" pitchFamily="34" charset="-122"/>
                <a:cs typeface="Impact" pitchFamily="34" charset="-120"/>
              </a:rPr>
              <a:t>1</a:t>
            </a:r>
            <a:endParaRPr lang="en-US" sz="4400" dirty="0"/>
          </a:p>
        </p:txBody>
      </p:sp>
      <p:sp>
        <p:nvSpPr>
          <p:cNvPr id="18" name="Text 15"/>
          <p:cNvSpPr/>
          <p:nvPr/>
        </p:nvSpPr>
        <p:spPr>
          <a:xfrm>
            <a:off x="1545336" y="2971800"/>
            <a:ext cx="1554480" cy="640080"/>
          </a:xfrm>
          <a:prstGeom prst="rect">
            <a:avLst/>
          </a:prstGeom>
          <a:noFill/>
          <a:ln/>
        </p:spPr>
        <p:txBody>
          <a:bodyPr wrap="square" lIns="0" tIns="0" rIns="0" bIns="0" rtlCol="0" anchor="t"/>
          <a:lstStyle/>
          <a:p>
            <a:pPr algn="l" indent="0" marL="0">
              <a:lnSpc>
                <a:spcPct val="110000"/>
              </a:lnSpc>
              <a:buNone/>
            </a:pPr>
            <a:r>
              <a:rPr lang="en-US" sz="1500" dirty="0">
                <a:solidFill>
                  <a:srgbClr val="1E1208"/>
                </a:solidFill>
                <a:latin typeface="Impact" pitchFamily="34" charset="0"/>
                <a:ea typeface="Impact" pitchFamily="34" charset="-122"/>
                <a:cs typeface="Impact" pitchFamily="34" charset="-120"/>
              </a:rPr>
              <a:t>STUDENT SUBMITS</a:t>
            </a:r>
            <a:endParaRPr lang="en-US" sz="1500" dirty="0"/>
          </a:p>
        </p:txBody>
      </p:sp>
      <p:sp>
        <p:nvSpPr>
          <p:cNvPr id="19" name="Text 16"/>
          <p:cNvSpPr/>
          <p:nvPr/>
        </p:nvSpPr>
        <p:spPr>
          <a:xfrm>
            <a:off x="1545336" y="3657600"/>
            <a:ext cx="1554480" cy="777240"/>
          </a:xfrm>
          <a:prstGeom prst="rect">
            <a:avLst/>
          </a:prstGeom>
          <a:noFill/>
          <a:ln/>
        </p:spPr>
        <p:txBody>
          <a:bodyPr wrap="square" lIns="0" tIns="0" rIns="0" bIns="0" rtlCol="0" anchor="t"/>
          <a:lstStyle/>
          <a:p>
            <a:pPr algn="l" indent="0" marL="0">
              <a:lnSpc>
                <a:spcPct val="110000"/>
              </a:lnSpc>
              <a:buNone/>
            </a:pPr>
            <a:r>
              <a:rPr lang="en-US" sz="1100" dirty="0">
                <a:solidFill>
                  <a:srgbClr val="555555"/>
                </a:solidFill>
                <a:latin typeface="Arial" pitchFamily="34" charset="0"/>
                <a:ea typeface="Arial" pitchFamily="34" charset="-122"/>
                <a:cs typeface="Arial" pitchFamily="34" charset="-120"/>
              </a:rPr>
              <a:t>Answers are saved as they go</a:t>
            </a:r>
            <a:endParaRPr lang="en-US" sz="1100" dirty="0"/>
          </a:p>
        </p:txBody>
      </p:sp>
      <p:sp>
        <p:nvSpPr>
          <p:cNvPr id="20" name="Shape 17"/>
          <p:cNvSpPr/>
          <p:nvPr/>
        </p:nvSpPr>
        <p:spPr>
          <a:xfrm>
            <a:off x="3337560" y="2011680"/>
            <a:ext cx="1783080" cy="2468880"/>
          </a:xfrm>
          <a:prstGeom prst="rect">
            <a:avLst/>
          </a:prstGeom>
          <a:solidFill>
            <a:srgbClr val="FFFFFF"/>
          </a:solidFill>
          <a:ln w="25400">
            <a:solidFill>
              <a:srgbClr val="1E1208"/>
            </a:solidFill>
            <a:prstDash val="solid"/>
          </a:ln>
        </p:spPr>
      </p:sp>
      <p:sp>
        <p:nvSpPr>
          <p:cNvPr id="21" name="Shape 18"/>
          <p:cNvSpPr/>
          <p:nvPr/>
        </p:nvSpPr>
        <p:spPr>
          <a:xfrm>
            <a:off x="3337560" y="2011680"/>
            <a:ext cx="1783080" cy="822960"/>
          </a:xfrm>
          <a:prstGeom prst="rect">
            <a:avLst/>
          </a:prstGeom>
          <a:solidFill>
            <a:srgbClr val="E3B51E"/>
          </a:solidFill>
          <a:ln w="25400">
            <a:solidFill>
              <a:srgbClr val="1E1208"/>
            </a:solidFill>
            <a:prstDash val="solid"/>
          </a:ln>
        </p:spPr>
      </p:sp>
      <p:sp>
        <p:nvSpPr>
          <p:cNvPr id="22" name="Text 19"/>
          <p:cNvSpPr/>
          <p:nvPr/>
        </p:nvSpPr>
        <p:spPr>
          <a:xfrm>
            <a:off x="3337560" y="2011680"/>
            <a:ext cx="1783080" cy="822960"/>
          </a:xfrm>
          <a:prstGeom prst="rect">
            <a:avLst/>
          </a:prstGeom>
          <a:noFill/>
          <a:ln/>
        </p:spPr>
        <p:txBody>
          <a:bodyPr wrap="square" lIns="0" tIns="0" rIns="0" bIns="0" rtlCol="0" anchor="ctr"/>
          <a:lstStyle/>
          <a:p>
            <a:pPr algn="ctr" indent="0" marL="0">
              <a:lnSpc>
                <a:spcPct val="110000"/>
              </a:lnSpc>
              <a:buNone/>
            </a:pPr>
            <a:r>
              <a:rPr lang="en-US" sz="4400" dirty="0">
                <a:solidFill>
                  <a:srgbClr val="1E1208"/>
                </a:solidFill>
                <a:latin typeface="Impact" pitchFamily="34" charset="0"/>
                <a:ea typeface="Impact" pitchFamily="34" charset="-122"/>
                <a:cs typeface="Impact" pitchFamily="34" charset="-120"/>
              </a:rPr>
              <a:t>2</a:t>
            </a:r>
            <a:endParaRPr lang="en-US" sz="4400" dirty="0"/>
          </a:p>
        </p:txBody>
      </p:sp>
      <p:sp>
        <p:nvSpPr>
          <p:cNvPr id="23" name="Text 20"/>
          <p:cNvSpPr/>
          <p:nvPr/>
        </p:nvSpPr>
        <p:spPr>
          <a:xfrm>
            <a:off x="3465576" y="2971800"/>
            <a:ext cx="1554480" cy="640080"/>
          </a:xfrm>
          <a:prstGeom prst="rect">
            <a:avLst/>
          </a:prstGeom>
          <a:noFill/>
          <a:ln/>
        </p:spPr>
        <p:txBody>
          <a:bodyPr wrap="square" lIns="0" tIns="0" rIns="0" bIns="0" rtlCol="0" anchor="t"/>
          <a:lstStyle/>
          <a:p>
            <a:pPr algn="l" indent="0" marL="0">
              <a:lnSpc>
                <a:spcPct val="110000"/>
              </a:lnSpc>
              <a:buNone/>
            </a:pPr>
            <a:r>
              <a:rPr lang="en-US" sz="1500" dirty="0">
                <a:solidFill>
                  <a:srgbClr val="1E1208"/>
                </a:solidFill>
                <a:latin typeface="Impact" pitchFamily="34" charset="0"/>
                <a:ea typeface="Impact" pitchFamily="34" charset="-122"/>
                <a:cs typeface="Impact" pitchFamily="34" charset="-120"/>
              </a:rPr>
              <a:t>OBJECTIVE ITEMS MARKED</a:t>
            </a:r>
            <a:endParaRPr lang="en-US" sz="1500" dirty="0"/>
          </a:p>
        </p:txBody>
      </p:sp>
      <p:sp>
        <p:nvSpPr>
          <p:cNvPr id="24" name="Text 21"/>
          <p:cNvSpPr/>
          <p:nvPr/>
        </p:nvSpPr>
        <p:spPr>
          <a:xfrm>
            <a:off x="3465576" y="3657600"/>
            <a:ext cx="1554480" cy="777240"/>
          </a:xfrm>
          <a:prstGeom prst="rect">
            <a:avLst/>
          </a:prstGeom>
          <a:noFill/>
          <a:ln/>
        </p:spPr>
        <p:txBody>
          <a:bodyPr wrap="square" lIns="0" tIns="0" rIns="0" bIns="0" rtlCol="0" anchor="t"/>
          <a:lstStyle/>
          <a:p>
            <a:pPr algn="l" indent="0" marL="0">
              <a:lnSpc>
                <a:spcPct val="110000"/>
              </a:lnSpc>
              <a:buNone/>
            </a:pPr>
            <a:r>
              <a:rPr lang="en-US" sz="1100" dirty="0">
                <a:solidFill>
                  <a:srgbClr val="555555"/>
                </a:solidFill>
                <a:latin typeface="Arial" pitchFamily="34" charset="0"/>
                <a:ea typeface="Arial" pitchFamily="34" charset="-122"/>
                <a:cs typeface="Arial" pitchFamily="34" charset="-120"/>
              </a:rPr>
              <a:t>Instantly, with no teacher time</a:t>
            </a:r>
            <a:endParaRPr lang="en-US" sz="1100" dirty="0"/>
          </a:p>
        </p:txBody>
      </p:sp>
      <p:sp>
        <p:nvSpPr>
          <p:cNvPr id="25" name="Shape 22"/>
          <p:cNvSpPr/>
          <p:nvPr/>
        </p:nvSpPr>
        <p:spPr>
          <a:xfrm>
            <a:off x="5257800" y="2011680"/>
            <a:ext cx="1783080" cy="2468880"/>
          </a:xfrm>
          <a:prstGeom prst="rect">
            <a:avLst/>
          </a:prstGeom>
          <a:solidFill>
            <a:srgbClr val="FFFFFF"/>
          </a:solidFill>
          <a:ln w="25400">
            <a:solidFill>
              <a:srgbClr val="1E1208"/>
            </a:solidFill>
            <a:prstDash val="solid"/>
          </a:ln>
        </p:spPr>
      </p:sp>
      <p:sp>
        <p:nvSpPr>
          <p:cNvPr id="26" name="Shape 23"/>
          <p:cNvSpPr/>
          <p:nvPr/>
        </p:nvSpPr>
        <p:spPr>
          <a:xfrm>
            <a:off x="5257800" y="2011680"/>
            <a:ext cx="1783080" cy="822960"/>
          </a:xfrm>
          <a:prstGeom prst="rect">
            <a:avLst/>
          </a:prstGeom>
          <a:solidFill>
            <a:srgbClr val="E3B51E"/>
          </a:solidFill>
          <a:ln w="25400">
            <a:solidFill>
              <a:srgbClr val="1E1208"/>
            </a:solidFill>
            <a:prstDash val="solid"/>
          </a:ln>
        </p:spPr>
      </p:sp>
      <p:sp>
        <p:nvSpPr>
          <p:cNvPr id="27" name="Text 24"/>
          <p:cNvSpPr/>
          <p:nvPr/>
        </p:nvSpPr>
        <p:spPr>
          <a:xfrm>
            <a:off x="5257800" y="2011680"/>
            <a:ext cx="1783080" cy="822960"/>
          </a:xfrm>
          <a:prstGeom prst="rect">
            <a:avLst/>
          </a:prstGeom>
          <a:noFill/>
          <a:ln/>
        </p:spPr>
        <p:txBody>
          <a:bodyPr wrap="square" lIns="0" tIns="0" rIns="0" bIns="0" rtlCol="0" anchor="ctr"/>
          <a:lstStyle/>
          <a:p>
            <a:pPr algn="ctr" indent="0" marL="0">
              <a:lnSpc>
                <a:spcPct val="110000"/>
              </a:lnSpc>
              <a:buNone/>
            </a:pPr>
            <a:r>
              <a:rPr lang="en-US" sz="4400" dirty="0">
                <a:solidFill>
                  <a:srgbClr val="1E1208"/>
                </a:solidFill>
                <a:latin typeface="Impact" pitchFamily="34" charset="0"/>
                <a:ea typeface="Impact" pitchFamily="34" charset="-122"/>
                <a:cs typeface="Impact" pitchFamily="34" charset="-120"/>
              </a:rPr>
              <a:t>3</a:t>
            </a:r>
            <a:endParaRPr lang="en-US" sz="4400" dirty="0"/>
          </a:p>
        </p:txBody>
      </p:sp>
      <p:sp>
        <p:nvSpPr>
          <p:cNvPr id="28" name="Text 25"/>
          <p:cNvSpPr/>
          <p:nvPr/>
        </p:nvSpPr>
        <p:spPr>
          <a:xfrm>
            <a:off x="5385816" y="2971800"/>
            <a:ext cx="1554480" cy="640080"/>
          </a:xfrm>
          <a:prstGeom prst="rect">
            <a:avLst/>
          </a:prstGeom>
          <a:noFill/>
          <a:ln/>
        </p:spPr>
        <p:txBody>
          <a:bodyPr wrap="square" lIns="0" tIns="0" rIns="0" bIns="0" rtlCol="0" anchor="t"/>
          <a:lstStyle/>
          <a:p>
            <a:pPr algn="l" indent="0" marL="0">
              <a:lnSpc>
                <a:spcPct val="110000"/>
              </a:lnSpc>
              <a:buNone/>
            </a:pPr>
            <a:r>
              <a:rPr lang="en-US" sz="1500" dirty="0">
                <a:solidFill>
                  <a:srgbClr val="1E1208"/>
                </a:solidFill>
                <a:latin typeface="Impact" pitchFamily="34" charset="0"/>
                <a:ea typeface="Impact" pitchFamily="34" charset="-122"/>
                <a:cs typeface="Impact" pitchFamily="34" charset="-120"/>
              </a:rPr>
              <a:t>ESSAYS: MARKING POINTS</a:t>
            </a:r>
            <a:endParaRPr lang="en-US" sz="1500" dirty="0"/>
          </a:p>
        </p:txBody>
      </p:sp>
      <p:sp>
        <p:nvSpPr>
          <p:cNvPr id="29" name="Text 26"/>
          <p:cNvSpPr/>
          <p:nvPr/>
        </p:nvSpPr>
        <p:spPr>
          <a:xfrm>
            <a:off x="5385816" y="3657600"/>
            <a:ext cx="1554480" cy="777240"/>
          </a:xfrm>
          <a:prstGeom prst="rect">
            <a:avLst/>
          </a:prstGeom>
          <a:noFill/>
          <a:ln/>
        </p:spPr>
        <p:txBody>
          <a:bodyPr wrap="square" lIns="0" tIns="0" rIns="0" bIns="0" rtlCol="0" anchor="t"/>
          <a:lstStyle/>
          <a:p>
            <a:pPr algn="l" indent="0" marL="0">
              <a:lnSpc>
                <a:spcPct val="110000"/>
              </a:lnSpc>
              <a:buNone/>
            </a:pPr>
            <a:r>
              <a:rPr lang="en-US" sz="1100" dirty="0">
                <a:solidFill>
                  <a:srgbClr val="555555"/>
                </a:solidFill>
                <a:latin typeface="Arial" pitchFamily="34" charset="0"/>
                <a:ea typeface="Arial" pitchFamily="34" charset="-122"/>
                <a:cs typeface="Arial" pitchFamily="34" charset="-120"/>
              </a:rPr>
              <a:t>The teacher writes what earns marks</a:t>
            </a:r>
            <a:endParaRPr lang="en-US" sz="1100" dirty="0"/>
          </a:p>
        </p:txBody>
      </p:sp>
      <p:sp>
        <p:nvSpPr>
          <p:cNvPr id="30" name="Shape 27"/>
          <p:cNvSpPr/>
          <p:nvPr/>
        </p:nvSpPr>
        <p:spPr>
          <a:xfrm>
            <a:off x="7178040" y="2011680"/>
            <a:ext cx="1783080" cy="2468880"/>
          </a:xfrm>
          <a:prstGeom prst="rect">
            <a:avLst/>
          </a:prstGeom>
          <a:solidFill>
            <a:srgbClr val="FBE9D6"/>
          </a:solidFill>
          <a:ln w="25400">
            <a:solidFill>
              <a:srgbClr val="1E1208"/>
            </a:solidFill>
            <a:prstDash val="solid"/>
          </a:ln>
        </p:spPr>
      </p:sp>
      <p:sp>
        <p:nvSpPr>
          <p:cNvPr id="31" name="Shape 28"/>
          <p:cNvSpPr/>
          <p:nvPr/>
        </p:nvSpPr>
        <p:spPr>
          <a:xfrm>
            <a:off x="7178040" y="2011680"/>
            <a:ext cx="1783080" cy="822960"/>
          </a:xfrm>
          <a:prstGeom prst="rect">
            <a:avLst/>
          </a:prstGeom>
          <a:solidFill>
            <a:srgbClr val="D4762A"/>
          </a:solidFill>
          <a:ln w="25400">
            <a:solidFill>
              <a:srgbClr val="1E1208"/>
            </a:solidFill>
            <a:prstDash val="solid"/>
          </a:ln>
        </p:spPr>
      </p:sp>
      <p:sp>
        <p:nvSpPr>
          <p:cNvPr id="32" name="Text 29"/>
          <p:cNvSpPr/>
          <p:nvPr/>
        </p:nvSpPr>
        <p:spPr>
          <a:xfrm>
            <a:off x="7178040" y="2011680"/>
            <a:ext cx="1783080" cy="822960"/>
          </a:xfrm>
          <a:prstGeom prst="rect">
            <a:avLst/>
          </a:prstGeom>
          <a:noFill/>
          <a:ln/>
        </p:spPr>
        <p:txBody>
          <a:bodyPr wrap="square" lIns="0" tIns="0" rIns="0" bIns="0" rtlCol="0" anchor="ctr"/>
          <a:lstStyle/>
          <a:p>
            <a:pPr algn="ctr" indent="0" marL="0">
              <a:lnSpc>
                <a:spcPct val="110000"/>
              </a:lnSpc>
              <a:buNone/>
            </a:pPr>
            <a:r>
              <a:rPr lang="en-US" sz="4400" dirty="0">
                <a:solidFill>
                  <a:srgbClr val="1E1208"/>
                </a:solidFill>
                <a:latin typeface="Impact" pitchFamily="34" charset="0"/>
                <a:ea typeface="Impact" pitchFamily="34" charset="-122"/>
                <a:cs typeface="Impact" pitchFamily="34" charset="-120"/>
              </a:rPr>
              <a:t>4</a:t>
            </a:r>
            <a:endParaRPr lang="en-US" sz="4400" dirty="0"/>
          </a:p>
        </p:txBody>
      </p:sp>
      <p:sp>
        <p:nvSpPr>
          <p:cNvPr id="33" name="Text 30"/>
          <p:cNvSpPr/>
          <p:nvPr/>
        </p:nvSpPr>
        <p:spPr>
          <a:xfrm>
            <a:off x="7306056" y="2971800"/>
            <a:ext cx="1554480" cy="640080"/>
          </a:xfrm>
          <a:prstGeom prst="rect">
            <a:avLst/>
          </a:prstGeom>
          <a:noFill/>
          <a:ln/>
        </p:spPr>
        <p:txBody>
          <a:bodyPr wrap="square" lIns="0" tIns="0" rIns="0" bIns="0" rtlCol="0" anchor="t"/>
          <a:lstStyle/>
          <a:p>
            <a:pPr algn="l" indent="0" marL="0">
              <a:lnSpc>
                <a:spcPct val="110000"/>
              </a:lnSpc>
              <a:buNone/>
            </a:pPr>
            <a:r>
              <a:rPr lang="en-US" sz="1500" dirty="0">
                <a:solidFill>
                  <a:srgbClr val="1E1208"/>
                </a:solidFill>
                <a:latin typeface="Impact" pitchFamily="34" charset="0"/>
                <a:ea typeface="Impact" pitchFamily="34" charset="-122"/>
                <a:cs typeface="Impact" pitchFamily="34" charset="-120"/>
              </a:rPr>
              <a:t>AI SUGGESTS, YOU DECIDE</a:t>
            </a:r>
            <a:endParaRPr lang="en-US" sz="1500" dirty="0"/>
          </a:p>
        </p:txBody>
      </p:sp>
      <p:sp>
        <p:nvSpPr>
          <p:cNvPr id="34" name="Text 31"/>
          <p:cNvSpPr/>
          <p:nvPr/>
        </p:nvSpPr>
        <p:spPr>
          <a:xfrm>
            <a:off x="7306056" y="3657600"/>
            <a:ext cx="1554480" cy="777240"/>
          </a:xfrm>
          <a:prstGeom prst="rect">
            <a:avLst/>
          </a:prstGeom>
          <a:noFill/>
          <a:ln/>
        </p:spPr>
        <p:txBody>
          <a:bodyPr wrap="square" lIns="0" tIns="0" rIns="0" bIns="0" rtlCol="0" anchor="t"/>
          <a:lstStyle/>
          <a:p>
            <a:pPr algn="l" indent="0" marL="0">
              <a:lnSpc>
                <a:spcPct val="110000"/>
              </a:lnSpc>
              <a:buNone/>
            </a:pPr>
            <a:r>
              <a:rPr lang="en-US" sz="1100" dirty="0">
                <a:solidFill>
                  <a:srgbClr val="555555"/>
                </a:solidFill>
                <a:latin typeface="Arial" pitchFamily="34" charset="0"/>
                <a:ea typeface="Arial" pitchFamily="34" charset="-122"/>
                <a:cs typeface="Arial" pitchFamily="34" charset="-120"/>
              </a:rPr>
              <a:t>Words that earned each mark, flagged where unsure</a:t>
            </a:r>
            <a:endParaRPr lang="en-US" sz="1100" dirty="0"/>
          </a:p>
        </p:txBody>
      </p:sp>
      <p:sp>
        <p:nvSpPr>
          <p:cNvPr id="35" name="Shape 32"/>
          <p:cNvSpPr/>
          <p:nvPr/>
        </p:nvSpPr>
        <p:spPr>
          <a:xfrm>
            <a:off x="9098280" y="2011680"/>
            <a:ext cx="1783080" cy="2468880"/>
          </a:xfrm>
          <a:prstGeom prst="rect">
            <a:avLst/>
          </a:prstGeom>
          <a:solidFill>
            <a:srgbClr val="FFFFFF"/>
          </a:solidFill>
          <a:ln w="25400">
            <a:solidFill>
              <a:srgbClr val="1E1208"/>
            </a:solidFill>
            <a:prstDash val="solid"/>
          </a:ln>
        </p:spPr>
      </p:sp>
      <p:sp>
        <p:nvSpPr>
          <p:cNvPr id="36" name="Shape 33"/>
          <p:cNvSpPr/>
          <p:nvPr/>
        </p:nvSpPr>
        <p:spPr>
          <a:xfrm>
            <a:off x="9098280" y="2011680"/>
            <a:ext cx="1783080" cy="822960"/>
          </a:xfrm>
          <a:prstGeom prst="rect">
            <a:avLst/>
          </a:prstGeom>
          <a:solidFill>
            <a:srgbClr val="E3B51E"/>
          </a:solidFill>
          <a:ln w="25400">
            <a:solidFill>
              <a:srgbClr val="1E1208"/>
            </a:solidFill>
            <a:prstDash val="solid"/>
          </a:ln>
        </p:spPr>
      </p:sp>
      <p:sp>
        <p:nvSpPr>
          <p:cNvPr id="37" name="Text 34"/>
          <p:cNvSpPr/>
          <p:nvPr/>
        </p:nvSpPr>
        <p:spPr>
          <a:xfrm>
            <a:off x="9098280" y="2011680"/>
            <a:ext cx="1783080" cy="822960"/>
          </a:xfrm>
          <a:prstGeom prst="rect">
            <a:avLst/>
          </a:prstGeom>
          <a:noFill/>
          <a:ln/>
        </p:spPr>
        <p:txBody>
          <a:bodyPr wrap="square" lIns="0" tIns="0" rIns="0" bIns="0" rtlCol="0" anchor="ctr"/>
          <a:lstStyle/>
          <a:p>
            <a:pPr algn="ctr" indent="0" marL="0">
              <a:lnSpc>
                <a:spcPct val="110000"/>
              </a:lnSpc>
              <a:buNone/>
            </a:pPr>
            <a:r>
              <a:rPr lang="en-US" sz="4400" dirty="0">
                <a:solidFill>
                  <a:srgbClr val="1E1208"/>
                </a:solidFill>
                <a:latin typeface="Impact" pitchFamily="34" charset="0"/>
                <a:ea typeface="Impact" pitchFamily="34" charset="-122"/>
                <a:cs typeface="Impact" pitchFamily="34" charset="-120"/>
              </a:rPr>
              <a:t>5</a:t>
            </a:r>
            <a:endParaRPr lang="en-US" sz="4400" dirty="0"/>
          </a:p>
        </p:txBody>
      </p:sp>
      <p:sp>
        <p:nvSpPr>
          <p:cNvPr id="38" name="Text 35"/>
          <p:cNvSpPr/>
          <p:nvPr/>
        </p:nvSpPr>
        <p:spPr>
          <a:xfrm>
            <a:off x="9226296" y="2971800"/>
            <a:ext cx="1554480" cy="640080"/>
          </a:xfrm>
          <a:prstGeom prst="rect">
            <a:avLst/>
          </a:prstGeom>
          <a:noFill/>
          <a:ln/>
        </p:spPr>
        <p:txBody>
          <a:bodyPr wrap="square" lIns="0" tIns="0" rIns="0" bIns="0" rtlCol="0" anchor="t"/>
          <a:lstStyle/>
          <a:p>
            <a:pPr algn="l" indent="0" marL="0">
              <a:lnSpc>
                <a:spcPct val="110000"/>
              </a:lnSpc>
              <a:buNone/>
            </a:pPr>
            <a:r>
              <a:rPr lang="en-US" sz="1500" dirty="0">
                <a:solidFill>
                  <a:srgbClr val="1E1208"/>
                </a:solidFill>
                <a:latin typeface="Impact" pitchFamily="34" charset="0"/>
                <a:ea typeface="Impact" pitchFamily="34" charset="-122"/>
                <a:cs typeface="Impact" pitchFamily="34" charset="-120"/>
              </a:rPr>
              <a:t>RELEASE WHEN READY</a:t>
            </a:r>
            <a:endParaRPr lang="en-US" sz="1500" dirty="0"/>
          </a:p>
        </p:txBody>
      </p:sp>
      <p:sp>
        <p:nvSpPr>
          <p:cNvPr id="39" name="Text 36"/>
          <p:cNvSpPr/>
          <p:nvPr/>
        </p:nvSpPr>
        <p:spPr>
          <a:xfrm>
            <a:off x="9226296" y="3657600"/>
            <a:ext cx="1554480" cy="777240"/>
          </a:xfrm>
          <a:prstGeom prst="rect">
            <a:avLst/>
          </a:prstGeom>
          <a:noFill/>
          <a:ln/>
        </p:spPr>
        <p:txBody>
          <a:bodyPr wrap="square" lIns="0" tIns="0" rIns="0" bIns="0" rtlCol="0" anchor="t"/>
          <a:lstStyle/>
          <a:p>
            <a:pPr algn="l" indent="0" marL="0">
              <a:lnSpc>
                <a:spcPct val="110000"/>
              </a:lnSpc>
              <a:buNone/>
            </a:pPr>
            <a:r>
              <a:rPr lang="en-US" sz="1100" dirty="0">
                <a:solidFill>
                  <a:srgbClr val="555555"/>
                </a:solidFill>
                <a:latin typeface="Arial" pitchFamily="34" charset="0"/>
                <a:ea typeface="Arial" pitchFamily="34" charset="-122"/>
                <a:cs typeface="Arial" pitchFamily="34" charset="-120"/>
              </a:rPr>
              <a:t>Students are emailed</a:t>
            </a:r>
            <a:endParaRPr lang="en-US" sz="1100" dirty="0"/>
          </a:p>
        </p:txBody>
      </p:sp>
      <p:sp>
        <p:nvSpPr>
          <p:cNvPr id="40" name="Shape 37"/>
          <p:cNvSpPr/>
          <p:nvPr/>
        </p:nvSpPr>
        <p:spPr>
          <a:xfrm>
            <a:off x="1417320" y="4709160"/>
            <a:ext cx="9509760" cy="1051560"/>
          </a:xfrm>
          <a:prstGeom prst="rect">
            <a:avLst/>
          </a:prstGeom>
          <a:solidFill>
            <a:srgbClr val="1E1208"/>
          </a:solidFill>
          <a:ln w="25400">
            <a:solidFill>
              <a:srgbClr val="1E1208"/>
            </a:solidFill>
            <a:prstDash val="solid"/>
          </a:ln>
        </p:spPr>
      </p:sp>
      <p:sp>
        <p:nvSpPr>
          <p:cNvPr id="41" name="Text 38"/>
          <p:cNvSpPr/>
          <p:nvPr/>
        </p:nvSpPr>
        <p:spPr>
          <a:xfrm>
            <a:off x="1645920" y="4818888"/>
            <a:ext cx="9052560" cy="365760"/>
          </a:xfrm>
          <a:prstGeom prst="rect">
            <a:avLst/>
          </a:prstGeom>
          <a:noFill/>
          <a:ln/>
        </p:spPr>
        <p:txBody>
          <a:bodyPr wrap="square" lIns="0" tIns="0" rIns="0" bIns="0" rtlCol="0" anchor="t"/>
          <a:lstStyle/>
          <a:p>
            <a:pPr algn="l" indent="0" marL="0">
              <a:lnSpc>
                <a:spcPct val="110000"/>
              </a:lnSpc>
              <a:buNone/>
            </a:pPr>
            <a:r>
              <a:rPr lang="en-US" sz="2200" dirty="0">
                <a:solidFill>
                  <a:srgbClr val="E3B51E"/>
                </a:solidFill>
                <a:latin typeface="Impact" pitchFamily="34" charset="0"/>
                <a:ea typeface="Impact" pitchFamily="34" charset="-122"/>
                <a:cs typeface="Impact" pitchFamily="34" charset="-120"/>
              </a:rPr>
              <a:t>THE AI NEVER SAVES A MARK.</a:t>
            </a:r>
            <a:endParaRPr lang="en-US" sz="2200" dirty="0"/>
          </a:p>
        </p:txBody>
      </p:sp>
      <p:sp>
        <p:nvSpPr>
          <p:cNvPr id="42" name="Text 39"/>
          <p:cNvSpPr/>
          <p:nvPr/>
        </p:nvSpPr>
        <p:spPr>
          <a:xfrm>
            <a:off x="1645920" y="5212080"/>
            <a:ext cx="9052560" cy="457200"/>
          </a:xfrm>
          <a:prstGeom prst="rect">
            <a:avLst/>
          </a:prstGeom>
          <a:noFill/>
          <a:ln/>
        </p:spPr>
        <p:txBody>
          <a:bodyPr wrap="square" lIns="0" tIns="0" rIns="0" bIns="0" rtlCol="0" anchor="t"/>
          <a:lstStyle/>
          <a:p>
            <a:pPr algn="l" indent="0" marL="0">
              <a:lnSpc>
                <a:spcPct val="110000"/>
              </a:lnSpc>
              <a:buNone/>
            </a:pPr>
            <a:r>
              <a:rPr lang="en-US" sz="1400" b="1" dirty="0">
                <a:solidFill>
                  <a:srgbClr val="FFFFFF"/>
                </a:solidFill>
                <a:latin typeface="Arial" pitchFamily="34" charset="0"/>
                <a:ea typeface="Arial" pitchFamily="34" charset="-122"/>
                <a:cs typeface="Arial" pitchFamily="34" charset="-120"/>
              </a:rPr>
              <a:t>It never sees a student's name, and it runs only when a teacher asks. The school switches it on.</a:t>
            </a:r>
            <a:endParaRPr lang="en-US" sz="1400" dirty="0"/>
          </a:p>
        </p:txBody>
      </p:sp>
      <p:sp>
        <p:nvSpPr>
          <p:cNvPr id="43" name="Text 40"/>
          <p:cNvSpPr/>
          <p:nvPr/>
        </p:nvSpPr>
        <p:spPr>
          <a:xfrm>
            <a:off x="1417320" y="5989320"/>
            <a:ext cx="9509760" cy="365760"/>
          </a:xfrm>
          <a:prstGeom prst="rect">
            <a:avLst/>
          </a:prstGeom>
          <a:noFill/>
          <a:ln/>
        </p:spPr>
        <p:txBody>
          <a:bodyPr wrap="square" lIns="0" tIns="0" rIns="0" bIns="0" rtlCol="0" anchor="t"/>
          <a:lstStyle/>
          <a:p>
            <a:pPr algn="l" indent="0" marL="0">
              <a:lnSpc>
                <a:spcPct val="110000"/>
              </a:lnSpc>
              <a:buNone/>
            </a:pPr>
            <a:r>
              <a:rPr lang="en-US" sz="1400" dirty="0">
                <a:solidFill>
                  <a:srgbClr val="555555"/>
                </a:solidFill>
                <a:latin typeface="Arial" pitchFamily="34" charset="0"/>
                <a:ea typeface="Arial" pitchFamily="34" charset="-122"/>
                <a:cs typeface="Arial" pitchFamily="34" charset="-120"/>
              </a:rPr>
              <a:t>8 of 10 teachers named marking as the biggest drain on their time.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368735" y="1764792"/>
            <a:ext cx="822960" cy="1152144"/>
          </a:xfrm>
          <a:prstGeom prst="rect">
            <a:avLst/>
          </a:prstGeom>
          <a:solidFill>
            <a:srgbClr val="D4762A"/>
          </a:solidFill>
          <a:ln w="25400">
            <a:solidFill>
              <a:srgbClr val="1E1208"/>
            </a:solidFill>
            <a:prstDash val="solid"/>
          </a:ln>
        </p:spPr>
      </p:sp>
      <p:sp>
        <p:nvSpPr>
          <p:cNvPr id="5" name="Text 3"/>
          <p:cNvSpPr/>
          <p:nvPr/>
        </p:nvSpPr>
        <p:spPr>
          <a:xfrm>
            <a:off x="11368735" y="1764792"/>
            <a:ext cx="822960"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SMART ASSESS</a:t>
            </a:r>
            <a:endParaRPr lang="en-US" sz="115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indent="0" marL="0">
              <a:buNone/>
            </a:pPr>
            <a:r>
              <a:rPr lang="en-US" sz="4600" dirty="0">
                <a:solidFill>
                  <a:srgbClr val="1E1208"/>
                </a:solidFill>
                <a:latin typeface="Impact" pitchFamily="34" charset="0"/>
                <a:ea typeface="Impact" pitchFamily="34" charset="-122"/>
                <a:cs typeface="Impact" pitchFamily="34" charset="-120"/>
              </a:rPr>
              <a:t>RESULTS THAT TELL YOU WHAT TO DO</a:t>
            </a:r>
            <a:endParaRPr lang="en-US" sz="4600" dirty="0"/>
          </a:p>
        </p:txBody>
      </p:sp>
      <p:sp>
        <p:nvSpPr>
          <p:cNvPr id="15" name="Shape 12"/>
          <p:cNvSpPr/>
          <p:nvPr/>
        </p:nvSpPr>
        <p:spPr>
          <a:xfrm>
            <a:off x="1417320" y="1965960"/>
            <a:ext cx="3017520" cy="3840480"/>
          </a:xfrm>
          <a:prstGeom prst="rect">
            <a:avLst/>
          </a:prstGeom>
          <a:solidFill>
            <a:srgbClr val="FFFFFF"/>
          </a:solidFill>
          <a:ln w="25400">
            <a:solidFill>
              <a:srgbClr val="1E1208"/>
            </a:solidFill>
            <a:prstDash val="solid"/>
          </a:ln>
        </p:spPr>
      </p:sp>
      <p:sp>
        <p:nvSpPr>
          <p:cNvPr id="16" name="Shape 13"/>
          <p:cNvSpPr/>
          <p:nvPr/>
        </p:nvSpPr>
        <p:spPr>
          <a:xfrm>
            <a:off x="1417320" y="1965960"/>
            <a:ext cx="3017520" cy="822960"/>
          </a:xfrm>
          <a:prstGeom prst="rect">
            <a:avLst/>
          </a:prstGeom>
          <a:solidFill>
            <a:srgbClr val="D4762A"/>
          </a:solidFill>
          <a:ln w="25400">
            <a:solidFill>
              <a:srgbClr val="1E1208"/>
            </a:solidFill>
            <a:prstDash val="solid"/>
          </a:ln>
        </p:spPr>
      </p:sp>
      <p:sp>
        <p:nvSpPr>
          <p:cNvPr id="17" name="Text 14"/>
          <p:cNvSpPr/>
          <p:nvPr/>
        </p:nvSpPr>
        <p:spPr>
          <a:xfrm>
            <a:off x="1600200" y="1965960"/>
            <a:ext cx="2651760" cy="822960"/>
          </a:xfrm>
          <a:prstGeom prst="rect">
            <a:avLst/>
          </a:prstGeom>
          <a:noFill/>
          <a:ln/>
        </p:spPr>
        <p:txBody>
          <a:bodyPr wrap="square" lIns="0" tIns="0" rIns="0" bIns="0" rtlCol="0" anchor="ctr"/>
          <a:lstStyle/>
          <a:p>
            <a:pPr algn="l" indent="0" marL="0">
              <a:lnSpc>
                <a:spcPct val="110000"/>
              </a:lnSpc>
              <a:buNone/>
            </a:pPr>
            <a:r>
              <a:rPr lang="en-US" sz="2200" dirty="0">
                <a:solidFill>
                  <a:srgbClr val="1E1208"/>
                </a:solidFill>
                <a:latin typeface="Impact" pitchFamily="34" charset="0"/>
                <a:ea typeface="Impact" pitchFamily="34" charset="-122"/>
                <a:cs typeface="Impact" pitchFamily="34" charset="-120"/>
              </a:rPr>
              <a:t>EXAM INSIGHT</a:t>
            </a:r>
            <a:endParaRPr lang="en-US" sz="2200" dirty="0"/>
          </a:p>
        </p:txBody>
      </p:sp>
      <p:sp>
        <p:nvSpPr>
          <p:cNvPr id="18" name="Text 15"/>
          <p:cNvSpPr/>
          <p:nvPr/>
        </p:nvSpPr>
        <p:spPr>
          <a:xfrm>
            <a:off x="1600200" y="2971800"/>
            <a:ext cx="2651760" cy="2011680"/>
          </a:xfrm>
          <a:prstGeom prst="rect">
            <a:avLst/>
          </a:prstGeom>
          <a:noFill/>
          <a:ln/>
        </p:spPr>
        <p:txBody>
          <a:bodyPr wrap="square" lIns="0" tIns="0" rIns="0" bIns="0" rtlCol="0" anchor="t"/>
          <a:lstStyle/>
          <a:p>
            <a:pPr algn="l" marL="342900" indent="-342900">
              <a:lnSpc>
                <a:spcPct val="110000"/>
              </a:lnSpc>
              <a:buSzPct val="100000"/>
              <a:buChar char="■"/>
            </a:pPr>
            <a:r>
              <a:rPr lang="en-US" sz="1350" dirty="0">
                <a:solidFill>
                  <a:srgbClr val="1E1208"/>
                </a:solidFill>
                <a:latin typeface="Arial" pitchFamily="34" charset="0"/>
                <a:ea typeface="Arial" pitchFamily="34" charset="-122"/>
                <a:cs typeface="Arial" pitchFamily="34" charset="-120"/>
              </a:rPr>
              <a:t>Which questions the class missed</a:t>
            </a:r>
            <a:endParaRPr lang="en-US" sz="1350" dirty="0"/>
          </a:p>
          <a:p>
            <a:pPr algn="l" marL="342900" indent="-342900">
              <a:lnSpc>
                <a:spcPct val="110000"/>
              </a:lnSpc>
              <a:buSzPct val="100000"/>
              <a:buChar char="■"/>
            </a:pPr>
            <a:r>
              <a:rPr lang="en-US" sz="1350" dirty="0">
                <a:solidFill>
                  <a:srgbClr val="1E1208"/>
                </a:solidFill>
                <a:latin typeface="Arial" pitchFamily="34" charset="0"/>
                <a:ea typeface="Arial" pitchFamily="34" charset="-122"/>
                <a:cs typeface="Arial" pitchFamily="34" charset="-120"/>
              </a:rPr>
              <a:t>The wrong answer most students chose</a:t>
            </a:r>
            <a:endParaRPr lang="en-US" sz="1350" dirty="0"/>
          </a:p>
          <a:p>
            <a:pPr algn="l" marL="342900" indent="-342900">
              <a:lnSpc>
                <a:spcPct val="110000"/>
              </a:lnSpc>
              <a:buSzPct val="100000"/>
              <a:buChar char="■"/>
            </a:pPr>
            <a:r>
              <a:rPr lang="en-US" sz="1350" dirty="0">
                <a:solidFill>
                  <a:srgbClr val="1E1208"/>
                </a:solidFill>
                <a:latin typeface="Arial" pitchFamily="34" charset="0"/>
                <a:ea typeface="Arial" pitchFamily="34" charset="-122"/>
                <a:cs typeface="Arial" pitchFamily="34" charset="-120"/>
              </a:rPr>
              <a:t>Who may need support, and why</a:t>
            </a:r>
            <a:endParaRPr lang="en-US" sz="1350" dirty="0"/>
          </a:p>
          <a:p>
            <a:pPr algn="l" marL="342900" indent="-342900">
              <a:lnSpc>
                <a:spcPct val="110000"/>
              </a:lnSpc>
              <a:buSzPct val="100000"/>
              <a:buChar char="■"/>
            </a:pPr>
            <a:r>
              <a:rPr lang="en-US" sz="1350" dirty="0">
                <a:solidFill>
                  <a:srgbClr val="1E1208"/>
                </a:solidFill>
                <a:latin typeface="Arial" pitchFamily="34" charset="0"/>
                <a:ea typeface="Arial" pitchFamily="34" charset="-122"/>
                <a:cs typeface="Arial" pitchFamily="34" charset="-120"/>
              </a:rPr>
              <a:t>Compared with the last five tests</a:t>
            </a:r>
            <a:endParaRPr lang="en-US" sz="1350" dirty="0"/>
          </a:p>
        </p:txBody>
      </p:sp>
      <p:sp>
        <p:nvSpPr>
          <p:cNvPr id="19" name="Shape 16"/>
          <p:cNvSpPr/>
          <p:nvPr/>
        </p:nvSpPr>
        <p:spPr>
          <a:xfrm>
            <a:off x="1600200" y="5257800"/>
            <a:ext cx="2651760" cy="310896"/>
          </a:xfrm>
          <a:prstGeom prst="rect">
            <a:avLst/>
          </a:prstGeom>
          <a:solidFill>
            <a:srgbClr val="1E1208"/>
          </a:solidFill>
          <a:ln w="19050">
            <a:solidFill>
              <a:srgbClr val="1E1208"/>
            </a:solidFill>
            <a:prstDash val="solid"/>
          </a:ln>
        </p:spPr>
      </p:sp>
      <p:sp>
        <p:nvSpPr>
          <p:cNvPr id="20" name="Text 17"/>
          <p:cNvSpPr/>
          <p:nvPr/>
        </p:nvSpPr>
        <p:spPr>
          <a:xfrm>
            <a:off x="1600200" y="5257800"/>
            <a:ext cx="2651760" cy="310896"/>
          </a:xfrm>
          <a:prstGeom prst="rect">
            <a:avLst/>
          </a:prstGeom>
          <a:noFill/>
          <a:ln/>
        </p:spPr>
        <p:txBody>
          <a:bodyPr wrap="square" lIns="0" tIns="0" rIns="0" bIns="0" rtlCol="0" anchor="ctr"/>
          <a:lstStyle/>
          <a:p>
            <a:pPr algn="ctr" indent="0" marL="0">
              <a:lnSpc>
                <a:spcPct val="110000"/>
              </a:lnSpc>
              <a:buNone/>
            </a:pPr>
            <a:r>
              <a:rPr lang="en-US" sz="1000" b="1" spc="200" kern="0" dirty="0">
                <a:solidFill>
                  <a:srgbClr val="FFFFFF"/>
                </a:solidFill>
                <a:latin typeface="Courier New" pitchFamily="34" charset="0"/>
                <a:ea typeface="Courier New" pitchFamily="34" charset="-122"/>
                <a:cs typeface="Courier New" pitchFamily="34" charset="-120"/>
              </a:rPr>
              <a:t>FOR TEACHERS</a:t>
            </a:r>
            <a:endParaRPr lang="en-US" sz="1000" dirty="0"/>
          </a:p>
        </p:txBody>
      </p:sp>
      <p:sp>
        <p:nvSpPr>
          <p:cNvPr id="21" name="Shape 18"/>
          <p:cNvSpPr/>
          <p:nvPr/>
        </p:nvSpPr>
        <p:spPr>
          <a:xfrm>
            <a:off x="4617720" y="1965960"/>
            <a:ext cx="3017520" cy="3840480"/>
          </a:xfrm>
          <a:prstGeom prst="rect">
            <a:avLst/>
          </a:prstGeom>
          <a:solidFill>
            <a:srgbClr val="FFFFFF"/>
          </a:solidFill>
          <a:ln w="25400">
            <a:solidFill>
              <a:srgbClr val="1E1208"/>
            </a:solidFill>
            <a:prstDash val="solid"/>
          </a:ln>
        </p:spPr>
      </p:sp>
      <p:sp>
        <p:nvSpPr>
          <p:cNvPr id="22" name="Shape 19"/>
          <p:cNvSpPr/>
          <p:nvPr/>
        </p:nvSpPr>
        <p:spPr>
          <a:xfrm>
            <a:off x="4617720" y="1965960"/>
            <a:ext cx="3017520" cy="822960"/>
          </a:xfrm>
          <a:prstGeom prst="rect">
            <a:avLst/>
          </a:prstGeom>
          <a:solidFill>
            <a:srgbClr val="E3B51E"/>
          </a:solidFill>
          <a:ln w="25400">
            <a:solidFill>
              <a:srgbClr val="1E1208"/>
            </a:solidFill>
            <a:prstDash val="solid"/>
          </a:ln>
        </p:spPr>
      </p:sp>
      <p:sp>
        <p:nvSpPr>
          <p:cNvPr id="23" name="Text 20"/>
          <p:cNvSpPr/>
          <p:nvPr/>
        </p:nvSpPr>
        <p:spPr>
          <a:xfrm>
            <a:off x="4800600" y="1965960"/>
            <a:ext cx="2651760" cy="822960"/>
          </a:xfrm>
          <a:prstGeom prst="rect">
            <a:avLst/>
          </a:prstGeom>
          <a:noFill/>
          <a:ln/>
        </p:spPr>
        <p:txBody>
          <a:bodyPr wrap="square" lIns="0" tIns="0" rIns="0" bIns="0" rtlCol="0" anchor="ctr"/>
          <a:lstStyle/>
          <a:p>
            <a:pPr algn="l" indent="0" marL="0">
              <a:lnSpc>
                <a:spcPct val="110000"/>
              </a:lnSpc>
              <a:buNone/>
            </a:pPr>
            <a:r>
              <a:rPr lang="en-US" sz="2200" dirty="0">
                <a:solidFill>
                  <a:srgbClr val="1E1208"/>
                </a:solidFill>
                <a:latin typeface="Impact" pitchFamily="34" charset="0"/>
                <a:ea typeface="Impact" pitchFamily="34" charset="-122"/>
                <a:cs typeface="Impact" pitchFamily="34" charset="-120"/>
              </a:rPr>
              <a:t>MY TOPICS</a:t>
            </a:r>
            <a:endParaRPr lang="en-US" sz="2200" dirty="0"/>
          </a:p>
        </p:txBody>
      </p:sp>
      <p:sp>
        <p:nvSpPr>
          <p:cNvPr id="24" name="Text 21"/>
          <p:cNvSpPr/>
          <p:nvPr/>
        </p:nvSpPr>
        <p:spPr>
          <a:xfrm>
            <a:off x="4800600" y="2971800"/>
            <a:ext cx="2651760" cy="2011680"/>
          </a:xfrm>
          <a:prstGeom prst="rect">
            <a:avLst/>
          </a:prstGeom>
          <a:noFill/>
          <a:ln/>
        </p:spPr>
        <p:txBody>
          <a:bodyPr wrap="square" lIns="0" tIns="0" rIns="0" bIns="0" rtlCol="0" anchor="t"/>
          <a:lstStyle/>
          <a:p>
            <a:pPr algn="l" marL="342900" indent="-342900">
              <a:lnSpc>
                <a:spcPct val="110000"/>
              </a:lnSpc>
              <a:buSzPct val="100000"/>
              <a:buChar char="■"/>
            </a:pPr>
            <a:r>
              <a:rPr lang="en-US" sz="1350" dirty="0">
                <a:solidFill>
                  <a:srgbClr val="1E1208"/>
                </a:solidFill>
                <a:latin typeface="Arial" pitchFamily="34" charset="0"/>
                <a:ea typeface="Arial" pitchFamily="34" charset="-122"/>
                <a:cs typeface="Arial" pitchFamily="34" charset="-120"/>
              </a:rPr>
              <a:t>Students see which topics need work</a:t>
            </a:r>
            <a:endParaRPr lang="en-US" sz="1350" dirty="0"/>
          </a:p>
          <a:p>
            <a:pPr algn="l" marL="342900" indent="-342900">
              <a:lnSpc>
                <a:spcPct val="110000"/>
              </a:lnSpc>
              <a:buSzPct val="100000"/>
              <a:buChar char="■"/>
            </a:pPr>
            <a:r>
              <a:rPr lang="en-US" sz="1350" dirty="0">
                <a:solidFill>
                  <a:srgbClr val="1E1208"/>
                </a:solidFill>
                <a:latin typeface="Arial" pitchFamily="34" charset="0"/>
                <a:ea typeface="Arial" pitchFamily="34" charset="-122"/>
                <a:cs typeface="Arial" pitchFamily="34" charset="-120"/>
              </a:rPr>
              <a:t>Built from released, marked results</a:t>
            </a:r>
            <a:endParaRPr lang="en-US" sz="1350" dirty="0"/>
          </a:p>
          <a:p>
            <a:pPr algn="l" marL="342900" indent="-342900">
              <a:lnSpc>
                <a:spcPct val="110000"/>
              </a:lnSpc>
              <a:buSzPct val="100000"/>
              <a:buChar char="■"/>
            </a:pPr>
            <a:r>
              <a:rPr lang="en-US" sz="1350" dirty="0">
                <a:solidFill>
                  <a:srgbClr val="1E1208"/>
                </a:solidFill>
                <a:latin typeface="Arial" pitchFamily="34" charset="0"/>
                <a:ea typeface="Arial" pitchFamily="34" charset="-122"/>
                <a:cs typeface="Arial" pitchFamily="34" charset="-120"/>
              </a:rPr>
              <a:t>‘One tap’ to practise a weak topic</a:t>
            </a:r>
            <a:endParaRPr lang="en-US" sz="1350" dirty="0"/>
          </a:p>
          <a:p>
            <a:pPr algn="l" marL="342900" indent="-342900">
              <a:lnSpc>
                <a:spcPct val="110000"/>
              </a:lnSpc>
              <a:buSzPct val="100000"/>
              <a:buChar char="■"/>
            </a:pPr>
            <a:r>
              <a:rPr lang="en-US" sz="1350" dirty="0">
                <a:solidFill>
                  <a:srgbClr val="1E1208"/>
                </a:solidFill>
                <a:latin typeface="Arial" pitchFamily="34" charset="0"/>
                <a:ea typeface="Arial" pitchFamily="34" charset="-122"/>
                <a:cs typeface="Arial" pitchFamily="34" charset="-120"/>
              </a:rPr>
              <a:t>Links to lessons on that topic</a:t>
            </a:r>
            <a:endParaRPr lang="en-US" sz="1350" dirty="0"/>
          </a:p>
        </p:txBody>
      </p:sp>
      <p:sp>
        <p:nvSpPr>
          <p:cNvPr id="25" name="Shape 22"/>
          <p:cNvSpPr/>
          <p:nvPr/>
        </p:nvSpPr>
        <p:spPr>
          <a:xfrm>
            <a:off x="4800600" y="5257800"/>
            <a:ext cx="2651760" cy="310896"/>
          </a:xfrm>
          <a:prstGeom prst="rect">
            <a:avLst/>
          </a:prstGeom>
          <a:solidFill>
            <a:srgbClr val="1E1208"/>
          </a:solidFill>
          <a:ln w="19050">
            <a:solidFill>
              <a:srgbClr val="1E1208"/>
            </a:solidFill>
            <a:prstDash val="solid"/>
          </a:ln>
        </p:spPr>
      </p:sp>
      <p:sp>
        <p:nvSpPr>
          <p:cNvPr id="26" name="Text 23"/>
          <p:cNvSpPr/>
          <p:nvPr/>
        </p:nvSpPr>
        <p:spPr>
          <a:xfrm>
            <a:off x="4800600" y="5257800"/>
            <a:ext cx="2651760" cy="310896"/>
          </a:xfrm>
          <a:prstGeom prst="rect">
            <a:avLst/>
          </a:prstGeom>
          <a:noFill/>
          <a:ln/>
        </p:spPr>
        <p:txBody>
          <a:bodyPr wrap="square" lIns="0" tIns="0" rIns="0" bIns="0" rtlCol="0" anchor="ctr"/>
          <a:lstStyle/>
          <a:p>
            <a:pPr algn="ctr" indent="0" marL="0">
              <a:lnSpc>
                <a:spcPct val="110000"/>
              </a:lnSpc>
              <a:buNone/>
            </a:pPr>
            <a:r>
              <a:rPr lang="en-US" sz="1000" b="1" spc="200" kern="0" dirty="0">
                <a:solidFill>
                  <a:srgbClr val="FFFFFF"/>
                </a:solidFill>
                <a:latin typeface="Courier New" pitchFamily="34" charset="0"/>
                <a:ea typeface="Courier New" pitchFamily="34" charset="-122"/>
                <a:cs typeface="Courier New" pitchFamily="34" charset="-120"/>
              </a:rPr>
              <a:t>FOR STUDENTS</a:t>
            </a:r>
            <a:endParaRPr lang="en-US" sz="1000" dirty="0"/>
          </a:p>
        </p:txBody>
      </p:sp>
      <p:sp>
        <p:nvSpPr>
          <p:cNvPr id="27" name="Shape 24"/>
          <p:cNvSpPr/>
          <p:nvPr/>
        </p:nvSpPr>
        <p:spPr>
          <a:xfrm>
            <a:off x="7818120" y="1965960"/>
            <a:ext cx="3017520" cy="3840480"/>
          </a:xfrm>
          <a:prstGeom prst="rect">
            <a:avLst/>
          </a:prstGeom>
          <a:solidFill>
            <a:srgbClr val="FFFFFF"/>
          </a:solidFill>
          <a:ln w="25400">
            <a:solidFill>
              <a:srgbClr val="1E1208"/>
            </a:solidFill>
            <a:prstDash val="solid"/>
          </a:ln>
        </p:spPr>
      </p:sp>
      <p:sp>
        <p:nvSpPr>
          <p:cNvPr id="28" name="Shape 25"/>
          <p:cNvSpPr/>
          <p:nvPr/>
        </p:nvSpPr>
        <p:spPr>
          <a:xfrm>
            <a:off x="7818120" y="1965960"/>
            <a:ext cx="3017520" cy="822960"/>
          </a:xfrm>
          <a:prstGeom prst="rect">
            <a:avLst/>
          </a:prstGeom>
          <a:solidFill>
            <a:srgbClr val="FBE9D6"/>
          </a:solidFill>
          <a:ln w="25400">
            <a:solidFill>
              <a:srgbClr val="1E1208"/>
            </a:solidFill>
            <a:prstDash val="solid"/>
          </a:ln>
        </p:spPr>
      </p:sp>
      <p:sp>
        <p:nvSpPr>
          <p:cNvPr id="29" name="Text 26"/>
          <p:cNvSpPr/>
          <p:nvPr/>
        </p:nvSpPr>
        <p:spPr>
          <a:xfrm>
            <a:off x="8001000" y="1965960"/>
            <a:ext cx="2651760" cy="822960"/>
          </a:xfrm>
          <a:prstGeom prst="rect">
            <a:avLst/>
          </a:prstGeom>
          <a:noFill/>
          <a:ln/>
        </p:spPr>
        <p:txBody>
          <a:bodyPr wrap="square" lIns="0" tIns="0" rIns="0" bIns="0" rtlCol="0" anchor="ctr"/>
          <a:lstStyle/>
          <a:p>
            <a:pPr algn="l" indent="0" marL="0">
              <a:lnSpc>
                <a:spcPct val="110000"/>
              </a:lnSpc>
              <a:buNone/>
            </a:pPr>
            <a:r>
              <a:rPr lang="en-US" sz="2200" dirty="0">
                <a:solidFill>
                  <a:srgbClr val="1E1208"/>
                </a:solidFill>
                <a:latin typeface="Impact" pitchFamily="34" charset="0"/>
                <a:ea typeface="Impact" pitchFamily="34" charset="-122"/>
                <a:cs typeface="Impact" pitchFamily="34" charset="-120"/>
              </a:rPr>
              <a:t>SCHOOL ANALYTICS</a:t>
            </a:r>
            <a:endParaRPr lang="en-US" sz="2200" dirty="0"/>
          </a:p>
        </p:txBody>
      </p:sp>
      <p:sp>
        <p:nvSpPr>
          <p:cNvPr id="30" name="Text 27"/>
          <p:cNvSpPr/>
          <p:nvPr/>
        </p:nvSpPr>
        <p:spPr>
          <a:xfrm>
            <a:off x="8001000" y="2971800"/>
            <a:ext cx="2651760" cy="2011680"/>
          </a:xfrm>
          <a:prstGeom prst="rect">
            <a:avLst/>
          </a:prstGeom>
          <a:noFill/>
          <a:ln/>
        </p:spPr>
        <p:txBody>
          <a:bodyPr wrap="square" lIns="0" tIns="0" rIns="0" bIns="0" rtlCol="0" anchor="t"/>
          <a:lstStyle/>
          <a:p>
            <a:pPr algn="l" marL="342900" indent="-342900">
              <a:lnSpc>
                <a:spcPct val="110000"/>
              </a:lnSpc>
              <a:buSzPct val="100000"/>
              <a:buChar char="■"/>
            </a:pPr>
            <a:r>
              <a:rPr lang="en-US" sz="1350" dirty="0">
                <a:solidFill>
                  <a:srgbClr val="1E1208"/>
                </a:solidFill>
                <a:latin typeface="Arial" pitchFamily="34" charset="0"/>
                <a:ea typeface="Arial" pitchFamily="34" charset="-122"/>
                <a:cs typeface="Arial" pitchFamily="34" charset="-120"/>
              </a:rPr>
              <a:t>Pass rates by subject and department</a:t>
            </a:r>
            <a:endParaRPr lang="en-US" sz="1350" dirty="0"/>
          </a:p>
          <a:p>
            <a:pPr algn="l" marL="342900" indent="-342900">
              <a:lnSpc>
                <a:spcPct val="110000"/>
              </a:lnSpc>
              <a:buSzPct val="100000"/>
              <a:buChar char="■"/>
            </a:pPr>
            <a:r>
              <a:rPr lang="en-US" sz="1350" dirty="0">
                <a:solidFill>
                  <a:srgbClr val="1E1208"/>
                </a:solidFill>
                <a:latin typeface="Arial" pitchFamily="34" charset="0"/>
                <a:ea typeface="Arial" pitchFamily="34" charset="-122"/>
                <a:cs typeface="Arial" pitchFamily="34" charset="-120"/>
              </a:rPr>
              <a:t>Flagged exam sessions in one place</a:t>
            </a:r>
            <a:endParaRPr lang="en-US" sz="1350" dirty="0"/>
          </a:p>
          <a:p>
            <a:pPr algn="l" marL="342900" indent="-342900">
              <a:lnSpc>
                <a:spcPct val="110000"/>
              </a:lnSpc>
              <a:buSzPct val="100000"/>
              <a:buChar char="■"/>
            </a:pPr>
            <a:r>
              <a:rPr lang="en-US" sz="1350" dirty="0">
                <a:solidFill>
                  <a:srgbClr val="1E1208"/>
                </a:solidFill>
                <a:latin typeface="Arial" pitchFamily="34" charset="0"/>
                <a:ea typeface="Arial" pitchFamily="34" charset="-122"/>
                <a:cs typeface="Arial" pitchFamily="34" charset="-120"/>
              </a:rPr>
              <a:t>Report cards for every student</a:t>
            </a:r>
            <a:endParaRPr lang="en-US" sz="1350" dirty="0"/>
          </a:p>
          <a:p>
            <a:pPr algn="l" marL="342900" indent="-342900">
              <a:lnSpc>
                <a:spcPct val="110000"/>
              </a:lnSpc>
              <a:buSzPct val="100000"/>
              <a:buChar char="■"/>
            </a:pPr>
            <a:r>
              <a:rPr lang="en-US" sz="1350" dirty="0">
                <a:solidFill>
                  <a:srgbClr val="1E1208"/>
                </a:solidFill>
                <a:latin typeface="Arial" pitchFamily="34" charset="0"/>
                <a:ea typeface="Arial" pitchFamily="34" charset="-122"/>
                <a:cs typeface="Arial" pitchFamily="34" charset="-120"/>
              </a:rPr>
              <a:t>Downloadable as a spreadsheet</a:t>
            </a:r>
            <a:endParaRPr lang="en-US" sz="1350" dirty="0"/>
          </a:p>
        </p:txBody>
      </p:sp>
      <p:sp>
        <p:nvSpPr>
          <p:cNvPr id="31" name="Shape 28"/>
          <p:cNvSpPr/>
          <p:nvPr/>
        </p:nvSpPr>
        <p:spPr>
          <a:xfrm>
            <a:off x="8001000" y="5257800"/>
            <a:ext cx="2651760" cy="310896"/>
          </a:xfrm>
          <a:prstGeom prst="rect">
            <a:avLst/>
          </a:prstGeom>
          <a:solidFill>
            <a:srgbClr val="1E1208"/>
          </a:solidFill>
          <a:ln w="19050">
            <a:solidFill>
              <a:srgbClr val="1E1208"/>
            </a:solidFill>
            <a:prstDash val="solid"/>
          </a:ln>
        </p:spPr>
      </p:sp>
      <p:sp>
        <p:nvSpPr>
          <p:cNvPr id="32" name="Text 29"/>
          <p:cNvSpPr/>
          <p:nvPr/>
        </p:nvSpPr>
        <p:spPr>
          <a:xfrm>
            <a:off x="8001000" y="5257800"/>
            <a:ext cx="2651760" cy="310896"/>
          </a:xfrm>
          <a:prstGeom prst="rect">
            <a:avLst/>
          </a:prstGeom>
          <a:noFill/>
          <a:ln/>
        </p:spPr>
        <p:txBody>
          <a:bodyPr wrap="square" lIns="0" tIns="0" rIns="0" bIns="0" rtlCol="0" anchor="ctr"/>
          <a:lstStyle/>
          <a:p>
            <a:pPr algn="ctr" indent="0" marL="0">
              <a:lnSpc>
                <a:spcPct val="110000"/>
              </a:lnSpc>
              <a:buNone/>
            </a:pPr>
            <a:r>
              <a:rPr lang="en-US" sz="1000" b="1" spc="200" kern="0" dirty="0">
                <a:solidFill>
                  <a:srgbClr val="FFFFFF"/>
                </a:solidFill>
                <a:latin typeface="Courier New" pitchFamily="34" charset="0"/>
                <a:ea typeface="Courier New" pitchFamily="34" charset="-122"/>
                <a:cs typeface="Courier New" pitchFamily="34" charset="-120"/>
              </a:rPr>
              <a:t>FOR HODS AND LEADERS</a:t>
            </a:r>
            <a:endParaRPr lang="en-US" sz="1000" dirty="0"/>
          </a:p>
        </p:txBody>
      </p:sp>
      <p:sp>
        <p:nvSpPr>
          <p:cNvPr id="33" name="Text 30"/>
          <p:cNvSpPr/>
          <p:nvPr/>
        </p:nvSpPr>
        <p:spPr>
          <a:xfrm>
            <a:off x="1417320" y="6035040"/>
            <a:ext cx="9509760" cy="365760"/>
          </a:xfrm>
          <a:prstGeom prst="rect">
            <a:avLst/>
          </a:prstGeom>
          <a:noFill/>
          <a:ln/>
        </p:spPr>
        <p:txBody>
          <a:bodyPr wrap="square" lIns="0" tIns="0" rIns="0" bIns="0" rtlCol="0" anchor="t"/>
          <a:lstStyle/>
          <a:p>
            <a:pPr algn="l" indent="0" marL="0">
              <a:lnSpc>
                <a:spcPct val="110000"/>
              </a:lnSpc>
              <a:buNone/>
            </a:pPr>
            <a:r>
              <a:rPr lang="en-US" sz="1400" dirty="0">
                <a:solidFill>
                  <a:srgbClr val="555555"/>
                </a:solidFill>
                <a:latin typeface="Arial" pitchFamily="34" charset="0"/>
                <a:ea typeface="Arial" pitchFamily="34" charset="-122"/>
                <a:cs typeface="Arial" pitchFamily="34" charset="-120"/>
              </a:rPr>
              <a:t>Teachers asked who is struggling (8 of 10) and what mistakes are common (7 of 10).</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368735" y="1764792"/>
            <a:ext cx="822960" cy="1152144"/>
          </a:xfrm>
          <a:prstGeom prst="rect">
            <a:avLst/>
          </a:prstGeom>
          <a:solidFill>
            <a:srgbClr val="D4762A"/>
          </a:solidFill>
          <a:ln w="25400">
            <a:solidFill>
              <a:srgbClr val="1E1208"/>
            </a:solidFill>
            <a:prstDash val="solid"/>
          </a:ln>
        </p:spPr>
      </p:sp>
      <p:sp>
        <p:nvSpPr>
          <p:cNvPr id="5" name="Text 3"/>
          <p:cNvSpPr/>
          <p:nvPr/>
        </p:nvSpPr>
        <p:spPr>
          <a:xfrm>
            <a:off x="11368735" y="1764792"/>
            <a:ext cx="822960"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SMART ASSESS</a:t>
            </a:r>
            <a:endParaRPr lang="en-US" sz="115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indent="0" marL="0">
              <a:buNone/>
            </a:pPr>
            <a:r>
              <a:rPr lang="en-US" sz="4600" dirty="0">
                <a:solidFill>
                  <a:srgbClr val="1E1208"/>
                </a:solidFill>
                <a:latin typeface="Impact" pitchFamily="34" charset="0"/>
                <a:ea typeface="Impact" pitchFamily="34" charset="-122"/>
                <a:cs typeface="Impact" pitchFamily="34" charset="-120"/>
              </a:rPr>
              <a:t>FAIR, SECURE AND ACCESSIBLE BY DESIGN</a:t>
            </a:r>
            <a:endParaRPr lang="en-US" sz="4600" dirty="0"/>
          </a:p>
        </p:txBody>
      </p:sp>
      <p:sp>
        <p:nvSpPr>
          <p:cNvPr id="15" name="Shape 12"/>
          <p:cNvSpPr/>
          <p:nvPr/>
        </p:nvSpPr>
        <p:spPr>
          <a:xfrm>
            <a:off x="1417320" y="1965960"/>
            <a:ext cx="4663440" cy="1737360"/>
          </a:xfrm>
          <a:prstGeom prst="rect">
            <a:avLst/>
          </a:prstGeom>
          <a:solidFill>
            <a:srgbClr val="FFFFFF"/>
          </a:solidFill>
          <a:ln w="25400">
            <a:solidFill>
              <a:srgbClr val="1E1208"/>
            </a:solidFill>
            <a:prstDash val="solid"/>
          </a:ln>
        </p:spPr>
      </p:sp>
      <p:sp>
        <p:nvSpPr>
          <p:cNvPr id="16" name="Shape 13"/>
          <p:cNvSpPr/>
          <p:nvPr/>
        </p:nvSpPr>
        <p:spPr>
          <a:xfrm>
            <a:off x="1417320" y="1965960"/>
            <a:ext cx="128016" cy="1737360"/>
          </a:xfrm>
          <a:prstGeom prst="rect">
            <a:avLst/>
          </a:prstGeom>
          <a:solidFill>
            <a:srgbClr val="D4762A"/>
          </a:solidFill>
          <a:ln/>
        </p:spPr>
      </p:sp>
      <p:sp>
        <p:nvSpPr>
          <p:cNvPr id="17" name="Text 14"/>
          <p:cNvSpPr/>
          <p:nvPr/>
        </p:nvSpPr>
        <p:spPr>
          <a:xfrm>
            <a:off x="1737360" y="2148840"/>
            <a:ext cx="4206240" cy="411480"/>
          </a:xfrm>
          <a:prstGeom prst="rect">
            <a:avLst/>
          </a:prstGeom>
          <a:noFill/>
          <a:ln/>
        </p:spPr>
        <p:txBody>
          <a:bodyPr wrap="square" lIns="0" tIns="0" rIns="0" bIns="0" rtlCol="0" anchor="t"/>
          <a:lstStyle/>
          <a:p>
            <a:pPr algn="l" indent="0" marL="0">
              <a:lnSpc>
                <a:spcPct val="110000"/>
              </a:lnSpc>
              <a:buNone/>
            </a:pPr>
            <a:r>
              <a:rPr lang="en-US" sz="2000" dirty="0">
                <a:solidFill>
                  <a:srgbClr val="1E1208"/>
                </a:solidFill>
                <a:latin typeface="Impact" pitchFamily="34" charset="0"/>
                <a:ea typeface="Impact" pitchFamily="34" charset="-122"/>
                <a:cs typeface="Impact" pitchFamily="34" charset="-120"/>
              </a:rPr>
              <a:t>LOCK-DOWN AND TAB LOGGING</a:t>
            </a:r>
            <a:endParaRPr lang="en-US" sz="2000" dirty="0"/>
          </a:p>
        </p:txBody>
      </p:sp>
      <p:sp>
        <p:nvSpPr>
          <p:cNvPr id="18" name="Text 15"/>
          <p:cNvSpPr/>
          <p:nvPr/>
        </p:nvSpPr>
        <p:spPr>
          <a:xfrm>
            <a:off x="1737360" y="2651760"/>
            <a:ext cx="4206240" cy="100584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A desktop app for Windows and Mac locks the screen to the exam. Tab switches are logged and pasting is blocked.</a:t>
            </a:r>
            <a:endParaRPr lang="en-US" sz="1250" dirty="0"/>
          </a:p>
        </p:txBody>
      </p:sp>
      <p:sp>
        <p:nvSpPr>
          <p:cNvPr id="19" name="Shape 16"/>
          <p:cNvSpPr/>
          <p:nvPr/>
        </p:nvSpPr>
        <p:spPr>
          <a:xfrm>
            <a:off x="6217920" y="1965960"/>
            <a:ext cx="4663440" cy="1737360"/>
          </a:xfrm>
          <a:prstGeom prst="rect">
            <a:avLst/>
          </a:prstGeom>
          <a:solidFill>
            <a:srgbClr val="FFFFFF"/>
          </a:solidFill>
          <a:ln w="25400">
            <a:solidFill>
              <a:srgbClr val="1E1208"/>
            </a:solidFill>
            <a:prstDash val="solid"/>
          </a:ln>
        </p:spPr>
      </p:sp>
      <p:sp>
        <p:nvSpPr>
          <p:cNvPr id="20" name="Shape 17"/>
          <p:cNvSpPr/>
          <p:nvPr/>
        </p:nvSpPr>
        <p:spPr>
          <a:xfrm>
            <a:off x="6217920" y="1965960"/>
            <a:ext cx="128016" cy="1737360"/>
          </a:xfrm>
          <a:prstGeom prst="rect">
            <a:avLst/>
          </a:prstGeom>
          <a:solidFill>
            <a:srgbClr val="D4762A"/>
          </a:solidFill>
          <a:ln/>
        </p:spPr>
      </p:sp>
      <p:sp>
        <p:nvSpPr>
          <p:cNvPr id="21" name="Text 18"/>
          <p:cNvSpPr/>
          <p:nvPr/>
        </p:nvSpPr>
        <p:spPr>
          <a:xfrm>
            <a:off x="6537960" y="2148840"/>
            <a:ext cx="4206240" cy="411480"/>
          </a:xfrm>
          <a:prstGeom prst="rect">
            <a:avLst/>
          </a:prstGeom>
          <a:noFill/>
          <a:ln/>
        </p:spPr>
        <p:txBody>
          <a:bodyPr wrap="square" lIns="0" tIns="0" rIns="0" bIns="0" rtlCol="0" anchor="t"/>
          <a:lstStyle/>
          <a:p>
            <a:pPr algn="l" indent="0" marL="0">
              <a:lnSpc>
                <a:spcPct val="110000"/>
              </a:lnSpc>
              <a:buNone/>
            </a:pPr>
            <a:r>
              <a:rPr lang="en-US" sz="2000" dirty="0">
                <a:solidFill>
                  <a:srgbClr val="1E1208"/>
                </a:solidFill>
                <a:latin typeface="Impact" pitchFamily="34" charset="0"/>
                <a:ea typeface="Impact" pitchFamily="34" charset="-122"/>
                <a:cs typeface="Impact" pitchFamily="34" charset="-120"/>
              </a:rPr>
              <a:t>ONE DEVICE AT A TIME</a:t>
            </a:r>
            <a:endParaRPr lang="en-US" sz="2000" dirty="0"/>
          </a:p>
        </p:txBody>
      </p:sp>
      <p:sp>
        <p:nvSpPr>
          <p:cNvPr id="22" name="Text 19"/>
          <p:cNvSpPr/>
          <p:nvPr/>
        </p:nvSpPr>
        <p:spPr>
          <a:xfrm>
            <a:off x="6537960" y="2651760"/>
            <a:ext cx="4206240" cy="100584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A student is signed in on one device only while sitting an exam.</a:t>
            </a:r>
            <a:endParaRPr lang="en-US" sz="1250" dirty="0"/>
          </a:p>
        </p:txBody>
      </p:sp>
      <p:sp>
        <p:nvSpPr>
          <p:cNvPr id="23" name="Shape 20"/>
          <p:cNvSpPr/>
          <p:nvPr/>
        </p:nvSpPr>
        <p:spPr>
          <a:xfrm>
            <a:off x="1417320" y="3886200"/>
            <a:ext cx="4663440" cy="1737360"/>
          </a:xfrm>
          <a:prstGeom prst="rect">
            <a:avLst/>
          </a:prstGeom>
          <a:solidFill>
            <a:srgbClr val="FFFFFF"/>
          </a:solidFill>
          <a:ln w="25400">
            <a:solidFill>
              <a:srgbClr val="1E1208"/>
            </a:solidFill>
            <a:prstDash val="solid"/>
          </a:ln>
        </p:spPr>
      </p:sp>
      <p:sp>
        <p:nvSpPr>
          <p:cNvPr id="24" name="Shape 21"/>
          <p:cNvSpPr/>
          <p:nvPr/>
        </p:nvSpPr>
        <p:spPr>
          <a:xfrm>
            <a:off x="1417320" y="3886200"/>
            <a:ext cx="128016" cy="1737360"/>
          </a:xfrm>
          <a:prstGeom prst="rect">
            <a:avLst/>
          </a:prstGeom>
          <a:solidFill>
            <a:srgbClr val="D4762A"/>
          </a:solidFill>
          <a:ln/>
        </p:spPr>
      </p:sp>
      <p:sp>
        <p:nvSpPr>
          <p:cNvPr id="25" name="Text 22"/>
          <p:cNvSpPr/>
          <p:nvPr/>
        </p:nvSpPr>
        <p:spPr>
          <a:xfrm>
            <a:off x="1737360" y="4069080"/>
            <a:ext cx="4206240" cy="411480"/>
          </a:xfrm>
          <a:prstGeom prst="rect">
            <a:avLst/>
          </a:prstGeom>
          <a:noFill/>
          <a:ln/>
        </p:spPr>
        <p:txBody>
          <a:bodyPr wrap="square" lIns="0" tIns="0" rIns="0" bIns="0" rtlCol="0" anchor="t"/>
          <a:lstStyle/>
          <a:p>
            <a:pPr algn="l" indent="0" marL="0">
              <a:lnSpc>
                <a:spcPct val="110000"/>
              </a:lnSpc>
              <a:buNone/>
            </a:pPr>
            <a:r>
              <a:rPr lang="en-US" sz="2000" dirty="0">
                <a:solidFill>
                  <a:srgbClr val="1E1208"/>
                </a:solidFill>
                <a:latin typeface="Impact" pitchFamily="34" charset="0"/>
                <a:ea typeface="Impact" pitchFamily="34" charset="-122"/>
                <a:cs typeface="Impact" pitchFamily="34" charset="-120"/>
              </a:rPr>
              <a:t>SAFE IF THE CONNECTION DROPS</a:t>
            </a:r>
            <a:endParaRPr lang="en-US" sz="2000" dirty="0"/>
          </a:p>
        </p:txBody>
      </p:sp>
      <p:sp>
        <p:nvSpPr>
          <p:cNvPr id="26" name="Text 23"/>
          <p:cNvSpPr/>
          <p:nvPr/>
        </p:nvSpPr>
        <p:spPr>
          <a:xfrm>
            <a:off x="1737360" y="4572000"/>
            <a:ext cx="4206240" cy="100584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Answers are kept on the device and sent when the connection returns. Late work is flagged, not lost.</a:t>
            </a:r>
            <a:endParaRPr lang="en-US" sz="1250" dirty="0"/>
          </a:p>
        </p:txBody>
      </p:sp>
      <p:sp>
        <p:nvSpPr>
          <p:cNvPr id="27" name="Shape 24"/>
          <p:cNvSpPr/>
          <p:nvPr/>
        </p:nvSpPr>
        <p:spPr>
          <a:xfrm>
            <a:off x="6217920" y="3886200"/>
            <a:ext cx="4663440" cy="1737360"/>
          </a:xfrm>
          <a:prstGeom prst="rect">
            <a:avLst/>
          </a:prstGeom>
          <a:solidFill>
            <a:srgbClr val="FFFFFF"/>
          </a:solidFill>
          <a:ln w="25400">
            <a:solidFill>
              <a:srgbClr val="1E1208"/>
            </a:solidFill>
            <a:prstDash val="solid"/>
          </a:ln>
        </p:spPr>
      </p:sp>
      <p:sp>
        <p:nvSpPr>
          <p:cNvPr id="28" name="Shape 25"/>
          <p:cNvSpPr/>
          <p:nvPr/>
        </p:nvSpPr>
        <p:spPr>
          <a:xfrm>
            <a:off x="6217920" y="3886200"/>
            <a:ext cx="128016" cy="1737360"/>
          </a:xfrm>
          <a:prstGeom prst="rect">
            <a:avLst/>
          </a:prstGeom>
          <a:solidFill>
            <a:srgbClr val="D4762A"/>
          </a:solidFill>
          <a:ln/>
        </p:spPr>
      </p:sp>
      <p:sp>
        <p:nvSpPr>
          <p:cNvPr id="29" name="Text 26"/>
          <p:cNvSpPr/>
          <p:nvPr/>
        </p:nvSpPr>
        <p:spPr>
          <a:xfrm>
            <a:off x="6537960" y="4069080"/>
            <a:ext cx="4206240" cy="411480"/>
          </a:xfrm>
          <a:prstGeom prst="rect">
            <a:avLst/>
          </a:prstGeom>
          <a:noFill/>
          <a:ln/>
        </p:spPr>
        <p:txBody>
          <a:bodyPr wrap="square" lIns="0" tIns="0" rIns="0" bIns="0" rtlCol="0" anchor="t"/>
          <a:lstStyle/>
          <a:p>
            <a:pPr algn="l" indent="0" marL="0">
              <a:lnSpc>
                <a:spcPct val="110000"/>
              </a:lnSpc>
              <a:buNone/>
            </a:pPr>
            <a:r>
              <a:rPr lang="en-US" sz="2000" dirty="0">
                <a:solidFill>
                  <a:srgbClr val="1E1208"/>
                </a:solidFill>
                <a:latin typeface="Impact" pitchFamily="34" charset="0"/>
                <a:ea typeface="Impact" pitchFamily="34" charset="-122"/>
                <a:cs typeface="Impact" pitchFamily="34" charset="-120"/>
              </a:rPr>
              <a:t>SUPPORT FOR EACH STUDENT</a:t>
            </a:r>
            <a:endParaRPr lang="en-US" sz="2000" dirty="0"/>
          </a:p>
        </p:txBody>
      </p:sp>
      <p:sp>
        <p:nvSpPr>
          <p:cNvPr id="30" name="Text 27"/>
          <p:cNvSpPr/>
          <p:nvPr/>
        </p:nvSpPr>
        <p:spPr>
          <a:xfrm>
            <a:off x="6537960" y="4572000"/>
            <a:ext cx="4206240" cy="100584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A teacher can switch on read-aloud and other accommodations for a student who needs them.</a:t>
            </a:r>
            <a:endParaRPr lang="en-US" sz="1250" dirty="0"/>
          </a:p>
        </p:txBody>
      </p:sp>
      <p:sp>
        <p:nvSpPr>
          <p:cNvPr id="31" name="Shape 28"/>
          <p:cNvSpPr/>
          <p:nvPr/>
        </p:nvSpPr>
        <p:spPr>
          <a:xfrm>
            <a:off x="1417320" y="5943600"/>
            <a:ext cx="9509760" cy="502920"/>
          </a:xfrm>
          <a:prstGeom prst="rect">
            <a:avLst/>
          </a:prstGeom>
          <a:solidFill>
            <a:srgbClr val="1E1208"/>
          </a:solidFill>
          <a:ln/>
        </p:spPr>
      </p:sp>
      <p:sp>
        <p:nvSpPr>
          <p:cNvPr id="32" name="Text 29"/>
          <p:cNvSpPr/>
          <p:nvPr/>
        </p:nvSpPr>
        <p:spPr>
          <a:xfrm>
            <a:off x="1600200" y="5943600"/>
            <a:ext cx="9144000" cy="502920"/>
          </a:xfrm>
          <a:prstGeom prst="rect">
            <a:avLst/>
          </a:prstGeom>
          <a:noFill/>
          <a:ln/>
        </p:spPr>
        <p:txBody>
          <a:bodyPr wrap="square" lIns="0" tIns="0" rIns="0" bIns="0" rtlCol="0" anchor="ctr"/>
          <a:lstStyle/>
          <a:p>
            <a:pPr algn="l" indent="0" marL="0">
              <a:lnSpc>
                <a:spcPct val="110000"/>
              </a:lnSpc>
              <a:buNone/>
            </a:pPr>
            <a:r>
              <a:rPr lang="en-US" sz="1400" b="1" dirty="0">
                <a:solidFill>
                  <a:srgbClr val="FFFFFF"/>
                </a:solidFill>
                <a:latin typeface="Arial" pitchFamily="34" charset="0"/>
                <a:ea typeface="Arial" pitchFamily="34" charset="-122"/>
                <a:cs typeface="Arial" pitchFamily="34" charset="-120"/>
              </a:rPr>
              <a:t>A person always decides. Integrity flags are prompts for a teacher or leader, never proof.</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368735" y="3026664"/>
            <a:ext cx="822960" cy="1152144"/>
          </a:xfrm>
          <a:prstGeom prst="rect">
            <a:avLst/>
          </a:prstGeom>
          <a:solidFill>
            <a:srgbClr val="E3B51E"/>
          </a:solidFill>
          <a:ln w="25400">
            <a:solidFill>
              <a:srgbClr val="1E1208"/>
            </a:solidFill>
            <a:prstDash val="solid"/>
          </a:ln>
        </p:spPr>
      </p:sp>
      <p:sp>
        <p:nvSpPr>
          <p:cNvPr id="7" name="Text 5"/>
          <p:cNvSpPr/>
          <p:nvPr/>
        </p:nvSpPr>
        <p:spPr>
          <a:xfrm>
            <a:off x="11368735" y="3026664"/>
            <a:ext cx="822960"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MEET THE PRODUCT</a:t>
            </a:r>
            <a:endParaRPr lang="en-US" sz="1150" dirty="0"/>
          </a:p>
        </p:txBody>
      </p:sp>
      <p:sp>
        <p:nvSpPr>
          <p:cNvPr id="14" name="Shape 11"/>
          <p:cNvSpPr/>
          <p:nvPr/>
        </p:nvSpPr>
        <p:spPr>
          <a:xfrm>
            <a:off x="1417320" y="1920240"/>
            <a:ext cx="3931920" cy="3931920"/>
          </a:xfrm>
          <a:prstGeom prst="rect">
            <a:avLst/>
          </a:prstGeom>
          <a:solidFill>
            <a:srgbClr val="E3B51E"/>
          </a:solidFill>
          <a:ln w="25400">
            <a:solidFill>
              <a:srgbClr val="1E1208"/>
            </a:solidFill>
            <a:prstDash val="solid"/>
          </a:ln>
        </p:spPr>
      </p:sp>
      <p:sp>
        <p:nvSpPr>
          <p:cNvPr id="15" name="Text 12"/>
          <p:cNvSpPr/>
          <p:nvPr/>
        </p:nvSpPr>
        <p:spPr>
          <a:xfrm>
            <a:off x="1645920" y="2011680"/>
            <a:ext cx="3474720" cy="1463040"/>
          </a:xfrm>
          <a:prstGeom prst="rect">
            <a:avLst/>
          </a:prstGeom>
          <a:noFill/>
          <a:ln/>
        </p:spPr>
        <p:txBody>
          <a:bodyPr wrap="square" lIns="0" tIns="0" rIns="0" bIns="0" rtlCol="0" anchor="t"/>
          <a:lstStyle/>
          <a:p>
            <a:pPr algn="l" indent="0" marL="0">
              <a:lnSpc>
                <a:spcPct val="110000"/>
              </a:lnSpc>
              <a:buNone/>
            </a:pPr>
            <a:r>
              <a:rPr lang="en-US" sz="9600" dirty="0">
                <a:solidFill>
                  <a:srgbClr val="1E1208"/>
                </a:solidFill>
                <a:latin typeface="Impact" pitchFamily="34" charset="0"/>
                <a:ea typeface="Impact" pitchFamily="34" charset="-122"/>
                <a:cs typeface="Impact" pitchFamily="34" charset="-120"/>
              </a:rPr>
              <a:t>2</a:t>
            </a:r>
            <a:endParaRPr lang="en-US" sz="9600" dirty="0"/>
          </a:p>
        </p:txBody>
      </p:sp>
      <p:sp>
        <p:nvSpPr>
          <p:cNvPr id="16" name="Text 13"/>
          <p:cNvSpPr/>
          <p:nvPr/>
        </p:nvSpPr>
        <p:spPr>
          <a:xfrm>
            <a:off x="1645920" y="3429000"/>
            <a:ext cx="3474720" cy="1371600"/>
          </a:xfrm>
          <a:prstGeom prst="rect">
            <a:avLst/>
          </a:prstGeom>
          <a:noFill/>
          <a:ln/>
        </p:spPr>
        <p:txBody>
          <a:bodyPr wrap="square" lIns="0" tIns="0" rIns="0" bIns="0" rtlCol="0" anchor="t"/>
          <a:lstStyle/>
          <a:p>
            <a:pPr algn="l" indent="0" marL="0">
              <a:lnSpc>
                <a:spcPct val="95000"/>
              </a:lnSpc>
              <a:buNone/>
            </a:pPr>
            <a:r>
              <a:rPr lang="en-US" sz="4400" dirty="0">
                <a:solidFill>
                  <a:srgbClr val="1E1208"/>
                </a:solidFill>
                <a:latin typeface="Impact" pitchFamily="34" charset="0"/>
                <a:ea typeface="Impact" pitchFamily="34" charset="-122"/>
                <a:cs typeface="Impact" pitchFamily="34" charset="-120"/>
              </a:rPr>
              <a:t>SMART</a:t>
            </a:r>
            <a:endParaRPr lang="en-US" sz="4400" dirty="0"/>
          </a:p>
          <a:p>
            <a:pPr algn="l" indent="0" marL="0">
              <a:lnSpc>
                <a:spcPct val="95000"/>
              </a:lnSpc>
              <a:buNone/>
            </a:pPr>
            <a:r>
              <a:rPr lang="en-US" sz="4400" dirty="0">
                <a:solidFill>
                  <a:srgbClr val="1E1208"/>
                </a:solidFill>
                <a:latin typeface="Impact" pitchFamily="34" charset="0"/>
                <a:ea typeface="Impact" pitchFamily="34" charset="-122"/>
                <a:cs typeface="Impact" pitchFamily="34" charset="-120"/>
              </a:rPr>
              <a:t>LEARNING</a:t>
            </a:r>
            <a:endParaRPr lang="en-US" sz="4400" dirty="0"/>
          </a:p>
        </p:txBody>
      </p:sp>
      <p:sp>
        <p:nvSpPr>
          <p:cNvPr id="17" name="Text 14"/>
          <p:cNvSpPr/>
          <p:nvPr/>
        </p:nvSpPr>
        <p:spPr>
          <a:xfrm>
            <a:off x="1645920" y="4937760"/>
            <a:ext cx="3474720" cy="822960"/>
          </a:xfrm>
          <a:prstGeom prst="rect">
            <a:avLst/>
          </a:prstGeom>
          <a:noFill/>
          <a:ln/>
        </p:spPr>
        <p:txBody>
          <a:bodyPr wrap="square" lIns="0" tIns="0" rIns="0" bIns="0" rtlCol="0" anchor="t"/>
          <a:lstStyle/>
          <a:p>
            <a:pPr algn="l" indent="0" marL="0">
              <a:lnSpc>
                <a:spcPct val="110000"/>
              </a:lnSpc>
              <a:buNone/>
            </a:pPr>
            <a:r>
              <a:rPr lang="en-US" sz="1800" b="1" dirty="0">
                <a:solidFill>
                  <a:srgbClr val="1E1208"/>
                </a:solidFill>
                <a:latin typeface="Arial" pitchFamily="34" charset="0"/>
                <a:ea typeface="Arial" pitchFamily="34" charset="-122"/>
                <a:cs typeface="Arial" pitchFamily="34" charset="-120"/>
              </a:rPr>
              <a:t>Deliver and recover learning.</a:t>
            </a:r>
            <a:endParaRPr lang="en-US" sz="1800" dirty="0"/>
          </a:p>
        </p:txBody>
      </p:sp>
      <p:sp>
        <p:nvSpPr>
          <p:cNvPr id="18" name="Text 15"/>
          <p:cNvSpPr/>
          <p:nvPr/>
        </p:nvSpPr>
        <p:spPr>
          <a:xfrm>
            <a:off x="5623560" y="1965960"/>
            <a:ext cx="5303520" cy="1554480"/>
          </a:xfrm>
          <a:prstGeom prst="rect">
            <a:avLst/>
          </a:prstGeom>
          <a:noFill/>
          <a:ln/>
        </p:spPr>
        <p:txBody>
          <a:bodyPr wrap="square" lIns="0" tIns="0" rIns="0" bIns="0" rtlCol="0" anchor="t"/>
          <a:lstStyle/>
          <a:p>
            <a:pPr algn="l" indent="0" marL="0">
              <a:lnSpc>
                <a:spcPct val="115000"/>
              </a:lnSpc>
              <a:buNone/>
            </a:pPr>
            <a:r>
              <a:rPr lang="en-US" sz="1600" b="1" dirty="0">
                <a:solidFill>
                  <a:srgbClr val="1E1208"/>
                </a:solidFill>
                <a:latin typeface="Arial" pitchFamily="34" charset="0"/>
                <a:ea typeface="Arial" pitchFamily="34" charset="-122"/>
                <a:cs typeface="Arial" pitchFamily="34" charset="-120"/>
              </a:rPr>
              <a:t>Lessons, lesson plans, catch-up and study support that act on what Smart Assess finds. Students get a clear path back in after a missed lesson, and teachers plan faster with AI help they always review.</a:t>
            </a:r>
            <a:endParaRPr lang="en-US" sz="1600" dirty="0"/>
          </a:p>
        </p:txBody>
      </p:sp>
      <p:sp>
        <p:nvSpPr>
          <p:cNvPr id="19" name="Text 16"/>
          <p:cNvSpPr/>
          <p:nvPr/>
        </p:nvSpPr>
        <p:spPr>
          <a:xfrm>
            <a:off x="5623560" y="3703320"/>
            <a:ext cx="5303520" cy="274320"/>
          </a:xfrm>
          <a:prstGeom prst="rect">
            <a:avLst/>
          </a:prstGeom>
          <a:noFill/>
          <a:ln/>
        </p:spPr>
        <p:txBody>
          <a:bodyPr wrap="square" lIns="0" tIns="0" rIns="0" bIns="0" rtlCol="0" anchor="t"/>
          <a:lstStyle/>
          <a:p>
            <a:pPr algn="l" indent="0" marL="0">
              <a:lnSpc>
                <a:spcPct val="110000"/>
              </a:lnSpc>
              <a:buNone/>
            </a:pPr>
            <a:r>
              <a:rPr lang="en-US" sz="1100" b="1" spc="200" kern="0" dirty="0">
                <a:solidFill>
                  <a:srgbClr val="1E1208"/>
                </a:solidFill>
                <a:latin typeface="Courier New" pitchFamily="34" charset="0"/>
                <a:ea typeface="Courier New" pitchFamily="34" charset="-122"/>
                <a:cs typeface="Courier New" pitchFamily="34" charset="-120"/>
              </a:rPr>
              <a:t>WHAT IT DOES</a:t>
            </a:r>
            <a:endParaRPr lang="en-US" sz="1100" dirty="0"/>
          </a:p>
        </p:txBody>
      </p:sp>
      <p:sp>
        <p:nvSpPr>
          <p:cNvPr id="20" name="Shape 17"/>
          <p:cNvSpPr/>
          <p:nvPr/>
        </p:nvSpPr>
        <p:spPr>
          <a:xfrm>
            <a:off x="5623560" y="4041648"/>
            <a:ext cx="5303520" cy="475488"/>
          </a:xfrm>
          <a:prstGeom prst="rect">
            <a:avLst/>
          </a:prstGeom>
          <a:solidFill>
            <a:srgbClr val="FFFFFF"/>
          </a:solidFill>
          <a:ln w="25400">
            <a:solidFill>
              <a:srgbClr val="1E1208"/>
            </a:solidFill>
            <a:prstDash val="solid"/>
          </a:ln>
        </p:spPr>
      </p:sp>
      <p:sp>
        <p:nvSpPr>
          <p:cNvPr id="21" name="Text 18"/>
          <p:cNvSpPr/>
          <p:nvPr/>
        </p:nvSpPr>
        <p:spPr>
          <a:xfrm>
            <a:off x="5806440" y="4041648"/>
            <a:ext cx="4983480" cy="475488"/>
          </a:xfrm>
          <a:prstGeom prst="rect">
            <a:avLst/>
          </a:prstGeom>
          <a:noFill/>
          <a:ln/>
        </p:spPr>
        <p:txBody>
          <a:bodyPr wrap="square" lIns="0" tIns="0" rIns="0" bIns="0" rtlCol="0" anchor="ctr"/>
          <a:lstStyle/>
          <a:p>
            <a:pPr algn="l" indent="0" marL="0">
              <a:lnSpc>
                <a:spcPct val="110000"/>
              </a:lnSpc>
              <a:buNone/>
            </a:pPr>
            <a:r>
              <a:rPr lang="en-US" sz="1300" b="1" dirty="0">
                <a:solidFill>
                  <a:srgbClr val="1E1208"/>
                </a:solidFill>
                <a:latin typeface="Arial" pitchFamily="34" charset="0"/>
                <a:ea typeface="Arial" pitchFamily="34" charset="-122"/>
                <a:cs typeface="Arial" pitchFamily="34" charset="-120"/>
              </a:rPr>
              <a:t>Five-step lessons with checks at three levels</a:t>
            </a:r>
            <a:endParaRPr lang="en-US" sz="1300" dirty="0"/>
          </a:p>
        </p:txBody>
      </p:sp>
      <p:sp>
        <p:nvSpPr>
          <p:cNvPr id="22" name="Shape 19"/>
          <p:cNvSpPr/>
          <p:nvPr/>
        </p:nvSpPr>
        <p:spPr>
          <a:xfrm>
            <a:off x="5623560" y="4590288"/>
            <a:ext cx="5303520" cy="475488"/>
          </a:xfrm>
          <a:prstGeom prst="rect">
            <a:avLst/>
          </a:prstGeom>
          <a:solidFill>
            <a:srgbClr val="FBE9D6"/>
          </a:solidFill>
          <a:ln w="25400">
            <a:solidFill>
              <a:srgbClr val="1E1208"/>
            </a:solidFill>
            <a:prstDash val="solid"/>
          </a:ln>
        </p:spPr>
      </p:sp>
      <p:sp>
        <p:nvSpPr>
          <p:cNvPr id="23" name="Text 20"/>
          <p:cNvSpPr/>
          <p:nvPr/>
        </p:nvSpPr>
        <p:spPr>
          <a:xfrm>
            <a:off x="5806440" y="4590288"/>
            <a:ext cx="4983480" cy="475488"/>
          </a:xfrm>
          <a:prstGeom prst="rect">
            <a:avLst/>
          </a:prstGeom>
          <a:noFill/>
          <a:ln/>
        </p:spPr>
        <p:txBody>
          <a:bodyPr wrap="square" lIns="0" tIns="0" rIns="0" bIns="0" rtlCol="0" anchor="ctr"/>
          <a:lstStyle/>
          <a:p>
            <a:pPr algn="l" indent="0" marL="0">
              <a:lnSpc>
                <a:spcPct val="110000"/>
              </a:lnSpc>
              <a:buNone/>
            </a:pPr>
            <a:r>
              <a:rPr lang="en-US" sz="1300" b="1" dirty="0">
                <a:solidFill>
                  <a:srgbClr val="1E1208"/>
                </a:solidFill>
                <a:latin typeface="Arial" pitchFamily="34" charset="0"/>
                <a:ea typeface="Arial" pitchFamily="34" charset="-122"/>
                <a:cs typeface="Arial" pitchFamily="34" charset="-120"/>
              </a:rPr>
              <a:t>Catch-up for absent students, flashcards and the Library</a:t>
            </a:r>
            <a:endParaRPr lang="en-US" sz="1300" dirty="0"/>
          </a:p>
        </p:txBody>
      </p:sp>
      <p:sp>
        <p:nvSpPr>
          <p:cNvPr id="24" name="Shape 21"/>
          <p:cNvSpPr/>
          <p:nvPr/>
        </p:nvSpPr>
        <p:spPr>
          <a:xfrm>
            <a:off x="5623560" y="5138928"/>
            <a:ext cx="5303520" cy="475488"/>
          </a:xfrm>
          <a:prstGeom prst="rect">
            <a:avLst/>
          </a:prstGeom>
          <a:solidFill>
            <a:srgbClr val="FFFFFF"/>
          </a:solidFill>
          <a:ln w="25400">
            <a:solidFill>
              <a:srgbClr val="1E1208"/>
            </a:solidFill>
            <a:prstDash val="solid"/>
          </a:ln>
        </p:spPr>
      </p:sp>
      <p:sp>
        <p:nvSpPr>
          <p:cNvPr id="25" name="Text 22"/>
          <p:cNvSpPr/>
          <p:nvPr/>
        </p:nvSpPr>
        <p:spPr>
          <a:xfrm>
            <a:off x="5806440" y="5138928"/>
            <a:ext cx="4983480" cy="475488"/>
          </a:xfrm>
          <a:prstGeom prst="rect">
            <a:avLst/>
          </a:prstGeom>
          <a:noFill/>
          <a:ln/>
        </p:spPr>
        <p:txBody>
          <a:bodyPr wrap="square" lIns="0" tIns="0" rIns="0" bIns="0" rtlCol="0" anchor="ctr"/>
          <a:lstStyle/>
          <a:p>
            <a:pPr algn="l" indent="0" marL="0">
              <a:lnSpc>
                <a:spcPct val="110000"/>
              </a:lnSpc>
              <a:buNone/>
            </a:pPr>
            <a:r>
              <a:rPr lang="en-US" sz="1300" b="1" dirty="0">
                <a:solidFill>
                  <a:srgbClr val="1E1208"/>
                </a:solidFill>
                <a:latin typeface="Arial" pitchFamily="34" charset="0"/>
                <a:ea typeface="Arial" pitchFamily="34" charset="-122"/>
                <a:cs typeface="Arial" pitchFamily="34" charset="-120"/>
              </a:rPr>
              <a:t>AI lesson plans shaped by Jamaica and the national curriculum</a:t>
            </a:r>
            <a:endParaRPr lang="en-US" sz="1300" dirty="0"/>
          </a:p>
        </p:txBody>
      </p:sp>
      <p:sp>
        <p:nvSpPr>
          <p:cNvPr id="26" name="Text 23"/>
          <p:cNvSpPr/>
          <p:nvPr/>
        </p:nvSpPr>
        <p:spPr>
          <a:xfrm>
            <a:off x="5623560" y="5760720"/>
            <a:ext cx="3291840" cy="457200"/>
          </a:xfrm>
          <a:prstGeom prst="rect">
            <a:avLst/>
          </a:prstGeom>
          <a:noFill/>
          <a:ln/>
        </p:spPr>
        <p:txBody>
          <a:bodyPr wrap="square" lIns="0" tIns="0" rIns="0" bIns="0" rtlCol="0" anchor="ctr"/>
          <a:lstStyle/>
          <a:p>
            <a:pPr algn="l" indent="0" marL="0">
              <a:lnSpc>
                <a:spcPct val="110000"/>
              </a:lnSpc>
              <a:buNone/>
            </a:pPr>
            <a:r>
              <a:rPr lang="en-US" sz="1200" dirty="0">
                <a:solidFill>
                  <a:srgbClr val="555555"/>
                </a:solidFill>
                <a:latin typeface="Arial" pitchFamily="34" charset="0"/>
                <a:ea typeface="Arial" pitchFamily="34" charset="-122"/>
                <a:cs typeface="Arial" pitchFamily="34" charset="-120"/>
              </a:rPr>
              <a:t>For teachers, students, heads of department and leaders.</a:t>
            </a:r>
            <a:endParaRPr lang="en-US" sz="1200" dirty="0"/>
          </a:p>
        </p:txBody>
      </p:sp>
      <p:sp>
        <p:nvSpPr>
          <p:cNvPr id="27" name="Shape 24"/>
          <p:cNvSpPr/>
          <p:nvPr/>
        </p:nvSpPr>
        <p:spPr>
          <a:xfrm>
            <a:off x="9006840" y="5824728"/>
            <a:ext cx="1920240" cy="310896"/>
          </a:xfrm>
          <a:prstGeom prst="rect">
            <a:avLst/>
          </a:prstGeom>
          <a:solidFill>
            <a:srgbClr val="1E1208"/>
          </a:solidFill>
          <a:ln w="19050">
            <a:solidFill>
              <a:srgbClr val="1E1208"/>
            </a:solidFill>
            <a:prstDash val="solid"/>
          </a:ln>
        </p:spPr>
      </p:sp>
      <p:sp>
        <p:nvSpPr>
          <p:cNvPr id="28" name="Text 25"/>
          <p:cNvSpPr/>
          <p:nvPr/>
        </p:nvSpPr>
        <p:spPr>
          <a:xfrm>
            <a:off x="9006840" y="5824728"/>
            <a:ext cx="1920240" cy="310896"/>
          </a:xfrm>
          <a:prstGeom prst="rect">
            <a:avLst/>
          </a:prstGeom>
          <a:noFill/>
          <a:ln/>
        </p:spPr>
        <p:txBody>
          <a:bodyPr wrap="square" lIns="0" tIns="0" rIns="0" bIns="0" rtlCol="0" anchor="ctr"/>
          <a:lstStyle/>
          <a:p>
            <a:pPr algn="ctr" indent="0" marL="0">
              <a:lnSpc>
                <a:spcPct val="110000"/>
              </a:lnSpc>
              <a:buNone/>
            </a:pPr>
            <a:r>
              <a:rPr lang="en-US" sz="1000" b="1" spc="200" kern="0" dirty="0">
                <a:solidFill>
                  <a:srgbClr val="FFFFFF"/>
                </a:solidFill>
                <a:latin typeface="Courier New" pitchFamily="34" charset="0"/>
                <a:ea typeface="Courier New" pitchFamily="34" charset="-122"/>
                <a:cs typeface="Courier New" pitchFamily="34" charset="-120"/>
              </a:rPr>
              <a:t>ALREADY BUILT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368735" y="3026664"/>
            <a:ext cx="822960" cy="1152144"/>
          </a:xfrm>
          <a:prstGeom prst="rect">
            <a:avLst/>
          </a:prstGeom>
          <a:solidFill>
            <a:srgbClr val="E3B51E"/>
          </a:solidFill>
          <a:ln w="25400">
            <a:solidFill>
              <a:srgbClr val="1E1208"/>
            </a:solidFill>
            <a:prstDash val="solid"/>
          </a:ln>
        </p:spPr>
      </p:sp>
      <p:sp>
        <p:nvSpPr>
          <p:cNvPr id="7" name="Text 5"/>
          <p:cNvSpPr/>
          <p:nvPr/>
        </p:nvSpPr>
        <p:spPr>
          <a:xfrm>
            <a:off x="11368735" y="3026664"/>
            <a:ext cx="822960"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SMART LEARNING</a:t>
            </a:r>
            <a:endParaRPr lang="en-US" sz="115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indent="0" marL="0">
              <a:buNone/>
            </a:pPr>
            <a:r>
              <a:rPr lang="en-US" sz="4800" dirty="0">
                <a:solidFill>
                  <a:srgbClr val="1E1208"/>
                </a:solidFill>
                <a:latin typeface="Impact" pitchFamily="34" charset="0"/>
                <a:ea typeface="Impact" pitchFamily="34" charset="-122"/>
                <a:cs typeface="Impact" pitchFamily="34" charset="-120"/>
              </a:rPr>
              <a:t>DELIVER AND RECOVER LEARNING</a:t>
            </a:r>
            <a:endParaRPr lang="en-US" sz="4800" dirty="0"/>
          </a:p>
        </p:txBody>
      </p:sp>
      <p:sp>
        <p:nvSpPr>
          <p:cNvPr id="15" name="Shape 12"/>
          <p:cNvSpPr/>
          <p:nvPr/>
        </p:nvSpPr>
        <p:spPr>
          <a:xfrm>
            <a:off x="9144000" y="502920"/>
            <a:ext cx="1737360" cy="310896"/>
          </a:xfrm>
          <a:prstGeom prst="rect">
            <a:avLst/>
          </a:prstGeom>
          <a:solidFill>
            <a:srgbClr val="E3B51E"/>
          </a:solidFill>
          <a:ln w="19050">
            <a:solidFill>
              <a:srgbClr val="1E1208"/>
            </a:solidFill>
            <a:prstDash val="solid"/>
          </a:ln>
        </p:spPr>
      </p:sp>
      <p:sp>
        <p:nvSpPr>
          <p:cNvPr id="16" name="Text 13"/>
          <p:cNvSpPr/>
          <p:nvPr/>
        </p:nvSpPr>
        <p:spPr>
          <a:xfrm>
            <a:off x="9144000" y="502920"/>
            <a:ext cx="1737360" cy="310896"/>
          </a:xfrm>
          <a:prstGeom prst="rect">
            <a:avLst/>
          </a:prstGeom>
          <a:noFill/>
          <a:ln/>
        </p:spPr>
        <p:txBody>
          <a:bodyPr wrap="square" lIns="0" tIns="0" rIns="0" bIns="0" rtlCol="0" anchor="ctr"/>
          <a:lstStyle/>
          <a:p>
            <a:pPr algn="ctr" indent="0" marL="0">
              <a:lnSpc>
                <a:spcPct val="110000"/>
              </a:lnSpc>
              <a:buNone/>
            </a:pPr>
            <a:r>
              <a:rPr lang="en-US" sz="1000" b="1" spc="200" kern="0" dirty="0">
                <a:solidFill>
                  <a:srgbClr val="1E1208"/>
                </a:solidFill>
                <a:latin typeface="Courier New" pitchFamily="34" charset="0"/>
                <a:ea typeface="Courier New" pitchFamily="34" charset="-122"/>
                <a:cs typeface="Courier New" pitchFamily="34" charset="-120"/>
              </a:rPr>
              <a:t>ALREADY BUILT</a:t>
            </a:r>
            <a:endParaRPr lang="en-US" sz="1000" dirty="0"/>
          </a:p>
        </p:txBody>
      </p:sp>
      <p:sp>
        <p:nvSpPr>
          <p:cNvPr id="17" name="Text 14"/>
          <p:cNvSpPr/>
          <p:nvPr/>
        </p:nvSpPr>
        <p:spPr>
          <a:xfrm>
            <a:off x="1417320" y="1783080"/>
            <a:ext cx="9509760" cy="365760"/>
          </a:xfrm>
          <a:prstGeom prst="rect">
            <a:avLst/>
          </a:prstGeom>
          <a:noFill/>
          <a:ln/>
        </p:spPr>
        <p:txBody>
          <a:bodyPr wrap="square" lIns="0" tIns="0" rIns="0" bIns="0" rtlCol="0" anchor="t"/>
          <a:lstStyle/>
          <a:p>
            <a:pPr algn="l" indent="0" marL="0">
              <a:lnSpc>
                <a:spcPct val="110000"/>
              </a:lnSpc>
              <a:buNone/>
            </a:pPr>
            <a:r>
              <a:rPr lang="en-US" sz="1500" b="1" dirty="0">
                <a:solidFill>
                  <a:srgbClr val="1F8A84"/>
                </a:solidFill>
                <a:latin typeface="Arial" pitchFamily="34" charset="0"/>
                <a:ea typeface="Arial" pitchFamily="34" charset="-122"/>
                <a:cs typeface="Arial" pitchFamily="34" charset="-120"/>
              </a:rPr>
              <a:t>Assessment tells you what happened. Learning helps you act on what you found.</a:t>
            </a:r>
            <a:endParaRPr lang="en-US" sz="1500" dirty="0"/>
          </a:p>
        </p:txBody>
      </p:sp>
      <p:sp>
        <p:nvSpPr>
          <p:cNvPr id="18" name="Shape 15"/>
          <p:cNvSpPr/>
          <p:nvPr/>
        </p:nvSpPr>
        <p:spPr>
          <a:xfrm>
            <a:off x="1417320" y="2286000"/>
            <a:ext cx="640080" cy="640080"/>
          </a:xfrm>
          <a:prstGeom prst="rect">
            <a:avLst/>
          </a:prstGeom>
          <a:solidFill>
            <a:srgbClr val="E3B51E"/>
          </a:solidFill>
          <a:ln w="25400">
            <a:solidFill>
              <a:srgbClr val="1E1208"/>
            </a:solidFill>
            <a:prstDash val="solid"/>
          </a:ln>
        </p:spPr>
      </p:sp>
      <p:sp>
        <p:nvSpPr>
          <p:cNvPr id="19" name="Text 16"/>
          <p:cNvSpPr/>
          <p:nvPr/>
        </p:nvSpPr>
        <p:spPr>
          <a:xfrm>
            <a:off x="1417320" y="2286000"/>
            <a:ext cx="640080" cy="640080"/>
          </a:xfrm>
          <a:prstGeom prst="rect">
            <a:avLst/>
          </a:prstGeom>
          <a:noFill/>
          <a:ln/>
        </p:spPr>
        <p:txBody>
          <a:bodyPr wrap="square" lIns="0" tIns="0" rIns="0" bIns="0" rtlCol="0" anchor="ctr"/>
          <a:lstStyle/>
          <a:p>
            <a:pPr algn="ctr" indent="0" marL="0">
              <a:lnSpc>
                <a:spcPct val="110000"/>
              </a:lnSpc>
              <a:buNone/>
            </a:pPr>
            <a:r>
              <a:rPr lang="en-US" sz="4400" dirty="0">
                <a:solidFill>
                  <a:srgbClr val="1E1208"/>
                </a:solidFill>
                <a:latin typeface="Impact" pitchFamily="34" charset="0"/>
                <a:ea typeface="Impact" pitchFamily="34" charset="-122"/>
                <a:cs typeface="Impact" pitchFamily="34" charset="-120"/>
              </a:rPr>
              <a:t>1</a:t>
            </a:r>
            <a:endParaRPr lang="en-US" sz="4400" dirty="0"/>
          </a:p>
        </p:txBody>
      </p:sp>
      <p:sp>
        <p:nvSpPr>
          <p:cNvPr id="20" name="Shape 17"/>
          <p:cNvSpPr/>
          <p:nvPr/>
        </p:nvSpPr>
        <p:spPr>
          <a:xfrm>
            <a:off x="2057400" y="2286000"/>
            <a:ext cx="1143000" cy="640080"/>
          </a:xfrm>
          <a:prstGeom prst="rect">
            <a:avLst/>
          </a:prstGeom>
          <a:solidFill>
            <a:srgbClr val="FFFFFF"/>
          </a:solidFill>
          <a:ln w="25400">
            <a:solidFill>
              <a:srgbClr val="1E1208"/>
            </a:solidFill>
            <a:prstDash val="solid"/>
          </a:ln>
        </p:spPr>
      </p:sp>
      <p:sp>
        <p:nvSpPr>
          <p:cNvPr id="21" name="Text 18"/>
          <p:cNvSpPr/>
          <p:nvPr/>
        </p:nvSpPr>
        <p:spPr>
          <a:xfrm>
            <a:off x="2130552" y="2286000"/>
            <a:ext cx="1051560" cy="640080"/>
          </a:xfrm>
          <a:prstGeom prst="rect">
            <a:avLst/>
          </a:prstGeom>
          <a:noFill/>
          <a:ln/>
        </p:spPr>
        <p:txBody>
          <a:bodyPr wrap="square" lIns="0" tIns="0" rIns="0" bIns="0" rtlCol="0" anchor="ctr"/>
          <a:lstStyle/>
          <a:p>
            <a:pPr algn="l" indent="0" marL="0">
              <a:lnSpc>
                <a:spcPct val="110000"/>
              </a:lnSpc>
              <a:buNone/>
            </a:pPr>
            <a:r>
              <a:rPr lang="en-US" sz="1300" dirty="0">
                <a:solidFill>
                  <a:srgbClr val="1E1208"/>
                </a:solidFill>
                <a:latin typeface="Impact" pitchFamily="34" charset="0"/>
                <a:ea typeface="Impact" pitchFamily="34" charset="-122"/>
                <a:cs typeface="Impact" pitchFamily="34" charset="-120"/>
              </a:rPr>
              <a:t>ENGAGE</a:t>
            </a:r>
            <a:endParaRPr lang="en-US" sz="1300" dirty="0"/>
          </a:p>
        </p:txBody>
      </p:sp>
      <p:sp>
        <p:nvSpPr>
          <p:cNvPr id="22" name="Shape 19"/>
          <p:cNvSpPr/>
          <p:nvPr/>
        </p:nvSpPr>
        <p:spPr>
          <a:xfrm>
            <a:off x="3337560" y="2286000"/>
            <a:ext cx="640080" cy="640080"/>
          </a:xfrm>
          <a:prstGeom prst="rect">
            <a:avLst/>
          </a:prstGeom>
          <a:solidFill>
            <a:srgbClr val="E3B51E"/>
          </a:solidFill>
          <a:ln w="25400">
            <a:solidFill>
              <a:srgbClr val="1E1208"/>
            </a:solidFill>
            <a:prstDash val="solid"/>
          </a:ln>
        </p:spPr>
      </p:sp>
      <p:sp>
        <p:nvSpPr>
          <p:cNvPr id="23" name="Text 20"/>
          <p:cNvSpPr/>
          <p:nvPr/>
        </p:nvSpPr>
        <p:spPr>
          <a:xfrm>
            <a:off x="3337560" y="2286000"/>
            <a:ext cx="640080" cy="640080"/>
          </a:xfrm>
          <a:prstGeom prst="rect">
            <a:avLst/>
          </a:prstGeom>
          <a:noFill/>
          <a:ln/>
        </p:spPr>
        <p:txBody>
          <a:bodyPr wrap="square" lIns="0" tIns="0" rIns="0" bIns="0" rtlCol="0" anchor="ctr"/>
          <a:lstStyle/>
          <a:p>
            <a:pPr algn="ctr" indent="0" marL="0">
              <a:lnSpc>
                <a:spcPct val="110000"/>
              </a:lnSpc>
              <a:buNone/>
            </a:pPr>
            <a:r>
              <a:rPr lang="en-US" sz="4400" dirty="0">
                <a:solidFill>
                  <a:srgbClr val="1E1208"/>
                </a:solidFill>
                <a:latin typeface="Impact" pitchFamily="34" charset="0"/>
                <a:ea typeface="Impact" pitchFamily="34" charset="-122"/>
                <a:cs typeface="Impact" pitchFamily="34" charset="-120"/>
              </a:rPr>
              <a:t>2</a:t>
            </a:r>
            <a:endParaRPr lang="en-US" sz="4400" dirty="0"/>
          </a:p>
        </p:txBody>
      </p:sp>
      <p:sp>
        <p:nvSpPr>
          <p:cNvPr id="24" name="Shape 21"/>
          <p:cNvSpPr/>
          <p:nvPr/>
        </p:nvSpPr>
        <p:spPr>
          <a:xfrm>
            <a:off x="3977640" y="2286000"/>
            <a:ext cx="1143000" cy="640080"/>
          </a:xfrm>
          <a:prstGeom prst="rect">
            <a:avLst/>
          </a:prstGeom>
          <a:solidFill>
            <a:srgbClr val="FFFFFF"/>
          </a:solidFill>
          <a:ln w="25400">
            <a:solidFill>
              <a:srgbClr val="1E1208"/>
            </a:solidFill>
            <a:prstDash val="solid"/>
          </a:ln>
        </p:spPr>
      </p:sp>
      <p:sp>
        <p:nvSpPr>
          <p:cNvPr id="25" name="Text 22"/>
          <p:cNvSpPr/>
          <p:nvPr/>
        </p:nvSpPr>
        <p:spPr>
          <a:xfrm>
            <a:off x="4050792" y="2286000"/>
            <a:ext cx="1051560" cy="640080"/>
          </a:xfrm>
          <a:prstGeom prst="rect">
            <a:avLst/>
          </a:prstGeom>
          <a:noFill/>
          <a:ln/>
        </p:spPr>
        <p:txBody>
          <a:bodyPr wrap="square" lIns="0" tIns="0" rIns="0" bIns="0" rtlCol="0" anchor="ctr"/>
          <a:lstStyle/>
          <a:p>
            <a:pPr algn="l" indent="0" marL="0">
              <a:lnSpc>
                <a:spcPct val="110000"/>
              </a:lnSpc>
              <a:buNone/>
            </a:pPr>
            <a:r>
              <a:rPr lang="en-US" sz="1300" dirty="0">
                <a:solidFill>
                  <a:srgbClr val="1E1208"/>
                </a:solidFill>
                <a:latin typeface="Impact" pitchFamily="34" charset="0"/>
                <a:ea typeface="Impact" pitchFamily="34" charset="-122"/>
                <a:cs typeface="Impact" pitchFamily="34" charset="-120"/>
              </a:rPr>
              <a:t>EXPLORE</a:t>
            </a:r>
            <a:endParaRPr lang="en-US" sz="1300" dirty="0"/>
          </a:p>
        </p:txBody>
      </p:sp>
      <p:sp>
        <p:nvSpPr>
          <p:cNvPr id="26" name="Shape 23"/>
          <p:cNvSpPr/>
          <p:nvPr/>
        </p:nvSpPr>
        <p:spPr>
          <a:xfrm>
            <a:off x="5257800" y="2286000"/>
            <a:ext cx="640080" cy="640080"/>
          </a:xfrm>
          <a:prstGeom prst="rect">
            <a:avLst/>
          </a:prstGeom>
          <a:solidFill>
            <a:srgbClr val="E3B51E"/>
          </a:solidFill>
          <a:ln w="25400">
            <a:solidFill>
              <a:srgbClr val="1E1208"/>
            </a:solidFill>
            <a:prstDash val="solid"/>
          </a:ln>
        </p:spPr>
      </p:sp>
      <p:sp>
        <p:nvSpPr>
          <p:cNvPr id="27" name="Text 24"/>
          <p:cNvSpPr/>
          <p:nvPr/>
        </p:nvSpPr>
        <p:spPr>
          <a:xfrm>
            <a:off x="5257800" y="2286000"/>
            <a:ext cx="640080" cy="640080"/>
          </a:xfrm>
          <a:prstGeom prst="rect">
            <a:avLst/>
          </a:prstGeom>
          <a:noFill/>
          <a:ln/>
        </p:spPr>
        <p:txBody>
          <a:bodyPr wrap="square" lIns="0" tIns="0" rIns="0" bIns="0" rtlCol="0" anchor="ctr"/>
          <a:lstStyle/>
          <a:p>
            <a:pPr algn="ctr" indent="0" marL="0">
              <a:lnSpc>
                <a:spcPct val="110000"/>
              </a:lnSpc>
              <a:buNone/>
            </a:pPr>
            <a:r>
              <a:rPr lang="en-US" sz="4400" dirty="0">
                <a:solidFill>
                  <a:srgbClr val="1E1208"/>
                </a:solidFill>
                <a:latin typeface="Impact" pitchFamily="34" charset="0"/>
                <a:ea typeface="Impact" pitchFamily="34" charset="-122"/>
                <a:cs typeface="Impact" pitchFamily="34" charset="-120"/>
              </a:rPr>
              <a:t>3</a:t>
            </a:r>
            <a:endParaRPr lang="en-US" sz="4400" dirty="0"/>
          </a:p>
        </p:txBody>
      </p:sp>
      <p:sp>
        <p:nvSpPr>
          <p:cNvPr id="28" name="Shape 25"/>
          <p:cNvSpPr/>
          <p:nvPr/>
        </p:nvSpPr>
        <p:spPr>
          <a:xfrm>
            <a:off x="5897880" y="2286000"/>
            <a:ext cx="1143000" cy="640080"/>
          </a:xfrm>
          <a:prstGeom prst="rect">
            <a:avLst/>
          </a:prstGeom>
          <a:solidFill>
            <a:srgbClr val="FFFFFF"/>
          </a:solidFill>
          <a:ln w="25400">
            <a:solidFill>
              <a:srgbClr val="1E1208"/>
            </a:solidFill>
            <a:prstDash val="solid"/>
          </a:ln>
        </p:spPr>
      </p:sp>
      <p:sp>
        <p:nvSpPr>
          <p:cNvPr id="29" name="Text 26"/>
          <p:cNvSpPr/>
          <p:nvPr/>
        </p:nvSpPr>
        <p:spPr>
          <a:xfrm>
            <a:off x="5971032" y="2286000"/>
            <a:ext cx="1051560" cy="640080"/>
          </a:xfrm>
          <a:prstGeom prst="rect">
            <a:avLst/>
          </a:prstGeom>
          <a:noFill/>
          <a:ln/>
        </p:spPr>
        <p:txBody>
          <a:bodyPr wrap="square" lIns="0" tIns="0" rIns="0" bIns="0" rtlCol="0" anchor="ctr"/>
          <a:lstStyle/>
          <a:p>
            <a:pPr algn="l" indent="0" marL="0">
              <a:lnSpc>
                <a:spcPct val="110000"/>
              </a:lnSpc>
              <a:buNone/>
            </a:pPr>
            <a:r>
              <a:rPr lang="en-US" sz="1300" dirty="0">
                <a:solidFill>
                  <a:srgbClr val="1E1208"/>
                </a:solidFill>
                <a:latin typeface="Impact" pitchFamily="34" charset="0"/>
                <a:ea typeface="Impact" pitchFamily="34" charset="-122"/>
                <a:cs typeface="Impact" pitchFamily="34" charset="-120"/>
              </a:rPr>
              <a:t>EXPLAIN</a:t>
            </a:r>
            <a:endParaRPr lang="en-US" sz="1300" dirty="0"/>
          </a:p>
        </p:txBody>
      </p:sp>
      <p:sp>
        <p:nvSpPr>
          <p:cNvPr id="30" name="Shape 27"/>
          <p:cNvSpPr/>
          <p:nvPr/>
        </p:nvSpPr>
        <p:spPr>
          <a:xfrm>
            <a:off x="7178040" y="2286000"/>
            <a:ext cx="640080" cy="640080"/>
          </a:xfrm>
          <a:prstGeom prst="rect">
            <a:avLst/>
          </a:prstGeom>
          <a:solidFill>
            <a:srgbClr val="E3B51E"/>
          </a:solidFill>
          <a:ln w="25400">
            <a:solidFill>
              <a:srgbClr val="1E1208"/>
            </a:solidFill>
            <a:prstDash val="solid"/>
          </a:ln>
        </p:spPr>
      </p:sp>
      <p:sp>
        <p:nvSpPr>
          <p:cNvPr id="31" name="Text 28"/>
          <p:cNvSpPr/>
          <p:nvPr/>
        </p:nvSpPr>
        <p:spPr>
          <a:xfrm>
            <a:off x="7178040" y="2286000"/>
            <a:ext cx="640080" cy="640080"/>
          </a:xfrm>
          <a:prstGeom prst="rect">
            <a:avLst/>
          </a:prstGeom>
          <a:noFill/>
          <a:ln/>
        </p:spPr>
        <p:txBody>
          <a:bodyPr wrap="square" lIns="0" tIns="0" rIns="0" bIns="0" rtlCol="0" anchor="ctr"/>
          <a:lstStyle/>
          <a:p>
            <a:pPr algn="ctr" indent="0" marL="0">
              <a:lnSpc>
                <a:spcPct val="110000"/>
              </a:lnSpc>
              <a:buNone/>
            </a:pPr>
            <a:r>
              <a:rPr lang="en-US" sz="4400" dirty="0">
                <a:solidFill>
                  <a:srgbClr val="1E1208"/>
                </a:solidFill>
                <a:latin typeface="Impact" pitchFamily="34" charset="0"/>
                <a:ea typeface="Impact" pitchFamily="34" charset="-122"/>
                <a:cs typeface="Impact" pitchFamily="34" charset="-120"/>
              </a:rPr>
              <a:t>4</a:t>
            </a:r>
            <a:endParaRPr lang="en-US" sz="4400" dirty="0"/>
          </a:p>
        </p:txBody>
      </p:sp>
      <p:sp>
        <p:nvSpPr>
          <p:cNvPr id="32" name="Shape 29"/>
          <p:cNvSpPr/>
          <p:nvPr/>
        </p:nvSpPr>
        <p:spPr>
          <a:xfrm>
            <a:off x="7818120" y="2286000"/>
            <a:ext cx="1143000" cy="640080"/>
          </a:xfrm>
          <a:prstGeom prst="rect">
            <a:avLst/>
          </a:prstGeom>
          <a:solidFill>
            <a:srgbClr val="FFFFFF"/>
          </a:solidFill>
          <a:ln w="25400">
            <a:solidFill>
              <a:srgbClr val="1E1208"/>
            </a:solidFill>
            <a:prstDash val="solid"/>
          </a:ln>
        </p:spPr>
      </p:sp>
      <p:sp>
        <p:nvSpPr>
          <p:cNvPr id="33" name="Text 30"/>
          <p:cNvSpPr/>
          <p:nvPr/>
        </p:nvSpPr>
        <p:spPr>
          <a:xfrm>
            <a:off x="7891272" y="2286000"/>
            <a:ext cx="1051560" cy="640080"/>
          </a:xfrm>
          <a:prstGeom prst="rect">
            <a:avLst/>
          </a:prstGeom>
          <a:noFill/>
          <a:ln/>
        </p:spPr>
        <p:txBody>
          <a:bodyPr wrap="square" lIns="0" tIns="0" rIns="0" bIns="0" rtlCol="0" anchor="ctr"/>
          <a:lstStyle/>
          <a:p>
            <a:pPr algn="l" indent="0" marL="0">
              <a:lnSpc>
                <a:spcPct val="110000"/>
              </a:lnSpc>
              <a:buNone/>
            </a:pPr>
            <a:r>
              <a:rPr lang="en-US" sz="1300" dirty="0">
                <a:solidFill>
                  <a:srgbClr val="1E1208"/>
                </a:solidFill>
                <a:latin typeface="Impact" pitchFamily="34" charset="0"/>
                <a:ea typeface="Impact" pitchFamily="34" charset="-122"/>
                <a:cs typeface="Impact" pitchFamily="34" charset="-120"/>
              </a:rPr>
              <a:t>ELABORATE</a:t>
            </a:r>
            <a:endParaRPr lang="en-US" sz="1300" dirty="0"/>
          </a:p>
        </p:txBody>
      </p:sp>
      <p:sp>
        <p:nvSpPr>
          <p:cNvPr id="34" name="Shape 31"/>
          <p:cNvSpPr/>
          <p:nvPr/>
        </p:nvSpPr>
        <p:spPr>
          <a:xfrm>
            <a:off x="9098280" y="2286000"/>
            <a:ext cx="640080" cy="640080"/>
          </a:xfrm>
          <a:prstGeom prst="rect">
            <a:avLst/>
          </a:prstGeom>
          <a:solidFill>
            <a:srgbClr val="E3B51E"/>
          </a:solidFill>
          <a:ln w="25400">
            <a:solidFill>
              <a:srgbClr val="1E1208"/>
            </a:solidFill>
            <a:prstDash val="solid"/>
          </a:ln>
        </p:spPr>
      </p:sp>
      <p:sp>
        <p:nvSpPr>
          <p:cNvPr id="35" name="Text 32"/>
          <p:cNvSpPr/>
          <p:nvPr/>
        </p:nvSpPr>
        <p:spPr>
          <a:xfrm>
            <a:off x="9098280" y="2286000"/>
            <a:ext cx="640080" cy="640080"/>
          </a:xfrm>
          <a:prstGeom prst="rect">
            <a:avLst/>
          </a:prstGeom>
          <a:noFill/>
          <a:ln/>
        </p:spPr>
        <p:txBody>
          <a:bodyPr wrap="square" lIns="0" tIns="0" rIns="0" bIns="0" rtlCol="0" anchor="ctr"/>
          <a:lstStyle/>
          <a:p>
            <a:pPr algn="ctr" indent="0" marL="0">
              <a:lnSpc>
                <a:spcPct val="110000"/>
              </a:lnSpc>
              <a:buNone/>
            </a:pPr>
            <a:r>
              <a:rPr lang="en-US" sz="4400" dirty="0">
                <a:solidFill>
                  <a:srgbClr val="1E1208"/>
                </a:solidFill>
                <a:latin typeface="Impact" pitchFamily="34" charset="0"/>
                <a:ea typeface="Impact" pitchFamily="34" charset="-122"/>
                <a:cs typeface="Impact" pitchFamily="34" charset="-120"/>
              </a:rPr>
              <a:t>5</a:t>
            </a:r>
            <a:endParaRPr lang="en-US" sz="4400" dirty="0"/>
          </a:p>
        </p:txBody>
      </p:sp>
      <p:sp>
        <p:nvSpPr>
          <p:cNvPr id="36" name="Shape 33"/>
          <p:cNvSpPr/>
          <p:nvPr/>
        </p:nvSpPr>
        <p:spPr>
          <a:xfrm>
            <a:off x="9738360" y="2286000"/>
            <a:ext cx="1143000" cy="640080"/>
          </a:xfrm>
          <a:prstGeom prst="rect">
            <a:avLst/>
          </a:prstGeom>
          <a:solidFill>
            <a:srgbClr val="FFFFFF"/>
          </a:solidFill>
          <a:ln w="25400">
            <a:solidFill>
              <a:srgbClr val="1E1208"/>
            </a:solidFill>
            <a:prstDash val="solid"/>
          </a:ln>
        </p:spPr>
      </p:sp>
      <p:sp>
        <p:nvSpPr>
          <p:cNvPr id="37" name="Text 34"/>
          <p:cNvSpPr/>
          <p:nvPr/>
        </p:nvSpPr>
        <p:spPr>
          <a:xfrm>
            <a:off x="9811512" y="2286000"/>
            <a:ext cx="1051560" cy="640080"/>
          </a:xfrm>
          <a:prstGeom prst="rect">
            <a:avLst/>
          </a:prstGeom>
          <a:noFill/>
          <a:ln/>
        </p:spPr>
        <p:txBody>
          <a:bodyPr wrap="square" lIns="0" tIns="0" rIns="0" bIns="0" rtlCol="0" anchor="ctr"/>
          <a:lstStyle/>
          <a:p>
            <a:pPr algn="l" indent="0" marL="0">
              <a:lnSpc>
                <a:spcPct val="110000"/>
              </a:lnSpc>
              <a:buNone/>
            </a:pPr>
            <a:r>
              <a:rPr lang="en-US" sz="1300" dirty="0">
                <a:solidFill>
                  <a:srgbClr val="1E1208"/>
                </a:solidFill>
                <a:latin typeface="Impact" pitchFamily="34" charset="0"/>
                <a:ea typeface="Impact" pitchFamily="34" charset="-122"/>
                <a:cs typeface="Impact" pitchFamily="34" charset="-120"/>
              </a:rPr>
              <a:t>EVALUATE</a:t>
            </a:r>
            <a:endParaRPr lang="en-US" sz="1300" dirty="0"/>
          </a:p>
        </p:txBody>
      </p:sp>
      <p:sp>
        <p:nvSpPr>
          <p:cNvPr id="38" name="Shape 35"/>
          <p:cNvSpPr/>
          <p:nvPr/>
        </p:nvSpPr>
        <p:spPr>
          <a:xfrm>
            <a:off x="1417320" y="3200400"/>
            <a:ext cx="3017520" cy="1325880"/>
          </a:xfrm>
          <a:prstGeom prst="rect">
            <a:avLst/>
          </a:prstGeom>
          <a:solidFill>
            <a:srgbClr val="FFFFFF"/>
          </a:solidFill>
          <a:ln w="25400">
            <a:solidFill>
              <a:srgbClr val="1E1208"/>
            </a:solidFill>
            <a:prstDash val="solid"/>
          </a:ln>
        </p:spPr>
      </p:sp>
      <p:sp>
        <p:nvSpPr>
          <p:cNvPr id="39" name="Text 36"/>
          <p:cNvSpPr/>
          <p:nvPr/>
        </p:nvSpPr>
        <p:spPr>
          <a:xfrm>
            <a:off x="1581912" y="3337560"/>
            <a:ext cx="2743200" cy="365760"/>
          </a:xfrm>
          <a:prstGeom prst="rect">
            <a:avLst/>
          </a:prstGeom>
          <a:noFill/>
          <a:ln/>
        </p:spPr>
        <p:txBody>
          <a:bodyPr wrap="square" lIns="0" tIns="0" rIns="0" bIns="0" rtlCol="0" anchor="t"/>
          <a:lstStyle/>
          <a:p>
            <a:pPr algn="l" indent="0" marL="0">
              <a:lnSpc>
                <a:spcPct val="110000"/>
              </a:lnSpc>
              <a:buNone/>
            </a:pPr>
            <a:r>
              <a:rPr lang="en-US" sz="1600" dirty="0">
                <a:solidFill>
                  <a:srgbClr val="1E1208"/>
                </a:solidFill>
                <a:latin typeface="Impact" pitchFamily="34" charset="0"/>
                <a:ea typeface="Impact" pitchFamily="34" charset="-122"/>
                <a:cs typeface="Impact" pitchFamily="34" charset="-120"/>
              </a:rPr>
              <a:t>CHECK YOUR UNDERSTANDING</a:t>
            </a:r>
            <a:endParaRPr lang="en-US" sz="1600" dirty="0"/>
          </a:p>
        </p:txBody>
      </p:sp>
      <p:sp>
        <p:nvSpPr>
          <p:cNvPr id="40" name="Text 37"/>
          <p:cNvSpPr/>
          <p:nvPr/>
        </p:nvSpPr>
        <p:spPr>
          <a:xfrm>
            <a:off x="1581912" y="3749040"/>
            <a:ext cx="2743200" cy="73152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Short questions in each lesson, at support, core and stretch levels.</a:t>
            </a:r>
            <a:endParaRPr lang="en-US" sz="1250" dirty="0"/>
          </a:p>
        </p:txBody>
      </p:sp>
      <p:sp>
        <p:nvSpPr>
          <p:cNvPr id="41" name="Shape 38"/>
          <p:cNvSpPr/>
          <p:nvPr/>
        </p:nvSpPr>
        <p:spPr>
          <a:xfrm>
            <a:off x="4617720" y="3200400"/>
            <a:ext cx="3017520" cy="1325880"/>
          </a:xfrm>
          <a:prstGeom prst="rect">
            <a:avLst/>
          </a:prstGeom>
          <a:solidFill>
            <a:srgbClr val="FFFFFF"/>
          </a:solidFill>
          <a:ln w="25400">
            <a:solidFill>
              <a:srgbClr val="1E1208"/>
            </a:solidFill>
            <a:prstDash val="solid"/>
          </a:ln>
        </p:spPr>
      </p:sp>
      <p:sp>
        <p:nvSpPr>
          <p:cNvPr id="42" name="Text 39"/>
          <p:cNvSpPr/>
          <p:nvPr/>
        </p:nvSpPr>
        <p:spPr>
          <a:xfrm>
            <a:off x="4782312" y="3337560"/>
            <a:ext cx="2743200" cy="365760"/>
          </a:xfrm>
          <a:prstGeom prst="rect">
            <a:avLst/>
          </a:prstGeom>
          <a:noFill/>
          <a:ln/>
        </p:spPr>
        <p:txBody>
          <a:bodyPr wrap="square" lIns="0" tIns="0" rIns="0" bIns="0" rtlCol="0" anchor="t"/>
          <a:lstStyle/>
          <a:p>
            <a:pPr algn="l" indent="0" marL="0">
              <a:lnSpc>
                <a:spcPct val="110000"/>
              </a:lnSpc>
              <a:buNone/>
            </a:pPr>
            <a:r>
              <a:rPr lang="en-US" sz="1600" dirty="0">
                <a:solidFill>
                  <a:srgbClr val="1E1208"/>
                </a:solidFill>
                <a:latin typeface="Impact" pitchFamily="34" charset="0"/>
                <a:ea typeface="Impact" pitchFamily="34" charset="-122"/>
                <a:cs typeface="Impact" pitchFamily="34" charset="-120"/>
              </a:rPr>
              <a:t>AI LESSON PLANS</a:t>
            </a:r>
            <a:endParaRPr lang="en-US" sz="1600" dirty="0"/>
          </a:p>
        </p:txBody>
      </p:sp>
      <p:sp>
        <p:nvSpPr>
          <p:cNvPr id="43" name="Text 40"/>
          <p:cNvSpPr/>
          <p:nvPr/>
        </p:nvSpPr>
        <p:spPr>
          <a:xfrm>
            <a:off x="4782312" y="3749040"/>
            <a:ext cx="2743200" cy="73152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A full 5E plan with objectives and a DOK level, shaped by Jamaica. You review it.</a:t>
            </a:r>
            <a:endParaRPr lang="en-US" sz="1250" dirty="0"/>
          </a:p>
        </p:txBody>
      </p:sp>
      <p:sp>
        <p:nvSpPr>
          <p:cNvPr id="44" name="Shape 41"/>
          <p:cNvSpPr/>
          <p:nvPr/>
        </p:nvSpPr>
        <p:spPr>
          <a:xfrm>
            <a:off x="7818120" y="3200400"/>
            <a:ext cx="3017520" cy="1325880"/>
          </a:xfrm>
          <a:prstGeom prst="rect">
            <a:avLst/>
          </a:prstGeom>
          <a:solidFill>
            <a:srgbClr val="FFFFFF"/>
          </a:solidFill>
          <a:ln w="25400">
            <a:solidFill>
              <a:srgbClr val="1E1208"/>
            </a:solidFill>
            <a:prstDash val="solid"/>
          </a:ln>
        </p:spPr>
      </p:sp>
      <p:sp>
        <p:nvSpPr>
          <p:cNvPr id="45" name="Text 42"/>
          <p:cNvSpPr/>
          <p:nvPr/>
        </p:nvSpPr>
        <p:spPr>
          <a:xfrm>
            <a:off x="7982712" y="3337560"/>
            <a:ext cx="2743200" cy="365760"/>
          </a:xfrm>
          <a:prstGeom prst="rect">
            <a:avLst/>
          </a:prstGeom>
          <a:noFill/>
          <a:ln/>
        </p:spPr>
        <p:txBody>
          <a:bodyPr wrap="square" lIns="0" tIns="0" rIns="0" bIns="0" rtlCol="0" anchor="t"/>
          <a:lstStyle/>
          <a:p>
            <a:pPr algn="l" indent="0" marL="0">
              <a:lnSpc>
                <a:spcPct val="110000"/>
              </a:lnSpc>
              <a:buNone/>
            </a:pPr>
            <a:r>
              <a:rPr lang="en-US" sz="1600" dirty="0">
                <a:solidFill>
                  <a:srgbClr val="1E1208"/>
                </a:solidFill>
                <a:latin typeface="Impact" pitchFamily="34" charset="0"/>
                <a:ea typeface="Impact" pitchFamily="34" charset="-122"/>
                <a:cs typeface="Impact" pitchFamily="34" charset="-120"/>
              </a:rPr>
              <a:t>SHARED PLAN LIBRARY</a:t>
            </a:r>
            <a:endParaRPr lang="en-US" sz="1600" dirty="0"/>
          </a:p>
        </p:txBody>
      </p:sp>
      <p:sp>
        <p:nvSpPr>
          <p:cNvPr id="46" name="Text 43"/>
          <p:cNvSpPr/>
          <p:nvPr/>
        </p:nvSpPr>
        <p:spPr>
          <a:xfrm>
            <a:off x="7982712" y="3749040"/>
            <a:ext cx="2743200" cy="73152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Browse and copy published plans from teachers at other schools.</a:t>
            </a:r>
            <a:endParaRPr lang="en-US" sz="1250" dirty="0"/>
          </a:p>
        </p:txBody>
      </p:sp>
      <p:sp>
        <p:nvSpPr>
          <p:cNvPr id="47" name="Shape 44"/>
          <p:cNvSpPr/>
          <p:nvPr/>
        </p:nvSpPr>
        <p:spPr>
          <a:xfrm>
            <a:off x="1417320" y="4663440"/>
            <a:ext cx="3017520" cy="1325880"/>
          </a:xfrm>
          <a:prstGeom prst="rect">
            <a:avLst/>
          </a:prstGeom>
          <a:solidFill>
            <a:srgbClr val="FFFFFF"/>
          </a:solidFill>
          <a:ln w="25400">
            <a:solidFill>
              <a:srgbClr val="1E1208"/>
            </a:solidFill>
            <a:prstDash val="solid"/>
          </a:ln>
        </p:spPr>
      </p:sp>
      <p:sp>
        <p:nvSpPr>
          <p:cNvPr id="48" name="Text 45"/>
          <p:cNvSpPr/>
          <p:nvPr/>
        </p:nvSpPr>
        <p:spPr>
          <a:xfrm>
            <a:off x="1581912" y="4800600"/>
            <a:ext cx="2743200" cy="365760"/>
          </a:xfrm>
          <a:prstGeom prst="rect">
            <a:avLst/>
          </a:prstGeom>
          <a:noFill/>
          <a:ln/>
        </p:spPr>
        <p:txBody>
          <a:bodyPr wrap="square" lIns="0" tIns="0" rIns="0" bIns="0" rtlCol="0" anchor="t"/>
          <a:lstStyle/>
          <a:p>
            <a:pPr algn="l" indent="0" marL="0">
              <a:lnSpc>
                <a:spcPct val="110000"/>
              </a:lnSpc>
              <a:buNone/>
            </a:pPr>
            <a:r>
              <a:rPr lang="en-US" sz="1600" dirty="0">
                <a:solidFill>
                  <a:srgbClr val="1E1208"/>
                </a:solidFill>
                <a:latin typeface="Impact" pitchFamily="34" charset="0"/>
                <a:ea typeface="Impact" pitchFamily="34" charset="-122"/>
                <a:cs typeface="Impact" pitchFamily="34" charset="-120"/>
              </a:rPr>
              <a:t>COVERAGE GRID</a:t>
            </a:r>
            <a:endParaRPr lang="en-US" sz="1600" dirty="0"/>
          </a:p>
        </p:txBody>
      </p:sp>
      <p:sp>
        <p:nvSpPr>
          <p:cNvPr id="49" name="Text 46"/>
          <p:cNvSpPr/>
          <p:nvPr/>
        </p:nvSpPr>
        <p:spPr>
          <a:xfrm>
            <a:off x="1581912" y="5212080"/>
            <a:ext cx="2743200" cy="73152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Which topics each class has been taught, and where gaps remain.</a:t>
            </a:r>
            <a:endParaRPr lang="en-US" sz="1250" dirty="0"/>
          </a:p>
        </p:txBody>
      </p:sp>
      <p:sp>
        <p:nvSpPr>
          <p:cNvPr id="50" name="Shape 47"/>
          <p:cNvSpPr/>
          <p:nvPr/>
        </p:nvSpPr>
        <p:spPr>
          <a:xfrm>
            <a:off x="4617720" y="4663440"/>
            <a:ext cx="3017520" cy="1325880"/>
          </a:xfrm>
          <a:prstGeom prst="rect">
            <a:avLst/>
          </a:prstGeom>
          <a:solidFill>
            <a:srgbClr val="FFFFFF"/>
          </a:solidFill>
          <a:ln w="25400">
            <a:solidFill>
              <a:srgbClr val="1E1208"/>
            </a:solidFill>
            <a:prstDash val="solid"/>
          </a:ln>
        </p:spPr>
      </p:sp>
      <p:sp>
        <p:nvSpPr>
          <p:cNvPr id="51" name="Text 48"/>
          <p:cNvSpPr/>
          <p:nvPr/>
        </p:nvSpPr>
        <p:spPr>
          <a:xfrm>
            <a:off x="4782312" y="4800600"/>
            <a:ext cx="2743200" cy="365760"/>
          </a:xfrm>
          <a:prstGeom prst="rect">
            <a:avLst/>
          </a:prstGeom>
          <a:noFill/>
          <a:ln/>
        </p:spPr>
        <p:txBody>
          <a:bodyPr wrap="square" lIns="0" tIns="0" rIns="0" bIns="0" rtlCol="0" anchor="t"/>
          <a:lstStyle/>
          <a:p>
            <a:pPr algn="l" indent="0" marL="0">
              <a:lnSpc>
                <a:spcPct val="110000"/>
              </a:lnSpc>
              <a:buNone/>
            </a:pPr>
            <a:r>
              <a:rPr lang="en-US" sz="1600" dirty="0">
                <a:solidFill>
                  <a:srgbClr val="1E1208"/>
                </a:solidFill>
                <a:latin typeface="Impact" pitchFamily="34" charset="0"/>
                <a:ea typeface="Impact" pitchFamily="34" charset="-122"/>
                <a:cs typeface="Impact" pitchFamily="34" charset="-120"/>
              </a:rPr>
              <a:t>CATCH-UP</a:t>
            </a:r>
            <a:endParaRPr lang="en-US" sz="1600" dirty="0"/>
          </a:p>
        </p:txBody>
      </p:sp>
      <p:sp>
        <p:nvSpPr>
          <p:cNvPr id="52" name="Text 49"/>
          <p:cNvSpPr/>
          <p:nvPr/>
        </p:nvSpPr>
        <p:spPr>
          <a:xfrm>
            <a:off x="4782312" y="5212080"/>
            <a:ext cx="2743200" cy="73152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Absent students are offered the lesson they missed.</a:t>
            </a:r>
            <a:endParaRPr lang="en-US" sz="1250" dirty="0"/>
          </a:p>
        </p:txBody>
      </p:sp>
      <p:sp>
        <p:nvSpPr>
          <p:cNvPr id="53" name="Shape 50"/>
          <p:cNvSpPr/>
          <p:nvPr/>
        </p:nvSpPr>
        <p:spPr>
          <a:xfrm>
            <a:off x="7818120" y="4663440"/>
            <a:ext cx="3017520" cy="1325880"/>
          </a:xfrm>
          <a:prstGeom prst="rect">
            <a:avLst/>
          </a:prstGeom>
          <a:solidFill>
            <a:srgbClr val="FFFFFF"/>
          </a:solidFill>
          <a:ln w="25400">
            <a:solidFill>
              <a:srgbClr val="1E1208"/>
            </a:solidFill>
            <a:prstDash val="solid"/>
          </a:ln>
        </p:spPr>
      </p:sp>
      <p:sp>
        <p:nvSpPr>
          <p:cNvPr id="54" name="Text 51"/>
          <p:cNvSpPr/>
          <p:nvPr/>
        </p:nvSpPr>
        <p:spPr>
          <a:xfrm>
            <a:off x="7982712" y="4800600"/>
            <a:ext cx="2743200" cy="365760"/>
          </a:xfrm>
          <a:prstGeom prst="rect">
            <a:avLst/>
          </a:prstGeom>
          <a:noFill/>
          <a:ln/>
        </p:spPr>
        <p:txBody>
          <a:bodyPr wrap="square" lIns="0" tIns="0" rIns="0" bIns="0" rtlCol="0" anchor="t"/>
          <a:lstStyle/>
          <a:p>
            <a:pPr algn="l" indent="0" marL="0">
              <a:lnSpc>
                <a:spcPct val="110000"/>
              </a:lnSpc>
              <a:buNone/>
            </a:pPr>
            <a:r>
              <a:rPr lang="en-US" sz="1600" dirty="0">
                <a:solidFill>
                  <a:srgbClr val="1E1208"/>
                </a:solidFill>
                <a:latin typeface="Impact" pitchFamily="34" charset="0"/>
                <a:ea typeface="Impact" pitchFamily="34" charset="-122"/>
                <a:cs typeface="Impact" pitchFamily="34" charset="-120"/>
              </a:rPr>
              <a:t>TEACHER RESOURCES</a:t>
            </a:r>
            <a:endParaRPr lang="en-US" sz="1600" dirty="0"/>
          </a:p>
        </p:txBody>
      </p:sp>
      <p:sp>
        <p:nvSpPr>
          <p:cNvPr id="55" name="Text 52"/>
          <p:cNvSpPr/>
          <p:nvPr/>
        </p:nvSpPr>
        <p:spPr>
          <a:xfrm>
            <a:off x="7982712" y="5212080"/>
            <a:ext cx="2743200" cy="73152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Share links and files with your department, tagged by subject and topic.</a:t>
            </a:r>
            <a:endParaRPr lang="en-US" sz="1250" dirty="0"/>
          </a:p>
        </p:txBody>
      </p:sp>
      <p:sp>
        <p:nvSpPr>
          <p:cNvPr id="56" name="Text 53"/>
          <p:cNvSpPr/>
          <p:nvPr/>
        </p:nvSpPr>
        <p:spPr>
          <a:xfrm>
            <a:off x="1417320" y="6217920"/>
            <a:ext cx="9509760" cy="320040"/>
          </a:xfrm>
          <a:prstGeom prst="rect">
            <a:avLst/>
          </a:prstGeom>
          <a:noFill/>
          <a:ln/>
        </p:spPr>
        <p:txBody>
          <a:bodyPr wrap="square" lIns="0" tIns="0" rIns="0" bIns="0" rtlCol="0" anchor="t"/>
          <a:lstStyle/>
          <a:p>
            <a:pPr algn="l" indent="0" marL="0">
              <a:lnSpc>
                <a:spcPct val="110000"/>
              </a:lnSpc>
              <a:buNone/>
            </a:pPr>
            <a:r>
              <a:rPr lang="en-US" sz="1300" dirty="0">
                <a:solidFill>
                  <a:srgbClr val="555555"/>
                </a:solidFill>
                <a:latin typeface="Arial" pitchFamily="34" charset="0"/>
                <a:ea typeface="Arial" pitchFamily="34" charset="-122"/>
                <a:cs typeface="Arial" pitchFamily="34" charset="-120"/>
              </a:rPr>
              <a:t>For learning only. It does not make or mark assessments.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368735" y="3026664"/>
            <a:ext cx="822960" cy="1152144"/>
          </a:xfrm>
          <a:prstGeom prst="rect">
            <a:avLst/>
          </a:prstGeom>
          <a:solidFill>
            <a:srgbClr val="E3B51E"/>
          </a:solidFill>
          <a:ln w="25400">
            <a:solidFill>
              <a:srgbClr val="1E1208"/>
            </a:solidFill>
            <a:prstDash val="solid"/>
          </a:ln>
        </p:spPr>
      </p:sp>
      <p:sp>
        <p:nvSpPr>
          <p:cNvPr id="7" name="Text 5"/>
          <p:cNvSpPr/>
          <p:nvPr/>
        </p:nvSpPr>
        <p:spPr>
          <a:xfrm>
            <a:off x="11368735" y="3026664"/>
            <a:ext cx="822960"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SMART LEARNING</a:t>
            </a:r>
            <a:endParaRPr lang="en-US" sz="115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indent="0" marL="0">
              <a:buNone/>
            </a:pPr>
            <a:r>
              <a:rPr lang="en-US" sz="4300" dirty="0">
                <a:solidFill>
                  <a:srgbClr val="1E1208"/>
                </a:solidFill>
                <a:latin typeface="Impact" pitchFamily="34" charset="0"/>
                <a:ea typeface="Impact" pitchFamily="34" charset="-122"/>
                <a:cs typeface="Impact" pitchFamily="34" charset="-120"/>
              </a:rPr>
              <a:t>WHEN A STUDENT MISSES THREE DAYS</a:t>
            </a:r>
            <a:endParaRPr lang="en-US" sz="4300" dirty="0"/>
          </a:p>
        </p:txBody>
      </p:sp>
      <p:pic>
        <p:nvPicPr>
          <p:cNvPr id="15" name="Image 0" descr="/Users/boxerboychris/exam-platform/marketing/presentation/assets-v2/shot-lesson.png">    </p:cNvPr>
          <p:cNvPicPr>
            <a:picLocks noChangeAspect="1"/>
          </p:cNvPicPr>
          <p:nvPr/>
        </p:nvPicPr>
        <p:blipFill>
          <a:blip r:embed="rId2"/>
          <a:srcRect l="0" r="0" t="0" b="0"/>
          <a:stretch/>
        </p:blipFill>
        <p:spPr>
          <a:xfrm>
            <a:off x="1417320" y="1874520"/>
            <a:ext cx="4754880" cy="3977640"/>
          </a:xfrm>
          <a:prstGeom prst="rect">
            <a:avLst/>
          </a:prstGeom>
        </p:spPr>
      </p:pic>
      <p:sp>
        <p:nvSpPr>
          <p:cNvPr id="16" name="Shape 12"/>
          <p:cNvSpPr/>
          <p:nvPr/>
        </p:nvSpPr>
        <p:spPr>
          <a:xfrm>
            <a:off x="1417320" y="1874520"/>
            <a:ext cx="4754880" cy="3977640"/>
          </a:xfrm>
          <a:prstGeom prst="rect">
            <a:avLst/>
          </a:prstGeom>
          <a:ln w="25400">
            <a:solidFill>
              <a:srgbClr val="1E1208"/>
            </a:solidFill>
            <a:prstDash val="solid"/>
          </a:ln>
        </p:spPr>
      </p:sp>
      <p:sp>
        <p:nvSpPr>
          <p:cNvPr id="17" name="Shape 13"/>
          <p:cNvSpPr/>
          <p:nvPr/>
        </p:nvSpPr>
        <p:spPr>
          <a:xfrm>
            <a:off x="6446520" y="1874520"/>
            <a:ext cx="685800" cy="914400"/>
          </a:xfrm>
          <a:prstGeom prst="rect">
            <a:avLst/>
          </a:prstGeom>
          <a:solidFill>
            <a:srgbClr val="E3B51E"/>
          </a:solidFill>
          <a:ln w="25400">
            <a:solidFill>
              <a:srgbClr val="1E1208"/>
            </a:solidFill>
            <a:prstDash val="solid"/>
          </a:ln>
        </p:spPr>
      </p:sp>
      <p:sp>
        <p:nvSpPr>
          <p:cNvPr id="18" name="Text 14"/>
          <p:cNvSpPr/>
          <p:nvPr/>
        </p:nvSpPr>
        <p:spPr>
          <a:xfrm>
            <a:off x="6446520" y="1874520"/>
            <a:ext cx="685800" cy="914400"/>
          </a:xfrm>
          <a:prstGeom prst="rect">
            <a:avLst/>
          </a:prstGeom>
          <a:noFill/>
          <a:ln/>
        </p:spPr>
        <p:txBody>
          <a:bodyPr wrap="square" lIns="0" tIns="0" rIns="0" bIns="0" rtlCol="0" anchor="ctr"/>
          <a:lstStyle/>
          <a:p>
            <a:pPr algn="ctr" indent="0" marL="0">
              <a:lnSpc>
                <a:spcPct val="110000"/>
              </a:lnSpc>
              <a:buNone/>
            </a:pPr>
            <a:r>
              <a:rPr lang="en-US" sz="4400" dirty="0">
                <a:solidFill>
                  <a:srgbClr val="1E1208"/>
                </a:solidFill>
                <a:latin typeface="Impact" pitchFamily="34" charset="0"/>
                <a:ea typeface="Impact" pitchFamily="34" charset="-122"/>
                <a:cs typeface="Impact" pitchFamily="34" charset="-120"/>
              </a:rPr>
              <a:t>1</a:t>
            </a:r>
            <a:endParaRPr lang="en-US" sz="4400" dirty="0"/>
          </a:p>
        </p:txBody>
      </p:sp>
      <p:sp>
        <p:nvSpPr>
          <p:cNvPr id="19" name="Shape 15"/>
          <p:cNvSpPr/>
          <p:nvPr/>
        </p:nvSpPr>
        <p:spPr>
          <a:xfrm>
            <a:off x="7132320" y="1874520"/>
            <a:ext cx="3794760" cy="914400"/>
          </a:xfrm>
          <a:prstGeom prst="rect">
            <a:avLst/>
          </a:prstGeom>
          <a:solidFill>
            <a:srgbClr val="FFFFFF"/>
          </a:solidFill>
          <a:ln w="25400">
            <a:solidFill>
              <a:srgbClr val="1E1208"/>
            </a:solidFill>
            <a:prstDash val="solid"/>
          </a:ln>
        </p:spPr>
      </p:sp>
      <p:sp>
        <p:nvSpPr>
          <p:cNvPr id="20" name="Text 16"/>
          <p:cNvSpPr/>
          <p:nvPr/>
        </p:nvSpPr>
        <p:spPr>
          <a:xfrm>
            <a:off x="7269480" y="1965960"/>
            <a:ext cx="3566160" cy="320040"/>
          </a:xfrm>
          <a:prstGeom prst="rect">
            <a:avLst/>
          </a:prstGeom>
          <a:noFill/>
          <a:ln/>
        </p:spPr>
        <p:txBody>
          <a:bodyPr wrap="square" lIns="0" tIns="0" rIns="0" bIns="0" rtlCol="0" anchor="t"/>
          <a:lstStyle/>
          <a:p>
            <a:pPr algn="l" indent="0" marL="0">
              <a:lnSpc>
                <a:spcPct val="110000"/>
              </a:lnSpc>
              <a:buNone/>
            </a:pPr>
            <a:r>
              <a:rPr lang="en-US" sz="1600" dirty="0">
                <a:solidFill>
                  <a:srgbClr val="1E1208"/>
                </a:solidFill>
                <a:latin typeface="Impact" pitchFamily="34" charset="0"/>
                <a:ea typeface="Impact" pitchFamily="34" charset="-122"/>
                <a:cs typeface="Impact" pitchFamily="34" charset="-120"/>
              </a:rPr>
              <a:t>MON TO WED</a:t>
            </a:r>
            <a:endParaRPr lang="en-US" sz="1600" dirty="0"/>
          </a:p>
        </p:txBody>
      </p:sp>
      <p:sp>
        <p:nvSpPr>
          <p:cNvPr id="21" name="Text 17"/>
          <p:cNvSpPr/>
          <p:nvPr/>
        </p:nvSpPr>
        <p:spPr>
          <a:xfrm>
            <a:off x="7269480" y="2331720"/>
            <a:ext cx="3566160" cy="457200"/>
          </a:xfrm>
          <a:prstGeom prst="rect">
            <a:avLst/>
          </a:prstGeom>
          <a:noFill/>
          <a:ln/>
        </p:spPr>
        <p:txBody>
          <a:bodyPr wrap="square" lIns="0" tIns="0" rIns="0" bIns="0" rtlCol="0" anchor="t"/>
          <a:lstStyle/>
          <a:p>
            <a:pPr algn="l" indent="0" marL="0">
              <a:lnSpc>
                <a:spcPct val="110000"/>
              </a:lnSpc>
              <a:buNone/>
            </a:pPr>
            <a:r>
              <a:rPr lang="en-US" sz="1150" dirty="0">
                <a:solidFill>
                  <a:srgbClr val="555555"/>
                </a:solidFill>
                <a:latin typeface="Arial" pitchFamily="34" charset="0"/>
                <a:ea typeface="Arial" pitchFamily="34" charset="-122"/>
                <a:cs typeface="Arial" pitchFamily="34" charset="-120"/>
              </a:rPr>
              <a:t>The student is away. The class moves on.</a:t>
            </a:r>
            <a:endParaRPr lang="en-US" sz="1150" dirty="0"/>
          </a:p>
        </p:txBody>
      </p:sp>
      <p:sp>
        <p:nvSpPr>
          <p:cNvPr id="22" name="Shape 18"/>
          <p:cNvSpPr/>
          <p:nvPr/>
        </p:nvSpPr>
        <p:spPr>
          <a:xfrm>
            <a:off x="6446520" y="2898648"/>
            <a:ext cx="685800" cy="914400"/>
          </a:xfrm>
          <a:prstGeom prst="rect">
            <a:avLst/>
          </a:prstGeom>
          <a:solidFill>
            <a:srgbClr val="E3B51E"/>
          </a:solidFill>
          <a:ln w="25400">
            <a:solidFill>
              <a:srgbClr val="1E1208"/>
            </a:solidFill>
            <a:prstDash val="solid"/>
          </a:ln>
        </p:spPr>
      </p:sp>
      <p:sp>
        <p:nvSpPr>
          <p:cNvPr id="23" name="Text 19"/>
          <p:cNvSpPr/>
          <p:nvPr/>
        </p:nvSpPr>
        <p:spPr>
          <a:xfrm>
            <a:off x="6446520" y="2898648"/>
            <a:ext cx="685800" cy="914400"/>
          </a:xfrm>
          <a:prstGeom prst="rect">
            <a:avLst/>
          </a:prstGeom>
          <a:noFill/>
          <a:ln/>
        </p:spPr>
        <p:txBody>
          <a:bodyPr wrap="square" lIns="0" tIns="0" rIns="0" bIns="0" rtlCol="0" anchor="ctr"/>
          <a:lstStyle/>
          <a:p>
            <a:pPr algn="ctr" indent="0" marL="0">
              <a:lnSpc>
                <a:spcPct val="110000"/>
              </a:lnSpc>
              <a:buNone/>
            </a:pPr>
            <a:r>
              <a:rPr lang="en-US" sz="4400" dirty="0">
                <a:solidFill>
                  <a:srgbClr val="1E1208"/>
                </a:solidFill>
                <a:latin typeface="Impact" pitchFamily="34" charset="0"/>
                <a:ea typeface="Impact" pitchFamily="34" charset="-122"/>
                <a:cs typeface="Impact" pitchFamily="34" charset="-120"/>
              </a:rPr>
              <a:t>2</a:t>
            </a:r>
            <a:endParaRPr lang="en-US" sz="4400" dirty="0"/>
          </a:p>
        </p:txBody>
      </p:sp>
      <p:sp>
        <p:nvSpPr>
          <p:cNvPr id="24" name="Shape 20"/>
          <p:cNvSpPr/>
          <p:nvPr/>
        </p:nvSpPr>
        <p:spPr>
          <a:xfrm>
            <a:off x="7132320" y="2898648"/>
            <a:ext cx="3794760" cy="914400"/>
          </a:xfrm>
          <a:prstGeom prst="rect">
            <a:avLst/>
          </a:prstGeom>
          <a:solidFill>
            <a:srgbClr val="FFFFFF"/>
          </a:solidFill>
          <a:ln w="25400">
            <a:solidFill>
              <a:srgbClr val="1E1208"/>
            </a:solidFill>
            <a:prstDash val="solid"/>
          </a:ln>
        </p:spPr>
      </p:sp>
      <p:sp>
        <p:nvSpPr>
          <p:cNvPr id="25" name="Text 21"/>
          <p:cNvSpPr/>
          <p:nvPr/>
        </p:nvSpPr>
        <p:spPr>
          <a:xfrm>
            <a:off x="7269480" y="2990088"/>
            <a:ext cx="3566160" cy="320040"/>
          </a:xfrm>
          <a:prstGeom prst="rect">
            <a:avLst/>
          </a:prstGeom>
          <a:noFill/>
          <a:ln/>
        </p:spPr>
        <p:txBody>
          <a:bodyPr wrap="square" lIns="0" tIns="0" rIns="0" bIns="0" rtlCol="0" anchor="t"/>
          <a:lstStyle/>
          <a:p>
            <a:pPr algn="l" indent="0" marL="0">
              <a:lnSpc>
                <a:spcPct val="110000"/>
              </a:lnSpc>
              <a:buNone/>
            </a:pPr>
            <a:r>
              <a:rPr lang="en-US" sz="1600" dirty="0">
                <a:solidFill>
                  <a:srgbClr val="1E1208"/>
                </a:solidFill>
                <a:latin typeface="Impact" pitchFamily="34" charset="0"/>
                <a:ea typeface="Impact" pitchFamily="34" charset="-122"/>
                <a:cs typeface="Impact" pitchFamily="34" charset="-120"/>
              </a:rPr>
              <a:t>THE LESSON IS WAITING</a:t>
            </a:r>
            <a:endParaRPr lang="en-US" sz="1600" dirty="0"/>
          </a:p>
        </p:txBody>
      </p:sp>
      <p:sp>
        <p:nvSpPr>
          <p:cNvPr id="26" name="Text 22"/>
          <p:cNvSpPr/>
          <p:nvPr/>
        </p:nvSpPr>
        <p:spPr>
          <a:xfrm>
            <a:off x="7269480" y="3355848"/>
            <a:ext cx="3566160" cy="457200"/>
          </a:xfrm>
          <a:prstGeom prst="rect">
            <a:avLst/>
          </a:prstGeom>
          <a:noFill/>
          <a:ln/>
        </p:spPr>
        <p:txBody>
          <a:bodyPr wrap="square" lIns="0" tIns="0" rIns="0" bIns="0" rtlCol="0" anchor="t"/>
          <a:lstStyle/>
          <a:p>
            <a:pPr algn="l" indent="0" marL="0">
              <a:lnSpc>
                <a:spcPct val="110000"/>
              </a:lnSpc>
              <a:buNone/>
            </a:pPr>
            <a:r>
              <a:rPr lang="en-US" sz="1150" dirty="0">
                <a:solidFill>
                  <a:srgbClr val="555555"/>
                </a:solidFill>
                <a:latin typeface="Arial" pitchFamily="34" charset="0"/>
                <a:ea typeface="Arial" pitchFamily="34" charset="-122"/>
                <a:cs typeface="Arial" pitchFamily="34" charset="-120"/>
              </a:rPr>
              <a:t>It is offered as a catch-up, the day it was taught.</a:t>
            </a:r>
            <a:endParaRPr lang="en-US" sz="1150" dirty="0"/>
          </a:p>
        </p:txBody>
      </p:sp>
      <p:sp>
        <p:nvSpPr>
          <p:cNvPr id="27" name="Shape 23"/>
          <p:cNvSpPr/>
          <p:nvPr/>
        </p:nvSpPr>
        <p:spPr>
          <a:xfrm>
            <a:off x="6446520" y="3922776"/>
            <a:ext cx="685800" cy="914400"/>
          </a:xfrm>
          <a:prstGeom prst="rect">
            <a:avLst/>
          </a:prstGeom>
          <a:solidFill>
            <a:srgbClr val="E3B51E"/>
          </a:solidFill>
          <a:ln w="25400">
            <a:solidFill>
              <a:srgbClr val="1E1208"/>
            </a:solidFill>
            <a:prstDash val="solid"/>
          </a:ln>
        </p:spPr>
      </p:sp>
      <p:sp>
        <p:nvSpPr>
          <p:cNvPr id="28" name="Text 24"/>
          <p:cNvSpPr/>
          <p:nvPr/>
        </p:nvSpPr>
        <p:spPr>
          <a:xfrm>
            <a:off x="6446520" y="3922776"/>
            <a:ext cx="685800" cy="914400"/>
          </a:xfrm>
          <a:prstGeom prst="rect">
            <a:avLst/>
          </a:prstGeom>
          <a:noFill/>
          <a:ln/>
        </p:spPr>
        <p:txBody>
          <a:bodyPr wrap="square" lIns="0" tIns="0" rIns="0" bIns="0" rtlCol="0" anchor="ctr"/>
          <a:lstStyle/>
          <a:p>
            <a:pPr algn="ctr" indent="0" marL="0">
              <a:lnSpc>
                <a:spcPct val="110000"/>
              </a:lnSpc>
              <a:buNone/>
            </a:pPr>
            <a:r>
              <a:rPr lang="en-US" sz="4400" dirty="0">
                <a:solidFill>
                  <a:srgbClr val="1E1208"/>
                </a:solidFill>
                <a:latin typeface="Impact" pitchFamily="34" charset="0"/>
                <a:ea typeface="Impact" pitchFamily="34" charset="-122"/>
                <a:cs typeface="Impact" pitchFamily="34" charset="-120"/>
              </a:rPr>
              <a:t>3</a:t>
            </a:r>
            <a:endParaRPr lang="en-US" sz="4400" dirty="0"/>
          </a:p>
        </p:txBody>
      </p:sp>
      <p:sp>
        <p:nvSpPr>
          <p:cNvPr id="29" name="Shape 25"/>
          <p:cNvSpPr/>
          <p:nvPr/>
        </p:nvSpPr>
        <p:spPr>
          <a:xfrm>
            <a:off x="7132320" y="3922776"/>
            <a:ext cx="3794760" cy="914400"/>
          </a:xfrm>
          <a:prstGeom prst="rect">
            <a:avLst/>
          </a:prstGeom>
          <a:solidFill>
            <a:srgbClr val="FFFFFF"/>
          </a:solidFill>
          <a:ln w="25400">
            <a:solidFill>
              <a:srgbClr val="1E1208"/>
            </a:solidFill>
            <a:prstDash val="solid"/>
          </a:ln>
        </p:spPr>
      </p:sp>
      <p:sp>
        <p:nvSpPr>
          <p:cNvPr id="30" name="Text 26"/>
          <p:cNvSpPr/>
          <p:nvPr/>
        </p:nvSpPr>
        <p:spPr>
          <a:xfrm>
            <a:off x="7269480" y="4014216"/>
            <a:ext cx="3566160" cy="320040"/>
          </a:xfrm>
          <a:prstGeom prst="rect">
            <a:avLst/>
          </a:prstGeom>
          <a:noFill/>
          <a:ln/>
        </p:spPr>
        <p:txBody>
          <a:bodyPr wrap="square" lIns="0" tIns="0" rIns="0" bIns="0" rtlCol="0" anchor="t"/>
          <a:lstStyle/>
          <a:p>
            <a:pPr algn="l" indent="0" marL="0">
              <a:lnSpc>
                <a:spcPct val="110000"/>
              </a:lnSpc>
              <a:buNone/>
            </a:pPr>
            <a:r>
              <a:rPr lang="en-US" sz="1600" dirty="0">
                <a:solidFill>
                  <a:srgbClr val="1E1208"/>
                </a:solidFill>
                <a:latin typeface="Impact" pitchFamily="34" charset="0"/>
                <a:ea typeface="Impact" pitchFamily="34" charset="-122"/>
                <a:cs typeface="Impact" pitchFamily="34" charset="-120"/>
              </a:rPr>
              <a:t>A PATH BACK IN</a:t>
            </a:r>
            <a:endParaRPr lang="en-US" sz="1600" dirty="0"/>
          </a:p>
        </p:txBody>
      </p:sp>
      <p:sp>
        <p:nvSpPr>
          <p:cNvPr id="31" name="Text 27"/>
          <p:cNvSpPr/>
          <p:nvPr/>
        </p:nvSpPr>
        <p:spPr>
          <a:xfrm>
            <a:off x="7269480" y="4379976"/>
            <a:ext cx="3566160" cy="457200"/>
          </a:xfrm>
          <a:prstGeom prst="rect">
            <a:avLst/>
          </a:prstGeom>
          <a:noFill/>
          <a:ln/>
        </p:spPr>
        <p:txBody>
          <a:bodyPr wrap="square" lIns="0" tIns="0" rIns="0" bIns="0" rtlCol="0" anchor="t"/>
          <a:lstStyle/>
          <a:p>
            <a:pPr algn="l" indent="0" marL="0">
              <a:lnSpc>
                <a:spcPct val="110000"/>
              </a:lnSpc>
              <a:buNone/>
            </a:pPr>
            <a:r>
              <a:rPr lang="en-US" sz="1150" dirty="0">
                <a:solidFill>
                  <a:srgbClr val="555555"/>
                </a:solidFill>
                <a:latin typeface="Arial" pitchFamily="34" charset="0"/>
                <a:ea typeface="Arial" pitchFamily="34" charset="-122"/>
                <a:cs typeface="Arial" pitchFamily="34" charset="-120"/>
              </a:rPr>
              <a:t>Steps, check questions and progress, at their own pace.</a:t>
            </a:r>
            <a:endParaRPr lang="en-US" sz="1150" dirty="0"/>
          </a:p>
        </p:txBody>
      </p:sp>
      <p:sp>
        <p:nvSpPr>
          <p:cNvPr id="32" name="Shape 28"/>
          <p:cNvSpPr/>
          <p:nvPr/>
        </p:nvSpPr>
        <p:spPr>
          <a:xfrm>
            <a:off x="6446520" y="4946904"/>
            <a:ext cx="685800" cy="914400"/>
          </a:xfrm>
          <a:prstGeom prst="rect">
            <a:avLst/>
          </a:prstGeom>
          <a:solidFill>
            <a:srgbClr val="D4762A"/>
          </a:solidFill>
          <a:ln w="25400">
            <a:solidFill>
              <a:srgbClr val="1E1208"/>
            </a:solidFill>
            <a:prstDash val="solid"/>
          </a:ln>
        </p:spPr>
      </p:sp>
      <p:sp>
        <p:nvSpPr>
          <p:cNvPr id="33" name="Text 29"/>
          <p:cNvSpPr/>
          <p:nvPr/>
        </p:nvSpPr>
        <p:spPr>
          <a:xfrm>
            <a:off x="6446520" y="4946904"/>
            <a:ext cx="685800" cy="914400"/>
          </a:xfrm>
          <a:prstGeom prst="rect">
            <a:avLst/>
          </a:prstGeom>
          <a:noFill/>
          <a:ln/>
        </p:spPr>
        <p:txBody>
          <a:bodyPr wrap="square" lIns="0" tIns="0" rIns="0" bIns="0" rtlCol="0" anchor="ctr"/>
          <a:lstStyle/>
          <a:p>
            <a:pPr algn="ctr" indent="0" marL="0">
              <a:lnSpc>
                <a:spcPct val="110000"/>
              </a:lnSpc>
              <a:buNone/>
            </a:pPr>
            <a:r>
              <a:rPr lang="en-US" sz="4400" dirty="0">
                <a:solidFill>
                  <a:srgbClr val="1E1208"/>
                </a:solidFill>
                <a:latin typeface="Impact" pitchFamily="34" charset="0"/>
                <a:ea typeface="Impact" pitchFamily="34" charset="-122"/>
                <a:cs typeface="Impact" pitchFamily="34" charset="-120"/>
              </a:rPr>
              <a:t>4</a:t>
            </a:r>
            <a:endParaRPr lang="en-US" sz="4400" dirty="0"/>
          </a:p>
        </p:txBody>
      </p:sp>
      <p:sp>
        <p:nvSpPr>
          <p:cNvPr id="34" name="Shape 30"/>
          <p:cNvSpPr/>
          <p:nvPr/>
        </p:nvSpPr>
        <p:spPr>
          <a:xfrm>
            <a:off x="7132320" y="4946904"/>
            <a:ext cx="3794760" cy="914400"/>
          </a:xfrm>
          <a:prstGeom prst="rect">
            <a:avLst/>
          </a:prstGeom>
          <a:solidFill>
            <a:srgbClr val="FFFFFF"/>
          </a:solidFill>
          <a:ln w="25400">
            <a:solidFill>
              <a:srgbClr val="1E1208"/>
            </a:solidFill>
            <a:prstDash val="solid"/>
          </a:ln>
        </p:spPr>
      </p:sp>
      <p:sp>
        <p:nvSpPr>
          <p:cNvPr id="35" name="Text 31"/>
          <p:cNvSpPr/>
          <p:nvPr/>
        </p:nvSpPr>
        <p:spPr>
          <a:xfrm>
            <a:off x="7269480" y="5038344"/>
            <a:ext cx="3566160" cy="320040"/>
          </a:xfrm>
          <a:prstGeom prst="rect">
            <a:avLst/>
          </a:prstGeom>
          <a:noFill/>
          <a:ln/>
        </p:spPr>
        <p:txBody>
          <a:bodyPr wrap="square" lIns="0" tIns="0" rIns="0" bIns="0" rtlCol="0" anchor="t"/>
          <a:lstStyle/>
          <a:p>
            <a:pPr algn="l" indent="0" marL="0">
              <a:lnSpc>
                <a:spcPct val="110000"/>
              </a:lnSpc>
              <a:buNone/>
            </a:pPr>
            <a:r>
              <a:rPr lang="en-US" sz="1600" dirty="0">
                <a:solidFill>
                  <a:srgbClr val="1E1208"/>
                </a:solidFill>
                <a:latin typeface="Impact" pitchFamily="34" charset="0"/>
                <a:ea typeface="Impact" pitchFamily="34" charset="-122"/>
                <a:cs typeface="Impact" pitchFamily="34" charset="-120"/>
              </a:rPr>
              <a:t>THE TEACHER CAN SEE IT</a:t>
            </a:r>
            <a:endParaRPr lang="en-US" sz="1600" dirty="0"/>
          </a:p>
        </p:txBody>
      </p:sp>
      <p:sp>
        <p:nvSpPr>
          <p:cNvPr id="36" name="Text 32"/>
          <p:cNvSpPr/>
          <p:nvPr/>
        </p:nvSpPr>
        <p:spPr>
          <a:xfrm>
            <a:off x="7269480" y="5404104"/>
            <a:ext cx="3566160" cy="457200"/>
          </a:xfrm>
          <a:prstGeom prst="rect">
            <a:avLst/>
          </a:prstGeom>
          <a:noFill/>
          <a:ln/>
        </p:spPr>
        <p:txBody>
          <a:bodyPr wrap="square" lIns="0" tIns="0" rIns="0" bIns="0" rtlCol="0" anchor="t"/>
          <a:lstStyle/>
          <a:p>
            <a:pPr algn="l" indent="0" marL="0">
              <a:lnSpc>
                <a:spcPct val="110000"/>
              </a:lnSpc>
              <a:buNone/>
            </a:pPr>
            <a:r>
              <a:rPr lang="en-US" sz="1150" dirty="0">
                <a:solidFill>
                  <a:srgbClr val="555555"/>
                </a:solidFill>
                <a:latin typeface="Arial" pitchFamily="34" charset="0"/>
                <a:ea typeface="Arial" pitchFamily="34" charset="-122"/>
                <a:cs typeface="Arial" pitchFamily="34" charset="-120"/>
              </a:rPr>
              <a:t>Who has caught up, and where they got stuck.</a:t>
            </a:r>
            <a:endParaRPr lang="en-US" sz="1150" dirty="0"/>
          </a:p>
        </p:txBody>
      </p:sp>
      <p:sp>
        <p:nvSpPr>
          <p:cNvPr id="37" name="Shape 33"/>
          <p:cNvSpPr/>
          <p:nvPr/>
        </p:nvSpPr>
        <p:spPr>
          <a:xfrm>
            <a:off x="1417320" y="6035040"/>
            <a:ext cx="9509760" cy="502920"/>
          </a:xfrm>
          <a:prstGeom prst="rect">
            <a:avLst/>
          </a:prstGeom>
          <a:solidFill>
            <a:srgbClr val="1E1208"/>
          </a:solidFill>
          <a:ln/>
        </p:spPr>
      </p:sp>
      <p:sp>
        <p:nvSpPr>
          <p:cNvPr id="38" name="Text 34"/>
          <p:cNvSpPr/>
          <p:nvPr/>
        </p:nvSpPr>
        <p:spPr>
          <a:xfrm>
            <a:off x="1600200" y="6035040"/>
            <a:ext cx="9144000" cy="502920"/>
          </a:xfrm>
          <a:prstGeom prst="rect">
            <a:avLst/>
          </a:prstGeom>
          <a:noFill/>
          <a:ln/>
        </p:spPr>
        <p:txBody>
          <a:bodyPr wrap="square" lIns="0" tIns="0" rIns="0" bIns="0" rtlCol="0" anchor="ctr"/>
          <a:lstStyle/>
          <a:p>
            <a:pPr algn="l" indent="0" marL="0">
              <a:lnSpc>
                <a:spcPct val="110000"/>
              </a:lnSpc>
              <a:buNone/>
            </a:pPr>
            <a:r>
              <a:rPr lang="en-US" sz="1400" b="1" dirty="0">
                <a:solidFill>
                  <a:srgbClr val="FFFFFF"/>
                </a:solidFill>
                <a:latin typeface="Arial" pitchFamily="34" charset="0"/>
                <a:ea typeface="Arial" pitchFamily="34" charset="-122"/>
                <a:cs typeface="Arial" pitchFamily="34" charset="-120"/>
              </a:rPr>
              <a:t>Missing class should not mean losing the learning.</a:t>
            </a:r>
            <a:endParaRPr lang="en-US" sz="1400" dirty="0"/>
          </a:p>
        </p:txBody>
      </p:sp>
      <p:sp>
        <p:nvSpPr>
          <p:cNvPr id="39" name="Text 35"/>
          <p:cNvSpPr/>
          <p:nvPr/>
        </p:nvSpPr>
        <p:spPr>
          <a:xfrm>
            <a:off x="1417320" y="6583680"/>
            <a:ext cx="9509760" cy="274320"/>
          </a:xfrm>
          <a:prstGeom prst="rect">
            <a:avLst/>
          </a:prstGeom>
          <a:noFill/>
          <a:ln/>
        </p:spPr>
        <p:txBody>
          <a:bodyPr wrap="square" lIns="0" tIns="0" rIns="0" bIns="0" rtlCol="0" anchor="t"/>
          <a:lstStyle/>
          <a:p>
            <a:pPr algn="l" indent="0" marL="0">
              <a:lnSpc>
                <a:spcPct val="110000"/>
              </a:lnSpc>
              <a:buNone/>
            </a:pPr>
            <a:r>
              <a:rPr lang="en-US" sz="900" dirty="0">
                <a:solidFill>
                  <a:srgbClr val="555555"/>
                </a:solidFill>
                <a:latin typeface="Arial" pitchFamily="34" charset="0"/>
                <a:ea typeface="Arial" pitchFamily="34" charset="-122"/>
                <a:cs typeface="Arial" pitchFamily="34" charset="-120"/>
              </a:rPr>
              <a:t>A real lesson screen from the Manchester demo school, shown with demo data.</a:t>
            </a:r>
            <a:endParaRPr lang="en-US" sz="900" dirty="0"/>
          </a:p>
        </p:txBody>
      </p:sp>
      <p:sp>
        <p:nvSpPr>
          <p:cNvPr id="40" name="Shape 36"/>
          <p:cNvSpPr/>
          <p:nvPr/>
        </p:nvSpPr>
        <p:spPr>
          <a:xfrm>
            <a:off x="1417320" y="6035040"/>
            <a:ext cx="9144" cy="9144"/>
          </a:xfrm>
          <a:prstGeom prst="rect">
            <a:avLst/>
          </a:prstGeom>
          <a:solidFill>
            <a:srgbClr val="FDFDFB"/>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368735" y="3026664"/>
            <a:ext cx="822960" cy="1152144"/>
          </a:xfrm>
          <a:prstGeom prst="rect">
            <a:avLst/>
          </a:prstGeom>
          <a:solidFill>
            <a:srgbClr val="E3B51E"/>
          </a:solidFill>
          <a:ln w="25400">
            <a:solidFill>
              <a:srgbClr val="1E1208"/>
            </a:solidFill>
            <a:prstDash val="solid"/>
          </a:ln>
        </p:spPr>
      </p:sp>
      <p:sp>
        <p:nvSpPr>
          <p:cNvPr id="7" name="Text 5"/>
          <p:cNvSpPr/>
          <p:nvPr/>
        </p:nvSpPr>
        <p:spPr>
          <a:xfrm>
            <a:off x="11368735" y="3026664"/>
            <a:ext cx="822960"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SMART LEARNING</a:t>
            </a:r>
            <a:endParaRPr lang="en-US" sz="115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indent="0" marL="0">
              <a:buNone/>
            </a:pPr>
            <a:r>
              <a:rPr lang="en-US" sz="4300" dirty="0">
                <a:solidFill>
                  <a:srgbClr val="1E1208"/>
                </a:solidFill>
                <a:latin typeface="Impact" pitchFamily="34" charset="0"/>
                <a:ea typeface="Impact" pitchFamily="34" charset="-122"/>
                <a:cs typeface="Impact" pitchFamily="34" charset="-120"/>
              </a:rPr>
              <a:t>STUDY SUPPORT THAT FITS EACH STUDENT</a:t>
            </a:r>
            <a:endParaRPr lang="en-US" sz="4300" dirty="0"/>
          </a:p>
        </p:txBody>
      </p:sp>
      <p:sp>
        <p:nvSpPr>
          <p:cNvPr id="15" name="Shape 12"/>
          <p:cNvSpPr/>
          <p:nvPr/>
        </p:nvSpPr>
        <p:spPr>
          <a:xfrm>
            <a:off x="1417320" y="1874520"/>
            <a:ext cx="4754880" cy="914400"/>
          </a:xfrm>
          <a:prstGeom prst="rect">
            <a:avLst/>
          </a:prstGeom>
          <a:solidFill>
            <a:srgbClr val="FFFFFF"/>
          </a:solidFill>
          <a:ln w="25400">
            <a:solidFill>
              <a:srgbClr val="1E1208"/>
            </a:solidFill>
            <a:prstDash val="solid"/>
          </a:ln>
        </p:spPr>
      </p:sp>
      <p:sp>
        <p:nvSpPr>
          <p:cNvPr id="16" name="Shape 13"/>
          <p:cNvSpPr/>
          <p:nvPr/>
        </p:nvSpPr>
        <p:spPr>
          <a:xfrm>
            <a:off x="1417320" y="1874520"/>
            <a:ext cx="128016" cy="914400"/>
          </a:xfrm>
          <a:prstGeom prst="rect">
            <a:avLst/>
          </a:prstGeom>
          <a:solidFill>
            <a:srgbClr val="E3B51E"/>
          </a:solidFill>
          <a:ln/>
        </p:spPr>
      </p:sp>
      <p:sp>
        <p:nvSpPr>
          <p:cNvPr id="17" name="Text 14"/>
          <p:cNvSpPr/>
          <p:nvPr/>
        </p:nvSpPr>
        <p:spPr>
          <a:xfrm>
            <a:off x="1691640" y="1965960"/>
            <a:ext cx="4389120" cy="320040"/>
          </a:xfrm>
          <a:prstGeom prst="rect">
            <a:avLst/>
          </a:prstGeom>
          <a:noFill/>
          <a:ln/>
        </p:spPr>
        <p:txBody>
          <a:bodyPr wrap="square" lIns="0" tIns="0" rIns="0" bIns="0" rtlCol="0" anchor="t"/>
          <a:lstStyle/>
          <a:p>
            <a:pPr algn="l" indent="0" marL="0">
              <a:lnSpc>
                <a:spcPct val="110000"/>
              </a:lnSpc>
              <a:buNone/>
            </a:pPr>
            <a:r>
              <a:rPr lang="en-US" sz="1600" dirty="0">
                <a:solidFill>
                  <a:srgbClr val="1E1208"/>
                </a:solidFill>
                <a:latin typeface="Impact" pitchFamily="34" charset="0"/>
                <a:ea typeface="Impact" pitchFamily="34" charset="-122"/>
                <a:cs typeface="Impact" pitchFamily="34" charset="-120"/>
              </a:rPr>
              <a:t>FLASHCARDS</a:t>
            </a:r>
            <a:endParaRPr lang="en-US" sz="1600" dirty="0"/>
          </a:p>
        </p:txBody>
      </p:sp>
      <p:sp>
        <p:nvSpPr>
          <p:cNvPr id="18" name="Text 15"/>
          <p:cNvSpPr/>
          <p:nvPr/>
        </p:nvSpPr>
        <p:spPr>
          <a:xfrm>
            <a:off x="1691640" y="2304288"/>
            <a:ext cx="4389120" cy="502920"/>
          </a:xfrm>
          <a:prstGeom prst="rect">
            <a:avLst/>
          </a:prstGeom>
          <a:noFill/>
          <a:ln/>
        </p:spPr>
        <p:txBody>
          <a:bodyPr wrap="square" lIns="0" tIns="0" rIns="0" bIns="0" rtlCol="0" anchor="t"/>
          <a:lstStyle/>
          <a:p>
            <a:pPr algn="l" indent="0" marL="0">
              <a:lnSpc>
                <a:spcPct val="110000"/>
              </a:lnSpc>
              <a:buNone/>
            </a:pPr>
            <a:r>
              <a:rPr lang="en-US" sz="1100" dirty="0">
                <a:solidFill>
                  <a:srgbClr val="555555"/>
                </a:solidFill>
                <a:latin typeface="Arial" pitchFamily="34" charset="0"/>
                <a:ea typeface="Arial" pitchFamily="34" charset="-122"/>
                <a:cs typeface="Arial" pitchFamily="34" charset="-120"/>
              </a:rPr>
              <a:t>Students build their own decks. Flip, then "Got it" or "Not yet". Cards you miss come back sooner.</a:t>
            </a:r>
            <a:endParaRPr lang="en-US" sz="1100" dirty="0"/>
          </a:p>
        </p:txBody>
      </p:sp>
      <p:sp>
        <p:nvSpPr>
          <p:cNvPr id="19" name="Shape 16"/>
          <p:cNvSpPr/>
          <p:nvPr/>
        </p:nvSpPr>
        <p:spPr>
          <a:xfrm>
            <a:off x="1417320" y="2898648"/>
            <a:ext cx="4754880" cy="914400"/>
          </a:xfrm>
          <a:prstGeom prst="rect">
            <a:avLst/>
          </a:prstGeom>
          <a:solidFill>
            <a:srgbClr val="FFFFFF"/>
          </a:solidFill>
          <a:ln w="25400">
            <a:solidFill>
              <a:srgbClr val="1E1208"/>
            </a:solidFill>
            <a:prstDash val="solid"/>
          </a:ln>
        </p:spPr>
      </p:sp>
      <p:sp>
        <p:nvSpPr>
          <p:cNvPr id="20" name="Shape 17"/>
          <p:cNvSpPr/>
          <p:nvPr/>
        </p:nvSpPr>
        <p:spPr>
          <a:xfrm>
            <a:off x="1417320" y="2898648"/>
            <a:ext cx="128016" cy="914400"/>
          </a:xfrm>
          <a:prstGeom prst="rect">
            <a:avLst/>
          </a:prstGeom>
          <a:solidFill>
            <a:srgbClr val="E3B51E"/>
          </a:solidFill>
          <a:ln/>
        </p:spPr>
      </p:sp>
      <p:sp>
        <p:nvSpPr>
          <p:cNvPr id="21" name="Text 18"/>
          <p:cNvSpPr/>
          <p:nvPr/>
        </p:nvSpPr>
        <p:spPr>
          <a:xfrm>
            <a:off x="1691640" y="2990088"/>
            <a:ext cx="4389120" cy="320040"/>
          </a:xfrm>
          <a:prstGeom prst="rect">
            <a:avLst/>
          </a:prstGeom>
          <a:noFill/>
          <a:ln/>
        </p:spPr>
        <p:txBody>
          <a:bodyPr wrap="square" lIns="0" tIns="0" rIns="0" bIns="0" rtlCol="0" anchor="t"/>
          <a:lstStyle/>
          <a:p>
            <a:pPr algn="l" indent="0" marL="0">
              <a:lnSpc>
                <a:spcPct val="110000"/>
              </a:lnSpc>
              <a:buNone/>
            </a:pPr>
            <a:r>
              <a:rPr lang="en-US" sz="1600" dirty="0">
                <a:solidFill>
                  <a:srgbClr val="1E1208"/>
                </a:solidFill>
                <a:latin typeface="Impact" pitchFamily="34" charset="0"/>
                <a:ea typeface="Impact" pitchFamily="34" charset="-122"/>
                <a:cs typeface="Impact" pitchFamily="34" charset="-120"/>
              </a:rPr>
              <a:t>THREE LEVELS OF PRACTICE</a:t>
            </a:r>
            <a:endParaRPr lang="en-US" sz="1600" dirty="0"/>
          </a:p>
        </p:txBody>
      </p:sp>
      <p:sp>
        <p:nvSpPr>
          <p:cNvPr id="22" name="Text 19"/>
          <p:cNvSpPr/>
          <p:nvPr/>
        </p:nvSpPr>
        <p:spPr>
          <a:xfrm>
            <a:off x="1691640" y="3328416"/>
            <a:ext cx="4389120" cy="502920"/>
          </a:xfrm>
          <a:prstGeom prst="rect">
            <a:avLst/>
          </a:prstGeom>
          <a:noFill/>
          <a:ln/>
        </p:spPr>
        <p:txBody>
          <a:bodyPr wrap="square" lIns="0" tIns="0" rIns="0" bIns="0" rtlCol="0" anchor="t"/>
          <a:lstStyle/>
          <a:p>
            <a:pPr algn="l" indent="0" marL="0">
              <a:lnSpc>
                <a:spcPct val="110000"/>
              </a:lnSpc>
              <a:buNone/>
            </a:pPr>
            <a:r>
              <a:rPr lang="en-US" sz="1100" dirty="0">
                <a:solidFill>
                  <a:srgbClr val="555555"/>
                </a:solidFill>
                <a:latin typeface="Arial" pitchFamily="34" charset="0"/>
                <a:ea typeface="Arial" pitchFamily="34" charset="-122"/>
                <a:cs typeface="Arial" pitchFamily="34" charset="-120"/>
              </a:rPr>
              <a:t>Support, core and stretch questions for each lesson, suggested from a student's topic results.</a:t>
            </a:r>
            <a:endParaRPr lang="en-US" sz="1100" dirty="0"/>
          </a:p>
        </p:txBody>
      </p:sp>
      <p:sp>
        <p:nvSpPr>
          <p:cNvPr id="23" name="Shape 20"/>
          <p:cNvSpPr/>
          <p:nvPr/>
        </p:nvSpPr>
        <p:spPr>
          <a:xfrm>
            <a:off x="1417320" y="3922776"/>
            <a:ext cx="4754880" cy="914400"/>
          </a:xfrm>
          <a:prstGeom prst="rect">
            <a:avLst/>
          </a:prstGeom>
          <a:solidFill>
            <a:srgbClr val="FFFFFF"/>
          </a:solidFill>
          <a:ln w="25400">
            <a:solidFill>
              <a:srgbClr val="1E1208"/>
            </a:solidFill>
            <a:prstDash val="solid"/>
          </a:ln>
        </p:spPr>
      </p:sp>
      <p:sp>
        <p:nvSpPr>
          <p:cNvPr id="24" name="Shape 21"/>
          <p:cNvSpPr/>
          <p:nvPr/>
        </p:nvSpPr>
        <p:spPr>
          <a:xfrm>
            <a:off x="1417320" y="3922776"/>
            <a:ext cx="128016" cy="914400"/>
          </a:xfrm>
          <a:prstGeom prst="rect">
            <a:avLst/>
          </a:prstGeom>
          <a:solidFill>
            <a:srgbClr val="E3B51E"/>
          </a:solidFill>
          <a:ln/>
        </p:spPr>
      </p:sp>
      <p:sp>
        <p:nvSpPr>
          <p:cNvPr id="25" name="Text 22"/>
          <p:cNvSpPr/>
          <p:nvPr/>
        </p:nvSpPr>
        <p:spPr>
          <a:xfrm>
            <a:off x="1691640" y="4014216"/>
            <a:ext cx="4389120" cy="320040"/>
          </a:xfrm>
          <a:prstGeom prst="rect">
            <a:avLst/>
          </a:prstGeom>
          <a:noFill/>
          <a:ln/>
        </p:spPr>
        <p:txBody>
          <a:bodyPr wrap="square" lIns="0" tIns="0" rIns="0" bIns="0" rtlCol="0" anchor="t"/>
          <a:lstStyle/>
          <a:p>
            <a:pPr algn="l" indent="0" marL="0">
              <a:lnSpc>
                <a:spcPct val="110000"/>
              </a:lnSpc>
              <a:buNone/>
            </a:pPr>
            <a:r>
              <a:rPr lang="en-US" sz="1600" dirty="0">
                <a:solidFill>
                  <a:srgbClr val="1E1208"/>
                </a:solidFill>
                <a:latin typeface="Impact" pitchFamily="34" charset="0"/>
                <a:ea typeface="Impact" pitchFamily="34" charset="-122"/>
                <a:cs typeface="Impact" pitchFamily="34" charset="-120"/>
              </a:rPr>
              <a:t>CURRENT AND FUTURE</a:t>
            </a:r>
            <a:endParaRPr lang="en-US" sz="1600" dirty="0"/>
          </a:p>
        </p:txBody>
      </p:sp>
      <p:sp>
        <p:nvSpPr>
          <p:cNvPr id="26" name="Text 23"/>
          <p:cNvSpPr/>
          <p:nvPr/>
        </p:nvSpPr>
        <p:spPr>
          <a:xfrm>
            <a:off x="1691640" y="4352544"/>
            <a:ext cx="4389120" cy="502920"/>
          </a:xfrm>
          <a:prstGeom prst="rect">
            <a:avLst/>
          </a:prstGeom>
          <a:noFill/>
          <a:ln/>
        </p:spPr>
        <p:txBody>
          <a:bodyPr wrap="square" lIns="0" tIns="0" rIns="0" bIns="0" rtlCol="0" anchor="t"/>
          <a:lstStyle/>
          <a:p>
            <a:pPr algn="l" indent="0" marL="0">
              <a:lnSpc>
                <a:spcPct val="110000"/>
              </a:lnSpc>
              <a:buNone/>
            </a:pPr>
            <a:r>
              <a:rPr lang="en-US" sz="1100" dirty="0">
                <a:solidFill>
                  <a:srgbClr val="555555"/>
                </a:solidFill>
                <a:latin typeface="Arial" pitchFamily="34" charset="0"/>
                <a:ea typeface="Arial" pitchFamily="34" charset="-122"/>
                <a:cs typeface="Arial" pitchFamily="34" charset="-120"/>
              </a:rPr>
              <a:t>What is happening now and what is coming, for students and teachers, with upcoming assignment reminders. No email.</a:t>
            </a:r>
            <a:endParaRPr lang="en-US" sz="1100" dirty="0"/>
          </a:p>
        </p:txBody>
      </p:sp>
      <p:sp>
        <p:nvSpPr>
          <p:cNvPr id="27" name="Shape 24"/>
          <p:cNvSpPr/>
          <p:nvPr/>
        </p:nvSpPr>
        <p:spPr>
          <a:xfrm>
            <a:off x="1417320" y="4946904"/>
            <a:ext cx="4754880" cy="914400"/>
          </a:xfrm>
          <a:prstGeom prst="rect">
            <a:avLst/>
          </a:prstGeom>
          <a:solidFill>
            <a:srgbClr val="FFFFFF"/>
          </a:solidFill>
          <a:ln w="25400">
            <a:solidFill>
              <a:srgbClr val="1E1208"/>
            </a:solidFill>
            <a:prstDash val="solid"/>
          </a:ln>
        </p:spPr>
      </p:sp>
      <p:sp>
        <p:nvSpPr>
          <p:cNvPr id="28" name="Shape 25"/>
          <p:cNvSpPr/>
          <p:nvPr/>
        </p:nvSpPr>
        <p:spPr>
          <a:xfrm>
            <a:off x="1417320" y="4946904"/>
            <a:ext cx="128016" cy="914400"/>
          </a:xfrm>
          <a:prstGeom prst="rect">
            <a:avLst/>
          </a:prstGeom>
          <a:solidFill>
            <a:srgbClr val="E3B51E"/>
          </a:solidFill>
          <a:ln/>
        </p:spPr>
      </p:sp>
      <p:sp>
        <p:nvSpPr>
          <p:cNvPr id="29" name="Text 26"/>
          <p:cNvSpPr/>
          <p:nvPr/>
        </p:nvSpPr>
        <p:spPr>
          <a:xfrm>
            <a:off x="1691640" y="5038344"/>
            <a:ext cx="4389120" cy="320040"/>
          </a:xfrm>
          <a:prstGeom prst="rect">
            <a:avLst/>
          </a:prstGeom>
          <a:noFill/>
          <a:ln/>
        </p:spPr>
        <p:txBody>
          <a:bodyPr wrap="square" lIns="0" tIns="0" rIns="0" bIns="0" rtlCol="0" anchor="t"/>
          <a:lstStyle/>
          <a:p>
            <a:pPr algn="l" indent="0" marL="0">
              <a:lnSpc>
                <a:spcPct val="110000"/>
              </a:lnSpc>
              <a:buNone/>
            </a:pPr>
            <a:r>
              <a:rPr lang="en-US" sz="1600" dirty="0">
                <a:solidFill>
                  <a:srgbClr val="1E1208"/>
                </a:solidFill>
                <a:latin typeface="Impact" pitchFamily="34" charset="0"/>
                <a:ea typeface="Impact" pitchFamily="34" charset="-122"/>
                <a:cs typeface="Impact" pitchFamily="34" charset="-120"/>
              </a:rPr>
              <a:t>WEAK TOPIC TO LESSON</a:t>
            </a:r>
            <a:endParaRPr lang="en-US" sz="1600" dirty="0"/>
          </a:p>
        </p:txBody>
      </p:sp>
      <p:sp>
        <p:nvSpPr>
          <p:cNvPr id="30" name="Text 27"/>
          <p:cNvSpPr/>
          <p:nvPr/>
        </p:nvSpPr>
        <p:spPr>
          <a:xfrm>
            <a:off x="1691640" y="5376672"/>
            <a:ext cx="4389120" cy="502920"/>
          </a:xfrm>
          <a:prstGeom prst="rect">
            <a:avLst/>
          </a:prstGeom>
          <a:noFill/>
          <a:ln/>
        </p:spPr>
        <p:txBody>
          <a:bodyPr wrap="square" lIns="0" tIns="0" rIns="0" bIns="0" rtlCol="0" anchor="t"/>
          <a:lstStyle/>
          <a:p>
            <a:pPr algn="l" indent="0" marL="0">
              <a:lnSpc>
                <a:spcPct val="110000"/>
              </a:lnSpc>
              <a:buNone/>
            </a:pPr>
            <a:r>
              <a:rPr lang="en-US" sz="1100" dirty="0">
                <a:solidFill>
                  <a:srgbClr val="555555"/>
                </a:solidFill>
                <a:latin typeface="Arial" pitchFamily="34" charset="0"/>
                <a:ea typeface="Arial" pitchFamily="34" charset="-122"/>
                <a:cs typeface="Arial" pitchFamily="34" charset="-120"/>
              </a:rPr>
              <a:t>From a weak topic in Smart Assess, ‘one tap’ to the lessons and practice for it.</a:t>
            </a:r>
            <a:endParaRPr lang="en-US" sz="1100" dirty="0"/>
          </a:p>
        </p:txBody>
      </p:sp>
      <p:pic>
        <p:nvPicPr>
          <p:cNvPr id="31" name="Image 0" descr="/Users/boxerboychris/exam-platform/marketing/presentation/assets-v2/shot-builder.png">    </p:cNvPr>
          <p:cNvPicPr>
            <a:picLocks noChangeAspect="1"/>
          </p:cNvPicPr>
          <p:nvPr/>
        </p:nvPicPr>
        <p:blipFill>
          <a:blip r:embed="rId2"/>
          <a:srcRect l="-89" r="-89" t="0" b="0"/>
          <a:stretch/>
        </p:blipFill>
        <p:spPr>
          <a:xfrm>
            <a:off x="6400800" y="1874520"/>
            <a:ext cx="4526280" cy="2926080"/>
          </a:xfrm>
          <a:prstGeom prst="rect">
            <a:avLst/>
          </a:prstGeom>
        </p:spPr>
      </p:pic>
      <p:sp>
        <p:nvSpPr>
          <p:cNvPr id="32" name="Shape 28"/>
          <p:cNvSpPr/>
          <p:nvPr/>
        </p:nvSpPr>
        <p:spPr>
          <a:xfrm>
            <a:off x="6400800" y="1874520"/>
            <a:ext cx="4526280" cy="2926080"/>
          </a:xfrm>
          <a:prstGeom prst="rect">
            <a:avLst/>
          </a:prstGeom>
          <a:ln w="25400">
            <a:solidFill>
              <a:srgbClr val="1E1208"/>
            </a:solidFill>
            <a:prstDash val="solid"/>
          </a:ln>
        </p:spPr>
      </p:sp>
      <p:sp>
        <p:nvSpPr>
          <p:cNvPr id="33" name="Text 29"/>
          <p:cNvSpPr/>
          <p:nvPr/>
        </p:nvSpPr>
        <p:spPr>
          <a:xfrm>
            <a:off x="6400800" y="4864608"/>
            <a:ext cx="4526280" cy="457200"/>
          </a:xfrm>
          <a:prstGeom prst="rect">
            <a:avLst/>
          </a:prstGeom>
          <a:noFill/>
          <a:ln/>
        </p:spPr>
        <p:txBody>
          <a:bodyPr wrap="square" lIns="0" tIns="0" rIns="0" bIns="0" rtlCol="0" anchor="t"/>
          <a:lstStyle/>
          <a:p>
            <a:pPr algn="l" indent="0" marL="0">
              <a:lnSpc>
                <a:spcPct val="110000"/>
              </a:lnSpc>
              <a:buNone/>
            </a:pPr>
            <a:r>
              <a:rPr lang="en-US" sz="1000" dirty="0">
                <a:solidFill>
                  <a:srgbClr val="555555"/>
                </a:solidFill>
                <a:latin typeface="Arial" pitchFamily="34" charset="0"/>
                <a:ea typeface="Arial" pitchFamily="34" charset="-122"/>
                <a:cs typeface="Arial" pitchFamily="34" charset="-120"/>
              </a:rPr>
              <a:t>A teacher's lesson builder, with the optional "Draft with AI" button. Demo data.</a:t>
            </a:r>
            <a:endParaRPr lang="en-US" sz="1000" dirty="0"/>
          </a:p>
        </p:txBody>
      </p:sp>
      <p:sp>
        <p:nvSpPr>
          <p:cNvPr id="34" name="Shape 30"/>
          <p:cNvSpPr/>
          <p:nvPr/>
        </p:nvSpPr>
        <p:spPr>
          <a:xfrm>
            <a:off x="1417320" y="5943600"/>
            <a:ext cx="9509760" cy="502920"/>
          </a:xfrm>
          <a:prstGeom prst="rect">
            <a:avLst/>
          </a:prstGeom>
          <a:solidFill>
            <a:srgbClr val="1E1208"/>
          </a:solidFill>
          <a:ln/>
        </p:spPr>
      </p:sp>
      <p:sp>
        <p:nvSpPr>
          <p:cNvPr id="35" name="Text 31"/>
          <p:cNvSpPr/>
          <p:nvPr/>
        </p:nvSpPr>
        <p:spPr>
          <a:xfrm>
            <a:off x="1600200" y="5943600"/>
            <a:ext cx="9144000" cy="502920"/>
          </a:xfrm>
          <a:prstGeom prst="rect">
            <a:avLst/>
          </a:prstGeom>
          <a:noFill/>
          <a:ln/>
        </p:spPr>
        <p:txBody>
          <a:bodyPr wrap="square" lIns="0" tIns="0" rIns="0" bIns="0" rtlCol="0" anchor="ctr"/>
          <a:lstStyle/>
          <a:p>
            <a:pPr algn="l" indent="0" marL="0">
              <a:lnSpc>
                <a:spcPct val="110000"/>
              </a:lnSpc>
              <a:buNone/>
            </a:pPr>
            <a:r>
              <a:rPr lang="en-US" sz="1300" b="1" dirty="0">
                <a:solidFill>
                  <a:srgbClr val="FFFFFF"/>
                </a:solidFill>
                <a:latin typeface="Arial" pitchFamily="34" charset="0"/>
                <a:ea typeface="Arial" pitchFamily="34" charset="-122"/>
                <a:cs typeface="Arial" pitchFamily="34" charset="-120"/>
              </a:rPr>
              <a:t>7 of 12 students chose flashcards. 9 of 10 teachers asked for activities at different ability levels.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368735" y="3026664"/>
            <a:ext cx="822960" cy="1152144"/>
          </a:xfrm>
          <a:prstGeom prst="rect">
            <a:avLst/>
          </a:prstGeom>
          <a:solidFill>
            <a:srgbClr val="E3B51E"/>
          </a:solidFill>
          <a:ln w="25400">
            <a:solidFill>
              <a:srgbClr val="1E1208"/>
            </a:solidFill>
            <a:prstDash val="solid"/>
          </a:ln>
        </p:spPr>
      </p:sp>
      <p:sp>
        <p:nvSpPr>
          <p:cNvPr id="7" name="Text 5"/>
          <p:cNvSpPr/>
          <p:nvPr/>
        </p:nvSpPr>
        <p:spPr>
          <a:xfrm>
            <a:off x="11368735" y="3026664"/>
            <a:ext cx="822960"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SMART LEARNING</a:t>
            </a:r>
            <a:endParaRPr lang="en-US" sz="115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indent="0" marL="0">
              <a:buNone/>
            </a:pPr>
            <a:r>
              <a:rPr lang="en-US" sz="4300" dirty="0">
                <a:solidFill>
                  <a:srgbClr val="1E1208"/>
                </a:solidFill>
                <a:latin typeface="Impact" pitchFamily="34" charset="0"/>
                <a:ea typeface="Impact" pitchFamily="34" charset="-122"/>
                <a:cs typeface="Impact" pitchFamily="34" charset="-120"/>
              </a:rPr>
              <a:t>THE LIBRARY: READ IT, LISTEN TO IT, ASSIGN IT</a:t>
            </a:r>
            <a:endParaRPr lang="en-US" sz="4300" dirty="0"/>
          </a:p>
        </p:txBody>
      </p:sp>
      <p:sp>
        <p:nvSpPr>
          <p:cNvPr id="15" name="Shape 12"/>
          <p:cNvSpPr/>
          <p:nvPr/>
        </p:nvSpPr>
        <p:spPr>
          <a:xfrm>
            <a:off x="1417320" y="1920240"/>
            <a:ext cx="685800" cy="676656"/>
          </a:xfrm>
          <a:prstGeom prst="rect">
            <a:avLst/>
          </a:prstGeom>
          <a:solidFill>
            <a:srgbClr val="E3B51E"/>
          </a:solidFill>
          <a:ln w="25400">
            <a:solidFill>
              <a:srgbClr val="1E1208"/>
            </a:solidFill>
            <a:prstDash val="solid"/>
          </a:ln>
        </p:spPr>
      </p:sp>
      <p:sp>
        <p:nvSpPr>
          <p:cNvPr id="16" name="Text 13"/>
          <p:cNvSpPr/>
          <p:nvPr/>
        </p:nvSpPr>
        <p:spPr>
          <a:xfrm>
            <a:off x="1417320" y="1920240"/>
            <a:ext cx="685800" cy="676656"/>
          </a:xfrm>
          <a:prstGeom prst="rect">
            <a:avLst/>
          </a:prstGeom>
          <a:noFill/>
          <a:ln/>
        </p:spPr>
        <p:txBody>
          <a:bodyPr wrap="square" lIns="0" tIns="0" rIns="0" bIns="0" rtlCol="0" anchor="ctr"/>
          <a:lstStyle/>
          <a:p>
            <a:pPr algn="ctr" indent="0" marL="0">
              <a:lnSpc>
                <a:spcPct val="110000"/>
              </a:lnSpc>
              <a:buNone/>
            </a:pPr>
            <a:r>
              <a:rPr lang="en-US" sz="4400" dirty="0">
                <a:solidFill>
                  <a:srgbClr val="1E1208"/>
                </a:solidFill>
                <a:latin typeface="Impact" pitchFamily="34" charset="0"/>
                <a:ea typeface="Impact" pitchFamily="34" charset="-122"/>
                <a:cs typeface="Impact" pitchFamily="34" charset="-120"/>
              </a:rPr>
              <a:t>1</a:t>
            </a:r>
            <a:endParaRPr lang="en-US" sz="4400" dirty="0"/>
          </a:p>
        </p:txBody>
      </p:sp>
      <p:sp>
        <p:nvSpPr>
          <p:cNvPr id="17" name="Shape 14"/>
          <p:cNvSpPr/>
          <p:nvPr/>
        </p:nvSpPr>
        <p:spPr>
          <a:xfrm>
            <a:off x="2103120" y="1920240"/>
            <a:ext cx="8823960" cy="676656"/>
          </a:xfrm>
          <a:prstGeom prst="rect">
            <a:avLst/>
          </a:prstGeom>
          <a:solidFill>
            <a:srgbClr val="FFFFFF"/>
          </a:solidFill>
          <a:ln w="25400">
            <a:solidFill>
              <a:srgbClr val="1E1208"/>
            </a:solidFill>
            <a:prstDash val="solid"/>
          </a:ln>
        </p:spPr>
      </p:sp>
      <p:sp>
        <p:nvSpPr>
          <p:cNvPr id="18" name="Text 15"/>
          <p:cNvSpPr/>
          <p:nvPr/>
        </p:nvSpPr>
        <p:spPr>
          <a:xfrm>
            <a:off x="2286000" y="1920240"/>
            <a:ext cx="2743200" cy="676656"/>
          </a:xfrm>
          <a:prstGeom prst="rect">
            <a:avLst/>
          </a:prstGeom>
          <a:noFill/>
          <a:ln/>
        </p:spPr>
        <p:txBody>
          <a:bodyPr wrap="square" lIns="0" tIns="0" rIns="0" bIns="0" rtlCol="0" anchor="ctr"/>
          <a:lstStyle/>
          <a:p>
            <a:pPr algn="l" indent="0" marL="0">
              <a:lnSpc>
                <a:spcPct val="110000"/>
              </a:lnSpc>
              <a:buNone/>
            </a:pPr>
            <a:r>
              <a:rPr lang="en-US" sz="1600" dirty="0">
                <a:solidFill>
                  <a:srgbClr val="1E1208"/>
                </a:solidFill>
                <a:latin typeface="Impact" pitchFamily="34" charset="0"/>
                <a:ea typeface="Impact" pitchFamily="34" charset="-122"/>
                <a:cs typeface="Impact" pitchFamily="34" charset="-120"/>
              </a:rPr>
              <a:t>READ OR LISTEN</a:t>
            </a:r>
            <a:endParaRPr lang="en-US" sz="1600" dirty="0"/>
          </a:p>
        </p:txBody>
      </p:sp>
      <p:sp>
        <p:nvSpPr>
          <p:cNvPr id="19" name="Text 16"/>
          <p:cNvSpPr/>
          <p:nvPr/>
        </p:nvSpPr>
        <p:spPr>
          <a:xfrm>
            <a:off x="4846320" y="1920240"/>
            <a:ext cx="5943600" cy="676656"/>
          </a:xfrm>
          <a:prstGeom prst="rect">
            <a:avLst/>
          </a:prstGeom>
          <a:noFill/>
          <a:ln/>
        </p:spPr>
        <p:txBody>
          <a:bodyPr wrap="square" lIns="0" tIns="0" rIns="0" bIns="0" rtlCol="0" anchor="ctr"/>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Page by page, or audio that remembers where the student stopped.</a:t>
            </a:r>
            <a:endParaRPr lang="en-US" sz="1250" dirty="0"/>
          </a:p>
        </p:txBody>
      </p:sp>
      <p:sp>
        <p:nvSpPr>
          <p:cNvPr id="20" name="Shape 17"/>
          <p:cNvSpPr/>
          <p:nvPr/>
        </p:nvSpPr>
        <p:spPr>
          <a:xfrm>
            <a:off x="1417320" y="2706624"/>
            <a:ext cx="685800" cy="676656"/>
          </a:xfrm>
          <a:prstGeom prst="rect">
            <a:avLst/>
          </a:prstGeom>
          <a:solidFill>
            <a:srgbClr val="E3B51E"/>
          </a:solidFill>
          <a:ln w="25400">
            <a:solidFill>
              <a:srgbClr val="1E1208"/>
            </a:solidFill>
            <a:prstDash val="solid"/>
          </a:ln>
        </p:spPr>
      </p:sp>
      <p:sp>
        <p:nvSpPr>
          <p:cNvPr id="21" name="Text 18"/>
          <p:cNvSpPr/>
          <p:nvPr/>
        </p:nvSpPr>
        <p:spPr>
          <a:xfrm>
            <a:off x="1417320" y="2706624"/>
            <a:ext cx="685800" cy="676656"/>
          </a:xfrm>
          <a:prstGeom prst="rect">
            <a:avLst/>
          </a:prstGeom>
          <a:noFill/>
          <a:ln/>
        </p:spPr>
        <p:txBody>
          <a:bodyPr wrap="square" lIns="0" tIns="0" rIns="0" bIns="0" rtlCol="0" anchor="ctr"/>
          <a:lstStyle/>
          <a:p>
            <a:pPr algn="ctr" indent="0" marL="0">
              <a:lnSpc>
                <a:spcPct val="110000"/>
              </a:lnSpc>
              <a:buNone/>
            </a:pPr>
            <a:r>
              <a:rPr lang="en-US" sz="4400" dirty="0">
                <a:solidFill>
                  <a:srgbClr val="1E1208"/>
                </a:solidFill>
                <a:latin typeface="Impact" pitchFamily="34" charset="0"/>
                <a:ea typeface="Impact" pitchFamily="34" charset="-122"/>
                <a:cs typeface="Impact" pitchFamily="34" charset="-120"/>
              </a:rPr>
              <a:t>2</a:t>
            </a:r>
            <a:endParaRPr lang="en-US" sz="4400" dirty="0"/>
          </a:p>
        </p:txBody>
      </p:sp>
      <p:sp>
        <p:nvSpPr>
          <p:cNvPr id="22" name="Shape 19"/>
          <p:cNvSpPr/>
          <p:nvPr/>
        </p:nvSpPr>
        <p:spPr>
          <a:xfrm>
            <a:off x="2103120" y="2706624"/>
            <a:ext cx="8823960" cy="676656"/>
          </a:xfrm>
          <a:prstGeom prst="rect">
            <a:avLst/>
          </a:prstGeom>
          <a:solidFill>
            <a:srgbClr val="FFFFFF"/>
          </a:solidFill>
          <a:ln w="25400">
            <a:solidFill>
              <a:srgbClr val="1E1208"/>
            </a:solidFill>
            <a:prstDash val="solid"/>
          </a:ln>
        </p:spPr>
      </p:sp>
      <p:sp>
        <p:nvSpPr>
          <p:cNvPr id="23" name="Text 20"/>
          <p:cNvSpPr/>
          <p:nvPr/>
        </p:nvSpPr>
        <p:spPr>
          <a:xfrm>
            <a:off x="2286000" y="2706624"/>
            <a:ext cx="2743200" cy="676656"/>
          </a:xfrm>
          <a:prstGeom prst="rect">
            <a:avLst/>
          </a:prstGeom>
          <a:noFill/>
          <a:ln/>
        </p:spPr>
        <p:txBody>
          <a:bodyPr wrap="square" lIns="0" tIns="0" rIns="0" bIns="0" rtlCol="0" anchor="ctr"/>
          <a:lstStyle/>
          <a:p>
            <a:pPr algn="l" indent="0" marL="0">
              <a:lnSpc>
                <a:spcPct val="110000"/>
              </a:lnSpc>
              <a:buNone/>
            </a:pPr>
            <a:r>
              <a:rPr lang="en-US" sz="1600" dirty="0">
                <a:solidFill>
                  <a:srgbClr val="1E1208"/>
                </a:solidFill>
                <a:latin typeface="Impact" pitchFamily="34" charset="0"/>
                <a:ea typeface="Impact" pitchFamily="34" charset="-122"/>
                <a:cs typeface="Impact" pitchFamily="34" charset="-120"/>
              </a:rPr>
              <a:t>BROWSE YOUR WAY</a:t>
            </a:r>
            <a:endParaRPr lang="en-US" sz="1600" dirty="0"/>
          </a:p>
        </p:txBody>
      </p:sp>
      <p:sp>
        <p:nvSpPr>
          <p:cNvPr id="24" name="Text 21"/>
          <p:cNvSpPr/>
          <p:nvPr/>
        </p:nvSpPr>
        <p:spPr>
          <a:xfrm>
            <a:off x="4846320" y="2706624"/>
            <a:ext cx="5943600" cy="676656"/>
          </a:xfrm>
          <a:prstGeom prst="rect">
            <a:avLst/>
          </a:prstGeom>
          <a:noFill/>
          <a:ln/>
        </p:spPr>
        <p:txBody>
          <a:bodyPr wrap="square" lIns="0" tIns="0" rIns="0" bIns="0" rtlCol="0" anchor="ctr"/>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By shelf, genre or subject: curriculum books and reading for fun.</a:t>
            </a:r>
            <a:endParaRPr lang="en-US" sz="1250" dirty="0"/>
          </a:p>
        </p:txBody>
      </p:sp>
      <p:sp>
        <p:nvSpPr>
          <p:cNvPr id="25" name="Shape 22"/>
          <p:cNvSpPr/>
          <p:nvPr/>
        </p:nvSpPr>
        <p:spPr>
          <a:xfrm>
            <a:off x="1417320" y="3493008"/>
            <a:ext cx="685800" cy="676656"/>
          </a:xfrm>
          <a:prstGeom prst="rect">
            <a:avLst/>
          </a:prstGeom>
          <a:solidFill>
            <a:srgbClr val="E3B51E"/>
          </a:solidFill>
          <a:ln w="25400">
            <a:solidFill>
              <a:srgbClr val="1E1208"/>
            </a:solidFill>
            <a:prstDash val="solid"/>
          </a:ln>
        </p:spPr>
      </p:sp>
      <p:sp>
        <p:nvSpPr>
          <p:cNvPr id="26" name="Text 23"/>
          <p:cNvSpPr/>
          <p:nvPr/>
        </p:nvSpPr>
        <p:spPr>
          <a:xfrm>
            <a:off x="1417320" y="3493008"/>
            <a:ext cx="685800" cy="676656"/>
          </a:xfrm>
          <a:prstGeom prst="rect">
            <a:avLst/>
          </a:prstGeom>
          <a:noFill/>
          <a:ln/>
        </p:spPr>
        <p:txBody>
          <a:bodyPr wrap="square" lIns="0" tIns="0" rIns="0" bIns="0" rtlCol="0" anchor="ctr"/>
          <a:lstStyle/>
          <a:p>
            <a:pPr algn="ctr" indent="0" marL="0">
              <a:lnSpc>
                <a:spcPct val="110000"/>
              </a:lnSpc>
              <a:buNone/>
            </a:pPr>
            <a:r>
              <a:rPr lang="en-US" sz="4400" dirty="0">
                <a:solidFill>
                  <a:srgbClr val="1E1208"/>
                </a:solidFill>
                <a:latin typeface="Impact" pitchFamily="34" charset="0"/>
                <a:ea typeface="Impact" pitchFamily="34" charset="-122"/>
                <a:cs typeface="Impact" pitchFamily="34" charset="-120"/>
              </a:rPr>
              <a:t>3</a:t>
            </a:r>
            <a:endParaRPr lang="en-US" sz="4400" dirty="0"/>
          </a:p>
        </p:txBody>
      </p:sp>
      <p:sp>
        <p:nvSpPr>
          <p:cNvPr id="27" name="Shape 24"/>
          <p:cNvSpPr/>
          <p:nvPr/>
        </p:nvSpPr>
        <p:spPr>
          <a:xfrm>
            <a:off x="2103120" y="3493008"/>
            <a:ext cx="8823960" cy="676656"/>
          </a:xfrm>
          <a:prstGeom prst="rect">
            <a:avLst/>
          </a:prstGeom>
          <a:solidFill>
            <a:srgbClr val="FFFFFF"/>
          </a:solidFill>
          <a:ln w="25400">
            <a:solidFill>
              <a:srgbClr val="1E1208"/>
            </a:solidFill>
            <a:prstDash val="solid"/>
          </a:ln>
        </p:spPr>
      </p:sp>
      <p:sp>
        <p:nvSpPr>
          <p:cNvPr id="28" name="Text 25"/>
          <p:cNvSpPr/>
          <p:nvPr/>
        </p:nvSpPr>
        <p:spPr>
          <a:xfrm>
            <a:off x="2286000" y="3493008"/>
            <a:ext cx="2743200" cy="676656"/>
          </a:xfrm>
          <a:prstGeom prst="rect">
            <a:avLst/>
          </a:prstGeom>
          <a:noFill/>
          <a:ln/>
        </p:spPr>
        <p:txBody>
          <a:bodyPr wrap="square" lIns="0" tIns="0" rIns="0" bIns="0" rtlCol="0" anchor="ctr"/>
          <a:lstStyle/>
          <a:p>
            <a:pPr algn="l" indent="0" marL="0">
              <a:lnSpc>
                <a:spcPct val="110000"/>
              </a:lnSpc>
              <a:buNone/>
            </a:pPr>
            <a:r>
              <a:rPr lang="en-US" sz="1600" dirty="0">
                <a:solidFill>
                  <a:srgbClr val="1E1208"/>
                </a:solidFill>
                <a:latin typeface="Impact" pitchFamily="34" charset="0"/>
                <a:ea typeface="Impact" pitchFamily="34" charset="-122"/>
                <a:cs typeface="Impact" pitchFamily="34" charset="-120"/>
              </a:rPr>
              <a:t>TEACHER ASSIGNMENTS</a:t>
            </a:r>
            <a:endParaRPr lang="en-US" sz="1600" dirty="0"/>
          </a:p>
        </p:txBody>
      </p:sp>
      <p:sp>
        <p:nvSpPr>
          <p:cNvPr id="29" name="Text 26"/>
          <p:cNvSpPr/>
          <p:nvPr/>
        </p:nvSpPr>
        <p:spPr>
          <a:xfrm>
            <a:off x="4846320" y="3493008"/>
            <a:ext cx="5943600" cy="676656"/>
          </a:xfrm>
          <a:prstGeom prst="rect">
            <a:avLst/>
          </a:prstGeom>
          <a:noFill/>
          <a:ln/>
        </p:spPr>
        <p:txBody>
          <a:bodyPr wrap="square" lIns="0" tIns="0" rIns="0" bIns="0" rtlCol="0" anchor="ctr"/>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Assign a book or chapter with a due date and see who finished.</a:t>
            </a:r>
            <a:endParaRPr lang="en-US" sz="1250" dirty="0"/>
          </a:p>
        </p:txBody>
      </p:sp>
      <p:sp>
        <p:nvSpPr>
          <p:cNvPr id="30" name="Shape 27"/>
          <p:cNvSpPr/>
          <p:nvPr/>
        </p:nvSpPr>
        <p:spPr>
          <a:xfrm>
            <a:off x="1417320" y="4279392"/>
            <a:ext cx="685800" cy="676656"/>
          </a:xfrm>
          <a:prstGeom prst="rect">
            <a:avLst/>
          </a:prstGeom>
          <a:solidFill>
            <a:srgbClr val="E3B51E"/>
          </a:solidFill>
          <a:ln w="25400">
            <a:solidFill>
              <a:srgbClr val="1E1208"/>
            </a:solidFill>
            <a:prstDash val="solid"/>
          </a:ln>
        </p:spPr>
      </p:sp>
      <p:sp>
        <p:nvSpPr>
          <p:cNvPr id="31" name="Text 28"/>
          <p:cNvSpPr/>
          <p:nvPr/>
        </p:nvSpPr>
        <p:spPr>
          <a:xfrm>
            <a:off x="1417320" y="4279392"/>
            <a:ext cx="685800" cy="676656"/>
          </a:xfrm>
          <a:prstGeom prst="rect">
            <a:avLst/>
          </a:prstGeom>
          <a:noFill/>
          <a:ln/>
        </p:spPr>
        <p:txBody>
          <a:bodyPr wrap="square" lIns="0" tIns="0" rIns="0" bIns="0" rtlCol="0" anchor="ctr"/>
          <a:lstStyle/>
          <a:p>
            <a:pPr algn="ctr" indent="0" marL="0">
              <a:lnSpc>
                <a:spcPct val="110000"/>
              </a:lnSpc>
              <a:buNone/>
            </a:pPr>
            <a:r>
              <a:rPr lang="en-US" sz="4400" dirty="0">
                <a:solidFill>
                  <a:srgbClr val="1E1208"/>
                </a:solidFill>
                <a:latin typeface="Impact" pitchFamily="34" charset="0"/>
                <a:ea typeface="Impact" pitchFamily="34" charset="-122"/>
                <a:cs typeface="Impact" pitchFamily="34" charset="-120"/>
              </a:rPr>
              <a:t>4</a:t>
            </a:r>
            <a:endParaRPr lang="en-US" sz="4400" dirty="0"/>
          </a:p>
        </p:txBody>
      </p:sp>
      <p:sp>
        <p:nvSpPr>
          <p:cNvPr id="32" name="Shape 29"/>
          <p:cNvSpPr/>
          <p:nvPr/>
        </p:nvSpPr>
        <p:spPr>
          <a:xfrm>
            <a:off x="2103120" y="4279392"/>
            <a:ext cx="8823960" cy="676656"/>
          </a:xfrm>
          <a:prstGeom prst="rect">
            <a:avLst/>
          </a:prstGeom>
          <a:solidFill>
            <a:srgbClr val="FFFFFF"/>
          </a:solidFill>
          <a:ln w="25400">
            <a:solidFill>
              <a:srgbClr val="1E1208"/>
            </a:solidFill>
            <a:prstDash val="solid"/>
          </a:ln>
        </p:spPr>
      </p:sp>
      <p:sp>
        <p:nvSpPr>
          <p:cNvPr id="33" name="Text 30"/>
          <p:cNvSpPr/>
          <p:nvPr/>
        </p:nvSpPr>
        <p:spPr>
          <a:xfrm>
            <a:off x="2286000" y="4279392"/>
            <a:ext cx="2743200" cy="676656"/>
          </a:xfrm>
          <a:prstGeom prst="rect">
            <a:avLst/>
          </a:prstGeom>
          <a:noFill/>
          <a:ln/>
        </p:spPr>
        <p:txBody>
          <a:bodyPr wrap="square" lIns="0" tIns="0" rIns="0" bIns="0" rtlCol="0" anchor="ctr"/>
          <a:lstStyle/>
          <a:p>
            <a:pPr algn="l" indent="0" marL="0">
              <a:lnSpc>
                <a:spcPct val="110000"/>
              </a:lnSpc>
              <a:buNone/>
            </a:pPr>
            <a:r>
              <a:rPr lang="en-US" sz="1600" dirty="0">
                <a:solidFill>
                  <a:srgbClr val="1E1208"/>
                </a:solidFill>
                <a:latin typeface="Impact" pitchFamily="34" charset="0"/>
                <a:ea typeface="Impact" pitchFamily="34" charset="-122"/>
                <a:cs typeface="Impact" pitchFamily="34" charset="-120"/>
              </a:rPr>
              <a:t>BOOKMARKS AND NOTES</a:t>
            </a:r>
            <a:endParaRPr lang="en-US" sz="1600" dirty="0"/>
          </a:p>
        </p:txBody>
      </p:sp>
      <p:sp>
        <p:nvSpPr>
          <p:cNvPr id="34" name="Text 31"/>
          <p:cNvSpPr/>
          <p:nvPr/>
        </p:nvSpPr>
        <p:spPr>
          <a:xfrm>
            <a:off x="4846320" y="4279392"/>
            <a:ext cx="5943600" cy="676656"/>
          </a:xfrm>
          <a:prstGeom prst="rect">
            <a:avLst/>
          </a:prstGeom>
          <a:noFill/>
          <a:ln/>
        </p:spPr>
        <p:txBody>
          <a:bodyPr wrap="square" lIns="0" tIns="0" rIns="0" bIns="0" rtlCol="0" anchor="ctr"/>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Students keep private bookmarks and notes. Teachers cannot read them.</a:t>
            </a:r>
            <a:endParaRPr lang="en-US" sz="1250" dirty="0"/>
          </a:p>
        </p:txBody>
      </p:sp>
      <p:sp>
        <p:nvSpPr>
          <p:cNvPr id="35" name="Shape 32"/>
          <p:cNvSpPr/>
          <p:nvPr/>
        </p:nvSpPr>
        <p:spPr>
          <a:xfrm>
            <a:off x="1417320" y="5065776"/>
            <a:ext cx="685800" cy="676656"/>
          </a:xfrm>
          <a:prstGeom prst="rect">
            <a:avLst/>
          </a:prstGeom>
          <a:solidFill>
            <a:srgbClr val="E3B51E"/>
          </a:solidFill>
          <a:ln w="25400">
            <a:solidFill>
              <a:srgbClr val="1E1208"/>
            </a:solidFill>
            <a:prstDash val="solid"/>
          </a:ln>
        </p:spPr>
      </p:sp>
      <p:sp>
        <p:nvSpPr>
          <p:cNvPr id="36" name="Text 33"/>
          <p:cNvSpPr/>
          <p:nvPr/>
        </p:nvSpPr>
        <p:spPr>
          <a:xfrm>
            <a:off x="1417320" y="5065776"/>
            <a:ext cx="685800" cy="676656"/>
          </a:xfrm>
          <a:prstGeom prst="rect">
            <a:avLst/>
          </a:prstGeom>
          <a:noFill/>
          <a:ln/>
        </p:spPr>
        <p:txBody>
          <a:bodyPr wrap="square" lIns="0" tIns="0" rIns="0" bIns="0" rtlCol="0" anchor="ctr"/>
          <a:lstStyle/>
          <a:p>
            <a:pPr algn="ctr" indent="0" marL="0">
              <a:lnSpc>
                <a:spcPct val="110000"/>
              </a:lnSpc>
              <a:buNone/>
            </a:pPr>
            <a:r>
              <a:rPr lang="en-US" sz="4400" dirty="0">
                <a:solidFill>
                  <a:srgbClr val="1E1208"/>
                </a:solidFill>
                <a:latin typeface="Impact" pitchFamily="34" charset="0"/>
                <a:ea typeface="Impact" pitchFamily="34" charset="-122"/>
                <a:cs typeface="Impact" pitchFamily="34" charset="-120"/>
              </a:rPr>
              <a:t>5</a:t>
            </a:r>
            <a:endParaRPr lang="en-US" sz="4400" dirty="0"/>
          </a:p>
        </p:txBody>
      </p:sp>
      <p:sp>
        <p:nvSpPr>
          <p:cNvPr id="37" name="Shape 34"/>
          <p:cNvSpPr/>
          <p:nvPr/>
        </p:nvSpPr>
        <p:spPr>
          <a:xfrm>
            <a:off x="2103120" y="5065776"/>
            <a:ext cx="8823960" cy="676656"/>
          </a:xfrm>
          <a:prstGeom prst="rect">
            <a:avLst/>
          </a:prstGeom>
          <a:solidFill>
            <a:srgbClr val="FFFFFF"/>
          </a:solidFill>
          <a:ln w="25400">
            <a:solidFill>
              <a:srgbClr val="1E1208"/>
            </a:solidFill>
            <a:prstDash val="solid"/>
          </a:ln>
        </p:spPr>
      </p:sp>
      <p:sp>
        <p:nvSpPr>
          <p:cNvPr id="38" name="Text 35"/>
          <p:cNvSpPr/>
          <p:nvPr/>
        </p:nvSpPr>
        <p:spPr>
          <a:xfrm>
            <a:off x="2286000" y="5065776"/>
            <a:ext cx="2743200" cy="676656"/>
          </a:xfrm>
          <a:prstGeom prst="rect">
            <a:avLst/>
          </a:prstGeom>
          <a:noFill/>
          <a:ln/>
        </p:spPr>
        <p:txBody>
          <a:bodyPr wrap="square" lIns="0" tIns="0" rIns="0" bIns="0" rtlCol="0" anchor="ctr"/>
          <a:lstStyle/>
          <a:p>
            <a:pPr algn="l" indent="0" marL="0">
              <a:lnSpc>
                <a:spcPct val="110000"/>
              </a:lnSpc>
              <a:buNone/>
            </a:pPr>
            <a:r>
              <a:rPr lang="en-US" sz="1600" dirty="0">
                <a:solidFill>
                  <a:srgbClr val="1E1208"/>
                </a:solidFill>
                <a:latin typeface="Impact" pitchFamily="34" charset="0"/>
                <a:ea typeface="Impact" pitchFamily="34" charset="-122"/>
                <a:cs typeface="Impact" pitchFamily="34" charset="-120"/>
              </a:rPr>
              <a:t>SCHOOL CONTROLS</a:t>
            </a:r>
            <a:endParaRPr lang="en-US" sz="1600" dirty="0"/>
          </a:p>
        </p:txBody>
      </p:sp>
      <p:sp>
        <p:nvSpPr>
          <p:cNvPr id="39" name="Text 36"/>
          <p:cNvSpPr/>
          <p:nvPr/>
        </p:nvSpPr>
        <p:spPr>
          <a:xfrm>
            <a:off x="4846320" y="5065776"/>
            <a:ext cx="5943600" cy="676656"/>
          </a:xfrm>
          <a:prstGeom prst="rect">
            <a:avLst/>
          </a:prstGeom>
          <a:noFill/>
          <a:ln/>
        </p:spPr>
        <p:txBody>
          <a:bodyPr wrap="square" lIns="0" tIns="0" rIns="0" bIns="0" rtlCol="0" anchor="ctr"/>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The school chooses shelves, year groups, audio and which titles are visible.</a:t>
            </a:r>
            <a:endParaRPr lang="en-US" sz="1250" dirty="0"/>
          </a:p>
        </p:txBody>
      </p:sp>
      <p:sp>
        <p:nvSpPr>
          <p:cNvPr id="40" name="Shape 37"/>
          <p:cNvSpPr/>
          <p:nvPr/>
        </p:nvSpPr>
        <p:spPr>
          <a:xfrm>
            <a:off x="1417320" y="5989320"/>
            <a:ext cx="9509760" cy="502920"/>
          </a:xfrm>
          <a:prstGeom prst="rect">
            <a:avLst/>
          </a:prstGeom>
          <a:solidFill>
            <a:srgbClr val="1E1208"/>
          </a:solidFill>
          <a:ln/>
        </p:spPr>
      </p:sp>
      <p:sp>
        <p:nvSpPr>
          <p:cNvPr id="41" name="Text 38"/>
          <p:cNvSpPr/>
          <p:nvPr/>
        </p:nvSpPr>
        <p:spPr>
          <a:xfrm>
            <a:off x="1600200" y="5989320"/>
            <a:ext cx="9144000" cy="502920"/>
          </a:xfrm>
          <a:prstGeom prst="rect">
            <a:avLst/>
          </a:prstGeom>
          <a:noFill/>
          <a:ln/>
        </p:spPr>
        <p:txBody>
          <a:bodyPr wrap="square" lIns="0" tIns="0" rIns="0" bIns="0" rtlCol="0" anchor="ctr"/>
          <a:lstStyle/>
          <a:p>
            <a:pPr algn="l" indent="0" marL="0">
              <a:lnSpc>
                <a:spcPct val="110000"/>
              </a:lnSpc>
              <a:buNone/>
            </a:pPr>
            <a:r>
              <a:rPr lang="en-US" sz="1400" b="1" dirty="0">
                <a:solidFill>
                  <a:srgbClr val="FFFFFF"/>
                </a:solidFill>
                <a:latin typeface="Arial" pitchFamily="34" charset="0"/>
                <a:ea typeface="Arial" pitchFamily="34" charset="-122"/>
                <a:cs typeface="Arial" pitchFamily="34" charset="-120"/>
              </a:rPr>
              <a:t>Every title is chosen and cleared by Smart Assess Ja. Schools do not upload books.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368735" y="4288536"/>
            <a:ext cx="822960" cy="1152144"/>
          </a:xfrm>
          <a:prstGeom prst="rect">
            <a:avLst/>
          </a:prstGeom>
          <a:solidFill>
            <a:srgbClr val="1E1208"/>
          </a:solidFill>
          <a:ln w="25400">
            <a:solidFill>
              <a:srgbClr val="1E1208"/>
            </a:solidFill>
            <a:prstDash val="solid"/>
          </a:ln>
        </p:spPr>
      </p:sp>
      <p:sp>
        <p:nvSpPr>
          <p:cNvPr id="9" name="Text 7"/>
          <p:cNvSpPr/>
          <p:nvPr/>
        </p:nvSpPr>
        <p:spPr>
          <a:xfrm>
            <a:off x="11368735" y="4288536"/>
            <a:ext cx="822960"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MEET THE PRODUCT</a:t>
            </a:r>
            <a:endParaRPr lang="en-US" sz="1150" dirty="0"/>
          </a:p>
        </p:txBody>
      </p:sp>
      <p:sp>
        <p:nvSpPr>
          <p:cNvPr id="14" name="Shape 11"/>
          <p:cNvSpPr/>
          <p:nvPr/>
        </p:nvSpPr>
        <p:spPr>
          <a:xfrm>
            <a:off x="1417320" y="1920240"/>
            <a:ext cx="3931920" cy="3931920"/>
          </a:xfrm>
          <a:prstGeom prst="rect">
            <a:avLst/>
          </a:prstGeom>
          <a:solidFill>
            <a:srgbClr val="1E1208"/>
          </a:solidFill>
          <a:ln w="25400">
            <a:solidFill>
              <a:srgbClr val="1E1208"/>
            </a:solidFill>
            <a:prstDash val="solid"/>
          </a:ln>
        </p:spPr>
      </p:sp>
      <p:sp>
        <p:nvSpPr>
          <p:cNvPr id="15" name="Text 12"/>
          <p:cNvSpPr/>
          <p:nvPr/>
        </p:nvSpPr>
        <p:spPr>
          <a:xfrm>
            <a:off x="1645920" y="2011680"/>
            <a:ext cx="3474720" cy="1463040"/>
          </a:xfrm>
          <a:prstGeom prst="rect">
            <a:avLst/>
          </a:prstGeom>
          <a:noFill/>
          <a:ln/>
        </p:spPr>
        <p:txBody>
          <a:bodyPr wrap="square" lIns="0" tIns="0" rIns="0" bIns="0" rtlCol="0" anchor="t"/>
          <a:lstStyle/>
          <a:p>
            <a:pPr algn="l" indent="0" marL="0">
              <a:lnSpc>
                <a:spcPct val="110000"/>
              </a:lnSpc>
              <a:buNone/>
            </a:pPr>
            <a:r>
              <a:rPr lang="en-US" sz="9600" dirty="0">
                <a:solidFill>
                  <a:srgbClr val="FFFFFF"/>
                </a:solidFill>
                <a:latin typeface="Impact" pitchFamily="34" charset="0"/>
                <a:ea typeface="Impact" pitchFamily="34" charset="-122"/>
                <a:cs typeface="Impact" pitchFamily="34" charset="-120"/>
              </a:rPr>
              <a:t>3</a:t>
            </a:r>
            <a:endParaRPr lang="en-US" sz="9600" dirty="0"/>
          </a:p>
        </p:txBody>
      </p:sp>
      <p:sp>
        <p:nvSpPr>
          <p:cNvPr id="16" name="Text 13"/>
          <p:cNvSpPr/>
          <p:nvPr/>
        </p:nvSpPr>
        <p:spPr>
          <a:xfrm>
            <a:off x="1645920" y="3429000"/>
            <a:ext cx="3474720" cy="1371600"/>
          </a:xfrm>
          <a:prstGeom prst="rect">
            <a:avLst/>
          </a:prstGeom>
          <a:noFill/>
          <a:ln/>
        </p:spPr>
        <p:txBody>
          <a:bodyPr wrap="square" lIns="0" tIns="0" rIns="0" bIns="0" rtlCol="0" anchor="t"/>
          <a:lstStyle/>
          <a:p>
            <a:pPr algn="l" indent="0" marL="0">
              <a:lnSpc>
                <a:spcPct val="95000"/>
              </a:lnSpc>
              <a:buNone/>
            </a:pPr>
            <a:r>
              <a:rPr lang="en-US" sz="4400" dirty="0">
                <a:solidFill>
                  <a:srgbClr val="FFFFFF"/>
                </a:solidFill>
                <a:latin typeface="Impact" pitchFamily="34" charset="0"/>
                <a:ea typeface="Impact" pitchFamily="34" charset="-122"/>
                <a:cs typeface="Impact" pitchFamily="34" charset="-120"/>
              </a:rPr>
              <a:t>SMART</a:t>
            </a:r>
            <a:endParaRPr lang="en-US" sz="4400" dirty="0"/>
          </a:p>
          <a:p>
            <a:pPr algn="l" indent="0" marL="0">
              <a:lnSpc>
                <a:spcPct val="95000"/>
              </a:lnSpc>
              <a:buNone/>
            </a:pPr>
            <a:r>
              <a:rPr lang="en-US" sz="4400" dirty="0">
                <a:solidFill>
                  <a:srgbClr val="FFFFFF"/>
                </a:solidFill>
                <a:latin typeface="Impact" pitchFamily="34" charset="0"/>
                <a:ea typeface="Impact" pitchFamily="34" charset="-122"/>
                <a:cs typeface="Impact" pitchFamily="34" charset="-120"/>
              </a:rPr>
              <a:t>PLAY</a:t>
            </a:r>
            <a:endParaRPr lang="en-US" sz="4400" dirty="0"/>
          </a:p>
        </p:txBody>
      </p:sp>
      <p:sp>
        <p:nvSpPr>
          <p:cNvPr id="17" name="Text 14"/>
          <p:cNvSpPr/>
          <p:nvPr/>
        </p:nvSpPr>
        <p:spPr>
          <a:xfrm>
            <a:off x="1645920" y="4937760"/>
            <a:ext cx="3474720" cy="822960"/>
          </a:xfrm>
          <a:prstGeom prst="rect">
            <a:avLst/>
          </a:prstGeom>
          <a:noFill/>
          <a:ln/>
        </p:spPr>
        <p:txBody>
          <a:bodyPr wrap="square" lIns="0" tIns="0" rIns="0" bIns="0" rtlCol="0" anchor="t"/>
          <a:lstStyle/>
          <a:p>
            <a:pPr algn="l" indent="0" marL="0">
              <a:lnSpc>
                <a:spcPct val="110000"/>
              </a:lnSpc>
              <a:buNone/>
            </a:pPr>
            <a:r>
              <a:rPr lang="en-US" sz="1800" b="1" dirty="0">
                <a:solidFill>
                  <a:srgbClr val="FFFFFF"/>
                </a:solidFill>
                <a:latin typeface="Arial" pitchFamily="34" charset="0"/>
                <a:ea typeface="Arial" pitchFamily="34" charset="-122"/>
                <a:cs typeface="Arial" pitchFamily="34" charset="-120"/>
              </a:rPr>
              <a:t>Make practice fun.</a:t>
            </a:r>
            <a:endParaRPr lang="en-US" sz="1800" dirty="0"/>
          </a:p>
        </p:txBody>
      </p:sp>
      <p:sp>
        <p:nvSpPr>
          <p:cNvPr id="18" name="Text 15"/>
          <p:cNvSpPr/>
          <p:nvPr/>
        </p:nvSpPr>
        <p:spPr>
          <a:xfrm>
            <a:off x="5623560" y="1965960"/>
            <a:ext cx="5303520" cy="1554480"/>
          </a:xfrm>
          <a:prstGeom prst="rect">
            <a:avLst/>
          </a:prstGeom>
          <a:noFill/>
          <a:ln/>
        </p:spPr>
        <p:txBody>
          <a:bodyPr wrap="square" lIns="0" tIns="0" rIns="0" bIns="0" rtlCol="0" anchor="t"/>
          <a:lstStyle/>
          <a:p>
            <a:pPr algn="l" indent="0" marL="0">
              <a:lnSpc>
                <a:spcPct val="115000"/>
              </a:lnSpc>
              <a:buNone/>
            </a:pPr>
            <a:r>
              <a:rPr lang="en-US" sz="1600" b="1" dirty="0">
                <a:solidFill>
                  <a:srgbClr val="1E1208"/>
                </a:solidFill>
                <a:latin typeface="Arial" pitchFamily="34" charset="0"/>
                <a:ea typeface="Arial" pitchFamily="34" charset="-122"/>
                <a:cs typeface="Arial" pitchFamily="34" charset="-120"/>
              </a:rPr>
              <a:t>Quick classroom games and challenges that make practice something students want to do. Games and exams are kept apart: Smart Play never holds a school's official results.</a:t>
            </a:r>
            <a:endParaRPr lang="en-US" sz="1600" dirty="0"/>
          </a:p>
        </p:txBody>
      </p:sp>
      <p:sp>
        <p:nvSpPr>
          <p:cNvPr id="19" name="Text 16"/>
          <p:cNvSpPr/>
          <p:nvPr/>
        </p:nvSpPr>
        <p:spPr>
          <a:xfrm>
            <a:off x="5623560" y="3703320"/>
            <a:ext cx="5303520" cy="274320"/>
          </a:xfrm>
          <a:prstGeom prst="rect">
            <a:avLst/>
          </a:prstGeom>
          <a:noFill/>
          <a:ln/>
        </p:spPr>
        <p:txBody>
          <a:bodyPr wrap="square" lIns="0" tIns="0" rIns="0" bIns="0" rtlCol="0" anchor="t"/>
          <a:lstStyle/>
          <a:p>
            <a:pPr algn="l" indent="0" marL="0">
              <a:lnSpc>
                <a:spcPct val="110000"/>
              </a:lnSpc>
              <a:buNone/>
            </a:pPr>
            <a:r>
              <a:rPr lang="en-US" sz="1100" b="1" spc="200" kern="0" dirty="0">
                <a:solidFill>
                  <a:srgbClr val="1E1208"/>
                </a:solidFill>
                <a:latin typeface="Courier New" pitchFamily="34" charset="0"/>
                <a:ea typeface="Courier New" pitchFamily="34" charset="-122"/>
                <a:cs typeface="Courier New" pitchFamily="34" charset="-120"/>
              </a:rPr>
              <a:t>WHAT IT DOES</a:t>
            </a:r>
            <a:endParaRPr lang="en-US" sz="1100" dirty="0"/>
          </a:p>
        </p:txBody>
      </p:sp>
      <p:sp>
        <p:nvSpPr>
          <p:cNvPr id="20" name="Shape 17"/>
          <p:cNvSpPr/>
          <p:nvPr/>
        </p:nvSpPr>
        <p:spPr>
          <a:xfrm>
            <a:off x="5623560" y="4041648"/>
            <a:ext cx="5303520" cy="475488"/>
          </a:xfrm>
          <a:prstGeom prst="rect">
            <a:avLst/>
          </a:prstGeom>
          <a:solidFill>
            <a:srgbClr val="FFFFFF"/>
          </a:solidFill>
          <a:ln w="25400">
            <a:solidFill>
              <a:srgbClr val="1E1208"/>
            </a:solidFill>
            <a:prstDash val="solid"/>
          </a:ln>
        </p:spPr>
      </p:sp>
      <p:sp>
        <p:nvSpPr>
          <p:cNvPr id="21" name="Text 18"/>
          <p:cNvSpPr/>
          <p:nvPr/>
        </p:nvSpPr>
        <p:spPr>
          <a:xfrm>
            <a:off x="5806440" y="4041648"/>
            <a:ext cx="4983480" cy="475488"/>
          </a:xfrm>
          <a:prstGeom prst="rect">
            <a:avLst/>
          </a:prstGeom>
          <a:noFill/>
          <a:ln/>
        </p:spPr>
        <p:txBody>
          <a:bodyPr wrap="square" lIns="0" tIns="0" rIns="0" bIns="0" rtlCol="0" anchor="ctr"/>
          <a:lstStyle/>
          <a:p>
            <a:pPr algn="l" indent="0" marL="0">
              <a:lnSpc>
                <a:spcPct val="110000"/>
              </a:lnSpc>
              <a:buNone/>
            </a:pPr>
            <a:r>
              <a:rPr lang="en-US" sz="1300" b="1" dirty="0">
                <a:solidFill>
                  <a:srgbClr val="1E1208"/>
                </a:solidFill>
                <a:latin typeface="Arial" pitchFamily="34" charset="0"/>
                <a:ea typeface="Arial" pitchFamily="34" charset="-122"/>
                <a:cs typeface="Arial" pitchFamily="34" charset="-120"/>
              </a:rPr>
              <a:t>Duels, live quizzes, boards and team games</a:t>
            </a:r>
            <a:endParaRPr lang="en-US" sz="1300" dirty="0"/>
          </a:p>
        </p:txBody>
      </p:sp>
      <p:sp>
        <p:nvSpPr>
          <p:cNvPr id="22" name="Shape 19"/>
          <p:cNvSpPr/>
          <p:nvPr/>
        </p:nvSpPr>
        <p:spPr>
          <a:xfrm>
            <a:off x="5623560" y="4590288"/>
            <a:ext cx="5303520" cy="475488"/>
          </a:xfrm>
          <a:prstGeom prst="rect">
            <a:avLst/>
          </a:prstGeom>
          <a:solidFill>
            <a:srgbClr val="FBE9D6"/>
          </a:solidFill>
          <a:ln w="25400">
            <a:solidFill>
              <a:srgbClr val="1E1208"/>
            </a:solidFill>
            <a:prstDash val="solid"/>
          </a:ln>
        </p:spPr>
      </p:sp>
      <p:sp>
        <p:nvSpPr>
          <p:cNvPr id="23" name="Text 20"/>
          <p:cNvSpPr/>
          <p:nvPr/>
        </p:nvSpPr>
        <p:spPr>
          <a:xfrm>
            <a:off x="5806440" y="4590288"/>
            <a:ext cx="4983480" cy="475488"/>
          </a:xfrm>
          <a:prstGeom prst="rect">
            <a:avLst/>
          </a:prstGeom>
          <a:noFill/>
          <a:ln/>
        </p:spPr>
        <p:txBody>
          <a:bodyPr wrap="square" lIns="0" tIns="0" rIns="0" bIns="0" rtlCol="0" anchor="ctr"/>
          <a:lstStyle/>
          <a:p>
            <a:pPr algn="l" indent="0" marL="0">
              <a:lnSpc>
                <a:spcPct val="110000"/>
              </a:lnSpc>
              <a:buNone/>
            </a:pPr>
            <a:r>
              <a:rPr lang="en-US" sz="1300" b="1" dirty="0">
                <a:solidFill>
                  <a:srgbClr val="1E1208"/>
                </a:solidFill>
                <a:latin typeface="Arial" pitchFamily="34" charset="0"/>
                <a:ea typeface="Arial" pitchFamily="34" charset="-122"/>
                <a:cs typeface="Arial" pitchFamily="34" charset="-120"/>
              </a:rPr>
              <a:t>Points, streaks, badges and class leaderboards</a:t>
            </a:r>
            <a:endParaRPr lang="en-US" sz="1300" dirty="0"/>
          </a:p>
        </p:txBody>
      </p:sp>
      <p:sp>
        <p:nvSpPr>
          <p:cNvPr id="24" name="Shape 21"/>
          <p:cNvSpPr/>
          <p:nvPr/>
        </p:nvSpPr>
        <p:spPr>
          <a:xfrm>
            <a:off x="5623560" y="5138928"/>
            <a:ext cx="5303520" cy="475488"/>
          </a:xfrm>
          <a:prstGeom prst="rect">
            <a:avLst/>
          </a:prstGeom>
          <a:solidFill>
            <a:srgbClr val="FFFFFF"/>
          </a:solidFill>
          <a:ln w="25400">
            <a:solidFill>
              <a:srgbClr val="1E1208"/>
            </a:solidFill>
            <a:prstDash val="solid"/>
          </a:ln>
        </p:spPr>
      </p:sp>
      <p:sp>
        <p:nvSpPr>
          <p:cNvPr id="25" name="Text 22"/>
          <p:cNvSpPr/>
          <p:nvPr/>
        </p:nvSpPr>
        <p:spPr>
          <a:xfrm>
            <a:off x="5806440" y="5138928"/>
            <a:ext cx="4983480" cy="475488"/>
          </a:xfrm>
          <a:prstGeom prst="rect">
            <a:avLst/>
          </a:prstGeom>
          <a:noFill/>
          <a:ln/>
        </p:spPr>
        <p:txBody>
          <a:bodyPr wrap="square" lIns="0" tIns="0" rIns="0" bIns="0" rtlCol="0" anchor="ctr"/>
          <a:lstStyle/>
          <a:p>
            <a:pPr algn="l" indent="0" marL="0">
              <a:lnSpc>
                <a:spcPct val="110000"/>
              </a:lnSpc>
              <a:buNone/>
            </a:pPr>
            <a:r>
              <a:rPr lang="en-US" sz="1300" b="1" dirty="0">
                <a:solidFill>
                  <a:srgbClr val="1E1208"/>
                </a:solidFill>
                <a:latin typeface="Arial" pitchFamily="34" charset="0"/>
                <a:ea typeface="Arial" pitchFamily="34" charset="-122"/>
                <a:cs typeface="Arial" pitchFamily="34" charset="-120"/>
              </a:rPr>
              <a:t>Questions from the same topic list as lessons and tests</a:t>
            </a:r>
            <a:endParaRPr lang="en-US" sz="1300" dirty="0"/>
          </a:p>
        </p:txBody>
      </p:sp>
      <p:sp>
        <p:nvSpPr>
          <p:cNvPr id="26" name="Text 23"/>
          <p:cNvSpPr/>
          <p:nvPr/>
        </p:nvSpPr>
        <p:spPr>
          <a:xfrm>
            <a:off x="5623560" y="5760720"/>
            <a:ext cx="3291840" cy="457200"/>
          </a:xfrm>
          <a:prstGeom prst="rect">
            <a:avLst/>
          </a:prstGeom>
          <a:noFill/>
          <a:ln/>
        </p:spPr>
        <p:txBody>
          <a:bodyPr wrap="square" lIns="0" tIns="0" rIns="0" bIns="0" rtlCol="0" anchor="ctr"/>
          <a:lstStyle/>
          <a:p>
            <a:pPr algn="l" indent="0" marL="0">
              <a:lnSpc>
                <a:spcPct val="110000"/>
              </a:lnSpc>
              <a:buNone/>
            </a:pPr>
            <a:r>
              <a:rPr lang="en-US" sz="1200" dirty="0">
                <a:solidFill>
                  <a:srgbClr val="555555"/>
                </a:solidFill>
                <a:latin typeface="Arial" pitchFamily="34" charset="0"/>
                <a:ea typeface="Arial" pitchFamily="34" charset="-122"/>
                <a:cs typeface="Arial" pitchFamily="34" charset="-120"/>
              </a:rPr>
              <a:t>For students and teachers.</a:t>
            </a:r>
            <a:endParaRPr lang="en-US" sz="1200" dirty="0"/>
          </a:p>
        </p:txBody>
      </p:sp>
      <p:sp>
        <p:nvSpPr>
          <p:cNvPr id="27" name="Shape 24"/>
          <p:cNvSpPr/>
          <p:nvPr/>
        </p:nvSpPr>
        <p:spPr>
          <a:xfrm>
            <a:off x="9006840" y="5824728"/>
            <a:ext cx="1920240" cy="310896"/>
          </a:xfrm>
          <a:prstGeom prst="rect">
            <a:avLst/>
          </a:prstGeom>
          <a:solidFill>
            <a:srgbClr val="FDFDFB"/>
          </a:solidFill>
          <a:ln w="19050">
            <a:solidFill>
              <a:srgbClr val="1E1208"/>
            </a:solidFill>
            <a:prstDash val="solid"/>
          </a:ln>
        </p:spPr>
      </p:sp>
      <p:sp>
        <p:nvSpPr>
          <p:cNvPr id="28" name="Text 25"/>
          <p:cNvSpPr/>
          <p:nvPr/>
        </p:nvSpPr>
        <p:spPr>
          <a:xfrm>
            <a:off x="9006840" y="5824728"/>
            <a:ext cx="1920240" cy="310896"/>
          </a:xfrm>
          <a:prstGeom prst="rect">
            <a:avLst/>
          </a:prstGeom>
          <a:noFill/>
          <a:ln/>
        </p:spPr>
        <p:txBody>
          <a:bodyPr wrap="square" lIns="0" tIns="0" rIns="0" bIns="0" rtlCol="0" anchor="ctr"/>
          <a:lstStyle/>
          <a:p>
            <a:pPr algn="ctr" indent="0" marL="0">
              <a:lnSpc>
                <a:spcPct val="110000"/>
              </a:lnSpc>
              <a:buNone/>
            </a:pPr>
            <a:r>
              <a:rPr lang="en-US" sz="1000" b="1" spc="200" kern="0" dirty="0">
                <a:solidFill>
                  <a:srgbClr val="1E1208"/>
                </a:solidFill>
                <a:latin typeface="Courier New" pitchFamily="34" charset="0"/>
                <a:ea typeface="Courier New" pitchFamily="34" charset="-122"/>
                <a:cs typeface="Courier New" pitchFamily="34" charset="-120"/>
              </a:rPr>
              <a:t>COMING SOON</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368735" y="4288536"/>
            <a:ext cx="822960" cy="1152144"/>
          </a:xfrm>
          <a:prstGeom prst="rect">
            <a:avLst/>
          </a:prstGeom>
          <a:solidFill>
            <a:srgbClr val="1E1208"/>
          </a:solidFill>
          <a:ln w="25400">
            <a:solidFill>
              <a:srgbClr val="1E1208"/>
            </a:solidFill>
            <a:prstDash val="solid"/>
          </a:ln>
        </p:spPr>
      </p:sp>
      <p:sp>
        <p:nvSpPr>
          <p:cNvPr id="9" name="Text 7"/>
          <p:cNvSpPr/>
          <p:nvPr/>
        </p:nvSpPr>
        <p:spPr>
          <a:xfrm>
            <a:off x="11368735" y="4288536"/>
            <a:ext cx="822960"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SMART PLAY</a:t>
            </a:r>
            <a:endParaRPr lang="en-US" sz="115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indent="0" marL="0">
              <a:buNone/>
            </a:pPr>
            <a:r>
              <a:rPr lang="en-US" sz="4600" dirty="0">
                <a:solidFill>
                  <a:srgbClr val="1E1208"/>
                </a:solidFill>
                <a:latin typeface="Impact" pitchFamily="34" charset="0"/>
                <a:ea typeface="Impact" pitchFamily="34" charset="-122"/>
                <a:cs typeface="Impact" pitchFamily="34" charset="-120"/>
              </a:rPr>
              <a:t>ENGAGE AND REINFORCE LEARNING</a:t>
            </a:r>
            <a:endParaRPr lang="en-US" sz="4600" dirty="0"/>
          </a:p>
        </p:txBody>
      </p:sp>
      <p:sp>
        <p:nvSpPr>
          <p:cNvPr id="15" name="Shape 12"/>
          <p:cNvSpPr/>
          <p:nvPr/>
        </p:nvSpPr>
        <p:spPr>
          <a:xfrm>
            <a:off x="9144000" y="502920"/>
            <a:ext cx="1737360" cy="310896"/>
          </a:xfrm>
          <a:prstGeom prst="rect">
            <a:avLst/>
          </a:prstGeom>
          <a:solidFill>
            <a:srgbClr val="1E1208"/>
          </a:solidFill>
          <a:ln w="19050">
            <a:solidFill>
              <a:srgbClr val="1E1208"/>
            </a:solidFill>
            <a:prstDash val="solid"/>
          </a:ln>
        </p:spPr>
      </p:sp>
      <p:sp>
        <p:nvSpPr>
          <p:cNvPr id="16" name="Text 13"/>
          <p:cNvSpPr/>
          <p:nvPr/>
        </p:nvSpPr>
        <p:spPr>
          <a:xfrm>
            <a:off x="9144000" y="502920"/>
            <a:ext cx="1737360" cy="310896"/>
          </a:xfrm>
          <a:prstGeom prst="rect">
            <a:avLst/>
          </a:prstGeom>
          <a:noFill/>
          <a:ln/>
        </p:spPr>
        <p:txBody>
          <a:bodyPr wrap="square" lIns="0" tIns="0" rIns="0" bIns="0" rtlCol="0" anchor="ctr"/>
          <a:lstStyle/>
          <a:p>
            <a:pPr algn="ctr" indent="0" marL="0">
              <a:lnSpc>
                <a:spcPct val="110000"/>
              </a:lnSpc>
              <a:buNone/>
            </a:pPr>
            <a:r>
              <a:rPr lang="en-US" sz="1000" b="1" spc="200" kern="0" dirty="0">
                <a:solidFill>
                  <a:srgbClr val="FFFFFF"/>
                </a:solidFill>
                <a:latin typeface="Courier New" pitchFamily="34" charset="0"/>
                <a:ea typeface="Courier New" pitchFamily="34" charset="-122"/>
                <a:cs typeface="Courier New" pitchFamily="34" charset="-120"/>
              </a:rPr>
              <a:t>COMING SOON</a:t>
            </a:r>
            <a:endParaRPr lang="en-US" sz="1000" dirty="0"/>
          </a:p>
        </p:txBody>
      </p:sp>
      <p:sp>
        <p:nvSpPr>
          <p:cNvPr id="17" name="Shape 14"/>
          <p:cNvSpPr/>
          <p:nvPr/>
        </p:nvSpPr>
        <p:spPr>
          <a:xfrm>
            <a:off x="1417320" y="1965960"/>
            <a:ext cx="3017520" cy="1691640"/>
          </a:xfrm>
          <a:prstGeom prst="rect">
            <a:avLst/>
          </a:prstGeom>
          <a:solidFill>
            <a:srgbClr val="FFFFFF"/>
          </a:solidFill>
          <a:ln w="25400">
            <a:solidFill>
              <a:srgbClr val="1E1208"/>
            </a:solidFill>
            <a:prstDash val="solid"/>
          </a:ln>
        </p:spPr>
      </p:sp>
      <p:sp>
        <p:nvSpPr>
          <p:cNvPr id="18" name="Shape 15"/>
          <p:cNvSpPr/>
          <p:nvPr/>
        </p:nvSpPr>
        <p:spPr>
          <a:xfrm>
            <a:off x="1417320" y="1965960"/>
            <a:ext cx="3017520" cy="109728"/>
          </a:xfrm>
          <a:prstGeom prst="rect">
            <a:avLst/>
          </a:prstGeom>
          <a:solidFill>
            <a:srgbClr val="1E1208"/>
          </a:solidFill>
          <a:ln/>
        </p:spPr>
      </p:sp>
      <p:sp>
        <p:nvSpPr>
          <p:cNvPr id="19" name="Text 16"/>
          <p:cNvSpPr/>
          <p:nvPr/>
        </p:nvSpPr>
        <p:spPr>
          <a:xfrm>
            <a:off x="1600200" y="2240280"/>
            <a:ext cx="2651760" cy="457200"/>
          </a:xfrm>
          <a:prstGeom prst="rect">
            <a:avLst/>
          </a:prstGeom>
          <a:noFill/>
          <a:ln/>
        </p:spPr>
        <p:txBody>
          <a:bodyPr wrap="square" lIns="0" tIns="0" rIns="0" bIns="0" rtlCol="0" anchor="t"/>
          <a:lstStyle/>
          <a:p>
            <a:pPr algn="l" indent="0" marL="0">
              <a:lnSpc>
                <a:spcPct val="110000"/>
              </a:lnSpc>
              <a:buNone/>
            </a:pPr>
            <a:r>
              <a:rPr lang="en-US" sz="2000" dirty="0">
                <a:solidFill>
                  <a:srgbClr val="1E1208"/>
                </a:solidFill>
                <a:latin typeface="Impact" pitchFamily="34" charset="0"/>
                <a:ea typeface="Impact" pitchFamily="34" charset="-122"/>
                <a:cs typeface="Impact" pitchFamily="34" charset="-120"/>
              </a:rPr>
              <a:t>TOPIC MASTERY</a:t>
            </a:r>
            <a:endParaRPr lang="en-US" sz="2000" dirty="0"/>
          </a:p>
        </p:txBody>
      </p:sp>
      <p:sp>
        <p:nvSpPr>
          <p:cNvPr id="20" name="Text 17"/>
          <p:cNvSpPr/>
          <p:nvPr/>
        </p:nvSpPr>
        <p:spPr>
          <a:xfrm>
            <a:off x="1600200" y="2834640"/>
            <a:ext cx="2651760" cy="73152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Practise one topic and watch mastery grow.</a:t>
            </a:r>
            <a:endParaRPr lang="en-US" sz="1250" dirty="0"/>
          </a:p>
        </p:txBody>
      </p:sp>
      <p:sp>
        <p:nvSpPr>
          <p:cNvPr id="21" name="Shape 18"/>
          <p:cNvSpPr/>
          <p:nvPr/>
        </p:nvSpPr>
        <p:spPr>
          <a:xfrm>
            <a:off x="4617720" y="1965960"/>
            <a:ext cx="3017520" cy="1691640"/>
          </a:xfrm>
          <a:prstGeom prst="rect">
            <a:avLst/>
          </a:prstGeom>
          <a:solidFill>
            <a:srgbClr val="FBE9D6"/>
          </a:solidFill>
          <a:ln w="25400">
            <a:solidFill>
              <a:srgbClr val="1E1208"/>
            </a:solidFill>
            <a:prstDash val="solid"/>
          </a:ln>
        </p:spPr>
      </p:sp>
      <p:sp>
        <p:nvSpPr>
          <p:cNvPr id="22" name="Shape 19"/>
          <p:cNvSpPr/>
          <p:nvPr/>
        </p:nvSpPr>
        <p:spPr>
          <a:xfrm>
            <a:off x="4617720" y="1965960"/>
            <a:ext cx="3017520" cy="109728"/>
          </a:xfrm>
          <a:prstGeom prst="rect">
            <a:avLst/>
          </a:prstGeom>
          <a:solidFill>
            <a:srgbClr val="1E1208"/>
          </a:solidFill>
          <a:ln/>
        </p:spPr>
      </p:sp>
      <p:sp>
        <p:nvSpPr>
          <p:cNvPr id="23" name="Text 20"/>
          <p:cNvSpPr/>
          <p:nvPr/>
        </p:nvSpPr>
        <p:spPr>
          <a:xfrm>
            <a:off x="4800600" y="2240280"/>
            <a:ext cx="2651760" cy="457200"/>
          </a:xfrm>
          <a:prstGeom prst="rect">
            <a:avLst/>
          </a:prstGeom>
          <a:noFill/>
          <a:ln/>
        </p:spPr>
        <p:txBody>
          <a:bodyPr wrap="square" lIns="0" tIns="0" rIns="0" bIns="0" rtlCol="0" anchor="t"/>
          <a:lstStyle/>
          <a:p>
            <a:pPr algn="l" indent="0" marL="0">
              <a:lnSpc>
                <a:spcPct val="110000"/>
              </a:lnSpc>
              <a:buNone/>
            </a:pPr>
            <a:r>
              <a:rPr lang="en-US" sz="2000" dirty="0">
                <a:solidFill>
                  <a:srgbClr val="1E1208"/>
                </a:solidFill>
                <a:latin typeface="Impact" pitchFamily="34" charset="0"/>
                <a:ea typeface="Impact" pitchFamily="34" charset="-122"/>
                <a:cs typeface="Impact" pitchFamily="34" charset="-120"/>
              </a:rPr>
              <a:t>MATH DUELS</a:t>
            </a:r>
            <a:endParaRPr lang="en-US" sz="2000" dirty="0"/>
          </a:p>
        </p:txBody>
      </p:sp>
      <p:sp>
        <p:nvSpPr>
          <p:cNvPr id="24" name="Text 21"/>
          <p:cNvSpPr/>
          <p:nvPr/>
        </p:nvSpPr>
        <p:spPr>
          <a:xfrm>
            <a:off x="4800600" y="2834640"/>
            <a:ext cx="2651760" cy="73152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Two students race through maths questions.</a:t>
            </a:r>
            <a:endParaRPr lang="en-US" sz="1250" dirty="0"/>
          </a:p>
        </p:txBody>
      </p:sp>
      <p:sp>
        <p:nvSpPr>
          <p:cNvPr id="25" name="Shape 22"/>
          <p:cNvSpPr/>
          <p:nvPr/>
        </p:nvSpPr>
        <p:spPr>
          <a:xfrm>
            <a:off x="7818120" y="1965960"/>
            <a:ext cx="3017520" cy="1691640"/>
          </a:xfrm>
          <a:prstGeom prst="rect">
            <a:avLst/>
          </a:prstGeom>
          <a:solidFill>
            <a:srgbClr val="FFFFFF"/>
          </a:solidFill>
          <a:ln w="25400">
            <a:solidFill>
              <a:srgbClr val="1E1208"/>
            </a:solidFill>
            <a:prstDash val="solid"/>
          </a:ln>
        </p:spPr>
      </p:sp>
      <p:sp>
        <p:nvSpPr>
          <p:cNvPr id="26" name="Shape 23"/>
          <p:cNvSpPr/>
          <p:nvPr/>
        </p:nvSpPr>
        <p:spPr>
          <a:xfrm>
            <a:off x="7818120" y="1965960"/>
            <a:ext cx="3017520" cy="109728"/>
          </a:xfrm>
          <a:prstGeom prst="rect">
            <a:avLst/>
          </a:prstGeom>
          <a:solidFill>
            <a:srgbClr val="1E1208"/>
          </a:solidFill>
          <a:ln/>
        </p:spPr>
      </p:sp>
      <p:sp>
        <p:nvSpPr>
          <p:cNvPr id="27" name="Text 24"/>
          <p:cNvSpPr/>
          <p:nvPr/>
        </p:nvSpPr>
        <p:spPr>
          <a:xfrm>
            <a:off x="8001000" y="2240280"/>
            <a:ext cx="2651760" cy="457200"/>
          </a:xfrm>
          <a:prstGeom prst="rect">
            <a:avLst/>
          </a:prstGeom>
          <a:noFill/>
          <a:ln/>
        </p:spPr>
        <p:txBody>
          <a:bodyPr wrap="square" lIns="0" tIns="0" rIns="0" bIns="0" rtlCol="0" anchor="t"/>
          <a:lstStyle/>
          <a:p>
            <a:pPr algn="l" indent="0" marL="0">
              <a:lnSpc>
                <a:spcPct val="110000"/>
              </a:lnSpc>
              <a:buNone/>
            </a:pPr>
            <a:r>
              <a:rPr lang="en-US" sz="2000" dirty="0">
                <a:solidFill>
                  <a:srgbClr val="1E1208"/>
                </a:solidFill>
                <a:latin typeface="Impact" pitchFamily="34" charset="0"/>
                <a:ea typeface="Impact" pitchFamily="34" charset="-122"/>
                <a:cs typeface="Impact" pitchFamily="34" charset="-120"/>
              </a:rPr>
              <a:t>LIVE QUIZ</a:t>
            </a:r>
            <a:endParaRPr lang="en-US" sz="2000" dirty="0"/>
          </a:p>
        </p:txBody>
      </p:sp>
      <p:sp>
        <p:nvSpPr>
          <p:cNvPr id="28" name="Text 25"/>
          <p:cNvSpPr/>
          <p:nvPr/>
        </p:nvSpPr>
        <p:spPr>
          <a:xfrm>
            <a:off x="8001000" y="2834640"/>
            <a:ext cx="2651760" cy="73152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A quiz on the projector, answered on own devices.</a:t>
            </a:r>
            <a:endParaRPr lang="en-US" sz="1250" dirty="0"/>
          </a:p>
        </p:txBody>
      </p:sp>
      <p:sp>
        <p:nvSpPr>
          <p:cNvPr id="29" name="Shape 26"/>
          <p:cNvSpPr/>
          <p:nvPr/>
        </p:nvSpPr>
        <p:spPr>
          <a:xfrm>
            <a:off x="1417320" y="3840480"/>
            <a:ext cx="3017520" cy="1691640"/>
          </a:xfrm>
          <a:prstGeom prst="rect">
            <a:avLst/>
          </a:prstGeom>
          <a:solidFill>
            <a:srgbClr val="FBE9D6"/>
          </a:solidFill>
          <a:ln w="25400">
            <a:solidFill>
              <a:srgbClr val="1E1208"/>
            </a:solidFill>
            <a:prstDash val="solid"/>
          </a:ln>
        </p:spPr>
      </p:sp>
      <p:sp>
        <p:nvSpPr>
          <p:cNvPr id="30" name="Shape 27"/>
          <p:cNvSpPr/>
          <p:nvPr/>
        </p:nvSpPr>
        <p:spPr>
          <a:xfrm>
            <a:off x="1417320" y="3840480"/>
            <a:ext cx="3017520" cy="109728"/>
          </a:xfrm>
          <a:prstGeom prst="rect">
            <a:avLst/>
          </a:prstGeom>
          <a:solidFill>
            <a:srgbClr val="1E1208"/>
          </a:solidFill>
          <a:ln/>
        </p:spPr>
      </p:sp>
      <p:sp>
        <p:nvSpPr>
          <p:cNvPr id="31" name="Text 28"/>
          <p:cNvSpPr/>
          <p:nvPr/>
        </p:nvSpPr>
        <p:spPr>
          <a:xfrm>
            <a:off x="1600200" y="4114800"/>
            <a:ext cx="2651760" cy="457200"/>
          </a:xfrm>
          <a:prstGeom prst="rect">
            <a:avLst/>
          </a:prstGeom>
          <a:noFill/>
          <a:ln/>
        </p:spPr>
        <p:txBody>
          <a:bodyPr wrap="square" lIns="0" tIns="0" rIns="0" bIns="0" rtlCol="0" anchor="t"/>
          <a:lstStyle/>
          <a:p>
            <a:pPr algn="l" indent="0" marL="0">
              <a:lnSpc>
                <a:spcPct val="110000"/>
              </a:lnSpc>
              <a:buNone/>
            </a:pPr>
            <a:r>
              <a:rPr lang="en-US" sz="2000" dirty="0">
                <a:solidFill>
                  <a:srgbClr val="1E1208"/>
                </a:solidFill>
                <a:latin typeface="Impact" pitchFamily="34" charset="0"/>
                <a:ea typeface="Impact" pitchFamily="34" charset="-122"/>
                <a:cs typeface="Impact" pitchFamily="34" charset="-120"/>
              </a:rPr>
              <a:t>JEOPARDY-STYLE BOARDS</a:t>
            </a:r>
            <a:endParaRPr lang="en-US" sz="2000" dirty="0"/>
          </a:p>
        </p:txBody>
      </p:sp>
      <p:sp>
        <p:nvSpPr>
          <p:cNvPr id="32" name="Text 29"/>
          <p:cNvSpPr/>
          <p:nvPr/>
        </p:nvSpPr>
        <p:spPr>
          <a:xfrm>
            <a:off x="1600200" y="4709160"/>
            <a:ext cx="2651760" cy="73152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Categories and points, with buzz-in for teams.</a:t>
            </a:r>
            <a:endParaRPr lang="en-US" sz="1250" dirty="0"/>
          </a:p>
        </p:txBody>
      </p:sp>
      <p:sp>
        <p:nvSpPr>
          <p:cNvPr id="33" name="Shape 30"/>
          <p:cNvSpPr/>
          <p:nvPr/>
        </p:nvSpPr>
        <p:spPr>
          <a:xfrm>
            <a:off x="4617720" y="3840480"/>
            <a:ext cx="3017520" cy="1691640"/>
          </a:xfrm>
          <a:prstGeom prst="rect">
            <a:avLst/>
          </a:prstGeom>
          <a:solidFill>
            <a:srgbClr val="FFFFFF"/>
          </a:solidFill>
          <a:ln w="25400">
            <a:solidFill>
              <a:srgbClr val="1E1208"/>
            </a:solidFill>
            <a:prstDash val="solid"/>
          </a:ln>
        </p:spPr>
      </p:sp>
      <p:sp>
        <p:nvSpPr>
          <p:cNvPr id="34" name="Shape 31"/>
          <p:cNvSpPr/>
          <p:nvPr/>
        </p:nvSpPr>
        <p:spPr>
          <a:xfrm>
            <a:off x="4617720" y="3840480"/>
            <a:ext cx="3017520" cy="109728"/>
          </a:xfrm>
          <a:prstGeom prst="rect">
            <a:avLst/>
          </a:prstGeom>
          <a:solidFill>
            <a:srgbClr val="1E1208"/>
          </a:solidFill>
          <a:ln/>
        </p:spPr>
      </p:sp>
      <p:sp>
        <p:nvSpPr>
          <p:cNvPr id="35" name="Text 32"/>
          <p:cNvSpPr/>
          <p:nvPr/>
        </p:nvSpPr>
        <p:spPr>
          <a:xfrm>
            <a:off x="4800600" y="4114800"/>
            <a:ext cx="2651760" cy="457200"/>
          </a:xfrm>
          <a:prstGeom prst="rect">
            <a:avLst/>
          </a:prstGeom>
          <a:noFill/>
          <a:ln/>
        </p:spPr>
        <p:txBody>
          <a:bodyPr wrap="square" lIns="0" tIns="0" rIns="0" bIns="0" rtlCol="0" anchor="t"/>
          <a:lstStyle/>
          <a:p>
            <a:pPr algn="l" indent="0" marL="0">
              <a:lnSpc>
                <a:spcPct val="110000"/>
              </a:lnSpc>
              <a:buNone/>
            </a:pPr>
            <a:r>
              <a:rPr lang="en-US" sz="2000" dirty="0">
                <a:solidFill>
                  <a:srgbClr val="1E1208"/>
                </a:solidFill>
                <a:latin typeface="Impact" pitchFamily="34" charset="0"/>
                <a:ea typeface="Impact" pitchFamily="34" charset="-122"/>
                <a:cs typeface="Impact" pitchFamily="34" charset="-120"/>
              </a:rPr>
              <a:t>TUG OF WAR</a:t>
            </a:r>
            <a:endParaRPr lang="en-US" sz="2000" dirty="0"/>
          </a:p>
        </p:txBody>
      </p:sp>
      <p:sp>
        <p:nvSpPr>
          <p:cNvPr id="36" name="Text 33"/>
          <p:cNvSpPr/>
          <p:nvPr/>
        </p:nvSpPr>
        <p:spPr>
          <a:xfrm>
            <a:off x="4800600" y="4709160"/>
            <a:ext cx="2651760" cy="73152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Two teams pull a rope by answering questions.</a:t>
            </a:r>
            <a:endParaRPr lang="en-US" sz="1250" dirty="0"/>
          </a:p>
        </p:txBody>
      </p:sp>
      <p:sp>
        <p:nvSpPr>
          <p:cNvPr id="37" name="Shape 34"/>
          <p:cNvSpPr/>
          <p:nvPr/>
        </p:nvSpPr>
        <p:spPr>
          <a:xfrm>
            <a:off x="7818120" y="3840480"/>
            <a:ext cx="3017520" cy="1691640"/>
          </a:xfrm>
          <a:prstGeom prst="rect">
            <a:avLst/>
          </a:prstGeom>
          <a:solidFill>
            <a:srgbClr val="FBE9D6"/>
          </a:solidFill>
          <a:ln w="25400">
            <a:solidFill>
              <a:srgbClr val="1E1208"/>
            </a:solidFill>
            <a:prstDash val="solid"/>
          </a:ln>
        </p:spPr>
      </p:sp>
      <p:sp>
        <p:nvSpPr>
          <p:cNvPr id="38" name="Shape 35"/>
          <p:cNvSpPr/>
          <p:nvPr/>
        </p:nvSpPr>
        <p:spPr>
          <a:xfrm>
            <a:off x="7818120" y="3840480"/>
            <a:ext cx="3017520" cy="109728"/>
          </a:xfrm>
          <a:prstGeom prst="rect">
            <a:avLst/>
          </a:prstGeom>
          <a:solidFill>
            <a:srgbClr val="1E1208"/>
          </a:solidFill>
          <a:ln/>
        </p:spPr>
      </p:sp>
      <p:sp>
        <p:nvSpPr>
          <p:cNvPr id="39" name="Text 36"/>
          <p:cNvSpPr/>
          <p:nvPr/>
        </p:nvSpPr>
        <p:spPr>
          <a:xfrm>
            <a:off x="8001000" y="4114800"/>
            <a:ext cx="2651760" cy="457200"/>
          </a:xfrm>
          <a:prstGeom prst="rect">
            <a:avLst/>
          </a:prstGeom>
          <a:noFill/>
          <a:ln/>
        </p:spPr>
        <p:txBody>
          <a:bodyPr wrap="square" lIns="0" tIns="0" rIns="0" bIns="0" rtlCol="0" anchor="t"/>
          <a:lstStyle/>
          <a:p>
            <a:pPr algn="l" indent="0" marL="0">
              <a:lnSpc>
                <a:spcPct val="110000"/>
              </a:lnSpc>
              <a:buNone/>
            </a:pPr>
            <a:r>
              <a:rPr lang="en-US" sz="2000" dirty="0">
                <a:solidFill>
                  <a:srgbClr val="1E1208"/>
                </a:solidFill>
                <a:latin typeface="Impact" pitchFamily="34" charset="0"/>
                <a:ea typeface="Impact" pitchFamily="34" charset="-122"/>
                <a:cs typeface="Impact" pitchFamily="34" charset="-120"/>
              </a:rPr>
              <a:t>REWARDS</a:t>
            </a:r>
            <a:endParaRPr lang="en-US" sz="2000" dirty="0"/>
          </a:p>
        </p:txBody>
      </p:sp>
      <p:sp>
        <p:nvSpPr>
          <p:cNvPr id="40" name="Text 37"/>
          <p:cNvSpPr/>
          <p:nvPr/>
        </p:nvSpPr>
        <p:spPr>
          <a:xfrm>
            <a:off x="8001000" y="4709160"/>
            <a:ext cx="2651760" cy="731520"/>
          </a:xfrm>
          <a:prstGeom prst="rect">
            <a:avLst/>
          </a:prstGeom>
          <a:noFill/>
          <a:ln/>
        </p:spPr>
        <p:txBody>
          <a:bodyPr wrap="square" lIns="0" tIns="0" rIns="0" bIns="0" rtlCol="0" anchor="t"/>
          <a:lstStyle/>
          <a:p>
            <a:pPr algn="l" indent="0" marL="0">
              <a:lnSpc>
                <a:spcPct val="110000"/>
              </a:lnSpc>
              <a:buNone/>
            </a:pPr>
            <a:r>
              <a:rPr lang="en-US" sz="1250" dirty="0">
                <a:solidFill>
                  <a:srgbClr val="555555"/>
                </a:solidFill>
                <a:latin typeface="Arial" pitchFamily="34" charset="0"/>
                <a:ea typeface="Arial" pitchFamily="34" charset="-122"/>
                <a:cs typeface="Arial" pitchFamily="34" charset="-120"/>
              </a:rPr>
              <a:t>Points, streaks, badges and class leaderboards.</a:t>
            </a:r>
            <a:endParaRPr lang="en-US" sz="1250" dirty="0"/>
          </a:p>
        </p:txBody>
      </p:sp>
      <p:sp>
        <p:nvSpPr>
          <p:cNvPr id="41" name="Shape 38"/>
          <p:cNvSpPr/>
          <p:nvPr/>
        </p:nvSpPr>
        <p:spPr>
          <a:xfrm>
            <a:off x="1417320" y="5852160"/>
            <a:ext cx="9509760" cy="502920"/>
          </a:xfrm>
          <a:prstGeom prst="rect">
            <a:avLst/>
          </a:prstGeom>
          <a:solidFill>
            <a:srgbClr val="1E1208"/>
          </a:solidFill>
          <a:ln/>
        </p:spPr>
      </p:sp>
      <p:sp>
        <p:nvSpPr>
          <p:cNvPr id="42" name="Text 39"/>
          <p:cNvSpPr/>
          <p:nvPr/>
        </p:nvSpPr>
        <p:spPr>
          <a:xfrm>
            <a:off x="1600200" y="5852160"/>
            <a:ext cx="9144000" cy="502920"/>
          </a:xfrm>
          <a:prstGeom prst="rect">
            <a:avLst/>
          </a:prstGeom>
          <a:noFill/>
          <a:ln/>
        </p:spPr>
        <p:txBody>
          <a:bodyPr wrap="square" lIns="0" tIns="0" rIns="0" bIns="0" rtlCol="0" anchor="ctr"/>
          <a:lstStyle/>
          <a:p>
            <a:pPr algn="l" indent="0" marL="0">
              <a:lnSpc>
                <a:spcPct val="110000"/>
              </a:lnSpc>
              <a:buNone/>
            </a:pPr>
            <a:r>
              <a:rPr lang="en-US" sz="1400" b="1" dirty="0">
                <a:solidFill>
                  <a:srgbClr val="FFFFFF"/>
                </a:solidFill>
                <a:latin typeface="Arial" pitchFamily="34" charset="0"/>
                <a:ea typeface="Arial" pitchFamily="34" charset="-122"/>
                <a:cs typeface="Arial" pitchFamily="34" charset="-120"/>
              </a:rPr>
              <a:t>Quick, fun practice. It never holds the school's official results.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368735" y="5550408"/>
            <a:ext cx="822960" cy="1152144"/>
          </a:xfrm>
          <a:prstGeom prst="rect">
            <a:avLst/>
          </a:prstGeom>
          <a:solidFill>
            <a:srgbClr val="FDFDFB"/>
          </a:solidFill>
          <a:ln w="25400">
            <a:solidFill>
              <a:srgbClr val="1E1208"/>
            </a:solidFill>
            <a:prstDash val="solid"/>
          </a:ln>
        </p:spPr>
      </p:sp>
      <p:sp>
        <p:nvSpPr>
          <p:cNvPr id="11" name="Text 9"/>
          <p:cNvSpPr/>
          <p:nvPr/>
        </p:nvSpPr>
        <p:spPr>
          <a:xfrm>
            <a:off x="11368735" y="5550408"/>
            <a:ext cx="822960"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JOINED UP</a:t>
            </a:r>
            <a:endParaRPr lang="en-US" sz="115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indent="0" marL="0">
              <a:buNone/>
            </a:pPr>
            <a:r>
              <a:rPr lang="en-US" sz="4100" dirty="0">
                <a:solidFill>
                  <a:srgbClr val="1E1208"/>
                </a:solidFill>
                <a:latin typeface="Impact" pitchFamily="34" charset="0"/>
                <a:ea typeface="Impact" pitchFamily="34" charset="-122"/>
                <a:cs typeface="Impact" pitchFamily="34" charset="-120"/>
              </a:rPr>
              <a:t>ASSESS, LEARN, PRACTISE, IMPROVE, ASSESS AGAIN</a:t>
            </a:r>
            <a:endParaRPr lang="en-US" sz="4100" dirty="0"/>
          </a:p>
        </p:txBody>
      </p:sp>
      <p:sp>
        <p:nvSpPr>
          <p:cNvPr id="15" name="Shape 12"/>
          <p:cNvSpPr/>
          <p:nvPr/>
        </p:nvSpPr>
        <p:spPr>
          <a:xfrm>
            <a:off x="1417320" y="2286000"/>
            <a:ext cx="1737360" cy="2103120"/>
          </a:xfrm>
          <a:prstGeom prst="rect">
            <a:avLst/>
          </a:prstGeom>
          <a:solidFill>
            <a:srgbClr val="D4762A"/>
          </a:solidFill>
          <a:ln w="25400">
            <a:solidFill>
              <a:srgbClr val="1E1208"/>
            </a:solidFill>
            <a:prstDash val="solid"/>
          </a:ln>
        </p:spPr>
      </p:sp>
      <p:sp>
        <p:nvSpPr>
          <p:cNvPr id="16" name="Text 13"/>
          <p:cNvSpPr/>
          <p:nvPr/>
        </p:nvSpPr>
        <p:spPr>
          <a:xfrm>
            <a:off x="1527048" y="2468880"/>
            <a:ext cx="1554480" cy="914400"/>
          </a:xfrm>
          <a:prstGeom prst="rect">
            <a:avLst/>
          </a:prstGeom>
          <a:noFill/>
          <a:ln/>
        </p:spPr>
        <p:txBody>
          <a:bodyPr wrap="square" lIns="0" tIns="0" rIns="0" bIns="0" rtlCol="0" anchor="ctr"/>
          <a:lstStyle/>
          <a:p>
            <a:pPr algn="ctr" indent="0" marL="0">
              <a:lnSpc>
                <a:spcPct val="110000"/>
              </a:lnSpc>
              <a:buNone/>
            </a:pPr>
            <a:r>
              <a:rPr lang="en-US" sz="2200" dirty="0">
                <a:solidFill>
                  <a:srgbClr val="1E1208"/>
                </a:solidFill>
                <a:latin typeface="Impact" pitchFamily="34" charset="0"/>
                <a:ea typeface="Impact" pitchFamily="34" charset="-122"/>
                <a:cs typeface="Impact" pitchFamily="34" charset="-120"/>
              </a:rPr>
              <a:t>ASSESS</a:t>
            </a:r>
            <a:endParaRPr lang="en-US" sz="2200" dirty="0"/>
          </a:p>
        </p:txBody>
      </p:sp>
      <p:sp>
        <p:nvSpPr>
          <p:cNvPr id="17" name="Text 14"/>
          <p:cNvSpPr/>
          <p:nvPr/>
        </p:nvSpPr>
        <p:spPr>
          <a:xfrm>
            <a:off x="1527048" y="3429000"/>
            <a:ext cx="1554480" cy="822960"/>
          </a:xfrm>
          <a:prstGeom prst="rect">
            <a:avLst/>
          </a:prstGeom>
          <a:noFill/>
          <a:ln/>
        </p:spPr>
        <p:txBody>
          <a:bodyPr wrap="square" lIns="0" tIns="0" rIns="0" bIns="0" rtlCol="0" anchor="t"/>
          <a:lstStyle/>
          <a:p>
            <a:pPr algn="ctr" indent="0" marL="0">
              <a:lnSpc>
                <a:spcPct val="110000"/>
              </a:lnSpc>
              <a:buNone/>
            </a:pPr>
            <a:r>
              <a:rPr lang="en-US" sz="1150" b="1" dirty="0">
                <a:solidFill>
                  <a:srgbClr val="1E1208"/>
                </a:solidFill>
                <a:latin typeface="Arial" pitchFamily="34" charset="0"/>
                <a:ea typeface="Arial" pitchFamily="34" charset="-122"/>
                <a:cs typeface="Arial" pitchFamily="34" charset="-120"/>
              </a:rPr>
              <a:t>Find what was missed</a:t>
            </a:r>
            <a:endParaRPr lang="en-US" sz="1150" dirty="0"/>
          </a:p>
        </p:txBody>
      </p:sp>
      <p:sp>
        <p:nvSpPr>
          <p:cNvPr id="18" name="Text 15"/>
          <p:cNvSpPr/>
          <p:nvPr/>
        </p:nvSpPr>
        <p:spPr>
          <a:xfrm>
            <a:off x="3136392" y="3017520"/>
            <a:ext cx="228600" cy="457200"/>
          </a:xfrm>
          <a:prstGeom prst="rect">
            <a:avLst/>
          </a:prstGeom>
          <a:noFill/>
          <a:ln/>
        </p:spPr>
        <p:txBody>
          <a:bodyPr wrap="square" lIns="0" tIns="0" rIns="0" bIns="0" rtlCol="0" anchor="t"/>
          <a:lstStyle/>
          <a:p>
            <a:pPr algn="l" indent="0" marL="0">
              <a:lnSpc>
                <a:spcPct val="110000"/>
              </a:lnSpc>
              <a:buNone/>
            </a:pPr>
            <a:r>
              <a:rPr lang="en-US" sz="2200" dirty="0">
                <a:solidFill>
                  <a:srgbClr val="1E1208"/>
                </a:solidFill>
                <a:latin typeface="Impact" pitchFamily="34" charset="0"/>
                <a:ea typeface="Impact" pitchFamily="34" charset="-122"/>
                <a:cs typeface="Impact" pitchFamily="34" charset="-120"/>
              </a:rPr>
              <a:t>→</a:t>
            </a:r>
            <a:endParaRPr lang="en-US" sz="2200" dirty="0"/>
          </a:p>
        </p:txBody>
      </p:sp>
      <p:sp>
        <p:nvSpPr>
          <p:cNvPr id="19" name="Shape 16"/>
          <p:cNvSpPr/>
          <p:nvPr/>
        </p:nvSpPr>
        <p:spPr>
          <a:xfrm>
            <a:off x="3337560" y="2286000"/>
            <a:ext cx="1737360" cy="2103120"/>
          </a:xfrm>
          <a:prstGeom prst="rect">
            <a:avLst/>
          </a:prstGeom>
          <a:solidFill>
            <a:srgbClr val="E3B51E"/>
          </a:solidFill>
          <a:ln w="25400">
            <a:solidFill>
              <a:srgbClr val="1E1208"/>
            </a:solidFill>
            <a:prstDash val="solid"/>
          </a:ln>
        </p:spPr>
      </p:sp>
      <p:sp>
        <p:nvSpPr>
          <p:cNvPr id="20" name="Text 17"/>
          <p:cNvSpPr/>
          <p:nvPr/>
        </p:nvSpPr>
        <p:spPr>
          <a:xfrm>
            <a:off x="3447288" y="2468880"/>
            <a:ext cx="1554480" cy="914400"/>
          </a:xfrm>
          <a:prstGeom prst="rect">
            <a:avLst/>
          </a:prstGeom>
          <a:noFill/>
          <a:ln/>
        </p:spPr>
        <p:txBody>
          <a:bodyPr wrap="square" lIns="0" tIns="0" rIns="0" bIns="0" rtlCol="0" anchor="ctr"/>
          <a:lstStyle/>
          <a:p>
            <a:pPr algn="ctr" indent="0" marL="0">
              <a:lnSpc>
                <a:spcPct val="110000"/>
              </a:lnSpc>
              <a:buNone/>
            </a:pPr>
            <a:r>
              <a:rPr lang="en-US" sz="2200" dirty="0">
                <a:solidFill>
                  <a:srgbClr val="1E1208"/>
                </a:solidFill>
                <a:latin typeface="Impact" pitchFamily="34" charset="0"/>
                <a:ea typeface="Impact" pitchFamily="34" charset="-122"/>
                <a:cs typeface="Impact" pitchFamily="34" charset="-120"/>
              </a:rPr>
              <a:t>LEARN</a:t>
            </a:r>
            <a:endParaRPr lang="en-US" sz="2200" dirty="0"/>
          </a:p>
        </p:txBody>
      </p:sp>
      <p:sp>
        <p:nvSpPr>
          <p:cNvPr id="21" name="Text 18"/>
          <p:cNvSpPr/>
          <p:nvPr/>
        </p:nvSpPr>
        <p:spPr>
          <a:xfrm>
            <a:off x="3447288" y="3429000"/>
            <a:ext cx="1554480" cy="822960"/>
          </a:xfrm>
          <a:prstGeom prst="rect">
            <a:avLst/>
          </a:prstGeom>
          <a:noFill/>
          <a:ln/>
        </p:spPr>
        <p:txBody>
          <a:bodyPr wrap="square" lIns="0" tIns="0" rIns="0" bIns="0" rtlCol="0" anchor="t"/>
          <a:lstStyle/>
          <a:p>
            <a:pPr algn="ctr" indent="0" marL="0">
              <a:lnSpc>
                <a:spcPct val="110000"/>
              </a:lnSpc>
              <a:buNone/>
            </a:pPr>
            <a:r>
              <a:rPr lang="en-US" sz="1150" b="1" dirty="0">
                <a:solidFill>
                  <a:srgbClr val="1E1208"/>
                </a:solidFill>
                <a:latin typeface="Arial" pitchFamily="34" charset="0"/>
                <a:ea typeface="Arial" pitchFamily="34" charset="-122"/>
                <a:cs typeface="Arial" pitchFamily="34" charset="-120"/>
              </a:rPr>
              <a:t>Teach it again, or catch up</a:t>
            </a:r>
            <a:endParaRPr lang="en-US" sz="1150" dirty="0"/>
          </a:p>
        </p:txBody>
      </p:sp>
      <p:sp>
        <p:nvSpPr>
          <p:cNvPr id="22" name="Text 19"/>
          <p:cNvSpPr/>
          <p:nvPr/>
        </p:nvSpPr>
        <p:spPr>
          <a:xfrm>
            <a:off x="5056632" y="3017520"/>
            <a:ext cx="228600" cy="457200"/>
          </a:xfrm>
          <a:prstGeom prst="rect">
            <a:avLst/>
          </a:prstGeom>
          <a:noFill/>
          <a:ln/>
        </p:spPr>
        <p:txBody>
          <a:bodyPr wrap="square" lIns="0" tIns="0" rIns="0" bIns="0" rtlCol="0" anchor="t"/>
          <a:lstStyle/>
          <a:p>
            <a:pPr algn="l" indent="0" marL="0">
              <a:lnSpc>
                <a:spcPct val="110000"/>
              </a:lnSpc>
              <a:buNone/>
            </a:pPr>
            <a:r>
              <a:rPr lang="en-US" sz="2200" dirty="0">
                <a:solidFill>
                  <a:srgbClr val="1E1208"/>
                </a:solidFill>
                <a:latin typeface="Impact" pitchFamily="34" charset="0"/>
                <a:ea typeface="Impact" pitchFamily="34" charset="-122"/>
                <a:cs typeface="Impact" pitchFamily="34" charset="-120"/>
              </a:rPr>
              <a:t>→</a:t>
            </a:r>
            <a:endParaRPr lang="en-US" sz="2200" dirty="0"/>
          </a:p>
        </p:txBody>
      </p:sp>
      <p:sp>
        <p:nvSpPr>
          <p:cNvPr id="23" name="Shape 20"/>
          <p:cNvSpPr/>
          <p:nvPr/>
        </p:nvSpPr>
        <p:spPr>
          <a:xfrm>
            <a:off x="5257800" y="2286000"/>
            <a:ext cx="1737360" cy="2103120"/>
          </a:xfrm>
          <a:prstGeom prst="rect">
            <a:avLst/>
          </a:prstGeom>
          <a:solidFill>
            <a:srgbClr val="FBE9D6"/>
          </a:solidFill>
          <a:ln w="25400">
            <a:solidFill>
              <a:srgbClr val="1E1208"/>
            </a:solidFill>
            <a:prstDash val="solid"/>
          </a:ln>
        </p:spPr>
      </p:sp>
      <p:sp>
        <p:nvSpPr>
          <p:cNvPr id="24" name="Text 21"/>
          <p:cNvSpPr/>
          <p:nvPr/>
        </p:nvSpPr>
        <p:spPr>
          <a:xfrm>
            <a:off x="5367528" y="2468880"/>
            <a:ext cx="1554480" cy="914400"/>
          </a:xfrm>
          <a:prstGeom prst="rect">
            <a:avLst/>
          </a:prstGeom>
          <a:noFill/>
          <a:ln/>
        </p:spPr>
        <p:txBody>
          <a:bodyPr wrap="square" lIns="0" tIns="0" rIns="0" bIns="0" rtlCol="0" anchor="ctr"/>
          <a:lstStyle/>
          <a:p>
            <a:pPr algn="ctr" indent="0" marL="0">
              <a:lnSpc>
                <a:spcPct val="110000"/>
              </a:lnSpc>
              <a:buNone/>
            </a:pPr>
            <a:r>
              <a:rPr lang="en-US" sz="2200" dirty="0">
                <a:solidFill>
                  <a:srgbClr val="1E1208"/>
                </a:solidFill>
                <a:latin typeface="Impact" pitchFamily="34" charset="0"/>
                <a:ea typeface="Impact" pitchFamily="34" charset="-122"/>
                <a:cs typeface="Impact" pitchFamily="34" charset="-120"/>
              </a:rPr>
              <a:t>PRACTISE</a:t>
            </a:r>
            <a:endParaRPr lang="en-US" sz="2200" dirty="0"/>
          </a:p>
        </p:txBody>
      </p:sp>
      <p:sp>
        <p:nvSpPr>
          <p:cNvPr id="25" name="Text 22"/>
          <p:cNvSpPr/>
          <p:nvPr/>
        </p:nvSpPr>
        <p:spPr>
          <a:xfrm>
            <a:off x="5367528" y="3429000"/>
            <a:ext cx="1554480" cy="822960"/>
          </a:xfrm>
          <a:prstGeom prst="rect">
            <a:avLst/>
          </a:prstGeom>
          <a:noFill/>
          <a:ln/>
        </p:spPr>
        <p:txBody>
          <a:bodyPr wrap="square" lIns="0" tIns="0" rIns="0" bIns="0" rtlCol="0" anchor="t"/>
          <a:lstStyle/>
          <a:p>
            <a:pPr algn="ctr" indent="0" marL="0">
              <a:lnSpc>
                <a:spcPct val="110000"/>
              </a:lnSpc>
              <a:buNone/>
            </a:pPr>
            <a:r>
              <a:rPr lang="en-US" sz="1150" b="1" dirty="0">
                <a:solidFill>
                  <a:srgbClr val="1E1208"/>
                </a:solidFill>
                <a:latin typeface="Arial" pitchFamily="34" charset="0"/>
                <a:ea typeface="Arial" pitchFamily="34" charset="-122"/>
                <a:cs typeface="Arial" pitchFamily="34" charset="-120"/>
              </a:rPr>
              <a:t>Flashcards and games</a:t>
            </a:r>
            <a:endParaRPr lang="en-US" sz="1150" dirty="0"/>
          </a:p>
        </p:txBody>
      </p:sp>
      <p:sp>
        <p:nvSpPr>
          <p:cNvPr id="26" name="Text 23"/>
          <p:cNvSpPr/>
          <p:nvPr/>
        </p:nvSpPr>
        <p:spPr>
          <a:xfrm>
            <a:off x="6976872" y="3017520"/>
            <a:ext cx="228600" cy="457200"/>
          </a:xfrm>
          <a:prstGeom prst="rect">
            <a:avLst/>
          </a:prstGeom>
          <a:noFill/>
          <a:ln/>
        </p:spPr>
        <p:txBody>
          <a:bodyPr wrap="square" lIns="0" tIns="0" rIns="0" bIns="0" rtlCol="0" anchor="t"/>
          <a:lstStyle/>
          <a:p>
            <a:pPr algn="l" indent="0" marL="0">
              <a:lnSpc>
                <a:spcPct val="110000"/>
              </a:lnSpc>
              <a:buNone/>
            </a:pPr>
            <a:r>
              <a:rPr lang="en-US" sz="2200" dirty="0">
                <a:solidFill>
                  <a:srgbClr val="1E1208"/>
                </a:solidFill>
                <a:latin typeface="Impact" pitchFamily="34" charset="0"/>
                <a:ea typeface="Impact" pitchFamily="34" charset="-122"/>
                <a:cs typeface="Impact" pitchFamily="34" charset="-120"/>
              </a:rPr>
              <a:t>→</a:t>
            </a:r>
            <a:endParaRPr lang="en-US" sz="2200" dirty="0"/>
          </a:p>
        </p:txBody>
      </p:sp>
      <p:sp>
        <p:nvSpPr>
          <p:cNvPr id="27" name="Shape 24"/>
          <p:cNvSpPr/>
          <p:nvPr/>
        </p:nvSpPr>
        <p:spPr>
          <a:xfrm>
            <a:off x="7178040" y="2286000"/>
            <a:ext cx="1737360" cy="2103120"/>
          </a:xfrm>
          <a:prstGeom prst="rect">
            <a:avLst/>
          </a:prstGeom>
          <a:solidFill>
            <a:srgbClr val="1F8A84"/>
          </a:solidFill>
          <a:ln w="25400">
            <a:solidFill>
              <a:srgbClr val="1E1208"/>
            </a:solidFill>
            <a:prstDash val="solid"/>
          </a:ln>
        </p:spPr>
      </p:sp>
      <p:sp>
        <p:nvSpPr>
          <p:cNvPr id="28" name="Text 25"/>
          <p:cNvSpPr/>
          <p:nvPr/>
        </p:nvSpPr>
        <p:spPr>
          <a:xfrm>
            <a:off x="7287768" y="2468880"/>
            <a:ext cx="1554480" cy="914400"/>
          </a:xfrm>
          <a:prstGeom prst="rect">
            <a:avLst/>
          </a:prstGeom>
          <a:noFill/>
          <a:ln/>
        </p:spPr>
        <p:txBody>
          <a:bodyPr wrap="square" lIns="0" tIns="0" rIns="0" bIns="0" rtlCol="0" anchor="ctr"/>
          <a:lstStyle/>
          <a:p>
            <a:pPr algn="ctr" indent="0" marL="0">
              <a:lnSpc>
                <a:spcPct val="110000"/>
              </a:lnSpc>
              <a:buNone/>
            </a:pPr>
            <a:r>
              <a:rPr lang="en-US" sz="2200" dirty="0">
                <a:solidFill>
                  <a:srgbClr val="FFFFFF"/>
                </a:solidFill>
                <a:latin typeface="Impact" pitchFamily="34" charset="0"/>
                <a:ea typeface="Impact" pitchFamily="34" charset="-122"/>
                <a:cs typeface="Impact" pitchFamily="34" charset="-120"/>
              </a:rPr>
              <a:t>IMPROVE</a:t>
            </a:r>
            <a:endParaRPr lang="en-US" sz="2200" dirty="0"/>
          </a:p>
        </p:txBody>
      </p:sp>
      <p:sp>
        <p:nvSpPr>
          <p:cNvPr id="29" name="Text 26"/>
          <p:cNvSpPr/>
          <p:nvPr/>
        </p:nvSpPr>
        <p:spPr>
          <a:xfrm>
            <a:off x="7287768" y="3429000"/>
            <a:ext cx="1554480" cy="822960"/>
          </a:xfrm>
          <a:prstGeom prst="rect">
            <a:avLst/>
          </a:prstGeom>
          <a:noFill/>
          <a:ln/>
        </p:spPr>
        <p:txBody>
          <a:bodyPr wrap="square" lIns="0" tIns="0" rIns="0" bIns="0" rtlCol="0" anchor="t"/>
          <a:lstStyle/>
          <a:p>
            <a:pPr algn="ctr" indent="0" marL="0">
              <a:lnSpc>
                <a:spcPct val="110000"/>
              </a:lnSpc>
              <a:buNone/>
            </a:pPr>
            <a:r>
              <a:rPr lang="en-US" sz="1150" b="1" dirty="0">
                <a:solidFill>
                  <a:srgbClr val="FFFFFF"/>
                </a:solidFill>
                <a:latin typeface="Arial" pitchFamily="34" charset="0"/>
                <a:ea typeface="Arial" pitchFamily="34" charset="-122"/>
                <a:cs typeface="Arial" pitchFamily="34" charset="-120"/>
              </a:rPr>
              <a:t>See the change</a:t>
            </a:r>
            <a:endParaRPr lang="en-US" sz="1150" dirty="0"/>
          </a:p>
        </p:txBody>
      </p:sp>
      <p:sp>
        <p:nvSpPr>
          <p:cNvPr id="30" name="Text 27"/>
          <p:cNvSpPr/>
          <p:nvPr/>
        </p:nvSpPr>
        <p:spPr>
          <a:xfrm>
            <a:off x="8897112" y="3017520"/>
            <a:ext cx="228600" cy="457200"/>
          </a:xfrm>
          <a:prstGeom prst="rect">
            <a:avLst/>
          </a:prstGeom>
          <a:noFill/>
          <a:ln/>
        </p:spPr>
        <p:txBody>
          <a:bodyPr wrap="square" lIns="0" tIns="0" rIns="0" bIns="0" rtlCol="0" anchor="t"/>
          <a:lstStyle/>
          <a:p>
            <a:pPr algn="l" indent="0" marL="0">
              <a:lnSpc>
                <a:spcPct val="110000"/>
              </a:lnSpc>
              <a:buNone/>
            </a:pPr>
            <a:r>
              <a:rPr lang="en-US" sz="2200" dirty="0">
                <a:solidFill>
                  <a:srgbClr val="1E1208"/>
                </a:solidFill>
                <a:latin typeface="Impact" pitchFamily="34" charset="0"/>
                <a:ea typeface="Impact" pitchFamily="34" charset="-122"/>
                <a:cs typeface="Impact" pitchFamily="34" charset="-120"/>
              </a:rPr>
              <a:t>→</a:t>
            </a:r>
            <a:endParaRPr lang="en-US" sz="2200" dirty="0"/>
          </a:p>
        </p:txBody>
      </p:sp>
      <p:sp>
        <p:nvSpPr>
          <p:cNvPr id="31" name="Shape 28"/>
          <p:cNvSpPr/>
          <p:nvPr/>
        </p:nvSpPr>
        <p:spPr>
          <a:xfrm>
            <a:off x="9098280" y="2286000"/>
            <a:ext cx="1737360" cy="2103120"/>
          </a:xfrm>
          <a:prstGeom prst="rect">
            <a:avLst/>
          </a:prstGeom>
          <a:solidFill>
            <a:srgbClr val="D4762A"/>
          </a:solidFill>
          <a:ln w="25400">
            <a:solidFill>
              <a:srgbClr val="1E1208"/>
            </a:solidFill>
            <a:prstDash val="solid"/>
          </a:ln>
        </p:spPr>
      </p:sp>
      <p:sp>
        <p:nvSpPr>
          <p:cNvPr id="32" name="Text 29"/>
          <p:cNvSpPr/>
          <p:nvPr/>
        </p:nvSpPr>
        <p:spPr>
          <a:xfrm>
            <a:off x="9208008" y="2468880"/>
            <a:ext cx="1554480" cy="914400"/>
          </a:xfrm>
          <a:prstGeom prst="rect">
            <a:avLst/>
          </a:prstGeom>
          <a:noFill/>
          <a:ln/>
        </p:spPr>
        <p:txBody>
          <a:bodyPr wrap="square" lIns="0" tIns="0" rIns="0" bIns="0" rtlCol="0" anchor="ctr"/>
          <a:lstStyle/>
          <a:p>
            <a:pPr algn="ctr" indent="0" marL="0">
              <a:lnSpc>
                <a:spcPct val="110000"/>
              </a:lnSpc>
              <a:buNone/>
            </a:pPr>
            <a:r>
              <a:rPr lang="en-US" sz="2200" dirty="0">
                <a:solidFill>
                  <a:srgbClr val="1E1208"/>
                </a:solidFill>
                <a:latin typeface="Impact" pitchFamily="34" charset="0"/>
                <a:ea typeface="Impact" pitchFamily="34" charset="-122"/>
                <a:cs typeface="Impact" pitchFamily="34" charset="-120"/>
              </a:rPr>
              <a:t>ASSESS AGAIN</a:t>
            </a:r>
            <a:endParaRPr lang="en-US" sz="2200" dirty="0"/>
          </a:p>
        </p:txBody>
      </p:sp>
      <p:sp>
        <p:nvSpPr>
          <p:cNvPr id="33" name="Text 30"/>
          <p:cNvSpPr/>
          <p:nvPr/>
        </p:nvSpPr>
        <p:spPr>
          <a:xfrm>
            <a:off x="9208008" y="3429000"/>
            <a:ext cx="1554480" cy="822960"/>
          </a:xfrm>
          <a:prstGeom prst="rect">
            <a:avLst/>
          </a:prstGeom>
          <a:noFill/>
          <a:ln/>
        </p:spPr>
        <p:txBody>
          <a:bodyPr wrap="square" lIns="0" tIns="0" rIns="0" bIns="0" rtlCol="0" anchor="t"/>
          <a:lstStyle/>
          <a:p>
            <a:pPr algn="ctr" indent="0" marL="0">
              <a:lnSpc>
                <a:spcPct val="110000"/>
              </a:lnSpc>
              <a:buNone/>
            </a:pPr>
            <a:r>
              <a:rPr lang="en-US" sz="1150" b="1" dirty="0">
                <a:solidFill>
                  <a:srgbClr val="1E1208"/>
                </a:solidFill>
                <a:latin typeface="Arial" pitchFamily="34" charset="0"/>
                <a:ea typeface="Arial" pitchFamily="34" charset="-122"/>
                <a:cs typeface="Arial" pitchFamily="34" charset="-120"/>
              </a:rPr>
              <a:t>Check it worked</a:t>
            </a:r>
            <a:endParaRPr lang="en-US" sz="1150" dirty="0"/>
          </a:p>
        </p:txBody>
      </p:sp>
      <p:sp>
        <p:nvSpPr>
          <p:cNvPr id="34" name="Shape 31"/>
          <p:cNvSpPr/>
          <p:nvPr/>
        </p:nvSpPr>
        <p:spPr>
          <a:xfrm>
            <a:off x="1417320" y="4754880"/>
            <a:ext cx="9509760" cy="960120"/>
          </a:xfrm>
          <a:prstGeom prst="rect">
            <a:avLst/>
          </a:prstGeom>
          <a:solidFill>
            <a:srgbClr val="1E1208"/>
          </a:solidFill>
          <a:ln w="25400">
            <a:solidFill>
              <a:srgbClr val="1E1208"/>
            </a:solidFill>
            <a:prstDash val="solid"/>
          </a:ln>
        </p:spPr>
      </p:sp>
      <p:sp>
        <p:nvSpPr>
          <p:cNvPr id="35" name="Text 32"/>
          <p:cNvSpPr/>
          <p:nvPr/>
        </p:nvSpPr>
        <p:spPr>
          <a:xfrm>
            <a:off x="1645920" y="4754880"/>
            <a:ext cx="9052560" cy="960120"/>
          </a:xfrm>
          <a:prstGeom prst="rect">
            <a:avLst/>
          </a:prstGeom>
          <a:noFill/>
          <a:ln/>
        </p:spPr>
        <p:txBody>
          <a:bodyPr wrap="square" lIns="0" tIns="0" rIns="0" bIns="0" rtlCol="0" anchor="ctr"/>
          <a:lstStyle/>
          <a:p>
            <a:pPr algn="l" indent="0" marL="0">
              <a:lnSpc>
                <a:spcPct val="110000"/>
              </a:lnSpc>
              <a:buNone/>
            </a:pPr>
            <a:r>
              <a:rPr lang="en-US" sz="1500" b="1" dirty="0">
                <a:solidFill>
                  <a:srgbClr val="FFFFFF"/>
                </a:solidFill>
                <a:latin typeface="Arial" pitchFamily="34" charset="0"/>
                <a:ea typeface="Arial" pitchFamily="34" charset="-122"/>
                <a:cs typeface="Arial" pitchFamily="34" charset="-120"/>
              </a:rPr>
              <a:t>One shared topic list connects them. A weak topic in Smart Assess leads to a lesson in Smart Learning or a game in Smart Play.</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368735" y="5550408"/>
            <a:ext cx="822960" cy="1152144"/>
          </a:xfrm>
          <a:prstGeom prst="rect">
            <a:avLst/>
          </a:prstGeom>
          <a:solidFill>
            <a:srgbClr val="FDFDFB"/>
          </a:solidFill>
          <a:ln w="25400">
            <a:solidFill>
              <a:srgbClr val="1E1208"/>
            </a:solidFill>
            <a:prstDash val="solid"/>
          </a:ln>
        </p:spPr>
      </p:sp>
      <p:sp>
        <p:nvSpPr>
          <p:cNvPr id="11" name="Text 9"/>
          <p:cNvSpPr/>
          <p:nvPr/>
        </p:nvSpPr>
        <p:spPr>
          <a:xfrm>
            <a:off x="11368735" y="5550408"/>
            <a:ext cx="822960"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BUILT AROUND YOUR ROLES</a:t>
            </a:r>
            <a:endParaRPr lang="en-US" sz="1150" dirty="0"/>
          </a:p>
        </p:txBody>
      </p:sp>
      <p:sp>
        <p:nvSpPr>
          <p:cNvPr id="14" name="Text 11"/>
          <p:cNvSpPr/>
          <p:nvPr/>
        </p:nvSpPr>
        <p:spPr>
          <a:xfrm>
            <a:off x="1417320" y="777240"/>
            <a:ext cx="9509760" cy="1097280"/>
          </a:xfrm>
          <a:prstGeom prst="rect">
            <a:avLst/>
          </a:prstGeom>
          <a:noFill/>
          <a:ln/>
        </p:spPr>
        <p:txBody>
          <a:bodyPr wrap="square" lIns="0" tIns="0" rIns="0" bIns="0" rtlCol="0" anchor="t">
            <a:normAutofit/>
          </a:bodyPr>
          <a:lstStyle/>
          <a:p>
            <a:pPr indent="0" marL="0">
              <a:buNone/>
            </a:pPr>
            <a:r>
              <a:rPr lang="en-US" sz="3600" dirty="0">
                <a:solidFill>
                  <a:srgbClr val="1E1208"/>
                </a:solidFill>
                <a:latin typeface="Impact" pitchFamily="34" charset="0"/>
                <a:ea typeface="Impact" pitchFamily="34" charset="-122"/>
                <a:cs typeface="Impact" pitchFamily="34" charset="-120"/>
              </a:rPr>
              <a:t>TEACHERS SEE CLASSROOMS. HODS SEE DEPARTMENTS. LEADERS SEE THE SCHOOL.</a:t>
            </a:r>
            <a:endParaRPr lang="en-US" sz="3600" dirty="0"/>
          </a:p>
        </p:txBody>
      </p:sp>
      <p:sp>
        <p:nvSpPr>
          <p:cNvPr id="15" name="Shape 12"/>
          <p:cNvSpPr/>
          <p:nvPr/>
        </p:nvSpPr>
        <p:spPr>
          <a:xfrm>
            <a:off x="1417320" y="2286000"/>
            <a:ext cx="3017520" cy="3383280"/>
          </a:xfrm>
          <a:prstGeom prst="rect">
            <a:avLst/>
          </a:prstGeom>
          <a:solidFill>
            <a:srgbClr val="FFFFFF"/>
          </a:solidFill>
          <a:ln w="25400">
            <a:solidFill>
              <a:srgbClr val="1E1208"/>
            </a:solidFill>
            <a:prstDash val="solid"/>
          </a:ln>
        </p:spPr>
      </p:sp>
      <p:sp>
        <p:nvSpPr>
          <p:cNvPr id="16" name="Shape 13"/>
          <p:cNvSpPr/>
          <p:nvPr/>
        </p:nvSpPr>
        <p:spPr>
          <a:xfrm>
            <a:off x="1417320" y="2286000"/>
            <a:ext cx="3017520" cy="731520"/>
          </a:xfrm>
          <a:prstGeom prst="rect">
            <a:avLst/>
          </a:prstGeom>
          <a:solidFill>
            <a:srgbClr val="D4762A"/>
          </a:solidFill>
          <a:ln w="25400">
            <a:solidFill>
              <a:srgbClr val="1E1208"/>
            </a:solidFill>
            <a:prstDash val="solid"/>
          </a:ln>
        </p:spPr>
      </p:sp>
      <p:sp>
        <p:nvSpPr>
          <p:cNvPr id="17" name="Text 14"/>
          <p:cNvSpPr/>
          <p:nvPr/>
        </p:nvSpPr>
        <p:spPr>
          <a:xfrm>
            <a:off x="1600200" y="2286000"/>
            <a:ext cx="2651760" cy="731520"/>
          </a:xfrm>
          <a:prstGeom prst="rect">
            <a:avLst/>
          </a:prstGeom>
          <a:noFill/>
          <a:ln/>
        </p:spPr>
        <p:txBody>
          <a:bodyPr wrap="square" lIns="0" tIns="0" rIns="0" bIns="0" rtlCol="0" anchor="ctr"/>
          <a:lstStyle/>
          <a:p>
            <a:pPr algn="l" indent="0" marL="0">
              <a:lnSpc>
                <a:spcPct val="110000"/>
              </a:lnSpc>
              <a:buNone/>
            </a:pPr>
            <a:r>
              <a:rPr lang="en-US" sz="1900" dirty="0">
                <a:solidFill>
                  <a:srgbClr val="1E1208"/>
                </a:solidFill>
                <a:latin typeface="Impact" pitchFamily="34" charset="0"/>
                <a:ea typeface="Impact" pitchFamily="34" charset="-122"/>
                <a:cs typeface="Impact" pitchFamily="34" charset="-120"/>
              </a:rPr>
              <a:t>TEACHERS</a:t>
            </a:r>
            <a:endParaRPr lang="en-US" sz="1900" dirty="0"/>
          </a:p>
        </p:txBody>
      </p:sp>
      <p:sp>
        <p:nvSpPr>
          <p:cNvPr id="18" name="Text 15"/>
          <p:cNvSpPr/>
          <p:nvPr/>
        </p:nvSpPr>
        <p:spPr>
          <a:xfrm>
            <a:off x="1600200" y="3200400"/>
            <a:ext cx="2651760" cy="2743200"/>
          </a:xfrm>
          <a:prstGeom prst="rect">
            <a:avLst/>
          </a:prstGeom>
          <a:noFill/>
          <a:ln/>
        </p:spPr>
        <p:txBody>
          <a:bodyPr wrap="square" lIns="0" tIns="0" rIns="0" bIns="0" rtlCol="0" anchor="t"/>
          <a:lstStyle/>
          <a:p>
            <a:pPr algn="l" marL="342900" indent="-342900">
              <a:lnSpc>
                <a:spcPct val="125000"/>
              </a:lnSpc>
              <a:buSzPct val="100000"/>
              <a:buChar char="■"/>
            </a:pPr>
            <a:r>
              <a:rPr lang="en-US" sz="1250" dirty="0">
                <a:solidFill>
                  <a:srgbClr val="1E1208"/>
                </a:solidFill>
                <a:latin typeface="Arial" pitchFamily="34" charset="0"/>
                <a:ea typeface="Arial" pitchFamily="34" charset="-122"/>
                <a:cs typeface="Arial" pitchFamily="34" charset="-120"/>
              </a:rPr>
              <a:t>Tests and the question bank</a:t>
            </a:r>
            <a:endParaRPr lang="en-US" sz="1250" dirty="0"/>
          </a:p>
          <a:p>
            <a:pPr algn="l" marL="342900" indent="-342900">
              <a:lnSpc>
                <a:spcPct val="125000"/>
              </a:lnSpc>
              <a:buSzPct val="100000"/>
              <a:buChar char="■"/>
            </a:pPr>
            <a:r>
              <a:rPr lang="en-US" sz="1250" dirty="0">
                <a:solidFill>
                  <a:srgbClr val="1E1208"/>
                </a:solidFill>
                <a:latin typeface="Arial" pitchFamily="34" charset="0"/>
                <a:ea typeface="Arial" pitchFamily="34" charset="-122"/>
                <a:cs typeface="Arial" pitchFamily="34" charset="-120"/>
              </a:rPr>
              <a:t>Lessons, plans and catch-up</a:t>
            </a:r>
            <a:endParaRPr lang="en-US" sz="1250" dirty="0"/>
          </a:p>
          <a:p>
            <a:pPr algn="l" marL="342900" indent="-342900">
              <a:lnSpc>
                <a:spcPct val="125000"/>
              </a:lnSpc>
              <a:buSzPct val="100000"/>
              <a:buChar char="■"/>
            </a:pPr>
            <a:r>
              <a:rPr lang="en-US" sz="1250" dirty="0">
                <a:solidFill>
                  <a:srgbClr val="1E1208"/>
                </a:solidFill>
                <a:latin typeface="Arial" pitchFamily="34" charset="0"/>
                <a:ea typeface="Arial" pitchFamily="34" charset="-122"/>
                <a:cs typeface="Arial" pitchFamily="34" charset="-120"/>
              </a:rPr>
              <a:t>Marking and results</a:t>
            </a:r>
            <a:endParaRPr lang="en-US" sz="1250" dirty="0"/>
          </a:p>
          <a:p>
            <a:pPr algn="l" marL="342900" indent="-342900">
              <a:lnSpc>
                <a:spcPct val="125000"/>
              </a:lnSpc>
              <a:buSzPct val="100000"/>
              <a:buChar char="■"/>
            </a:pPr>
            <a:r>
              <a:rPr lang="en-US" sz="1250" dirty="0">
                <a:solidFill>
                  <a:srgbClr val="1E1208"/>
                </a:solidFill>
                <a:latin typeface="Arial" pitchFamily="34" charset="0"/>
                <a:ea typeface="Arial" pitchFamily="34" charset="-122"/>
                <a:cs typeface="Arial" pitchFamily="34" charset="-120"/>
              </a:rPr>
              <a:t>Attendance for their classes</a:t>
            </a:r>
            <a:endParaRPr lang="en-US" sz="1250" dirty="0"/>
          </a:p>
          <a:p>
            <a:pPr algn="l" marL="342900" indent="-342900">
              <a:lnSpc>
                <a:spcPct val="125000"/>
              </a:lnSpc>
              <a:buSzPct val="100000"/>
              <a:buChar char="■"/>
            </a:pPr>
            <a:r>
              <a:rPr lang="en-US" sz="1250" dirty="0">
                <a:solidFill>
                  <a:srgbClr val="1E1208"/>
                </a:solidFill>
                <a:latin typeface="Arial" pitchFamily="34" charset="0"/>
                <a:ea typeface="Arial" pitchFamily="34" charset="-122"/>
                <a:cs typeface="Arial" pitchFamily="34" charset="-120"/>
              </a:rPr>
              <a:t>Report an absence, request cover</a:t>
            </a:r>
            <a:endParaRPr lang="en-US" sz="1250" dirty="0"/>
          </a:p>
        </p:txBody>
      </p:sp>
      <p:sp>
        <p:nvSpPr>
          <p:cNvPr id="19" name="Shape 16"/>
          <p:cNvSpPr/>
          <p:nvPr/>
        </p:nvSpPr>
        <p:spPr>
          <a:xfrm>
            <a:off x="4617720" y="2286000"/>
            <a:ext cx="3017520" cy="3383280"/>
          </a:xfrm>
          <a:prstGeom prst="rect">
            <a:avLst/>
          </a:prstGeom>
          <a:solidFill>
            <a:srgbClr val="FFFFFF"/>
          </a:solidFill>
          <a:ln w="25400">
            <a:solidFill>
              <a:srgbClr val="1E1208"/>
            </a:solidFill>
            <a:prstDash val="solid"/>
          </a:ln>
        </p:spPr>
      </p:sp>
      <p:sp>
        <p:nvSpPr>
          <p:cNvPr id="20" name="Shape 17"/>
          <p:cNvSpPr/>
          <p:nvPr/>
        </p:nvSpPr>
        <p:spPr>
          <a:xfrm>
            <a:off x="4617720" y="2286000"/>
            <a:ext cx="3017520" cy="731520"/>
          </a:xfrm>
          <a:prstGeom prst="rect">
            <a:avLst/>
          </a:prstGeom>
          <a:solidFill>
            <a:srgbClr val="E3B51E"/>
          </a:solidFill>
          <a:ln w="25400">
            <a:solidFill>
              <a:srgbClr val="1E1208"/>
            </a:solidFill>
            <a:prstDash val="solid"/>
          </a:ln>
        </p:spPr>
      </p:sp>
      <p:sp>
        <p:nvSpPr>
          <p:cNvPr id="21" name="Text 18"/>
          <p:cNvSpPr/>
          <p:nvPr/>
        </p:nvSpPr>
        <p:spPr>
          <a:xfrm>
            <a:off x="4800600" y="2286000"/>
            <a:ext cx="2651760" cy="731520"/>
          </a:xfrm>
          <a:prstGeom prst="rect">
            <a:avLst/>
          </a:prstGeom>
          <a:noFill/>
          <a:ln/>
        </p:spPr>
        <p:txBody>
          <a:bodyPr wrap="square" lIns="0" tIns="0" rIns="0" bIns="0" rtlCol="0" anchor="ctr"/>
          <a:lstStyle/>
          <a:p>
            <a:pPr algn="l" indent="0" marL="0">
              <a:lnSpc>
                <a:spcPct val="110000"/>
              </a:lnSpc>
              <a:buNone/>
            </a:pPr>
            <a:r>
              <a:rPr lang="en-US" sz="1900" dirty="0">
                <a:solidFill>
                  <a:srgbClr val="1E1208"/>
                </a:solidFill>
                <a:latin typeface="Impact" pitchFamily="34" charset="0"/>
                <a:ea typeface="Impact" pitchFamily="34" charset="-122"/>
                <a:cs typeface="Impact" pitchFamily="34" charset="-120"/>
              </a:rPr>
              <a:t>HEADS OF DEPARTMENT</a:t>
            </a:r>
            <a:endParaRPr lang="en-US" sz="1900" dirty="0"/>
          </a:p>
        </p:txBody>
      </p:sp>
      <p:sp>
        <p:nvSpPr>
          <p:cNvPr id="22" name="Text 19"/>
          <p:cNvSpPr/>
          <p:nvPr/>
        </p:nvSpPr>
        <p:spPr>
          <a:xfrm>
            <a:off x="4800600" y="3200400"/>
            <a:ext cx="2651760" cy="2743200"/>
          </a:xfrm>
          <a:prstGeom prst="rect">
            <a:avLst/>
          </a:prstGeom>
          <a:noFill/>
          <a:ln/>
        </p:spPr>
        <p:txBody>
          <a:bodyPr wrap="square" lIns="0" tIns="0" rIns="0" bIns="0" rtlCol="0" anchor="t"/>
          <a:lstStyle/>
          <a:p>
            <a:pPr algn="l" marL="342900" indent="-342900">
              <a:lnSpc>
                <a:spcPct val="125000"/>
              </a:lnSpc>
              <a:buSzPct val="100000"/>
              <a:buChar char="■"/>
            </a:pPr>
            <a:r>
              <a:rPr lang="en-US" sz="1250" dirty="0">
                <a:solidFill>
                  <a:srgbClr val="1E1208"/>
                </a:solidFill>
                <a:latin typeface="Arial" pitchFamily="34" charset="0"/>
                <a:ea typeface="Arial" pitchFamily="34" charset="-122"/>
                <a:cs typeface="Arial" pitchFamily="34" charset="-120"/>
              </a:rPr>
              <a:t>Their department's classes and teachers</a:t>
            </a:r>
            <a:endParaRPr lang="en-US" sz="1250" dirty="0"/>
          </a:p>
          <a:p>
            <a:pPr algn="l" marL="342900" indent="-342900">
              <a:lnSpc>
                <a:spcPct val="125000"/>
              </a:lnSpc>
              <a:buSzPct val="100000"/>
              <a:buChar char="■"/>
            </a:pPr>
            <a:r>
              <a:rPr lang="en-US" sz="1250" dirty="0">
                <a:solidFill>
                  <a:srgbClr val="1E1208"/>
                </a:solidFill>
                <a:latin typeface="Arial" pitchFamily="34" charset="0"/>
                <a:ea typeface="Arial" pitchFamily="34" charset="-122"/>
                <a:cs typeface="Arial" pitchFamily="34" charset="-120"/>
              </a:rPr>
              <a:t>Analytics and flagged sessions</a:t>
            </a:r>
            <a:endParaRPr lang="en-US" sz="1250" dirty="0"/>
          </a:p>
          <a:p>
            <a:pPr algn="l" marL="342900" indent="-342900">
              <a:lnSpc>
                <a:spcPct val="125000"/>
              </a:lnSpc>
              <a:buSzPct val="100000"/>
              <a:buChar char="■"/>
            </a:pPr>
            <a:r>
              <a:rPr lang="en-US" sz="1250" dirty="0">
                <a:solidFill>
                  <a:srgbClr val="1E1208"/>
                </a:solidFill>
                <a:latin typeface="Arial" pitchFamily="34" charset="0"/>
                <a:ea typeface="Arial" pitchFamily="34" charset="-122"/>
                <a:cs typeface="Arial" pitchFamily="34" charset="-120"/>
              </a:rPr>
              <a:t>Vet and publish school exams</a:t>
            </a:r>
            <a:endParaRPr lang="en-US" sz="1250" dirty="0"/>
          </a:p>
          <a:p>
            <a:pPr algn="l" marL="342900" indent="-342900">
              <a:lnSpc>
                <a:spcPct val="125000"/>
              </a:lnSpc>
              <a:buSzPct val="100000"/>
              <a:buChar char="■"/>
            </a:pPr>
            <a:r>
              <a:rPr lang="en-US" sz="1250" dirty="0">
                <a:solidFill>
                  <a:srgbClr val="1E1208"/>
                </a:solidFill>
                <a:latin typeface="Arial" pitchFamily="34" charset="0"/>
                <a:ea typeface="Arial" pitchFamily="34" charset="-122"/>
                <a:cs typeface="Arial" pitchFamily="34" charset="-120"/>
              </a:rPr>
              <a:t>Department attendance and topics</a:t>
            </a:r>
            <a:endParaRPr lang="en-US" sz="1250" dirty="0"/>
          </a:p>
          <a:p>
            <a:pPr algn="l" marL="342900" indent="-342900">
              <a:lnSpc>
                <a:spcPct val="125000"/>
              </a:lnSpc>
              <a:buSzPct val="100000"/>
              <a:buChar char="■"/>
            </a:pPr>
            <a:r>
              <a:rPr lang="en-US" sz="1250" dirty="0">
                <a:solidFill>
                  <a:srgbClr val="1E1208"/>
                </a:solidFill>
                <a:latin typeface="Arial" pitchFamily="34" charset="0"/>
                <a:ea typeface="Arial" pitchFamily="34" charset="-122"/>
                <a:cs typeface="Arial" pitchFamily="34" charset="-120"/>
              </a:rPr>
              <a:t>Arrange cover for absent teachers</a:t>
            </a:r>
            <a:endParaRPr lang="en-US" sz="1250" dirty="0"/>
          </a:p>
        </p:txBody>
      </p:sp>
      <p:sp>
        <p:nvSpPr>
          <p:cNvPr id="23" name="Shape 20"/>
          <p:cNvSpPr/>
          <p:nvPr/>
        </p:nvSpPr>
        <p:spPr>
          <a:xfrm>
            <a:off x="7818120" y="2286000"/>
            <a:ext cx="3017520" cy="3383280"/>
          </a:xfrm>
          <a:prstGeom prst="rect">
            <a:avLst/>
          </a:prstGeom>
          <a:solidFill>
            <a:srgbClr val="FFFFFF"/>
          </a:solidFill>
          <a:ln w="25400">
            <a:solidFill>
              <a:srgbClr val="1E1208"/>
            </a:solidFill>
            <a:prstDash val="solid"/>
          </a:ln>
        </p:spPr>
      </p:sp>
      <p:sp>
        <p:nvSpPr>
          <p:cNvPr id="24" name="Shape 21"/>
          <p:cNvSpPr/>
          <p:nvPr/>
        </p:nvSpPr>
        <p:spPr>
          <a:xfrm>
            <a:off x="7818120" y="2286000"/>
            <a:ext cx="3017520" cy="731520"/>
          </a:xfrm>
          <a:prstGeom prst="rect">
            <a:avLst/>
          </a:prstGeom>
          <a:solidFill>
            <a:srgbClr val="FBE9D6"/>
          </a:solidFill>
          <a:ln w="25400">
            <a:solidFill>
              <a:srgbClr val="1E1208"/>
            </a:solidFill>
            <a:prstDash val="solid"/>
          </a:ln>
        </p:spPr>
      </p:sp>
      <p:sp>
        <p:nvSpPr>
          <p:cNvPr id="25" name="Text 22"/>
          <p:cNvSpPr/>
          <p:nvPr/>
        </p:nvSpPr>
        <p:spPr>
          <a:xfrm>
            <a:off x="8001000" y="2286000"/>
            <a:ext cx="2651760" cy="731520"/>
          </a:xfrm>
          <a:prstGeom prst="rect">
            <a:avLst/>
          </a:prstGeom>
          <a:noFill/>
          <a:ln/>
        </p:spPr>
        <p:txBody>
          <a:bodyPr wrap="square" lIns="0" tIns="0" rIns="0" bIns="0" rtlCol="0" anchor="ctr"/>
          <a:lstStyle/>
          <a:p>
            <a:pPr algn="l" indent="0" marL="0">
              <a:lnSpc>
                <a:spcPct val="110000"/>
              </a:lnSpc>
              <a:buNone/>
            </a:pPr>
            <a:r>
              <a:rPr lang="en-US" sz="1900" dirty="0">
                <a:solidFill>
                  <a:srgbClr val="1E1208"/>
                </a:solidFill>
                <a:latin typeface="Impact" pitchFamily="34" charset="0"/>
                <a:ea typeface="Impact" pitchFamily="34" charset="-122"/>
                <a:cs typeface="Impact" pitchFamily="34" charset="-120"/>
              </a:rPr>
              <a:t>PRINCIPAL AND ADMINISTRATORS</a:t>
            </a:r>
            <a:endParaRPr lang="en-US" sz="1900" dirty="0"/>
          </a:p>
        </p:txBody>
      </p:sp>
      <p:sp>
        <p:nvSpPr>
          <p:cNvPr id="26" name="Text 23"/>
          <p:cNvSpPr/>
          <p:nvPr/>
        </p:nvSpPr>
        <p:spPr>
          <a:xfrm>
            <a:off x="8001000" y="3200400"/>
            <a:ext cx="2651760" cy="2743200"/>
          </a:xfrm>
          <a:prstGeom prst="rect">
            <a:avLst/>
          </a:prstGeom>
          <a:noFill/>
          <a:ln/>
        </p:spPr>
        <p:txBody>
          <a:bodyPr wrap="square" lIns="0" tIns="0" rIns="0" bIns="0" rtlCol="0" anchor="t"/>
          <a:lstStyle/>
          <a:p>
            <a:pPr algn="l" marL="342900" indent="-342900">
              <a:lnSpc>
                <a:spcPct val="125000"/>
              </a:lnSpc>
              <a:buSzPct val="100000"/>
              <a:buChar char="■"/>
            </a:pPr>
            <a:r>
              <a:rPr lang="en-US" sz="1250" dirty="0">
                <a:solidFill>
                  <a:srgbClr val="1E1208"/>
                </a:solidFill>
                <a:latin typeface="Arial" pitchFamily="34" charset="0"/>
                <a:ea typeface="Arial" pitchFamily="34" charset="-122"/>
                <a:cs typeface="Arial" pitchFamily="34" charset="-120"/>
              </a:rPr>
              <a:t>Staff, students and the timetable</a:t>
            </a:r>
            <a:endParaRPr lang="en-US" sz="1250" dirty="0"/>
          </a:p>
          <a:p>
            <a:pPr algn="l" marL="342900" indent="-342900">
              <a:lnSpc>
                <a:spcPct val="125000"/>
              </a:lnSpc>
              <a:buSzPct val="100000"/>
              <a:buChar char="■"/>
            </a:pPr>
            <a:r>
              <a:rPr lang="en-US" sz="1250" dirty="0">
                <a:solidFill>
                  <a:srgbClr val="1E1208"/>
                </a:solidFill>
                <a:latin typeface="Arial" pitchFamily="34" charset="0"/>
                <a:ea typeface="Arial" pitchFamily="34" charset="-122"/>
                <a:cs typeface="Arial" pitchFamily="34" charset="-120"/>
              </a:rPr>
              <a:t>Attendance and alerts school-wide</a:t>
            </a:r>
            <a:endParaRPr lang="en-US" sz="1250" dirty="0"/>
          </a:p>
          <a:p>
            <a:pPr algn="l" marL="342900" indent="-342900">
              <a:lnSpc>
                <a:spcPct val="125000"/>
              </a:lnSpc>
              <a:buSzPct val="100000"/>
              <a:buChar char="■"/>
            </a:pPr>
            <a:r>
              <a:rPr lang="en-US" sz="1250" dirty="0">
                <a:solidFill>
                  <a:srgbClr val="1E1208"/>
                </a:solidFill>
                <a:latin typeface="Arial" pitchFamily="34" charset="0"/>
                <a:ea typeface="Arial" pitchFamily="34" charset="-122"/>
                <a:cs typeface="Arial" pitchFamily="34" charset="-120"/>
              </a:rPr>
              <a:t>Integrity and AI tutor oversight</a:t>
            </a:r>
            <a:endParaRPr lang="en-US" sz="1250" dirty="0"/>
          </a:p>
          <a:p>
            <a:pPr algn="l" marL="342900" indent="-342900">
              <a:lnSpc>
                <a:spcPct val="125000"/>
              </a:lnSpc>
              <a:buSzPct val="100000"/>
              <a:buChar char="■"/>
            </a:pPr>
            <a:r>
              <a:rPr lang="en-US" sz="1250" dirty="0">
                <a:solidFill>
                  <a:srgbClr val="1E1208"/>
                </a:solidFill>
                <a:latin typeface="Arial" pitchFamily="34" charset="0"/>
                <a:ea typeface="Arial" pitchFamily="34" charset="-122"/>
                <a:cs typeface="Arial" pitchFamily="34" charset="-120"/>
              </a:rPr>
              <a:t>Messages to staff</a:t>
            </a:r>
            <a:endParaRPr lang="en-US" sz="1250" dirty="0"/>
          </a:p>
          <a:p>
            <a:pPr algn="l" marL="342900" indent="-342900">
              <a:lnSpc>
                <a:spcPct val="125000"/>
              </a:lnSpc>
              <a:buSzPct val="100000"/>
              <a:buChar char="■"/>
            </a:pPr>
            <a:r>
              <a:rPr lang="en-US" sz="1250" dirty="0">
                <a:solidFill>
                  <a:srgbClr val="1E1208"/>
                </a:solidFill>
                <a:latin typeface="Arial" pitchFamily="34" charset="0"/>
                <a:ea typeface="Arial" pitchFamily="34" charset="-122"/>
                <a:cs typeface="Arial" pitchFamily="34" charset="-120"/>
              </a:rPr>
              <a:t>School setup and settings</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368735" y="5550408"/>
            <a:ext cx="822960" cy="1152144"/>
          </a:xfrm>
          <a:prstGeom prst="rect">
            <a:avLst/>
          </a:prstGeom>
          <a:solidFill>
            <a:srgbClr val="FDFDFB"/>
          </a:solidFill>
          <a:ln w="25400">
            <a:solidFill>
              <a:srgbClr val="1E1208"/>
            </a:solidFill>
            <a:prstDash val="solid"/>
          </a:ln>
        </p:spPr>
      </p:sp>
      <p:sp>
        <p:nvSpPr>
          <p:cNvPr id="11" name="Text 9"/>
          <p:cNvSpPr/>
          <p:nvPr/>
        </p:nvSpPr>
        <p:spPr>
          <a:xfrm>
            <a:off x="11368735" y="5550408"/>
            <a:ext cx="822960"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THE LANDSCAPE</a:t>
            </a:r>
            <a:endParaRPr lang="en-US" sz="115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indent="0" marL="0">
              <a:buNone/>
            </a:pPr>
            <a:r>
              <a:rPr lang="en-US" sz="4800" dirty="0">
                <a:solidFill>
                  <a:srgbClr val="1E1208"/>
                </a:solidFill>
                <a:latin typeface="Impact" pitchFamily="34" charset="0"/>
                <a:ea typeface="Impact" pitchFamily="34" charset="-122"/>
                <a:cs typeface="Impact" pitchFamily="34" charset="-120"/>
              </a:rPr>
              <a:t>STRONG TOOLS. DIFFERENT JOBS.</a:t>
            </a:r>
            <a:endParaRPr lang="en-US" sz="4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1417320" y="1783080"/>
          <a:ext cx="9509760" cy="914400"/>
        </p:xfrm>
        <a:graphic>
          <a:graphicData uri="http://schemas.openxmlformats.org/drawingml/2006/table">
            <a:tbl>
              <a:tblPr/>
              <a:tblGrid>
                <a:gridCol w="1737360"/>
                <a:gridCol w="4206240"/>
                <a:gridCol w="3566160"/>
              </a:tblGrid>
              <a:tr h="347472">
                <a:tc>
                  <a:txBody>
                    <a:bodyPr/>
                    <a:lstStyle/>
                    <a:p>
                      <a:pPr indent="0" marL="0">
                        <a:buNone/>
                      </a:pPr>
                      <a:r>
                        <a:rPr lang="en-US" sz="1050" b="1" dirty="0">
                          <a:solidFill>
                            <a:srgbClr val="FFFFFF"/>
                          </a:solidFill>
                          <a:latin typeface="Courier New" pitchFamily="34" charset="0"/>
                          <a:ea typeface="Courier New" pitchFamily="34" charset="-122"/>
                          <a:cs typeface="Courier New" pitchFamily="34" charset="-120"/>
                        </a:rPr>
                        <a:t>WHAT A SCHOOL NEEDS</a:t>
                      </a:r>
                      <a:endParaRPr lang="en-US" sz="1050" dirty="0">
                        <a:latin typeface="Courier New" charset="0"/>
                        <a:ea typeface="Courier New" charset="0"/>
                        <a:cs typeface="Courier New" charset="0"/>
                      </a:endParaRPr>
                    </a:p>
                  </a:txBody>
                  <a:tcPr marL="91440" marR="91440" marT="54864" marB="54864">
                    <a:lnL w="19050" cap="flat" cmpd="sng" algn="ctr">
                      <a:solidFill>
                        <a:srgbClr val="1E1208"/>
                      </a:solidFill>
                      <a:prstDash val="solid"/>
                      <a:round/>
                      <a:headEnd type="none" w="med" len="med"/>
                      <a:tailEnd type="none" w="med" len="med"/>
                    </a:lnL>
                    <a:lnR w="19050" cap="flat" cmpd="sng" algn="ctr">
                      <a:solidFill>
                        <a:srgbClr val="1E1208"/>
                      </a:solidFill>
                      <a:prstDash val="solid"/>
                      <a:round/>
                      <a:headEnd type="none" w="med" len="med"/>
                      <a:tailEnd type="none" w="med" len="med"/>
                    </a:lnR>
                    <a:lnT w="19050" cap="flat" cmpd="sng" algn="ctr">
                      <a:solidFill>
                        <a:srgbClr val="1E1208"/>
                      </a:solidFill>
                      <a:prstDash val="solid"/>
                      <a:round/>
                      <a:headEnd type="none" w="med" len="med"/>
                      <a:tailEnd type="none" w="med" len="med"/>
                    </a:lnT>
                    <a:lnB w="19050" cap="flat" cmpd="sng" algn="ctr">
                      <a:solidFill>
                        <a:srgbClr val="1E1208"/>
                      </a:solidFill>
                      <a:prstDash val="solid"/>
                      <a:round/>
                      <a:headEnd type="none" w="med" len="med"/>
                      <a:tailEnd type="none" w="med" len="med"/>
                    </a:lnB>
                    <a:solidFill>
                      <a:srgbClr val="1E1208"/>
                    </a:solidFill>
                  </a:tcPr>
                </a:tc>
                <a:tc>
                  <a:txBody>
                    <a:bodyPr/>
                    <a:lstStyle/>
                    <a:p>
                      <a:pPr indent="0" marL="0">
                        <a:buNone/>
                      </a:pPr>
                      <a:r>
                        <a:rPr lang="en-US" sz="1050" b="1" dirty="0">
                          <a:solidFill>
                            <a:srgbClr val="FFFFFF"/>
                          </a:solidFill>
                          <a:latin typeface="Courier New" pitchFamily="34" charset="0"/>
                          <a:ea typeface="Courier New" pitchFamily="34" charset="-122"/>
                          <a:cs typeface="Courier New" pitchFamily="34" charset="-120"/>
                        </a:rPr>
                        <a:t>HOW THE COMMON TOOLS HANDLE IT</a:t>
                      </a:r>
                      <a:endParaRPr lang="en-US" sz="1050" dirty="0">
                        <a:latin typeface="Courier New" charset="0"/>
                        <a:ea typeface="Courier New" charset="0"/>
                        <a:cs typeface="Courier New" charset="0"/>
                      </a:endParaRPr>
                    </a:p>
                  </a:txBody>
                  <a:tcPr marL="91440" marR="91440" marT="54864" marB="54864">
                    <a:lnL w="19050" cap="flat" cmpd="sng" algn="ctr">
                      <a:solidFill>
                        <a:srgbClr val="1E1208"/>
                      </a:solidFill>
                      <a:prstDash val="solid"/>
                      <a:round/>
                      <a:headEnd type="none" w="med" len="med"/>
                      <a:tailEnd type="none" w="med" len="med"/>
                    </a:lnL>
                    <a:lnR w="19050" cap="flat" cmpd="sng" algn="ctr">
                      <a:solidFill>
                        <a:srgbClr val="1E1208"/>
                      </a:solidFill>
                      <a:prstDash val="solid"/>
                      <a:round/>
                      <a:headEnd type="none" w="med" len="med"/>
                      <a:tailEnd type="none" w="med" len="med"/>
                    </a:lnR>
                    <a:lnT w="19050" cap="flat" cmpd="sng" algn="ctr">
                      <a:solidFill>
                        <a:srgbClr val="1E1208"/>
                      </a:solidFill>
                      <a:prstDash val="solid"/>
                      <a:round/>
                      <a:headEnd type="none" w="med" len="med"/>
                      <a:tailEnd type="none" w="med" len="med"/>
                    </a:lnT>
                    <a:lnB w="19050" cap="flat" cmpd="sng" algn="ctr">
                      <a:solidFill>
                        <a:srgbClr val="1E1208"/>
                      </a:solidFill>
                      <a:prstDash val="solid"/>
                      <a:round/>
                      <a:headEnd type="none" w="med" len="med"/>
                      <a:tailEnd type="none" w="med" len="med"/>
                    </a:lnB>
                    <a:solidFill>
                      <a:srgbClr val="1E1208"/>
                    </a:solidFill>
                  </a:tcPr>
                </a:tc>
                <a:tc>
                  <a:txBody>
                    <a:bodyPr/>
                    <a:lstStyle/>
                    <a:p>
                      <a:pPr indent="0" marL="0">
                        <a:buNone/>
                      </a:pPr>
                      <a:r>
                        <a:rPr lang="en-US" sz="1050" b="1" dirty="0">
                          <a:solidFill>
                            <a:srgbClr val="1E1208"/>
                          </a:solidFill>
                          <a:latin typeface="Courier New" pitchFamily="34" charset="0"/>
                          <a:ea typeface="Courier New" pitchFamily="34" charset="-122"/>
                          <a:cs typeface="Courier New" pitchFamily="34" charset="-120"/>
                        </a:rPr>
                        <a:t>SMART ASSESS JA</a:t>
                      </a:r>
                      <a:endParaRPr lang="en-US" sz="1050" dirty="0">
                        <a:latin typeface="Courier New" charset="0"/>
                        <a:ea typeface="Courier New" charset="0"/>
                        <a:cs typeface="Courier New" charset="0"/>
                      </a:endParaRPr>
                    </a:p>
                  </a:txBody>
                  <a:tcPr marL="91440" marR="91440" marT="54864" marB="54864">
                    <a:lnL w="19050" cap="flat" cmpd="sng" algn="ctr">
                      <a:solidFill>
                        <a:srgbClr val="1E1208"/>
                      </a:solidFill>
                      <a:prstDash val="solid"/>
                      <a:round/>
                      <a:headEnd type="none" w="med" len="med"/>
                      <a:tailEnd type="none" w="med" len="med"/>
                    </a:lnL>
                    <a:lnR w="19050" cap="flat" cmpd="sng" algn="ctr">
                      <a:solidFill>
                        <a:srgbClr val="1E1208"/>
                      </a:solidFill>
                      <a:prstDash val="solid"/>
                      <a:round/>
                      <a:headEnd type="none" w="med" len="med"/>
                      <a:tailEnd type="none" w="med" len="med"/>
                    </a:lnR>
                    <a:lnT w="19050" cap="flat" cmpd="sng" algn="ctr">
                      <a:solidFill>
                        <a:srgbClr val="1E1208"/>
                      </a:solidFill>
                      <a:prstDash val="solid"/>
                      <a:round/>
                      <a:headEnd type="none" w="med" len="med"/>
                      <a:tailEnd type="none" w="med" len="med"/>
                    </a:lnT>
                    <a:lnB w="19050" cap="flat" cmpd="sng" algn="ctr">
                      <a:solidFill>
                        <a:srgbClr val="1E1208"/>
                      </a:solidFill>
                      <a:prstDash val="solid"/>
                      <a:round/>
                      <a:headEnd type="none" w="med" len="med"/>
                      <a:tailEnd type="none" w="med" len="med"/>
                    </a:lnB>
                    <a:solidFill>
                      <a:srgbClr val="D4762A"/>
                    </a:solidFill>
                  </a:tcPr>
                </a:tc>
              </a:tr>
              <a:tr h="868680">
                <a:tc>
                  <a:txBody>
                    <a:bodyPr/>
                    <a:lstStyle/>
                    <a:p>
                      <a:pPr indent="0" marL="0">
                        <a:buNone/>
                      </a:pPr>
                      <a:r>
                        <a:rPr lang="en-US" sz="1250" b="1" dirty="0">
                          <a:solidFill>
                            <a:srgbClr val="1E1208"/>
                          </a:solidFill>
                          <a:latin typeface="Arial" pitchFamily="34" charset="0"/>
                          <a:ea typeface="Arial" pitchFamily="34" charset="-122"/>
                          <a:cs typeface="Arial" pitchFamily="34" charset="-120"/>
                        </a:rPr>
                        <a:t>Secure exams</a:t>
                      </a:r>
                      <a:endParaRPr lang="en-US" sz="1250" dirty="0">
                        <a:latin typeface="Arial" charset="0"/>
                        <a:ea typeface="Arial" charset="0"/>
                        <a:cs typeface="Arial" charset="0"/>
                      </a:endParaRPr>
                    </a:p>
                  </a:txBody>
                  <a:tcPr marL="91440" marR="91440" marT="54864" marB="54864" anchor="ctr">
                    <a:lnL w="19050" cap="flat" cmpd="sng" algn="ctr">
                      <a:solidFill>
                        <a:srgbClr val="1E1208"/>
                      </a:solidFill>
                      <a:prstDash val="solid"/>
                      <a:round/>
                      <a:headEnd type="none" w="med" len="med"/>
                      <a:tailEnd type="none" w="med" len="med"/>
                    </a:lnL>
                    <a:lnR w="19050" cap="flat" cmpd="sng" algn="ctr">
                      <a:solidFill>
                        <a:srgbClr val="1E1208"/>
                      </a:solidFill>
                      <a:prstDash val="solid"/>
                      <a:round/>
                      <a:headEnd type="none" w="med" len="med"/>
                      <a:tailEnd type="none" w="med" len="med"/>
                    </a:lnR>
                    <a:lnT w="19050" cap="flat" cmpd="sng" algn="ctr">
                      <a:solidFill>
                        <a:srgbClr val="1E1208"/>
                      </a:solidFill>
                      <a:prstDash val="solid"/>
                      <a:round/>
                      <a:headEnd type="none" w="med" len="med"/>
                      <a:tailEnd type="none" w="med" len="med"/>
                    </a:lnT>
                    <a:lnB w="19050" cap="flat" cmpd="sng" algn="ctr">
                      <a:solidFill>
                        <a:srgbClr val="1E1208"/>
                      </a:solidFill>
                      <a:prstDash val="solid"/>
                      <a:round/>
                      <a:headEnd type="none" w="med" len="med"/>
                      <a:tailEnd type="none" w="med" len="med"/>
                    </a:lnB>
                    <a:solidFill>
                      <a:srgbClr val="FFFFFF"/>
                    </a:solidFill>
                  </a:tcPr>
                </a:tc>
                <a:tc>
                  <a:txBody>
                    <a:bodyPr/>
                    <a:lstStyle/>
                    <a:p>
                      <a:pPr indent="0" marL="0">
                        <a:buNone/>
                      </a:pPr>
                      <a:r>
                        <a:rPr lang="en-US" sz="1250" dirty="0">
                          <a:solidFill>
                            <a:srgbClr val="1E1208"/>
                          </a:solidFill>
                          <a:latin typeface="Arial" pitchFamily="34" charset="0"/>
                          <a:ea typeface="Arial" pitchFamily="34" charset="-122"/>
                          <a:cs typeface="Arial" pitchFamily="34" charset="-120"/>
                        </a:rPr>
                        <a:t>Each has its own lock-down. Google needs managed Chromebooks, Microsoft the Windows Take a Test app, Moodle Safe Exam Browser, Canvas a third-party browser.</a:t>
                      </a:r>
                      <a:endParaRPr lang="en-US" sz="1250" dirty="0">
                        <a:latin typeface="Arial" charset="0"/>
                        <a:ea typeface="Arial" charset="0"/>
                        <a:cs typeface="Arial" charset="0"/>
                      </a:endParaRPr>
                    </a:p>
                  </a:txBody>
                  <a:tcPr marL="91440" marR="91440" marT="54864" marB="54864" anchor="ctr">
                    <a:lnL w="19050" cap="flat" cmpd="sng" algn="ctr">
                      <a:solidFill>
                        <a:srgbClr val="1E1208"/>
                      </a:solidFill>
                      <a:prstDash val="solid"/>
                      <a:round/>
                      <a:headEnd type="none" w="med" len="med"/>
                      <a:tailEnd type="none" w="med" len="med"/>
                    </a:lnL>
                    <a:lnR w="19050" cap="flat" cmpd="sng" algn="ctr">
                      <a:solidFill>
                        <a:srgbClr val="1E1208"/>
                      </a:solidFill>
                      <a:prstDash val="solid"/>
                      <a:round/>
                      <a:headEnd type="none" w="med" len="med"/>
                      <a:tailEnd type="none" w="med" len="med"/>
                    </a:lnR>
                    <a:lnT w="19050" cap="flat" cmpd="sng" algn="ctr">
                      <a:solidFill>
                        <a:srgbClr val="1E1208"/>
                      </a:solidFill>
                      <a:prstDash val="solid"/>
                      <a:round/>
                      <a:headEnd type="none" w="med" len="med"/>
                      <a:tailEnd type="none" w="med" len="med"/>
                    </a:lnT>
                    <a:lnB w="19050" cap="flat" cmpd="sng" algn="ctr">
                      <a:solidFill>
                        <a:srgbClr val="1E1208"/>
                      </a:solidFill>
                      <a:prstDash val="solid"/>
                      <a:round/>
                      <a:headEnd type="none" w="med" len="med"/>
                      <a:tailEnd type="none" w="med" len="med"/>
                    </a:lnB>
                    <a:solidFill>
                      <a:srgbClr val="FFFFFF"/>
                    </a:solidFill>
                  </a:tcPr>
                </a:tc>
                <a:tc>
                  <a:txBody>
                    <a:bodyPr/>
                    <a:lstStyle/>
                    <a:p>
                      <a:pPr indent="0" marL="0">
                        <a:buNone/>
                      </a:pPr>
                      <a:r>
                        <a:rPr lang="en-US" sz="1250" b="1" dirty="0">
                          <a:solidFill>
                            <a:srgbClr val="1E1208"/>
                          </a:solidFill>
                          <a:latin typeface="Arial" pitchFamily="34" charset="0"/>
                          <a:ea typeface="Arial" pitchFamily="34" charset="-122"/>
                          <a:cs typeface="Arial" pitchFamily="34" charset="-120"/>
                        </a:rPr>
                        <a:t>Built in, plus a lock-down desktop app for Windows and Mac</a:t>
                      </a:r>
                      <a:endParaRPr lang="en-US" sz="1250" dirty="0">
                        <a:latin typeface="Arial" charset="0"/>
                        <a:ea typeface="Arial" charset="0"/>
                        <a:cs typeface="Arial" charset="0"/>
                      </a:endParaRPr>
                    </a:p>
                  </a:txBody>
                  <a:tcPr marL="91440" marR="91440" marT="54864" marB="54864" anchor="ctr">
                    <a:lnL w="19050" cap="flat" cmpd="sng" algn="ctr">
                      <a:solidFill>
                        <a:srgbClr val="1E1208"/>
                      </a:solidFill>
                      <a:prstDash val="solid"/>
                      <a:round/>
                      <a:headEnd type="none" w="med" len="med"/>
                      <a:tailEnd type="none" w="med" len="med"/>
                    </a:lnL>
                    <a:lnR w="19050" cap="flat" cmpd="sng" algn="ctr">
                      <a:solidFill>
                        <a:srgbClr val="1E1208"/>
                      </a:solidFill>
                      <a:prstDash val="solid"/>
                      <a:round/>
                      <a:headEnd type="none" w="med" len="med"/>
                      <a:tailEnd type="none" w="med" len="med"/>
                    </a:lnR>
                    <a:lnT w="19050" cap="flat" cmpd="sng" algn="ctr">
                      <a:solidFill>
                        <a:srgbClr val="1E1208"/>
                      </a:solidFill>
                      <a:prstDash val="solid"/>
                      <a:round/>
                      <a:headEnd type="none" w="med" len="med"/>
                      <a:tailEnd type="none" w="med" len="med"/>
                    </a:lnT>
                    <a:lnB w="19050" cap="flat" cmpd="sng" algn="ctr">
                      <a:solidFill>
                        <a:srgbClr val="1E1208"/>
                      </a:solidFill>
                      <a:prstDash val="solid"/>
                      <a:round/>
                      <a:headEnd type="none" w="med" len="med"/>
                      <a:tailEnd type="none" w="med" len="med"/>
                    </a:lnB>
                    <a:solidFill>
                      <a:srgbClr val="FBE9D6"/>
                    </a:solidFill>
                  </a:tcPr>
                </a:tc>
              </a:tr>
              <a:tr h="685800">
                <a:tc>
                  <a:txBody>
                    <a:bodyPr/>
                    <a:lstStyle/>
                    <a:p>
                      <a:pPr indent="0" marL="0">
                        <a:buNone/>
                      </a:pPr>
                      <a:r>
                        <a:rPr lang="en-US" sz="1250" b="1" dirty="0">
                          <a:solidFill>
                            <a:srgbClr val="1E1208"/>
                          </a:solidFill>
                          <a:latin typeface="Arial" pitchFamily="34" charset="0"/>
                          <a:ea typeface="Arial" pitchFamily="34" charset="-122"/>
                          <a:cs typeface="Arial" pitchFamily="34" charset="-120"/>
                        </a:rPr>
                        <a:t>Marking</a:t>
                      </a:r>
                      <a:endParaRPr lang="en-US" sz="1250" dirty="0">
                        <a:latin typeface="Arial" charset="0"/>
                        <a:ea typeface="Arial" charset="0"/>
                        <a:cs typeface="Arial" charset="0"/>
                      </a:endParaRPr>
                    </a:p>
                  </a:txBody>
                  <a:tcPr marL="91440" marR="91440" marT="54864" marB="54864" anchor="ctr">
                    <a:lnL w="19050" cap="flat" cmpd="sng" algn="ctr">
                      <a:solidFill>
                        <a:srgbClr val="1E1208"/>
                      </a:solidFill>
                      <a:prstDash val="solid"/>
                      <a:round/>
                      <a:headEnd type="none" w="med" len="med"/>
                      <a:tailEnd type="none" w="med" len="med"/>
                    </a:lnL>
                    <a:lnR w="19050" cap="flat" cmpd="sng" algn="ctr">
                      <a:solidFill>
                        <a:srgbClr val="1E1208"/>
                      </a:solidFill>
                      <a:prstDash val="solid"/>
                      <a:round/>
                      <a:headEnd type="none" w="med" len="med"/>
                      <a:tailEnd type="none" w="med" len="med"/>
                    </a:lnR>
                    <a:lnT w="19050" cap="flat" cmpd="sng" algn="ctr">
                      <a:solidFill>
                        <a:srgbClr val="1E1208"/>
                      </a:solidFill>
                      <a:prstDash val="solid"/>
                      <a:round/>
                      <a:headEnd type="none" w="med" len="med"/>
                      <a:tailEnd type="none" w="med" len="med"/>
                    </a:lnT>
                    <a:lnB w="19050" cap="flat" cmpd="sng" algn="ctr">
                      <a:solidFill>
                        <a:srgbClr val="1E1208"/>
                      </a:solidFill>
                      <a:prstDash val="solid"/>
                      <a:round/>
                      <a:headEnd type="none" w="med" len="med"/>
                      <a:tailEnd type="none" w="med" len="med"/>
                    </a:lnB>
                    <a:solidFill>
                      <a:srgbClr val="FFFFFF"/>
                    </a:solidFill>
                  </a:tcPr>
                </a:tc>
                <a:tc>
                  <a:txBody>
                    <a:bodyPr/>
                    <a:lstStyle/>
                    <a:p>
                      <a:pPr indent="0" marL="0">
                        <a:buNone/>
                      </a:pPr>
                      <a:r>
                        <a:rPr lang="en-US" sz="1250" dirty="0">
                          <a:solidFill>
                            <a:srgbClr val="1E1208"/>
                          </a:solidFill>
                          <a:latin typeface="Arial" pitchFamily="34" charset="0"/>
                          <a:ea typeface="Arial" pitchFamily="34" charset="-122"/>
                          <a:cs typeface="Arial" pitchFamily="34" charset="-120"/>
                        </a:rPr>
                        <a:t>Objective questions auto-mark in all four. Google Classroom imports the grades from Forms.</a:t>
                      </a:r>
                      <a:endParaRPr lang="en-US" sz="1250" dirty="0">
                        <a:latin typeface="Arial" charset="0"/>
                        <a:ea typeface="Arial" charset="0"/>
                        <a:cs typeface="Arial" charset="0"/>
                      </a:endParaRPr>
                    </a:p>
                  </a:txBody>
                  <a:tcPr marL="91440" marR="91440" marT="54864" marB="54864" anchor="ctr">
                    <a:lnL w="19050" cap="flat" cmpd="sng" algn="ctr">
                      <a:solidFill>
                        <a:srgbClr val="1E1208"/>
                      </a:solidFill>
                      <a:prstDash val="solid"/>
                      <a:round/>
                      <a:headEnd type="none" w="med" len="med"/>
                      <a:tailEnd type="none" w="med" len="med"/>
                    </a:lnL>
                    <a:lnR w="19050" cap="flat" cmpd="sng" algn="ctr">
                      <a:solidFill>
                        <a:srgbClr val="1E1208"/>
                      </a:solidFill>
                      <a:prstDash val="solid"/>
                      <a:round/>
                      <a:headEnd type="none" w="med" len="med"/>
                      <a:tailEnd type="none" w="med" len="med"/>
                    </a:lnR>
                    <a:lnT w="19050" cap="flat" cmpd="sng" algn="ctr">
                      <a:solidFill>
                        <a:srgbClr val="1E1208"/>
                      </a:solidFill>
                      <a:prstDash val="solid"/>
                      <a:round/>
                      <a:headEnd type="none" w="med" len="med"/>
                      <a:tailEnd type="none" w="med" len="med"/>
                    </a:lnT>
                    <a:lnB w="19050" cap="flat" cmpd="sng" algn="ctr">
                      <a:solidFill>
                        <a:srgbClr val="1E1208"/>
                      </a:solidFill>
                      <a:prstDash val="solid"/>
                      <a:round/>
                      <a:headEnd type="none" w="med" len="med"/>
                      <a:tailEnd type="none" w="med" len="med"/>
                    </a:lnB>
                    <a:solidFill>
                      <a:srgbClr val="FFFFFF"/>
                    </a:solidFill>
                  </a:tcPr>
                </a:tc>
                <a:tc>
                  <a:txBody>
                    <a:bodyPr/>
                    <a:lstStyle/>
                    <a:p>
                      <a:pPr indent="0" marL="0">
                        <a:buNone/>
                      </a:pPr>
                      <a:r>
                        <a:rPr lang="en-US" sz="1250" b="1" dirty="0">
                          <a:solidFill>
                            <a:srgbClr val="1E1208"/>
                          </a:solidFill>
                          <a:latin typeface="Arial" pitchFamily="34" charset="0"/>
                          <a:ea typeface="Arial" pitchFamily="34" charset="-122"/>
                          <a:cs typeface="Arial" pitchFamily="34" charset="-120"/>
                        </a:rPr>
                        <a:t>Auto-marks, plus essay marking points and AI-suggested marks a teacher always edits</a:t>
                      </a:r>
                      <a:endParaRPr lang="en-US" sz="1250" dirty="0">
                        <a:latin typeface="Arial" charset="0"/>
                        <a:ea typeface="Arial" charset="0"/>
                        <a:cs typeface="Arial" charset="0"/>
                      </a:endParaRPr>
                    </a:p>
                  </a:txBody>
                  <a:tcPr marL="91440" marR="91440" marT="54864" marB="54864" anchor="ctr">
                    <a:lnL w="19050" cap="flat" cmpd="sng" algn="ctr">
                      <a:solidFill>
                        <a:srgbClr val="1E1208"/>
                      </a:solidFill>
                      <a:prstDash val="solid"/>
                      <a:round/>
                      <a:headEnd type="none" w="med" len="med"/>
                      <a:tailEnd type="none" w="med" len="med"/>
                    </a:lnL>
                    <a:lnR w="19050" cap="flat" cmpd="sng" algn="ctr">
                      <a:solidFill>
                        <a:srgbClr val="1E1208"/>
                      </a:solidFill>
                      <a:prstDash val="solid"/>
                      <a:round/>
                      <a:headEnd type="none" w="med" len="med"/>
                      <a:tailEnd type="none" w="med" len="med"/>
                    </a:lnR>
                    <a:lnT w="19050" cap="flat" cmpd="sng" algn="ctr">
                      <a:solidFill>
                        <a:srgbClr val="1E1208"/>
                      </a:solidFill>
                      <a:prstDash val="solid"/>
                      <a:round/>
                      <a:headEnd type="none" w="med" len="med"/>
                      <a:tailEnd type="none" w="med" len="med"/>
                    </a:lnT>
                    <a:lnB w="19050" cap="flat" cmpd="sng" algn="ctr">
                      <a:solidFill>
                        <a:srgbClr val="1E1208"/>
                      </a:solidFill>
                      <a:prstDash val="solid"/>
                      <a:round/>
                      <a:headEnd type="none" w="med" len="med"/>
                      <a:tailEnd type="none" w="med" len="med"/>
                    </a:lnB>
                    <a:solidFill>
                      <a:srgbClr val="FBE9D6"/>
                    </a:solidFill>
                  </a:tcPr>
                </a:tc>
              </a:tr>
              <a:tr h="640080">
                <a:tc>
                  <a:txBody>
                    <a:bodyPr/>
                    <a:lstStyle/>
                    <a:p>
                      <a:pPr indent="0" marL="0">
                        <a:buNone/>
                      </a:pPr>
                      <a:r>
                        <a:rPr lang="en-US" sz="1250" b="1" dirty="0">
                          <a:solidFill>
                            <a:srgbClr val="1E1208"/>
                          </a:solidFill>
                          <a:latin typeface="Arial" pitchFamily="34" charset="0"/>
                          <a:ea typeface="Arial" pitchFamily="34" charset="-122"/>
                          <a:cs typeface="Arial" pitchFamily="34" charset="-120"/>
                        </a:rPr>
                        <a:t>Question-level insight</a:t>
                      </a:r>
                      <a:endParaRPr lang="en-US" sz="1250" dirty="0">
                        <a:latin typeface="Arial" charset="0"/>
                        <a:ea typeface="Arial" charset="0"/>
                        <a:cs typeface="Arial" charset="0"/>
                      </a:endParaRPr>
                    </a:p>
                  </a:txBody>
                  <a:tcPr marL="91440" marR="91440" marT="54864" marB="54864" anchor="ctr">
                    <a:lnL w="19050" cap="flat" cmpd="sng" algn="ctr">
                      <a:solidFill>
                        <a:srgbClr val="1E1208"/>
                      </a:solidFill>
                      <a:prstDash val="solid"/>
                      <a:round/>
                      <a:headEnd type="none" w="med" len="med"/>
                      <a:tailEnd type="none" w="med" len="med"/>
                    </a:lnL>
                    <a:lnR w="19050" cap="flat" cmpd="sng" algn="ctr">
                      <a:solidFill>
                        <a:srgbClr val="1E1208"/>
                      </a:solidFill>
                      <a:prstDash val="solid"/>
                      <a:round/>
                      <a:headEnd type="none" w="med" len="med"/>
                      <a:tailEnd type="none" w="med" len="med"/>
                    </a:lnR>
                    <a:lnT w="19050" cap="flat" cmpd="sng" algn="ctr">
                      <a:solidFill>
                        <a:srgbClr val="1E1208"/>
                      </a:solidFill>
                      <a:prstDash val="solid"/>
                      <a:round/>
                      <a:headEnd type="none" w="med" len="med"/>
                      <a:tailEnd type="none" w="med" len="med"/>
                    </a:lnT>
                    <a:lnB w="19050" cap="flat" cmpd="sng" algn="ctr">
                      <a:solidFill>
                        <a:srgbClr val="1E1208"/>
                      </a:solidFill>
                      <a:prstDash val="solid"/>
                      <a:round/>
                      <a:headEnd type="none" w="med" len="med"/>
                      <a:tailEnd type="none" w="med" len="med"/>
                    </a:lnB>
                    <a:solidFill>
                      <a:srgbClr val="FFFFFF"/>
                    </a:solidFill>
                  </a:tcPr>
                </a:tc>
                <a:tc>
                  <a:txBody>
                    <a:bodyPr/>
                    <a:lstStyle/>
                    <a:p>
                      <a:pPr indent="0" marL="0">
                        <a:buNone/>
                      </a:pPr>
                      <a:r>
                        <a:rPr lang="en-US" sz="1250" dirty="0">
                          <a:solidFill>
                            <a:srgbClr val="1E1208"/>
                          </a:solidFill>
                          <a:latin typeface="Arial" pitchFamily="34" charset="0"/>
                          <a:ea typeface="Arial" pitchFamily="34" charset="-122"/>
                          <a:cs typeface="Arial" pitchFamily="34" charset="-120"/>
                        </a:rPr>
                        <a:t>Moodle and Canvas report on each question, quiz by quiz.</a:t>
                      </a:r>
                      <a:endParaRPr lang="en-US" sz="1250" dirty="0">
                        <a:latin typeface="Arial" charset="0"/>
                        <a:ea typeface="Arial" charset="0"/>
                        <a:cs typeface="Arial" charset="0"/>
                      </a:endParaRPr>
                    </a:p>
                  </a:txBody>
                  <a:tcPr marL="91440" marR="91440" marT="54864" marB="54864" anchor="ctr">
                    <a:lnL w="19050" cap="flat" cmpd="sng" algn="ctr">
                      <a:solidFill>
                        <a:srgbClr val="1E1208"/>
                      </a:solidFill>
                      <a:prstDash val="solid"/>
                      <a:round/>
                      <a:headEnd type="none" w="med" len="med"/>
                      <a:tailEnd type="none" w="med" len="med"/>
                    </a:lnL>
                    <a:lnR w="19050" cap="flat" cmpd="sng" algn="ctr">
                      <a:solidFill>
                        <a:srgbClr val="1E1208"/>
                      </a:solidFill>
                      <a:prstDash val="solid"/>
                      <a:round/>
                      <a:headEnd type="none" w="med" len="med"/>
                      <a:tailEnd type="none" w="med" len="med"/>
                    </a:lnR>
                    <a:lnT w="19050" cap="flat" cmpd="sng" algn="ctr">
                      <a:solidFill>
                        <a:srgbClr val="1E1208"/>
                      </a:solidFill>
                      <a:prstDash val="solid"/>
                      <a:round/>
                      <a:headEnd type="none" w="med" len="med"/>
                      <a:tailEnd type="none" w="med" len="med"/>
                    </a:lnT>
                    <a:lnB w="19050" cap="flat" cmpd="sng" algn="ctr">
                      <a:solidFill>
                        <a:srgbClr val="1E1208"/>
                      </a:solidFill>
                      <a:prstDash val="solid"/>
                      <a:round/>
                      <a:headEnd type="none" w="med" len="med"/>
                      <a:tailEnd type="none" w="med" len="med"/>
                    </a:lnB>
                    <a:solidFill>
                      <a:srgbClr val="FFFFFF"/>
                    </a:solidFill>
                  </a:tcPr>
                </a:tc>
                <a:tc>
                  <a:txBody>
                    <a:bodyPr/>
                    <a:lstStyle/>
                    <a:p>
                      <a:pPr indent="0" marL="0">
                        <a:buNone/>
                      </a:pPr>
                      <a:r>
                        <a:rPr lang="en-US" sz="1250" b="1" dirty="0">
                          <a:solidFill>
                            <a:srgbClr val="1E1208"/>
                          </a:solidFill>
                          <a:latin typeface="Arial" pitchFamily="34" charset="0"/>
                          <a:ea typeface="Arial" pitchFamily="34" charset="-122"/>
                          <a:cs typeface="Arial" pitchFamily="34" charset="-120"/>
                        </a:rPr>
                        <a:t>Missed questions, the common wrong answer, who needs support, and results by topic</a:t>
                      </a:r>
                      <a:endParaRPr lang="en-US" sz="1250" dirty="0">
                        <a:latin typeface="Arial" charset="0"/>
                        <a:ea typeface="Arial" charset="0"/>
                        <a:cs typeface="Arial" charset="0"/>
                      </a:endParaRPr>
                    </a:p>
                  </a:txBody>
                  <a:tcPr marL="91440" marR="91440" marT="54864" marB="54864" anchor="ctr">
                    <a:lnL w="19050" cap="flat" cmpd="sng" algn="ctr">
                      <a:solidFill>
                        <a:srgbClr val="1E1208"/>
                      </a:solidFill>
                      <a:prstDash val="solid"/>
                      <a:round/>
                      <a:headEnd type="none" w="med" len="med"/>
                      <a:tailEnd type="none" w="med" len="med"/>
                    </a:lnL>
                    <a:lnR w="19050" cap="flat" cmpd="sng" algn="ctr">
                      <a:solidFill>
                        <a:srgbClr val="1E1208"/>
                      </a:solidFill>
                      <a:prstDash val="solid"/>
                      <a:round/>
                      <a:headEnd type="none" w="med" len="med"/>
                      <a:tailEnd type="none" w="med" len="med"/>
                    </a:lnR>
                    <a:lnT w="19050" cap="flat" cmpd="sng" algn="ctr">
                      <a:solidFill>
                        <a:srgbClr val="1E1208"/>
                      </a:solidFill>
                      <a:prstDash val="solid"/>
                      <a:round/>
                      <a:headEnd type="none" w="med" len="med"/>
                      <a:tailEnd type="none" w="med" len="med"/>
                    </a:lnT>
                    <a:lnB w="19050" cap="flat" cmpd="sng" algn="ctr">
                      <a:solidFill>
                        <a:srgbClr val="1E1208"/>
                      </a:solidFill>
                      <a:prstDash val="solid"/>
                      <a:round/>
                      <a:headEnd type="none" w="med" len="med"/>
                      <a:tailEnd type="none" w="med" len="med"/>
                    </a:lnB>
                    <a:solidFill>
                      <a:srgbClr val="FBE9D6"/>
                    </a:solidFill>
                  </a:tcPr>
                </a:tc>
              </a:tr>
              <a:tr h="566928">
                <a:tc>
                  <a:txBody>
                    <a:bodyPr/>
                    <a:lstStyle/>
                    <a:p>
                      <a:pPr indent="0" marL="0">
                        <a:buNone/>
                      </a:pPr>
                      <a:r>
                        <a:rPr lang="en-US" sz="1250" b="1" dirty="0">
                          <a:solidFill>
                            <a:srgbClr val="1E1208"/>
                          </a:solidFill>
                          <a:latin typeface="Arial" pitchFamily="34" charset="0"/>
                          <a:ea typeface="Arial" pitchFamily="34" charset="-122"/>
                          <a:cs typeface="Arial" pitchFamily="34" charset="-120"/>
                        </a:rPr>
                        <a:t>Practice games</a:t>
                      </a:r>
                      <a:endParaRPr lang="en-US" sz="1250" dirty="0">
                        <a:latin typeface="Arial" charset="0"/>
                        <a:ea typeface="Arial" charset="0"/>
                        <a:cs typeface="Arial" charset="0"/>
                      </a:endParaRPr>
                    </a:p>
                  </a:txBody>
                  <a:tcPr marL="91440" marR="91440" marT="54864" marB="54864" anchor="ctr">
                    <a:lnL w="19050" cap="flat" cmpd="sng" algn="ctr">
                      <a:solidFill>
                        <a:srgbClr val="1E1208"/>
                      </a:solidFill>
                      <a:prstDash val="solid"/>
                      <a:round/>
                      <a:headEnd type="none" w="med" len="med"/>
                      <a:tailEnd type="none" w="med" len="med"/>
                    </a:lnL>
                    <a:lnR w="19050" cap="flat" cmpd="sng" algn="ctr">
                      <a:solidFill>
                        <a:srgbClr val="1E1208"/>
                      </a:solidFill>
                      <a:prstDash val="solid"/>
                      <a:round/>
                      <a:headEnd type="none" w="med" len="med"/>
                      <a:tailEnd type="none" w="med" len="med"/>
                    </a:lnR>
                    <a:lnT w="19050" cap="flat" cmpd="sng" algn="ctr">
                      <a:solidFill>
                        <a:srgbClr val="1E1208"/>
                      </a:solidFill>
                      <a:prstDash val="solid"/>
                      <a:round/>
                      <a:headEnd type="none" w="med" len="med"/>
                      <a:tailEnd type="none" w="med" len="med"/>
                    </a:lnT>
                    <a:lnB w="19050" cap="flat" cmpd="sng" algn="ctr">
                      <a:solidFill>
                        <a:srgbClr val="1E1208"/>
                      </a:solidFill>
                      <a:prstDash val="solid"/>
                      <a:round/>
                      <a:headEnd type="none" w="med" len="med"/>
                      <a:tailEnd type="none" w="med" len="med"/>
                    </a:lnB>
                    <a:solidFill>
                      <a:srgbClr val="FFFFFF"/>
                    </a:solidFill>
                  </a:tcPr>
                </a:tc>
                <a:tc>
                  <a:txBody>
                    <a:bodyPr/>
                    <a:lstStyle/>
                    <a:p>
                      <a:pPr indent="0" marL="0">
                        <a:buNone/>
                      </a:pPr>
                      <a:r>
                        <a:rPr lang="en-US" sz="1250" dirty="0">
                          <a:solidFill>
                            <a:srgbClr val="1E1208"/>
                          </a:solidFill>
                          <a:latin typeface="Arial" pitchFamily="34" charset="0"/>
                          <a:ea typeface="Arial" pitchFamily="34" charset="-122"/>
                          <a:cs typeface="Arial" pitchFamily="34" charset="-120"/>
                        </a:rPr>
                        <a:t>Kahoot and Quizizz are built for live games and practice.</a:t>
                      </a:r>
                      <a:endParaRPr lang="en-US" sz="1250" dirty="0">
                        <a:latin typeface="Arial" charset="0"/>
                        <a:ea typeface="Arial" charset="0"/>
                        <a:cs typeface="Arial" charset="0"/>
                      </a:endParaRPr>
                    </a:p>
                  </a:txBody>
                  <a:tcPr marL="91440" marR="91440" marT="54864" marB="54864" anchor="ctr">
                    <a:lnL w="19050" cap="flat" cmpd="sng" algn="ctr">
                      <a:solidFill>
                        <a:srgbClr val="1E1208"/>
                      </a:solidFill>
                      <a:prstDash val="solid"/>
                      <a:round/>
                      <a:headEnd type="none" w="med" len="med"/>
                      <a:tailEnd type="none" w="med" len="med"/>
                    </a:lnL>
                    <a:lnR w="19050" cap="flat" cmpd="sng" algn="ctr">
                      <a:solidFill>
                        <a:srgbClr val="1E1208"/>
                      </a:solidFill>
                      <a:prstDash val="solid"/>
                      <a:round/>
                      <a:headEnd type="none" w="med" len="med"/>
                      <a:tailEnd type="none" w="med" len="med"/>
                    </a:lnR>
                    <a:lnT w="19050" cap="flat" cmpd="sng" algn="ctr">
                      <a:solidFill>
                        <a:srgbClr val="1E1208"/>
                      </a:solidFill>
                      <a:prstDash val="solid"/>
                      <a:round/>
                      <a:headEnd type="none" w="med" len="med"/>
                      <a:tailEnd type="none" w="med" len="med"/>
                    </a:lnT>
                    <a:lnB w="19050" cap="flat" cmpd="sng" algn="ctr">
                      <a:solidFill>
                        <a:srgbClr val="1E1208"/>
                      </a:solidFill>
                      <a:prstDash val="solid"/>
                      <a:round/>
                      <a:headEnd type="none" w="med" len="med"/>
                      <a:tailEnd type="none" w="med" len="med"/>
                    </a:lnB>
                    <a:solidFill>
                      <a:srgbClr val="FFFFFF"/>
                    </a:solidFill>
                  </a:tcPr>
                </a:tc>
                <a:tc>
                  <a:txBody>
                    <a:bodyPr/>
                    <a:lstStyle/>
                    <a:p>
                      <a:pPr indent="0" marL="0">
                        <a:buNone/>
                      </a:pPr>
                      <a:r>
                        <a:rPr lang="en-US" sz="1250" b="1" dirty="0">
                          <a:solidFill>
                            <a:srgbClr val="1E1208"/>
                          </a:solidFill>
                          <a:latin typeface="Arial" pitchFamily="34" charset="0"/>
                          <a:ea typeface="Arial" pitchFamily="34" charset="-122"/>
                          <a:cs typeface="Arial" pitchFamily="34" charset="-120"/>
                        </a:rPr>
                        <a:t>Smart Play, coming soon, shares the school's topic list</a:t>
                      </a:r>
                      <a:endParaRPr lang="en-US" sz="1250" dirty="0">
                        <a:latin typeface="Arial" charset="0"/>
                        <a:ea typeface="Arial" charset="0"/>
                        <a:cs typeface="Arial" charset="0"/>
                      </a:endParaRPr>
                    </a:p>
                  </a:txBody>
                  <a:tcPr marL="91440" marR="91440" marT="54864" marB="54864" anchor="ctr">
                    <a:lnL w="19050" cap="flat" cmpd="sng" algn="ctr">
                      <a:solidFill>
                        <a:srgbClr val="1E1208"/>
                      </a:solidFill>
                      <a:prstDash val="solid"/>
                      <a:round/>
                      <a:headEnd type="none" w="med" len="med"/>
                      <a:tailEnd type="none" w="med" len="med"/>
                    </a:lnL>
                    <a:lnR w="19050" cap="flat" cmpd="sng" algn="ctr">
                      <a:solidFill>
                        <a:srgbClr val="1E1208"/>
                      </a:solidFill>
                      <a:prstDash val="solid"/>
                      <a:round/>
                      <a:headEnd type="none" w="med" len="med"/>
                      <a:tailEnd type="none" w="med" len="med"/>
                    </a:lnR>
                    <a:lnT w="19050" cap="flat" cmpd="sng" algn="ctr">
                      <a:solidFill>
                        <a:srgbClr val="1E1208"/>
                      </a:solidFill>
                      <a:prstDash val="solid"/>
                      <a:round/>
                      <a:headEnd type="none" w="med" len="med"/>
                      <a:tailEnd type="none" w="med" len="med"/>
                    </a:lnT>
                    <a:lnB w="19050" cap="flat" cmpd="sng" algn="ctr">
                      <a:solidFill>
                        <a:srgbClr val="1E1208"/>
                      </a:solidFill>
                      <a:prstDash val="solid"/>
                      <a:round/>
                      <a:headEnd type="none" w="med" len="med"/>
                      <a:tailEnd type="none" w="med" len="med"/>
                    </a:lnB>
                    <a:solidFill>
                      <a:srgbClr val="FBE9D6"/>
                    </a:solidFill>
                  </a:tcPr>
                </a:tc>
              </a:tr>
              <a:tr h="566928">
                <a:tc>
                  <a:txBody>
                    <a:bodyPr/>
                    <a:lstStyle/>
                    <a:p>
                      <a:pPr indent="0" marL="0">
                        <a:buNone/>
                      </a:pPr>
                      <a:r>
                        <a:rPr lang="en-US" sz="1250" b="1" dirty="0">
                          <a:solidFill>
                            <a:srgbClr val="1E1208"/>
                          </a:solidFill>
                          <a:latin typeface="Arial" pitchFamily="34" charset="0"/>
                          <a:ea typeface="Arial" pitchFamily="34" charset="-122"/>
                          <a:cs typeface="Arial" pitchFamily="34" charset="-120"/>
                        </a:rPr>
                        <a:t>One system</a:t>
                      </a:r>
                      <a:endParaRPr lang="en-US" sz="1250" dirty="0">
                        <a:latin typeface="Arial" charset="0"/>
                        <a:ea typeface="Arial" charset="0"/>
                        <a:cs typeface="Arial" charset="0"/>
                      </a:endParaRPr>
                    </a:p>
                  </a:txBody>
                  <a:tcPr marL="91440" marR="91440" marT="54864" marB="54864" anchor="ctr">
                    <a:lnL w="19050" cap="flat" cmpd="sng" algn="ctr">
                      <a:solidFill>
                        <a:srgbClr val="1E1208"/>
                      </a:solidFill>
                      <a:prstDash val="solid"/>
                      <a:round/>
                      <a:headEnd type="none" w="med" len="med"/>
                      <a:tailEnd type="none" w="med" len="med"/>
                    </a:lnL>
                    <a:lnR w="19050" cap="flat" cmpd="sng" algn="ctr">
                      <a:solidFill>
                        <a:srgbClr val="1E1208"/>
                      </a:solidFill>
                      <a:prstDash val="solid"/>
                      <a:round/>
                      <a:headEnd type="none" w="med" len="med"/>
                      <a:tailEnd type="none" w="med" len="med"/>
                    </a:lnR>
                    <a:lnT w="19050" cap="flat" cmpd="sng" algn="ctr">
                      <a:solidFill>
                        <a:srgbClr val="1E1208"/>
                      </a:solidFill>
                      <a:prstDash val="solid"/>
                      <a:round/>
                      <a:headEnd type="none" w="med" len="med"/>
                      <a:tailEnd type="none" w="med" len="med"/>
                    </a:lnT>
                    <a:lnB w="19050" cap="flat" cmpd="sng" algn="ctr">
                      <a:solidFill>
                        <a:srgbClr val="1E1208"/>
                      </a:solidFill>
                      <a:prstDash val="solid"/>
                      <a:round/>
                      <a:headEnd type="none" w="med" len="med"/>
                      <a:tailEnd type="none" w="med" len="med"/>
                    </a:lnB>
                    <a:solidFill>
                      <a:srgbClr val="FFFFFF"/>
                    </a:solidFill>
                  </a:tcPr>
                </a:tc>
                <a:tc>
                  <a:txBody>
                    <a:bodyPr/>
                    <a:lstStyle/>
                    <a:p>
                      <a:pPr indent="0" marL="0">
                        <a:buNone/>
                      </a:pPr>
                      <a:r>
                        <a:rPr lang="en-US" sz="1250" dirty="0">
                          <a:solidFill>
                            <a:srgbClr val="1E1208"/>
                          </a:solidFill>
                          <a:latin typeface="Arial" pitchFamily="34" charset="0"/>
                          <a:ea typeface="Arial" pitchFamily="34" charset="-122"/>
                          <a:cs typeface="Arial" pitchFamily="34" charset="-120"/>
                        </a:rPr>
                        <a:t>Schools often combine several of these.</a:t>
                      </a:r>
                      <a:endParaRPr lang="en-US" sz="1250" dirty="0">
                        <a:latin typeface="Arial" charset="0"/>
                        <a:ea typeface="Arial" charset="0"/>
                        <a:cs typeface="Arial" charset="0"/>
                      </a:endParaRPr>
                    </a:p>
                  </a:txBody>
                  <a:tcPr marL="91440" marR="91440" marT="54864" marB="54864" anchor="ctr">
                    <a:lnL w="19050" cap="flat" cmpd="sng" algn="ctr">
                      <a:solidFill>
                        <a:srgbClr val="1E1208"/>
                      </a:solidFill>
                      <a:prstDash val="solid"/>
                      <a:round/>
                      <a:headEnd type="none" w="med" len="med"/>
                      <a:tailEnd type="none" w="med" len="med"/>
                    </a:lnL>
                    <a:lnR w="19050" cap="flat" cmpd="sng" algn="ctr">
                      <a:solidFill>
                        <a:srgbClr val="1E1208"/>
                      </a:solidFill>
                      <a:prstDash val="solid"/>
                      <a:round/>
                      <a:headEnd type="none" w="med" len="med"/>
                      <a:tailEnd type="none" w="med" len="med"/>
                    </a:lnR>
                    <a:lnT w="19050" cap="flat" cmpd="sng" algn="ctr">
                      <a:solidFill>
                        <a:srgbClr val="1E1208"/>
                      </a:solidFill>
                      <a:prstDash val="solid"/>
                      <a:round/>
                      <a:headEnd type="none" w="med" len="med"/>
                      <a:tailEnd type="none" w="med" len="med"/>
                    </a:lnT>
                    <a:lnB w="19050" cap="flat" cmpd="sng" algn="ctr">
                      <a:solidFill>
                        <a:srgbClr val="1E1208"/>
                      </a:solidFill>
                      <a:prstDash val="solid"/>
                      <a:round/>
                      <a:headEnd type="none" w="med" len="med"/>
                      <a:tailEnd type="none" w="med" len="med"/>
                    </a:lnB>
                    <a:solidFill>
                      <a:srgbClr val="FFFFFF"/>
                    </a:solidFill>
                  </a:tcPr>
                </a:tc>
                <a:tc>
                  <a:txBody>
                    <a:bodyPr/>
                    <a:lstStyle/>
                    <a:p>
                      <a:pPr indent="0" marL="0">
                        <a:buNone/>
                      </a:pPr>
                      <a:r>
                        <a:rPr lang="en-US" sz="1250" b="1" dirty="0">
                          <a:solidFill>
                            <a:srgbClr val="1E1208"/>
                          </a:solidFill>
                          <a:latin typeface="Arial" pitchFamily="34" charset="0"/>
                          <a:ea typeface="Arial" pitchFamily="34" charset="-122"/>
                          <a:cs typeface="Arial" pitchFamily="34" charset="-120"/>
                        </a:rPr>
                        <a:t>One login, one topic list, plus attendance, timetable and cover</a:t>
                      </a:r>
                      <a:endParaRPr lang="en-US" sz="1250" dirty="0">
                        <a:latin typeface="Arial" charset="0"/>
                        <a:ea typeface="Arial" charset="0"/>
                        <a:cs typeface="Arial" charset="0"/>
                      </a:endParaRPr>
                    </a:p>
                  </a:txBody>
                  <a:tcPr marL="91440" marR="91440" marT="54864" marB="54864" anchor="ctr">
                    <a:lnL w="19050" cap="flat" cmpd="sng" algn="ctr">
                      <a:solidFill>
                        <a:srgbClr val="1E1208"/>
                      </a:solidFill>
                      <a:prstDash val="solid"/>
                      <a:round/>
                      <a:headEnd type="none" w="med" len="med"/>
                      <a:tailEnd type="none" w="med" len="med"/>
                    </a:lnL>
                    <a:lnR w="19050" cap="flat" cmpd="sng" algn="ctr">
                      <a:solidFill>
                        <a:srgbClr val="1E1208"/>
                      </a:solidFill>
                      <a:prstDash val="solid"/>
                      <a:round/>
                      <a:headEnd type="none" w="med" len="med"/>
                      <a:tailEnd type="none" w="med" len="med"/>
                    </a:lnR>
                    <a:lnT w="19050" cap="flat" cmpd="sng" algn="ctr">
                      <a:solidFill>
                        <a:srgbClr val="1E1208"/>
                      </a:solidFill>
                      <a:prstDash val="solid"/>
                      <a:round/>
                      <a:headEnd type="none" w="med" len="med"/>
                      <a:tailEnd type="none" w="med" len="med"/>
                    </a:lnT>
                    <a:lnB w="19050" cap="flat" cmpd="sng" algn="ctr">
                      <a:solidFill>
                        <a:srgbClr val="1E1208"/>
                      </a:solidFill>
                      <a:prstDash val="solid"/>
                      <a:round/>
                      <a:headEnd type="none" w="med" len="med"/>
                      <a:tailEnd type="none" w="med" len="med"/>
                    </a:lnB>
                    <a:solidFill>
                      <a:srgbClr val="FBE9D6"/>
                    </a:solidFill>
                  </a:tcPr>
                </a:tc>
              </a:tr>
            </a:tbl>
          </a:graphicData>
        </a:graphic>
      </p:graphicFrame>
      <p:sp>
        <p:nvSpPr>
          <p:cNvPr id="16" name="Shape 12"/>
          <p:cNvSpPr/>
          <p:nvPr/>
        </p:nvSpPr>
        <p:spPr>
          <a:xfrm>
            <a:off x="1417320" y="5852160"/>
            <a:ext cx="9509760" cy="502920"/>
          </a:xfrm>
          <a:prstGeom prst="rect">
            <a:avLst/>
          </a:prstGeom>
          <a:solidFill>
            <a:srgbClr val="1E1208"/>
          </a:solidFill>
          <a:ln/>
        </p:spPr>
      </p:sp>
      <p:sp>
        <p:nvSpPr>
          <p:cNvPr id="17" name="Text 13"/>
          <p:cNvSpPr/>
          <p:nvPr/>
        </p:nvSpPr>
        <p:spPr>
          <a:xfrm>
            <a:off x="1600200" y="5852160"/>
            <a:ext cx="9144000" cy="502920"/>
          </a:xfrm>
          <a:prstGeom prst="rect">
            <a:avLst/>
          </a:prstGeom>
          <a:noFill/>
          <a:ln/>
        </p:spPr>
        <p:txBody>
          <a:bodyPr wrap="square" lIns="0" tIns="0" rIns="0" bIns="0" rtlCol="0" anchor="ctr"/>
          <a:lstStyle/>
          <a:p>
            <a:pPr algn="l" indent="0" marL="0">
              <a:lnSpc>
                <a:spcPct val="110000"/>
              </a:lnSpc>
              <a:buNone/>
            </a:pPr>
            <a:r>
              <a:rPr lang="en-US" sz="1250" b="1" dirty="0">
                <a:solidFill>
                  <a:srgbClr val="FFFFFF"/>
                </a:solidFill>
                <a:latin typeface="Arial" pitchFamily="34" charset="0"/>
                <a:ea typeface="Arial" pitchFamily="34" charset="-122"/>
                <a:cs typeface="Arial" pitchFamily="34" charset="-120"/>
              </a:rPr>
              <a:t>The question is not "can another tool do one of these things?" It is "how many tools and handoffs does the school need?"</a:t>
            </a:r>
            <a:endParaRPr lang="en-US" sz="1250" dirty="0"/>
          </a:p>
        </p:txBody>
      </p:sp>
      <p:sp>
        <p:nvSpPr>
          <p:cNvPr id="18" name="Text 14"/>
          <p:cNvSpPr/>
          <p:nvPr/>
        </p:nvSpPr>
        <p:spPr>
          <a:xfrm>
            <a:off x="1417320" y="6583680"/>
            <a:ext cx="9509760" cy="274320"/>
          </a:xfrm>
          <a:prstGeom prst="rect">
            <a:avLst/>
          </a:prstGeom>
          <a:noFill/>
          <a:ln/>
        </p:spPr>
        <p:txBody>
          <a:bodyPr wrap="square" lIns="0" tIns="0" rIns="0" bIns="0" rtlCol="0" anchor="t"/>
          <a:lstStyle/>
          <a:p>
            <a:pPr algn="l" indent="0" marL="0">
              <a:lnSpc>
                <a:spcPct val="110000"/>
              </a:lnSpc>
              <a:buNone/>
            </a:pPr>
            <a:r>
              <a:rPr lang="en-US" sz="900" dirty="0">
                <a:solidFill>
                  <a:srgbClr val="555555"/>
                </a:solidFill>
                <a:latin typeface="Arial" pitchFamily="34" charset="0"/>
                <a:ea typeface="Arial" pitchFamily="34" charset="-122"/>
                <a:cs typeface="Arial" pitchFamily="34" charset="-120"/>
              </a:rPr>
              <a:t>Google Classroom, Microsoft Teams, Moodle, Canvas, Kahoot and Quizizz: from public documentation, October 2026. Every school sets them up differently.</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368735" y="5550408"/>
            <a:ext cx="822960" cy="1152144"/>
          </a:xfrm>
          <a:prstGeom prst="rect">
            <a:avLst/>
          </a:prstGeom>
          <a:solidFill>
            <a:srgbClr val="FDFDFB"/>
          </a:solidFill>
          <a:ln w="25400">
            <a:solidFill>
              <a:srgbClr val="1E1208"/>
            </a:solidFill>
            <a:prstDash val="solid"/>
          </a:ln>
        </p:spPr>
      </p:sp>
      <p:sp>
        <p:nvSpPr>
          <p:cNvPr id="11" name="Text 9"/>
          <p:cNvSpPr/>
          <p:nvPr/>
        </p:nvSpPr>
        <p:spPr>
          <a:xfrm>
            <a:off x="11368735" y="5550408"/>
            <a:ext cx="822960"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CLARITY</a:t>
            </a:r>
            <a:endParaRPr lang="en-US" sz="115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indent="0" marL="0">
              <a:buNone/>
            </a:pPr>
            <a:r>
              <a:rPr lang="en-US" sz="5000" dirty="0">
                <a:solidFill>
                  <a:srgbClr val="1E1208"/>
                </a:solidFill>
                <a:latin typeface="Impact" pitchFamily="34" charset="0"/>
                <a:ea typeface="Impact" pitchFamily="34" charset="-122"/>
                <a:cs typeface="Impact" pitchFamily="34" charset="-120"/>
              </a:rPr>
              <a:t>WHAT SMART ASSESS IS NOT</a:t>
            </a:r>
            <a:endParaRPr lang="en-US" sz="5000" dirty="0"/>
          </a:p>
        </p:txBody>
      </p:sp>
      <p:sp>
        <p:nvSpPr>
          <p:cNvPr id="15" name="Shape 12"/>
          <p:cNvSpPr/>
          <p:nvPr/>
        </p:nvSpPr>
        <p:spPr>
          <a:xfrm>
            <a:off x="1417320" y="1965960"/>
            <a:ext cx="4663440" cy="1783080"/>
          </a:xfrm>
          <a:prstGeom prst="rect">
            <a:avLst/>
          </a:prstGeom>
          <a:solidFill>
            <a:srgbClr val="FBE9D6"/>
          </a:solidFill>
          <a:ln w="25400">
            <a:solidFill>
              <a:srgbClr val="1E1208"/>
            </a:solidFill>
            <a:prstDash val="solid"/>
          </a:ln>
        </p:spPr>
      </p:sp>
      <p:sp>
        <p:nvSpPr>
          <p:cNvPr id="16" name="Shape 13"/>
          <p:cNvSpPr/>
          <p:nvPr/>
        </p:nvSpPr>
        <p:spPr>
          <a:xfrm>
            <a:off x="1417320" y="1965960"/>
            <a:ext cx="128016" cy="1783080"/>
          </a:xfrm>
          <a:prstGeom prst="rect">
            <a:avLst/>
          </a:prstGeom>
          <a:solidFill>
            <a:srgbClr val="D4762A"/>
          </a:solidFill>
          <a:ln/>
        </p:spPr>
      </p:sp>
      <p:sp>
        <p:nvSpPr>
          <p:cNvPr id="17" name="Text 14"/>
          <p:cNvSpPr/>
          <p:nvPr/>
        </p:nvSpPr>
        <p:spPr>
          <a:xfrm>
            <a:off x="1783080" y="2194560"/>
            <a:ext cx="4114800" cy="548640"/>
          </a:xfrm>
          <a:prstGeom prst="rect">
            <a:avLst/>
          </a:prstGeom>
          <a:noFill/>
          <a:ln/>
        </p:spPr>
        <p:txBody>
          <a:bodyPr wrap="square" lIns="0" tIns="0" rIns="0" bIns="0" rtlCol="0" anchor="t"/>
          <a:lstStyle/>
          <a:p>
            <a:pPr algn="l" indent="0" marL="0">
              <a:lnSpc>
                <a:spcPct val="110000"/>
              </a:lnSpc>
              <a:buNone/>
            </a:pPr>
            <a:r>
              <a:rPr lang="en-US" sz="2300" dirty="0">
                <a:solidFill>
                  <a:srgbClr val="1E1208"/>
                </a:solidFill>
                <a:latin typeface="Impact" pitchFamily="34" charset="0"/>
                <a:ea typeface="Impact" pitchFamily="34" charset="-122"/>
                <a:cs typeface="Impact" pitchFamily="34" charset="-120"/>
              </a:rPr>
              <a:t>NOT A TEACHER REPLACEMENT</a:t>
            </a:r>
            <a:endParaRPr lang="en-US" sz="2300" dirty="0"/>
          </a:p>
        </p:txBody>
      </p:sp>
      <p:sp>
        <p:nvSpPr>
          <p:cNvPr id="18" name="Text 15"/>
          <p:cNvSpPr/>
          <p:nvPr/>
        </p:nvSpPr>
        <p:spPr>
          <a:xfrm>
            <a:off x="1783080" y="2834640"/>
            <a:ext cx="4114800" cy="822960"/>
          </a:xfrm>
          <a:prstGeom prst="rect">
            <a:avLst/>
          </a:prstGeom>
          <a:noFill/>
          <a:ln/>
        </p:spPr>
        <p:txBody>
          <a:bodyPr wrap="square" lIns="0" tIns="0" rIns="0" bIns="0" rtlCol="0" anchor="t"/>
          <a:lstStyle/>
          <a:p>
            <a:pPr algn="l" indent="0" marL="0">
              <a:lnSpc>
                <a:spcPct val="110000"/>
              </a:lnSpc>
              <a:buNone/>
            </a:pPr>
            <a:r>
              <a:rPr lang="en-US" sz="1400" dirty="0">
                <a:solidFill>
                  <a:srgbClr val="555555"/>
                </a:solidFill>
                <a:latin typeface="Arial" pitchFamily="34" charset="0"/>
                <a:ea typeface="Arial" pitchFamily="34" charset="-122"/>
                <a:cs typeface="Arial" pitchFamily="34" charset="-120"/>
              </a:rPr>
              <a:t>Teachers stay in control of questions, marking and decisions.</a:t>
            </a:r>
            <a:endParaRPr lang="en-US" sz="1400" dirty="0"/>
          </a:p>
        </p:txBody>
      </p:sp>
      <p:sp>
        <p:nvSpPr>
          <p:cNvPr id="19" name="Shape 16"/>
          <p:cNvSpPr/>
          <p:nvPr/>
        </p:nvSpPr>
        <p:spPr>
          <a:xfrm>
            <a:off x="6217920" y="1965960"/>
            <a:ext cx="4663440" cy="1783080"/>
          </a:xfrm>
          <a:prstGeom prst="rect">
            <a:avLst/>
          </a:prstGeom>
          <a:solidFill>
            <a:srgbClr val="FFFFFF"/>
          </a:solidFill>
          <a:ln w="25400">
            <a:solidFill>
              <a:srgbClr val="1E1208"/>
            </a:solidFill>
            <a:prstDash val="solid"/>
          </a:ln>
        </p:spPr>
      </p:sp>
      <p:sp>
        <p:nvSpPr>
          <p:cNvPr id="20" name="Shape 17"/>
          <p:cNvSpPr/>
          <p:nvPr/>
        </p:nvSpPr>
        <p:spPr>
          <a:xfrm>
            <a:off x="6217920" y="1965960"/>
            <a:ext cx="128016" cy="1783080"/>
          </a:xfrm>
          <a:prstGeom prst="rect">
            <a:avLst/>
          </a:prstGeom>
          <a:solidFill>
            <a:srgbClr val="D4762A"/>
          </a:solidFill>
          <a:ln/>
        </p:spPr>
      </p:sp>
      <p:sp>
        <p:nvSpPr>
          <p:cNvPr id="21" name="Text 18"/>
          <p:cNvSpPr/>
          <p:nvPr/>
        </p:nvSpPr>
        <p:spPr>
          <a:xfrm>
            <a:off x="6583680" y="2194560"/>
            <a:ext cx="4114800" cy="548640"/>
          </a:xfrm>
          <a:prstGeom prst="rect">
            <a:avLst/>
          </a:prstGeom>
          <a:noFill/>
          <a:ln/>
        </p:spPr>
        <p:txBody>
          <a:bodyPr wrap="square" lIns="0" tIns="0" rIns="0" bIns="0" rtlCol="0" anchor="t"/>
          <a:lstStyle/>
          <a:p>
            <a:pPr algn="l" indent="0" marL="0">
              <a:lnSpc>
                <a:spcPct val="110000"/>
              </a:lnSpc>
              <a:buNone/>
            </a:pPr>
            <a:r>
              <a:rPr lang="en-US" sz="2300" dirty="0">
                <a:solidFill>
                  <a:srgbClr val="1E1208"/>
                </a:solidFill>
                <a:latin typeface="Impact" pitchFamily="34" charset="0"/>
                <a:ea typeface="Impact" pitchFamily="34" charset="-122"/>
                <a:cs typeface="Impact" pitchFamily="34" charset="-120"/>
              </a:rPr>
              <a:t>NOT AI MAKING FINAL DECISIONS</a:t>
            </a:r>
            <a:endParaRPr lang="en-US" sz="2300" dirty="0"/>
          </a:p>
        </p:txBody>
      </p:sp>
      <p:sp>
        <p:nvSpPr>
          <p:cNvPr id="22" name="Text 19"/>
          <p:cNvSpPr/>
          <p:nvPr/>
        </p:nvSpPr>
        <p:spPr>
          <a:xfrm>
            <a:off x="6583680" y="2834640"/>
            <a:ext cx="4114800" cy="822960"/>
          </a:xfrm>
          <a:prstGeom prst="rect">
            <a:avLst/>
          </a:prstGeom>
          <a:noFill/>
          <a:ln/>
        </p:spPr>
        <p:txBody>
          <a:bodyPr wrap="square" lIns="0" tIns="0" rIns="0" bIns="0" rtlCol="0" anchor="t"/>
          <a:lstStyle/>
          <a:p>
            <a:pPr algn="l" indent="0" marL="0">
              <a:lnSpc>
                <a:spcPct val="110000"/>
              </a:lnSpc>
              <a:buNone/>
            </a:pPr>
            <a:r>
              <a:rPr lang="en-US" sz="1400" dirty="0">
                <a:solidFill>
                  <a:srgbClr val="555555"/>
                </a:solidFill>
                <a:latin typeface="Arial" pitchFamily="34" charset="0"/>
                <a:ea typeface="Arial" pitchFamily="34" charset="-122"/>
                <a:cs typeface="Arial" pitchFamily="34" charset="-120"/>
              </a:rPr>
              <a:t>AI can help draft and suggest. A person decides, every time.</a:t>
            </a:r>
            <a:endParaRPr lang="en-US" sz="1400" dirty="0"/>
          </a:p>
        </p:txBody>
      </p:sp>
      <p:sp>
        <p:nvSpPr>
          <p:cNvPr id="23" name="Shape 20"/>
          <p:cNvSpPr/>
          <p:nvPr/>
        </p:nvSpPr>
        <p:spPr>
          <a:xfrm>
            <a:off x="1417320" y="3931920"/>
            <a:ext cx="4663440" cy="1783080"/>
          </a:xfrm>
          <a:prstGeom prst="rect">
            <a:avLst/>
          </a:prstGeom>
          <a:solidFill>
            <a:srgbClr val="FFFFFF"/>
          </a:solidFill>
          <a:ln w="25400">
            <a:solidFill>
              <a:srgbClr val="1E1208"/>
            </a:solidFill>
            <a:prstDash val="solid"/>
          </a:ln>
        </p:spPr>
      </p:sp>
      <p:sp>
        <p:nvSpPr>
          <p:cNvPr id="24" name="Shape 21"/>
          <p:cNvSpPr/>
          <p:nvPr/>
        </p:nvSpPr>
        <p:spPr>
          <a:xfrm>
            <a:off x="1417320" y="3931920"/>
            <a:ext cx="128016" cy="1783080"/>
          </a:xfrm>
          <a:prstGeom prst="rect">
            <a:avLst/>
          </a:prstGeom>
          <a:solidFill>
            <a:srgbClr val="D4762A"/>
          </a:solidFill>
          <a:ln/>
        </p:spPr>
      </p:sp>
      <p:sp>
        <p:nvSpPr>
          <p:cNvPr id="25" name="Text 22"/>
          <p:cNvSpPr/>
          <p:nvPr/>
        </p:nvSpPr>
        <p:spPr>
          <a:xfrm>
            <a:off x="1783080" y="4160520"/>
            <a:ext cx="4114800" cy="548640"/>
          </a:xfrm>
          <a:prstGeom prst="rect">
            <a:avLst/>
          </a:prstGeom>
          <a:noFill/>
          <a:ln/>
        </p:spPr>
        <p:txBody>
          <a:bodyPr wrap="square" lIns="0" tIns="0" rIns="0" bIns="0" rtlCol="0" anchor="t"/>
          <a:lstStyle/>
          <a:p>
            <a:pPr algn="l" indent="0" marL="0">
              <a:lnSpc>
                <a:spcPct val="110000"/>
              </a:lnSpc>
              <a:buNone/>
            </a:pPr>
            <a:r>
              <a:rPr lang="en-US" sz="2300" dirty="0">
                <a:solidFill>
                  <a:srgbClr val="1E1208"/>
                </a:solidFill>
                <a:latin typeface="Impact" pitchFamily="34" charset="0"/>
                <a:ea typeface="Impact" pitchFamily="34" charset="-122"/>
                <a:cs typeface="Impact" pitchFamily="34" charset="-120"/>
              </a:rPr>
              <a:t>NOT JUST A PDF ON A SCREEN</a:t>
            </a:r>
            <a:endParaRPr lang="en-US" sz="2300" dirty="0"/>
          </a:p>
        </p:txBody>
      </p:sp>
      <p:sp>
        <p:nvSpPr>
          <p:cNvPr id="26" name="Text 23"/>
          <p:cNvSpPr/>
          <p:nvPr/>
        </p:nvSpPr>
        <p:spPr>
          <a:xfrm>
            <a:off x="1783080" y="4800600"/>
            <a:ext cx="4114800" cy="822960"/>
          </a:xfrm>
          <a:prstGeom prst="rect">
            <a:avLst/>
          </a:prstGeom>
          <a:noFill/>
          <a:ln/>
        </p:spPr>
        <p:txBody>
          <a:bodyPr wrap="square" lIns="0" tIns="0" rIns="0" bIns="0" rtlCol="0" anchor="t"/>
          <a:lstStyle/>
          <a:p>
            <a:pPr algn="l" indent="0" marL="0">
              <a:lnSpc>
                <a:spcPct val="110000"/>
              </a:lnSpc>
              <a:buNone/>
            </a:pPr>
            <a:r>
              <a:rPr lang="en-US" sz="1400" dirty="0">
                <a:solidFill>
                  <a:srgbClr val="555555"/>
                </a:solidFill>
                <a:latin typeface="Arial" pitchFamily="34" charset="0"/>
                <a:ea typeface="Arial" pitchFamily="34" charset="-122"/>
                <a:cs typeface="Arial" pitchFamily="34" charset="-120"/>
              </a:rPr>
              <a:t>It supports the work before, during and after an assessment.</a:t>
            </a:r>
            <a:endParaRPr lang="en-US" sz="1400" dirty="0"/>
          </a:p>
        </p:txBody>
      </p:sp>
      <p:sp>
        <p:nvSpPr>
          <p:cNvPr id="27" name="Shape 24"/>
          <p:cNvSpPr/>
          <p:nvPr/>
        </p:nvSpPr>
        <p:spPr>
          <a:xfrm>
            <a:off x="6217920" y="3931920"/>
            <a:ext cx="4663440" cy="1783080"/>
          </a:xfrm>
          <a:prstGeom prst="rect">
            <a:avLst/>
          </a:prstGeom>
          <a:solidFill>
            <a:srgbClr val="FBE9D6"/>
          </a:solidFill>
          <a:ln w="25400">
            <a:solidFill>
              <a:srgbClr val="1E1208"/>
            </a:solidFill>
            <a:prstDash val="solid"/>
          </a:ln>
        </p:spPr>
      </p:sp>
      <p:sp>
        <p:nvSpPr>
          <p:cNvPr id="28" name="Shape 25"/>
          <p:cNvSpPr/>
          <p:nvPr/>
        </p:nvSpPr>
        <p:spPr>
          <a:xfrm>
            <a:off x="6217920" y="3931920"/>
            <a:ext cx="128016" cy="1783080"/>
          </a:xfrm>
          <a:prstGeom prst="rect">
            <a:avLst/>
          </a:prstGeom>
          <a:solidFill>
            <a:srgbClr val="D4762A"/>
          </a:solidFill>
          <a:ln/>
        </p:spPr>
      </p:sp>
      <p:sp>
        <p:nvSpPr>
          <p:cNvPr id="29" name="Text 26"/>
          <p:cNvSpPr/>
          <p:nvPr/>
        </p:nvSpPr>
        <p:spPr>
          <a:xfrm>
            <a:off x="6583680" y="4160520"/>
            <a:ext cx="4114800" cy="548640"/>
          </a:xfrm>
          <a:prstGeom prst="rect">
            <a:avLst/>
          </a:prstGeom>
          <a:noFill/>
          <a:ln/>
        </p:spPr>
        <p:txBody>
          <a:bodyPr wrap="square" lIns="0" tIns="0" rIns="0" bIns="0" rtlCol="0" anchor="t"/>
          <a:lstStyle/>
          <a:p>
            <a:pPr algn="l" indent="0" marL="0">
              <a:lnSpc>
                <a:spcPct val="110000"/>
              </a:lnSpc>
              <a:buNone/>
            </a:pPr>
            <a:r>
              <a:rPr lang="en-US" sz="2300" dirty="0">
                <a:solidFill>
                  <a:srgbClr val="1E1208"/>
                </a:solidFill>
                <a:latin typeface="Impact" pitchFamily="34" charset="0"/>
                <a:ea typeface="Impact" pitchFamily="34" charset="-122"/>
                <a:cs typeface="Impact" pitchFamily="34" charset="-120"/>
              </a:rPr>
              <a:t>NOT THREE DISCONNECTED APPS</a:t>
            </a:r>
            <a:endParaRPr lang="en-US" sz="2300" dirty="0"/>
          </a:p>
        </p:txBody>
      </p:sp>
      <p:sp>
        <p:nvSpPr>
          <p:cNvPr id="30" name="Text 27"/>
          <p:cNvSpPr/>
          <p:nvPr/>
        </p:nvSpPr>
        <p:spPr>
          <a:xfrm>
            <a:off x="6583680" y="4800600"/>
            <a:ext cx="4114800" cy="822960"/>
          </a:xfrm>
          <a:prstGeom prst="rect">
            <a:avLst/>
          </a:prstGeom>
          <a:noFill/>
          <a:ln/>
        </p:spPr>
        <p:txBody>
          <a:bodyPr wrap="square" lIns="0" tIns="0" rIns="0" bIns="0" rtlCol="0" anchor="t"/>
          <a:lstStyle/>
          <a:p>
            <a:pPr algn="l" indent="0" marL="0">
              <a:lnSpc>
                <a:spcPct val="110000"/>
              </a:lnSpc>
              <a:buNone/>
            </a:pPr>
            <a:r>
              <a:rPr lang="en-US" sz="1400" dirty="0">
                <a:solidFill>
                  <a:srgbClr val="555555"/>
                </a:solidFill>
                <a:latin typeface="Arial" pitchFamily="34" charset="0"/>
                <a:ea typeface="Arial" pitchFamily="34" charset="-122"/>
                <a:cs typeface="Arial" pitchFamily="34" charset="-120"/>
              </a:rPr>
              <a:t>The products share the school, the people and the topic list.</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368735" y="5550408"/>
            <a:ext cx="822960" cy="1152144"/>
          </a:xfrm>
          <a:prstGeom prst="rect">
            <a:avLst/>
          </a:prstGeom>
          <a:solidFill>
            <a:srgbClr val="FDFDFB"/>
          </a:solidFill>
          <a:ln w="25400">
            <a:solidFill>
              <a:srgbClr val="1E1208"/>
            </a:solidFill>
            <a:prstDash val="solid"/>
          </a:ln>
        </p:spPr>
      </p:sp>
      <p:sp>
        <p:nvSpPr>
          <p:cNvPr id="11" name="Text 9"/>
          <p:cNvSpPr/>
          <p:nvPr/>
        </p:nvSpPr>
        <p:spPr>
          <a:xfrm>
            <a:off x="11368735" y="5550408"/>
            <a:ext cx="822960"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TRUST</a:t>
            </a:r>
            <a:endParaRPr lang="en-US" sz="115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indent="0" marL="0">
              <a:buNone/>
            </a:pPr>
            <a:r>
              <a:rPr lang="en-US" sz="4300" dirty="0">
                <a:solidFill>
                  <a:srgbClr val="1E1208"/>
                </a:solidFill>
                <a:latin typeface="Impact" pitchFamily="34" charset="0"/>
                <a:ea typeface="Impact" pitchFamily="34" charset="-122"/>
                <a:cs typeface="Impact" pitchFamily="34" charset="-120"/>
              </a:rPr>
              <a:t>TRUST, DATA AND AI WITH A PERSON IN CHARGE</a:t>
            </a:r>
            <a:endParaRPr lang="en-US" sz="4300" dirty="0"/>
          </a:p>
        </p:txBody>
      </p:sp>
      <p:sp>
        <p:nvSpPr>
          <p:cNvPr id="15" name="Shape 12"/>
          <p:cNvSpPr/>
          <p:nvPr/>
        </p:nvSpPr>
        <p:spPr>
          <a:xfrm>
            <a:off x="1417320" y="1965960"/>
            <a:ext cx="4663440" cy="4114800"/>
          </a:xfrm>
          <a:prstGeom prst="rect">
            <a:avLst/>
          </a:prstGeom>
          <a:solidFill>
            <a:srgbClr val="FFFFFF"/>
          </a:solidFill>
          <a:ln w="25400">
            <a:solidFill>
              <a:srgbClr val="1E1208"/>
            </a:solidFill>
            <a:prstDash val="solid"/>
          </a:ln>
        </p:spPr>
      </p:sp>
      <p:sp>
        <p:nvSpPr>
          <p:cNvPr id="16" name="Shape 13"/>
          <p:cNvSpPr/>
          <p:nvPr/>
        </p:nvSpPr>
        <p:spPr>
          <a:xfrm>
            <a:off x="1417320" y="1965960"/>
            <a:ext cx="4663440" cy="731520"/>
          </a:xfrm>
          <a:prstGeom prst="rect">
            <a:avLst/>
          </a:prstGeom>
          <a:solidFill>
            <a:srgbClr val="1E1208"/>
          </a:solidFill>
          <a:ln w="25400">
            <a:solidFill>
              <a:srgbClr val="1E1208"/>
            </a:solidFill>
            <a:prstDash val="solid"/>
          </a:ln>
        </p:spPr>
      </p:sp>
      <p:sp>
        <p:nvSpPr>
          <p:cNvPr id="17" name="Text 14"/>
          <p:cNvSpPr/>
          <p:nvPr/>
        </p:nvSpPr>
        <p:spPr>
          <a:xfrm>
            <a:off x="1645920" y="1965960"/>
            <a:ext cx="4206240" cy="731520"/>
          </a:xfrm>
          <a:prstGeom prst="rect">
            <a:avLst/>
          </a:prstGeom>
          <a:noFill/>
          <a:ln/>
        </p:spPr>
        <p:txBody>
          <a:bodyPr wrap="square" lIns="0" tIns="0" rIns="0" bIns="0" rtlCol="0" anchor="ctr"/>
          <a:lstStyle/>
          <a:p>
            <a:pPr algn="l" indent="0" marL="0">
              <a:lnSpc>
                <a:spcPct val="110000"/>
              </a:lnSpc>
              <a:buNone/>
            </a:pPr>
            <a:r>
              <a:rPr lang="en-US" sz="2400" dirty="0">
                <a:solidFill>
                  <a:srgbClr val="FFFFFF"/>
                </a:solidFill>
                <a:latin typeface="Impact" pitchFamily="34" charset="0"/>
                <a:ea typeface="Impact" pitchFamily="34" charset="-122"/>
                <a:cs typeface="Impact" pitchFamily="34" charset="-120"/>
              </a:rPr>
              <a:t>YOUR DATA</a:t>
            </a:r>
            <a:endParaRPr lang="en-US" sz="2400" dirty="0"/>
          </a:p>
        </p:txBody>
      </p:sp>
      <p:sp>
        <p:nvSpPr>
          <p:cNvPr id="18" name="Text 15"/>
          <p:cNvSpPr/>
          <p:nvPr/>
        </p:nvSpPr>
        <p:spPr>
          <a:xfrm>
            <a:off x="1645920" y="2926080"/>
            <a:ext cx="4206240" cy="3063240"/>
          </a:xfrm>
          <a:prstGeom prst="rect">
            <a:avLst/>
          </a:prstGeom>
          <a:noFill/>
          <a:ln/>
        </p:spPr>
        <p:txBody>
          <a:bodyPr wrap="square" lIns="0" tIns="0" rIns="0" bIns="0" rtlCol="0" anchor="t"/>
          <a:lstStyle/>
          <a:p>
            <a:pPr algn="l" marL="342900" indent="-342900">
              <a:lnSpc>
                <a:spcPct val="120000"/>
              </a:lnSpc>
              <a:buSzPct val="100000"/>
              <a:buChar char="■"/>
            </a:pPr>
            <a:r>
              <a:rPr lang="en-US" sz="1300" dirty="0">
                <a:solidFill>
                  <a:srgbClr val="1E1208"/>
                </a:solidFill>
                <a:latin typeface="Arial" pitchFamily="34" charset="0"/>
                <a:ea typeface="Arial" pitchFamily="34" charset="-122"/>
                <a:cs typeface="Arial" pitchFamily="34" charset="-120"/>
              </a:rPr>
              <a:t>Each school's data lives in its own separate environment</a:t>
            </a:r>
            <a:endParaRPr lang="en-US" sz="1300" dirty="0"/>
          </a:p>
          <a:p>
            <a:pPr algn="l" marL="342900" indent="-342900">
              <a:lnSpc>
                <a:spcPct val="120000"/>
              </a:lnSpc>
              <a:buSzPct val="100000"/>
              <a:buChar char="■"/>
            </a:pPr>
            <a:r>
              <a:rPr lang="en-US" sz="1300" dirty="0">
                <a:solidFill>
                  <a:srgbClr val="1E1208"/>
                </a:solidFill>
                <a:latin typeface="Arial" pitchFamily="34" charset="0"/>
                <a:ea typeface="Arial" pitchFamily="34" charset="-122"/>
                <a:cs typeface="Arial" pitchFamily="34" charset="-120"/>
              </a:rPr>
              <a:t>Access rules are enforced by the database itself</a:t>
            </a:r>
            <a:endParaRPr lang="en-US" sz="1300" dirty="0"/>
          </a:p>
          <a:p>
            <a:pPr algn="l" marL="342900" indent="-342900">
              <a:lnSpc>
                <a:spcPct val="120000"/>
              </a:lnSpc>
              <a:buSzPct val="100000"/>
              <a:buChar char="■"/>
            </a:pPr>
            <a:r>
              <a:rPr lang="en-US" sz="1300" dirty="0">
                <a:solidFill>
                  <a:srgbClr val="1E1208"/>
                </a:solidFill>
                <a:latin typeface="Arial" pitchFamily="34" charset="0"/>
                <a:ea typeface="Arial" pitchFamily="34" charset="-122"/>
                <a:cs typeface="Arial" pitchFamily="34" charset="-120"/>
              </a:rPr>
              <a:t>Two-factor sign-in is required for all staff</a:t>
            </a:r>
            <a:endParaRPr lang="en-US" sz="1300" dirty="0"/>
          </a:p>
          <a:p>
            <a:pPr algn="l" marL="342900" indent="-342900">
              <a:lnSpc>
                <a:spcPct val="120000"/>
              </a:lnSpc>
              <a:buSzPct val="100000"/>
              <a:buChar char="■"/>
            </a:pPr>
            <a:r>
              <a:rPr lang="en-US" sz="1300" dirty="0">
                <a:solidFill>
                  <a:srgbClr val="1E1208"/>
                </a:solidFill>
                <a:latin typeface="Arial" pitchFamily="34" charset="0"/>
                <a:ea typeface="Arial" pitchFamily="34" charset="-122"/>
                <a:cs typeface="Arial" pitchFamily="34" charset="-120"/>
              </a:rPr>
              <a:t>Handled in line with Jamaica's Data Protection Act</a:t>
            </a:r>
            <a:endParaRPr lang="en-US" sz="1300" dirty="0"/>
          </a:p>
        </p:txBody>
      </p:sp>
      <p:sp>
        <p:nvSpPr>
          <p:cNvPr id="19" name="Shape 16"/>
          <p:cNvSpPr/>
          <p:nvPr/>
        </p:nvSpPr>
        <p:spPr>
          <a:xfrm>
            <a:off x="6217920" y="1965960"/>
            <a:ext cx="4663440" cy="4114800"/>
          </a:xfrm>
          <a:prstGeom prst="rect">
            <a:avLst/>
          </a:prstGeom>
          <a:solidFill>
            <a:srgbClr val="FFFFFF"/>
          </a:solidFill>
          <a:ln w="25400">
            <a:solidFill>
              <a:srgbClr val="1E1208"/>
            </a:solidFill>
            <a:prstDash val="solid"/>
          </a:ln>
        </p:spPr>
      </p:sp>
      <p:sp>
        <p:nvSpPr>
          <p:cNvPr id="20" name="Shape 17"/>
          <p:cNvSpPr/>
          <p:nvPr/>
        </p:nvSpPr>
        <p:spPr>
          <a:xfrm>
            <a:off x="6217920" y="1965960"/>
            <a:ext cx="4663440" cy="731520"/>
          </a:xfrm>
          <a:prstGeom prst="rect">
            <a:avLst/>
          </a:prstGeom>
          <a:solidFill>
            <a:srgbClr val="D4762A"/>
          </a:solidFill>
          <a:ln w="25400">
            <a:solidFill>
              <a:srgbClr val="1E1208"/>
            </a:solidFill>
            <a:prstDash val="solid"/>
          </a:ln>
        </p:spPr>
      </p:sp>
      <p:sp>
        <p:nvSpPr>
          <p:cNvPr id="21" name="Text 18"/>
          <p:cNvSpPr/>
          <p:nvPr/>
        </p:nvSpPr>
        <p:spPr>
          <a:xfrm>
            <a:off x="6446520" y="1965960"/>
            <a:ext cx="4206240" cy="731520"/>
          </a:xfrm>
          <a:prstGeom prst="rect">
            <a:avLst/>
          </a:prstGeom>
          <a:noFill/>
          <a:ln/>
        </p:spPr>
        <p:txBody>
          <a:bodyPr wrap="square" lIns="0" tIns="0" rIns="0" bIns="0" rtlCol="0" anchor="ctr"/>
          <a:lstStyle/>
          <a:p>
            <a:pPr algn="l" indent="0" marL="0">
              <a:lnSpc>
                <a:spcPct val="110000"/>
              </a:lnSpc>
              <a:buNone/>
            </a:pPr>
            <a:r>
              <a:rPr lang="en-US" sz="2400" dirty="0">
                <a:solidFill>
                  <a:srgbClr val="1E1208"/>
                </a:solidFill>
                <a:latin typeface="Impact" pitchFamily="34" charset="0"/>
                <a:ea typeface="Impact" pitchFamily="34" charset="-122"/>
                <a:cs typeface="Impact" pitchFamily="34" charset="-120"/>
              </a:rPr>
              <a:t>AI ON A SHORT LEASH</a:t>
            </a:r>
            <a:endParaRPr lang="en-US" sz="2400" dirty="0"/>
          </a:p>
        </p:txBody>
      </p:sp>
      <p:sp>
        <p:nvSpPr>
          <p:cNvPr id="22" name="Text 19"/>
          <p:cNvSpPr/>
          <p:nvPr/>
        </p:nvSpPr>
        <p:spPr>
          <a:xfrm>
            <a:off x="6446520" y="2926080"/>
            <a:ext cx="4206240" cy="3063240"/>
          </a:xfrm>
          <a:prstGeom prst="rect">
            <a:avLst/>
          </a:prstGeom>
          <a:noFill/>
          <a:ln/>
        </p:spPr>
        <p:txBody>
          <a:bodyPr wrap="square" lIns="0" tIns="0" rIns="0" bIns="0" rtlCol="0" anchor="t"/>
          <a:lstStyle/>
          <a:p>
            <a:pPr algn="l" marL="342900" indent="-342900">
              <a:lnSpc>
                <a:spcPct val="120000"/>
              </a:lnSpc>
              <a:buSzPct val="100000"/>
              <a:buChar char="■"/>
            </a:pPr>
            <a:r>
              <a:rPr lang="en-US" sz="1300" dirty="0">
                <a:solidFill>
                  <a:srgbClr val="1E1208"/>
                </a:solidFill>
                <a:latin typeface="Arial" pitchFamily="34" charset="0"/>
                <a:ea typeface="Arial" pitchFamily="34" charset="-122"/>
                <a:cs typeface="Arial" pitchFamily="34" charset="-120"/>
              </a:rPr>
              <a:t>AI helps a teacher write: polish a question, import a PDF, draft a lesson plan</a:t>
            </a:r>
            <a:endParaRPr lang="en-US" sz="1300" dirty="0"/>
          </a:p>
          <a:p>
            <a:pPr algn="l" marL="342900" indent="-342900">
              <a:lnSpc>
                <a:spcPct val="120000"/>
              </a:lnSpc>
              <a:buSzPct val="100000"/>
              <a:buChar char="■"/>
            </a:pPr>
            <a:r>
              <a:rPr lang="en-US" sz="1300" dirty="0">
                <a:solidFill>
                  <a:srgbClr val="1E1208"/>
                </a:solidFill>
                <a:latin typeface="Arial" pitchFamily="34" charset="0"/>
                <a:ea typeface="Arial" pitchFamily="34" charset="-122"/>
                <a:cs typeface="Arial" pitchFamily="34" charset="-120"/>
              </a:rPr>
              <a:t>AI suggests essay marks. It never saves one; the teacher edits and decides</a:t>
            </a:r>
            <a:endParaRPr lang="en-US" sz="1300" dirty="0"/>
          </a:p>
          <a:p>
            <a:pPr algn="l" marL="342900" indent="-342900">
              <a:lnSpc>
                <a:spcPct val="120000"/>
              </a:lnSpc>
              <a:buSzPct val="100000"/>
              <a:buChar char="■"/>
            </a:pPr>
            <a:r>
              <a:rPr lang="en-US" sz="1300" dirty="0">
                <a:solidFill>
                  <a:srgbClr val="1E1208"/>
                </a:solidFill>
                <a:latin typeface="Arial" pitchFamily="34" charset="0"/>
                <a:ea typeface="Arial" pitchFamily="34" charset="-122"/>
                <a:cs typeface="Arial" pitchFamily="34" charset="-120"/>
              </a:rPr>
              <a:t>Every suggestion is reviewed by a person before it is used</a:t>
            </a:r>
            <a:endParaRPr lang="en-US" sz="1300" dirty="0"/>
          </a:p>
          <a:p>
            <a:pPr algn="l" marL="342900" indent="-342900">
              <a:lnSpc>
                <a:spcPct val="120000"/>
              </a:lnSpc>
              <a:buSzPct val="100000"/>
              <a:buChar char="■"/>
            </a:pPr>
            <a:r>
              <a:rPr lang="en-US" sz="1300" dirty="0">
                <a:solidFill>
                  <a:srgbClr val="1E1208"/>
                </a:solidFill>
                <a:latin typeface="Arial" pitchFamily="34" charset="0"/>
                <a:ea typeface="Arial" pitchFamily="34" charset="-122"/>
                <a:cs typeface="Arial" pitchFamily="34" charset="-120"/>
              </a:rPr>
              <a:t>The optional AI tutor stays inside a lesson; the principal can switch it off</a:t>
            </a:r>
            <a:endParaRPr lang="en-US" sz="1300" dirty="0"/>
          </a:p>
          <a:p>
            <a:pPr algn="l" marL="342900" indent="-342900">
              <a:lnSpc>
                <a:spcPct val="120000"/>
              </a:lnSpc>
              <a:buSzPct val="100000"/>
              <a:buChar char="■"/>
            </a:pPr>
            <a:r>
              <a:rPr lang="en-US" sz="1300" dirty="0">
                <a:solidFill>
                  <a:srgbClr val="1E1208"/>
                </a:solidFill>
                <a:latin typeface="Arial" pitchFamily="34" charset="0"/>
                <a:ea typeface="Arial" pitchFamily="34" charset="-122"/>
                <a:cs typeface="Arial" pitchFamily="34" charset="-120"/>
              </a:rPr>
              <a:t>AI is told to use Jamaican examples, the National Standards Curriculum and Vision 2030</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368735" y="5550408"/>
            <a:ext cx="822960" cy="1152144"/>
          </a:xfrm>
          <a:prstGeom prst="rect">
            <a:avLst/>
          </a:prstGeom>
          <a:solidFill>
            <a:srgbClr val="FDFDFB"/>
          </a:solidFill>
          <a:ln w="25400">
            <a:solidFill>
              <a:srgbClr val="1E1208"/>
            </a:solidFill>
            <a:prstDash val="solid"/>
          </a:ln>
        </p:spPr>
      </p:sp>
      <p:sp>
        <p:nvSpPr>
          <p:cNvPr id="11" name="Text 9"/>
          <p:cNvSpPr/>
          <p:nvPr/>
        </p:nvSpPr>
        <p:spPr>
          <a:xfrm>
            <a:off x="11368735" y="5550408"/>
            <a:ext cx="822960"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YOU ASKED. WE BUILT.</a:t>
            </a:r>
            <a:endParaRPr lang="en-US" sz="115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indent="0" marL="0">
              <a:buNone/>
            </a:pPr>
            <a:r>
              <a:rPr lang="en-US" sz="4100" dirty="0">
                <a:solidFill>
                  <a:srgbClr val="1E1208"/>
                </a:solidFill>
                <a:latin typeface="Impact" pitchFamily="34" charset="0"/>
                <a:ea typeface="Impact" pitchFamily="34" charset="-122"/>
                <a:cs typeface="Impact" pitchFamily="34" charset="-120"/>
              </a:rPr>
              <a:t>WHAT YOU TOLD US, AND WHAT IS BUILT</a:t>
            </a:r>
            <a:endParaRPr lang="en-US" sz="4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1417320" y="1508760"/>
          <a:ext cx="9509760" cy="914400"/>
        </p:xfrm>
        <a:graphic>
          <a:graphicData uri="http://schemas.openxmlformats.org/drawingml/2006/table">
            <a:tbl>
              <a:tblPr/>
              <a:tblGrid>
                <a:gridCol w="4206240"/>
                <a:gridCol w="4114800"/>
                <a:gridCol w="1188720"/>
              </a:tblGrid>
              <a:tr h="457200">
                <a:tc>
                  <a:txBody>
                    <a:bodyPr/>
                    <a:lstStyle/>
                    <a:p>
                      <a:pPr indent="0" marL="0">
                        <a:buNone/>
                      </a:pPr>
                      <a:r>
                        <a:rPr lang="en-US" sz="950" b="1" dirty="0">
                          <a:solidFill>
                            <a:srgbClr val="FFFFFF"/>
                          </a:solidFill>
                          <a:latin typeface="Courier New" pitchFamily="34" charset="0"/>
                          <a:ea typeface="Courier New" pitchFamily="34" charset="-122"/>
                          <a:cs typeface="Courier New" pitchFamily="34" charset="-120"/>
                        </a:rPr>
                        <a:t>YOU SAID</a:t>
                      </a:r>
                      <a:endParaRPr lang="en-US" sz="950" dirty="0">
                        <a:latin typeface="Courier New" charset="0"/>
                        <a:ea typeface="Courier New" charset="0"/>
                        <a:cs typeface="Courier New" charset="0"/>
                      </a:endParaRPr>
                    </a:p>
                  </a:txBody>
                  <a:tcPr marL="91440" marR="91440" marT="36576" marB="36576">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1E1208"/>
                    </a:solidFill>
                  </a:tcPr>
                </a:tc>
                <a:tc>
                  <a:txBody>
                    <a:bodyPr/>
                    <a:lstStyle/>
                    <a:p>
                      <a:pPr indent="0" marL="0">
                        <a:buNone/>
                      </a:pPr>
                      <a:r>
                        <a:rPr lang="en-US" sz="950" b="1" dirty="0">
                          <a:solidFill>
                            <a:srgbClr val="FFFFFF"/>
                          </a:solidFill>
                          <a:latin typeface="Courier New" pitchFamily="34" charset="0"/>
                          <a:ea typeface="Courier New" pitchFamily="34" charset="-122"/>
                          <a:cs typeface="Courier New" pitchFamily="34" charset="-120"/>
                        </a:rPr>
                        <a:t>WHAT EXISTS</a:t>
                      </a:r>
                      <a:endParaRPr lang="en-US" sz="950" dirty="0">
                        <a:latin typeface="Courier New" charset="0"/>
                        <a:ea typeface="Courier New" charset="0"/>
                        <a:cs typeface="Courier New" charset="0"/>
                      </a:endParaRPr>
                    </a:p>
                  </a:txBody>
                  <a:tcPr marL="91440" marR="91440" marT="36576" marB="36576">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1E1208"/>
                    </a:solidFill>
                  </a:tcPr>
                </a:tc>
                <a:tc>
                  <a:txBody>
                    <a:bodyPr/>
                    <a:lstStyle/>
                    <a:p>
                      <a:pPr indent="0" marL="0">
                        <a:buNone/>
                      </a:pPr>
                      <a:r>
                        <a:rPr lang="en-US" sz="950" b="1" dirty="0">
                          <a:solidFill>
                            <a:srgbClr val="FFFFFF"/>
                          </a:solidFill>
                          <a:latin typeface="Courier New" pitchFamily="34" charset="0"/>
                          <a:ea typeface="Courier New" pitchFamily="34" charset="-122"/>
                          <a:cs typeface="Courier New" pitchFamily="34" charset="-120"/>
                        </a:rPr>
                        <a:t>STATUS</a:t>
                      </a:r>
                      <a:endParaRPr lang="en-US" sz="950" dirty="0">
                        <a:latin typeface="Courier New" charset="0"/>
                        <a:ea typeface="Courier New" charset="0"/>
                        <a:cs typeface="Courier New" charset="0"/>
                      </a:endParaRPr>
                    </a:p>
                  </a:txBody>
                  <a:tcPr marL="91440" marR="91440" marT="36576" marB="36576">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1E1208"/>
                    </a:solidFill>
                  </a:tcPr>
                </a:tc>
              </a:tr>
              <a:tr h="457200">
                <a:tc>
                  <a:txBody>
                    <a:bodyPr/>
                    <a:lstStyle/>
                    <a:p>
                      <a:pPr indent="0" marL="0">
                        <a:buNone/>
                      </a:pPr>
                      <a:r>
                        <a:rPr lang="en-US" sz="1200" dirty="0">
                          <a:solidFill>
                            <a:srgbClr val="1E1208"/>
                          </a:solidFill>
                          <a:latin typeface="Arial" pitchFamily="34" charset="0"/>
                          <a:ea typeface="Arial" pitchFamily="34" charset="-122"/>
                          <a:cs typeface="Arial" pitchFamily="34" charset="-120"/>
                        </a:rPr>
                        <a:t>Marking takes the most time (8 of 10 teachers)</a:t>
                      </a:r>
                      <a:endParaRPr lang="en-US" sz="1200" dirty="0">
                        <a:latin typeface="Arial" charset="0"/>
                        <a:ea typeface="Arial" charset="0"/>
                        <a:cs typeface="Arial" charset="0"/>
                      </a:endParaRPr>
                    </a:p>
                  </a:txBody>
                  <a:tcPr marL="91440" marR="91440"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indent="0" marL="0">
                        <a:buNone/>
                      </a:pPr>
                      <a:r>
                        <a:rPr lang="en-US" sz="1200" b="1" dirty="0">
                          <a:solidFill>
                            <a:srgbClr val="1E1208"/>
                          </a:solidFill>
                          <a:latin typeface="Arial" pitchFamily="34" charset="0"/>
                          <a:ea typeface="Arial" pitchFamily="34" charset="-122"/>
                          <a:cs typeface="Arial" pitchFamily="34" charset="-120"/>
                        </a:rPr>
                        <a:t>Auto-marking, marking points, AI-suggested essay marks</a:t>
                      </a:r>
                      <a:endParaRPr lang="en-US" sz="1200" dirty="0">
                        <a:latin typeface="Arial" charset="0"/>
                        <a:ea typeface="Arial" charset="0"/>
                        <a:cs typeface="Arial" charset="0"/>
                      </a:endParaRPr>
                    </a:p>
                  </a:txBody>
                  <a:tcPr marL="91440" marR="91440"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1208"/>
                          </a:solidFill>
                          <a:latin typeface="Courier New" pitchFamily="34" charset="0"/>
                          <a:ea typeface="Courier New" pitchFamily="34" charset="-122"/>
                          <a:cs typeface="Courier New" pitchFamily="34" charset="-120"/>
                        </a:rPr>
                        <a:t>BUILT</a:t>
                      </a:r>
                      <a:endParaRPr lang="en-US" sz="1000" dirty="0">
                        <a:latin typeface="Courier New" charset="0"/>
                        <a:ea typeface="Courier New" charset="0"/>
                        <a:cs typeface="Courier New" charset="0"/>
                      </a:endParaRPr>
                    </a:p>
                  </a:txBody>
                  <a:tcPr marL="91440" marR="91440"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E3B51E"/>
                    </a:solidFill>
                  </a:tcPr>
                </a:tc>
              </a:tr>
              <a:tr h="457200">
                <a:tc>
                  <a:txBody>
                    <a:bodyPr/>
                    <a:lstStyle/>
                    <a:p>
                      <a:pPr indent="0" marL="0">
                        <a:buNone/>
                      </a:pPr>
                      <a:r>
                        <a:rPr lang="en-US" sz="1200" dirty="0">
                          <a:solidFill>
                            <a:srgbClr val="1E1208"/>
                          </a:solidFill>
                          <a:latin typeface="Arial" pitchFamily="34" charset="0"/>
                          <a:ea typeface="Arial" pitchFamily="34" charset="-122"/>
                          <a:cs typeface="Arial" pitchFamily="34" charset="-120"/>
                        </a:rPr>
                        <a:t>Who is struggling, what mistakes are common (8 and 7 of 10)</a:t>
                      </a:r>
                      <a:endParaRPr lang="en-US" sz="1200" dirty="0">
                        <a:latin typeface="Arial" charset="0"/>
                        <a:ea typeface="Arial" charset="0"/>
                        <a:cs typeface="Arial" charset="0"/>
                      </a:endParaRPr>
                    </a:p>
                  </a:txBody>
                  <a:tcPr marL="91440" marR="91440"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indent="0" marL="0">
                        <a:buNone/>
                      </a:pPr>
                      <a:r>
                        <a:rPr lang="en-US" sz="1200" b="1" dirty="0">
                          <a:solidFill>
                            <a:srgbClr val="1E1208"/>
                          </a:solidFill>
                          <a:latin typeface="Arial" pitchFamily="34" charset="0"/>
                          <a:ea typeface="Arial" pitchFamily="34" charset="-122"/>
                          <a:cs typeface="Arial" pitchFamily="34" charset="-120"/>
                        </a:rPr>
                        <a:t>Exam insight for every test</a:t>
                      </a:r>
                      <a:endParaRPr lang="en-US" sz="1200" dirty="0">
                        <a:latin typeface="Arial" charset="0"/>
                        <a:ea typeface="Arial" charset="0"/>
                        <a:cs typeface="Arial" charset="0"/>
                      </a:endParaRPr>
                    </a:p>
                  </a:txBody>
                  <a:tcPr marL="91440" marR="91440"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1208"/>
                          </a:solidFill>
                          <a:latin typeface="Courier New" pitchFamily="34" charset="0"/>
                          <a:ea typeface="Courier New" pitchFamily="34" charset="-122"/>
                          <a:cs typeface="Courier New" pitchFamily="34" charset="-120"/>
                        </a:rPr>
                        <a:t>BUILT</a:t>
                      </a:r>
                      <a:endParaRPr lang="en-US" sz="1000" dirty="0">
                        <a:latin typeface="Courier New" charset="0"/>
                        <a:ea typeface="Courier New" charset="0"/>
                        <a:cs typeface="Courier New" charset="0"/>
                      </a:endParaRPr>
                    </a:p>
                  </a:txBody>
                  <a:tcPr marL="91440" marR="91440"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E3B51E"/>
                    </a:solidFill>
                  </a:tcPr>
                </a:tc>
              </a:tr>
              <a:tr h="457200">
                <a:tc>
                  <a:txBody>
                    <a:bodyPr/>
                    <a:lstStyle/>
                    <a:p>
                      <a:pPr indent="0" marL="0">
                        <a:buNone/>
                      </a:pPr>
                      <a:r>
                        <a:rPr lang="en-US" sz="1200" dirty="0">
                          <a:solidFill>
                            <a:srgbClr val="1E1208"/>
                          </a:solidFill>
                          <a:latin typeface="Arial" pitchFamily="34" charset="0"/>
                          <a:ea typeface="Arial" pitchFamily="34" charset="-122"/>
                          <a:cs typeface="Arial" pitchFamily="34" charset="-120"/>
                        </a:rPr>
                        <a:t>What a missed student missed (9 of 10)</a:t>
                      </a:r>
                      <a:endParaRPr lang="en-US" sz="1200" dirty="0">
                        <a:latin typeface="Arial" charset="0"/>
                        <a:ea typeface="Arial" charset="0"/>
                        <a:cs typeface="Arial" charset="0"/>
                      </a:endParaRPr>
                    </a:p>
                  </a:txBody>
                  <a:tcPr marL="91440" marR="91440"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indent="0" marL="0">
                        <a:buNone/>
                      </a:pPr>
                      <a:r>
                        <a:rPr lang="en-US" sz="1200" b="1" dirty="0">
                          <a:solidFill>
                            <a:srgbClr val="1E1208"/>
                          </a:solidFill>
                          <a:latin typeface="Arial" pitchFamily="34" charset="0"/>
                          <a:ea typeface="Arial" pitchFamily="34" charset="-122"/>
                          <a:cs typeface="Arial" pitchFamily="34" charset="-120"/>
                        </a:rPr>
                        <a:t>Catch-up lessons for absent students</a:t>
                      </a:r>
                      <a:endParaRPr lang="en-US" sz="1200" dirty="0">
                        <a:latin typeface="Arial" charset="0"/>
                        <a:ea typeface="Arial" charset="0"/>
                        <a:cs typeface="Arial" charset="0"/>
                      </a:endParaRPr>
                    </a:p>
                  </a:txBody>
                  <a:tcPr marL="91440" marR="91440"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1208"/>
                          </a:solidFill>
                          <a:latin typeface="Courier New" pitchFamily="34" charset="0"/>
                          <a:ea typeface="Courier New" pitchFamily="34" charset="-122"/>
                          <a:cs typeface="Courier New" pitchFamily="34" charset="-120"/>
                        </a:rPr>
                        <a:t>BUILT</a:t>
                      </a:r>
                      <a:endParaRPr lang="en-US" sz="1000" dirty="0">
                        <a:latin typeface="Courier New" charset="0"/>
                        <a:ea typeface="Courier New" charset="0"/>
                        <a:cs typeface="Courier New" charset="0"/>
                      </a:endParaRPr>
                    </a:p>
                  </a:txBody>
                  <a:tcPr marL="91440" marR="91440"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E3B51E"/>
                    </a:solidFill>
                  </a:tcPr>
                </a:tc>
              </a:tr>
              <a:tr h="457200">
                <a:tc>
                  <a:txBody>
                    <a:bodyPr/>
                    <a:lstStyle/>
                    <a:p>
                      <a:pPr indent="0" marL="0">
                        <a:buNone/>
                      </a:pPr>
                      <a:r>
                        <a:rPr lang="en-US" sz="1200" dirty="0">
                          <a:solidFill>
                            <a:srgbClr val="1E1208"/>
                          </a:solidFill>
                          <a:latin typeface="Arial" pitchFamily="34" charset="0"/>
                          <a:ea typeface="Arial" pitchFamily="34" charset="-122"/>
                          <a:cs typeface="Arial" pitchFamily="34" charset="-120"/>
                        </a:rPr>
                        <a:t>Activities for different ability levels (9 of 10)</a:t>
                      </a:r>
                      <a:endParaRPr lang="en-US" sz="1200" dirty="0">
                        <a:latin typeface="Arial" charset="0"/>
                        <a:ea typeface="Arial" charset="0"/>
                        <a:cs typeface="Arial" charset="0"/>
                      </a:endParaRPr>
                    </a:p>
                  </a:txBody>
                  <a:tcPr marL="91440" marR="91440"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indent="0" marL="0">
                        <a:buNone/>
                      </a:pPr>
                      <a:r>
                        <a:rPr lang="en-US" sz="1200" b="1" dirty="0">
                          <a:solidFill>
                            <a:srgbClr val="1E1208"/>
                          </a:solidFill>
                          <a:latin typeface="Arial" pitchFamily="34" charset="0"/>
                          <a:ea typeface="Arial" pitchFamily="34" charset="-122"/>
                          <a:cs typeface="Arial" pitchFamily="34" charset="-120"/>
                        </a:rPr>
                        <a:t>Support, core and stretch practice</a:t>
                      </a:r>
                      <a:endParaRPr lang="en-US" sz="1200" dirty="0">
                        <a:latin typeface="Arial" charset="0"/>
                        <a:ea typeface="Arial" charset="0"/>
                        <a:cs typeface="Arial" charset="0"/>
                      </a:endParaRPr>
                    </a:p>
                  </a:txBody>
                  <a:tcPr marL="91440" marR="91440"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1208"/>
                          </a:solidFill>
                          <a:latin typeface="Courier New" pitchFamily="34" charset="0"/>
                          <a:ea typeface="Courier New" pitchFamily="34" charset="-122"/>
                          <a:cs typeface="Courier New" pitchFamily="34" charset="-120"/>
                        </a:rPr>
                        <a:t>BUILT</a:t>
                      </a:r>
                      <a:endParaRPr lang="en-US" sz="1000" dirty="0">
                        <a:latin typeface="Courier New" charset="0"/>
                        <a:ea typeface="Courier New" charset="0"/>
                        <a:cs typeface="Courier New" charset="0"/>
                      </a:endParaRPr>
                    </a:p>
                  </a:txBody>
                  <a:tcPr marL="91440" marR="91440"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E3B51E"/>
                    </a:solidFill>
                  </a:tcPr>
                </a:tc>
              </a:tr>
              <a:tr h="457200">
                <a:tc>
                  <a:txBody>
                    <a:bodyPr/>
                    <a:lstStyle/>
                    <a:p>
                      <a:pPr indent="0" marL="0">
                        <a:buNone/>
                      </a:pPr>
                      <a:r>
                        <a:rPr lang="en-US" sz="1200" dirty="0">
                          <a:solidFill>
                            <a:srgbClr val="1E1208"/>
                          </a:solidFill>
                          <a:latin typeface="Arial" pitchFamily="34" charset="0"/>
                          <a:ea typeface="Arial" pitchFamily="34" charset="-122"/>
                          <a:cs typeface="Arial" pitchFamily="34" charset="-120"/>
                        </a:rPr>
                        <a:t>AI-assisted lesson planning (8 of 10)</a:t>
                      </a:r>
                      <a:endParaRPr lang="en-US" sz="1200" dirty="0">
                        <a:latin typeface="Arial" charset="0"/>
                        <a:ea typeface="Arial" charset="0"/>
                        <a:cs typeface="Arial" charset="0"/>
                      </a:endParaRPr>
                    </a:p>
                  </a:txBody>
                  <a:tcPr marL="91440" marR="91440"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indent="0" marL="0">
                        <a:buNone/>
                      </a:pPr>
                      <a:r>
                        <a:rPr lang="en-US" sz="1200" b="1" dirty="0">
                          <a:solidFill>
                            <a:srgbClr val="1E1208"/>
                          </a:solidFill>
                          <a:latin typeface="Arial" pitchFamily="34" charset="0"/>
                          <a:ea typeface="Arial" pitchFamily="34" charset="-122"/>
                          <a:cs typeface="Arial" pitchFamily="34" charset="-120"/>
                        </a:rPr>
                        <a:t>AI-drafted 5E lesson plans</a:t>
                      </a:r>
                      <a:endParaRPr lang="en-US" sz="1200" dirty="0">
                        <a:latin typeface="Arial" charset="0"/>
                        <a:ea typeface="Arial" charset="0"/>
                        <a:cs typeface="Arial" charset="0"/>
                      </a:endParaRPr>
                    </a:p>
                  </a:txBody>
                  <a:tcPr marL="91440" marR="91440"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1208"/>
                          </a:solidFill>
                          <a:latin typeface="Courier New" pitchFamily="34" charset="0"/>
                          <a:ea typeface="Courier New" pitchFamily="34" charset="-122"/>
                          <a:cs typeface="Courier New" pitchFamily="34" charset="-120"/>
                        </a:rPr>
                        <a:t>BUILT</a:t>
                      </a:r>
                      <a:endParaRPr lang="en-US" sz="1000" dirty="0">
                        <a:latin typeface="Courier New" charset="0"/>
                        <a:ea typeface="Courier New" charset="0"/>
                        <a:cs typeface="Courier New" charset="0"/>
                      </a:endParaRPr>
                    </a:p>
                  </a:txBody>
                  <a:tcPr marL="91440" marR="91440"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E3B51E"/>
                    </a:solidFill>
                  </a:tcPr>
                </a:tc>
              </a:tr>
              <a:tr h="457200">
                <a:tc>
                  <a:txBody>
                    <a:bodyPr/>
                    <a:lstStyle/>
                    <a:p>
                      <a:pPr indent="0" marL="0">
                        <a:buNone/>
                      </a:pPr>
                      <a:r>
                        <a:rPr lang="en-US" sz="1200" dirty="0">
                          <a:solidFill>
                            <a:srgbClr val="1E1208"/>
                          </a:solidFill>
                          <a:latin typeface="Arial" pitchFamily="34" charset="0"/>
                          <a:ea typeface="Arial" pitchFamily="34" charset="-122"/>
                          <a:cs typeface="Arial" pitchFamily="34" charset="-120"/>
                        </a:rPr>
                        <a:t>Topics I need to improve (9 of 12 students)</a:t>
                      </a:r>
                      <a:endParaRPr lang="en-US" sz="1200" dirty="0">
                        <a:latin typeface="Arial" charset="0"/>
                        <a:ea typeface="Arial" charset="0"/>
                        <a:cs typeface="Arial" charset="0"/>
                      </a:endParaRPr>
                    </a:p>
                  </a:txBody>
                  <a:tcPr marL="91440" marR="91440"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indent="0" marL="0">
                        <a:buNone/>
                      </a:pPr>
                      <a:r>
                        <a:rPr lang="en-US" sz="1200" b="1" dirty="0">
                          <a:solidFill>
                            <a:srgbClr val="1E1208"/>
                          </a:solidFill>
                          <a:latin typeface="Arial" pitchFamily="34" charset="0"/>
                          <a:ea typeface="Arial" pitchFamily="34" charset="-122"/>
                          <a:cs typeface="Arial" pitchFamily="34" charset="-120"/>
                        </a:rPr>
                        <a:t>My Topics, with a "practise this topic" button</a:t>
                      </a:r>
                      <a:endParaRPr lang="en-US" sz="1200" dirty="0">
                        <a:latin typeface="Arial" charset="0"/>
                        <a:ea typeface="Arial" charset="0"/>
                        <a:cs typeface="Arial" charset="0"/>
                      </a:endParaRPr>
                    </a:p>
                  </a:txBody>
                  <a:tcPr marL="91440" marR="91440"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1208"/>
                          </a:solidFill>
                          <a:latin typeface="Courier New" pitchFamily="34" charset="0"/>
                          <a:ea typeface="Courier New" pitchFamily="34" charset="-122"/>
                          <a:cs typeface="Courier New" pitchFamily="34" charset="-120"/>
                        </a:rPr>
                        <a:t>BUILT</a:t>
                      </a:r>
                      <a:endParaRPr lang="en-US" sz="1000" dirty="0">
                        <a:latin typeface="Courier New" charset="0"/>
                        <a:ea typeface="Courier New" charset="0"/>
                        <a:cs typeface="Courier New" charset="0"/>
                      </a:endParaRPr>
                    </a:p>
                  </a:txBody>
                  <a:tcPr marL="91440" marR="91440"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E3B51E"/>
                    </a:solidFill>
                  </a:tcPr>
                </a:tc>
              </a:tr>
              <a:tr h="457200">
                <a:tc>
                  <a:txBody>
                    <a:bodyPr/>
                    <a:lstStyle/>
                    <a:p>
                      <a:pPr indent="0" marL="0">
                        <a:buNone/>
                      </a:pPr>
                      <a:r>
                        <a:rPr lang="en-US" sz="1200" dirty="0">
                          <a:solidFill>
                            <a:srgbClr val="1E1208"/>
                          </a:solidFill>
                          <a:latin typeface="Arial" pitchFamily="34" charset="0"/>
                          <a:ea typeface="Arial" pitchFamily="34" charset="-122"/>
                          <a:cs typeface="Arial" pitchFamily="34" charset="-120"/>
                        </a:rPr>
                        <a:t>Flashcards (7 of 12 students)</a:t>
                      </a:r>
                      <a:endParaRPr lang="en-US" sz="1200" dirty="0">
                        <a:latin typeface="Arial" charset="0"/>
                        <a:ea typeface="Arial" charset="0"/>
                        <a:cs typeface="Arial" charset="0"/>
                      </a:endParaRPr>
                    </a:p>
                  </a:txBody>
                  <a:tcPr marL="91440" marR="91440"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indent="0" marL="0">
                        <a:buNone/>
                      </a:pPr>
                      <a:r>
                        <a:rPr lang="en-US" sz="1200" b="1" dirty="0">
                          <a:solidFill>
                            <a:srgbClr val="1E1208"/>
                          </a:solidFill>
                          <a:latin typeface="Arial" pitchFamily="34" charset="0"/>
                          <a:ea typeface="Arial" pitchFamily="34" charset="-122"/>
                          <a:cs typeface="Arial" pitchFamily="34" charset="-120"/>
                        </a:rPr>
                        <a:t>Flashcards with review spacing</a:t>
                      </a:r>
                      <a:endParaRPr lang="en-US" sz="1200" dirty="0">
                        <a:latin typeface="Arial" charset="0"/>
                        <a:ea typeface="Arial" charset="0"/>
                        <a:cs typeface="Arial" charset="0"/>
                      </a:endParaRPr>
                    </a:p>
                  </a:txBody>
                  <a:tcPr marL="91440" marR="91440"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1208"/>
                          </a:solidFill>
                          <a:latin typeface="Courier New" pitchFamily="34" charset="0"/>
                          <a:ea typeface="Courier New" pitchFamily="34" charset="-122"/>
                          <a:cs typeface="Courier New" pitchFamily="34" charset="-120"/>
                        </a:rPr>
                        <a:t>BUILT</a:t>
                      </a:r>
                      <a:endParaRPr lang="en-US" sz="1000" dirty="0">
                        <a:latin typeface="Courier New" charset="0"/>
                        <a:ea typeface="Courier New" charset="0"/>
                        <a:cs typeface="Courier New" charset="0"/>
                      </a:endParaRPr>
                    </a:p>
                  </a:txBody>
                  <a:tcPr marL="91440" marR="91440"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E3B51E"/>
                    </a:solidFill>
                  </a:tcPr>
                </a:tc>
              </a:tr>
              <a:tr h="457200">
                <a:tc>
                  <a:txBody>
                    <a:bodyPr/>
                    <a:lstStyle/>
                    <a:p>
                      <a:pPr indent="0" marL="0">
                        <a:buNone/>
                      </a:pPr>
                      <a:r>
                        <a:rPr lang="en-US" sz="1200" dirty="0">
                          <a:solidFill>
                            <a:srgbClr val="1E1208"/>
                          </a:solidFill>
                          <a:latin typeface="Arial" pitchFamily="34" charset="0"/>
                          <a:ea typeface="Arial" pitchFamily="34" charset="-122"/>
                          <a:cs typeface="Arial" pitchFamily="34" charset="-120"/>
                        </a:rPr>
                        <a:t>Step-by-step explanations (11 of 12 students)</a:t>
                      </a:r>
                      <a:endParaRPr lang="en-US" sz="1200" dirty="0">
                        <a:latin typeface="Arial" charset="0"/>
                        <a:ea typeface="Arial" charset="0"/>
                        <a:cs typeface="Arial" charset="0"/>
                      </a:endParaRPr>
                    </a:p>
                  </a:txBody>
                  <a:tcPr marL="91440" marR="91440"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indent="0" marL="0">
                        <a:buNone/>
                      </a:pPr>
                      <a:r>
                        <a:rPr lang="en-US" sz="1200" b="1" dirty="0">
                          <a:solidFill>
                            <a:srgbClr val="1E1208"/>
                          </a:solidFill>
                          <a:latin typeface="Arial" pitchFamily="34" charset="0"/>
                          <a:ea typeface="Arial" pitchFamily="34" charset="-122"/>
                          <a:cs typeface="Arial" pitchFamily="34" charset="-120"/>
                        </a:rPr>
                        <a:t>5E lessons and the optional AI tutor, with more to come</a:t>
                      </a:r>
                      <a:endParaRPr lang="en-US" sz="1200" dirty="0">
                        <a:latin typeface="Arial" charset="0"/>
                        <a:ea typeface="Arial" charset="0"/>
                        <a:cs typeface="Arial" charset="0"/>
                      </a:endParaRPr>
                    </a:p>
                  </a:txBody>
                  <a:tcPr marL="91440" marR="91440"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1208"/>
                          </a:solidFill>
                          <a:latin typeface="Courier New" pitchFamily="34" charset="0"/>
                          <a:ea typeface="Courier New" pitchFamily="34" charset="-122"/>
                          <a:cs typeface="Courier New" pitchFamily="34" charset="-120"/>
                        </a:rPr>
                        <a:t>PARTLY</a:t>
                      </a:r>
                      <a:endParaRPr lang="en-US" sz="1000" dirty="0">
                        <a:latin typeface="Courier New" charset="0"/>
                        <a:ea typeface="Courier New" charset="0"/>
                        <a:cs typeface="Courier New" charset="0"/>
                      </a:endParaRPr>
                    </a:p>
                  </a:txBody>
                  <a:tcPr marL="91440" marR="91440"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BE9D6"/>
                    </a:solidFill>
                  </a:tcPr>
                </a:tc>
              </a:tr>
              <a:tr h="457200">
                <a:tc>
                  <a:txBody>
                    <a:bodyPr/>
                    <a:lstStyle/>
                    <a:p>
                      <a:pPr indent="0" marL="0">
                        <a:buNone/>
                      </a:pPr>
                      <a:r>
                        <a:rPr lang="en-US" sz="1200" dirty="0">
                          <a:solidFill>
                            <a:srgbClr val="1E1208"/>
                          </a:solidFill>
                          <a:latin typeface="Arial" pitchFamily="34" charset="0"/>
                          <a:ea typeface="Arial" pitchFamily="34" charset="-122"/>
                          <a:cs typeface="Arial" pitchFamily="34" charset="-120"/>
                        </a:rPr>
                        <a:t>Wifi and offline access (raised unprompted)</a:t>
                      </a:r>
                      <a:endParaRPr lang="en-US" sz="1200" dirty="0">
                        <a:latin typeface="Arial" charset="0"/>
                        <a:ea typeface="Arial" charset="0"/>
                        <a:cs typeface="Arial" charset="0"/>
                      </a:endParaRPr>
                    </a:p>
                  </a:txBody>
                  <a:tcPr marL="91440" marR="91440"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indent="0" marL="0">
                        <a:buNone/>
                      </a:pPr>
                      <a:r>
                        <a:rPr lang="en-US" sz="1200" b="1" dirty="0">
                          <a:solidFill>
                            <a:srgbClr val="1E1208"/>
                          </a:solidFill>
                          <a:latin typeface="Arial" pitchFamily="34" charset="0"/>
                          <a:ea typeface="Arial" pitchFamily="34" charset="-122"/>
                          <a:cs typeface="Arial" pitchFamily="34" charset="-120"/>
                        </a:rPr>
                        <a:t>Flashcards and opened lessons offline</a:t>
                      </a:r>
                      <a:endParaRPr lang="en-US" sz="1200" dirty="0">
                        <a:latin typeface="Arial" charset="0"/>
                        <a:ea typeface="Arial" charset="0"/>
                        <a:cs typeface="Arial" charset="0"/>
                      </a:endParaRPr>
                    </a:p>
                  </a:txBody>
                  <a:tcPr marL="91440" marR="91440"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1208"/>
                          </a:solidFill>
                          <a:latin typeface="Courier New" pitchFamily="34" charset="0"/>
                          <a:ea typeface="Courier New" pitchFamily="34" charset="-122"/>
                          <a:cs typeface="Courier New" pitchFamily="34" charset="-120"/>
                        </a:rPr>
                        <a:t>IN TESTING</a:t>
                      </a:r>
                      <a:endParaRPr lang="en-US" sz="1000" dirty="0">
                        <a:latin typeface="Courier New" charset="0"/>
                        <a:ea typeface="Courier New" charset="0"/>
                        <a:cs typeface="Courier New" charset="0"/>
                      </a:endParaRPr>
                    </a:p>
                  </a:txBody>
                  <a:tcPr marL="91440" marR="91440"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368735" y="5550408"/>
            <a:ext cx="822960" cy="1152144"/>
          </a:xfrm>
          <a:prstGeom prst="rect">
            <a:avLst/>
          </a:prstGeom>
          <a:solidFill>
            <a:srgbClr val="FDFDFB"/>
          </a:solidFill>
          <a:ln w="25400">
            <a:solidFill>
              <a:srgbClr val="1E1208"/>
            </a:solidFill>
            <a:prstDash val="solid"/>
          </a:ln>
        </p:spPr>
      </p:sp>
      <p:sp>
        <p:nvSpPr>
          <p:cNvPr id="11" name="Text 9"/>
          <p:cNvSpPr/>
          <p:nvPr/>
        </p:nvSpPr>
        <p:spPr>
          <a:xfrm>
            <a:off x="11368735" y="5550408"/>
            <a:ext cx="822960"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THE NEXT STEP</a:t>
            </a:r>
            <a:endParaRPr lang="en-US" sz="115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indent="0" marL="0">
              <a:buNone/>
            </a:pPr>
            <a:r>
              <a:rPr lang="en-US" sz="4800" dirty="0">
                <a:solidFill>
                  <a:srgbClr val="1E1208"/>
                </a:solidFill>
                <a:latin typeface="Impact" pitchFamily="34" charset="0"/>
                <a:ea typeface="Impact" pitchFamily="34" charset="-122"/>
                <a:cs typeface="Impact" pitchFamily="34" charset="-120"/>
              </a:rPr>
              <a:t>A PATHWAY WE CAN SHAPE TOGETHER</a:t>
            </a:r>
            <a:endParaRPr lang="en-US" sz="4800" dirty="0"/>
          </a:p>
        </p:txBody>
      </p:sp>
      <p:sp>
        <p:nvSpPr>
          <p:cNvPr id="15" name="Shape 12"/>
          <p:cNvSpPr/>
          <p:nvPr/>
        </p:nvSpPr>
        <p:spPr>
          <a:xfrm>
            <a:off x="1417320" y="1965960"/>
            <a:ext cx="1783080" cy="2148840"/>
          </a:xfrm>
          <a:prstGeom prst="rect">
            <a:avLst/>
          </a:prstGeom>
          <a:solidFill>
            <a:srgbClr val="FBE9D6"/>
          </a:solidFill>
          <a:ln w="25400">
            <a:solidFill>
              <a:srgbClr val="1E1208"/>
            </a:solidFill>
            <a:prstDash val="solid"/>
          </a:ln>
        </p:spPr>
      </p:sp>
      <p:sp>
        <p:nvSpPr>
          <p:cNvPr id="16" name="Shape 13"/>
          <p:cNvSpPr/>
          <p:nvPr/>
        </p:nvSpPr>
        <p:spPr>
          <a:xfrm>
            <a:off x="1417320" y="1965960"/>
            <a:ext cx="1783080" cy="777240"/>
          </a:xfrm>
          <a:prstGeom prst="rect">
            <a:avLst/>
          </a:prstGeom>
          <a:solidFill>
            <a:srgbClr val="D4762A"/>
          </a:solidFill>
          <a:ln w="25400">
            <a:solidFill>
              <a:srgbClr val="1E1208"/>
            </a:solidFill>
            <a:prstDash val="solid"/>
          </a:ln>
        </p:spPr>
      </p:sp>
      <p:sp>
        <p:nvSpPr>
          <p:cNvPr id="17" name="Text 14"/>
          <p:cNvSpPr/>
          <p:nvPr/>
        </p:nvSpPr>
        <p:spPr>
          <a:xfrm>
            <a:off x="1417320" y="1965960"/>
            <a:ext cx="1783080" cy="777240"/>
          </a:xfrm>
          <a:prstGeom prst="rect">
            <a:avLst/>
          </a:prstGeom>
          <a:noFill/>
          <a:ln/>
        </p:spPr>
        <p:txBody>
          <a:bodyPr wrap="square" lIns="0" tIns="0" rIns="0" bIns="0" rtlCol="0" anchor="ctr"/>
          <a:lstStyle/>
          <a:p>
            <a:pPr algn="ctr" indent="0" marL="0">
              <a:lnSpc>
                <a:spcPct val="110000"/>
              </a:lnSpc>
              <a:buNone/>
            </a:pPr>
            <a:r>
              <a:rPr lang="en-US" sz="4400" dirty="0">
                <a:solidFill>
                  <a:srgbClr val="1E1208"/>
                </a:solidFill>
                <a:latin typeface="Impact" pitchFamily="34" charset="0"/>
                <a:ea typeface="Impact" pitchFamily="34" charset="-122"/>
                <a:cs typeface="Impact" pitchFamily="34" charset="-120"/>
              </a:rPr>
              <a:t>1</a:t>
            </a:r>
            <a:endParaRPr lang="en-US" sz="4400" dirty="0"/>
          </a:p>
        </p:txBody>
      </p:sp>
      <p:sp>
        <p:nvSpPr>
          <p:cNvPr id="18" name="Text 15"/>
          <p:cNvSpPr/>
          <p:nvPr/>
        </p:nvSpPr>
        <p:spPr>
          <a:xfrm>
            <a:off x="1545336" y="2834640"/>
            <a:ext cx="1554480" cy="365760"/>
          </a:xfrm>
          <a:prstGeom prst="rect">
            <a:avLst/>
          </a:prstGeom>
          <a:noFill/>
          <a:ln/>
        </p:spPr>
        <p:txBody>
          <a:bodyPr wrap="square" lIns="0" tIns="0" rIns="0" bIns="0" rtlCol="0" anchor="t"/>
          <a:lstStyle/>
          <a:p>
            <a:pPr algn="l" indent="0" marL="0">
              <a:lnSpc>
                <a:spcPct val="110000"/>
              </a:lnSpc>
              <a:buNone/>
            </a:pPr>
            <a:r>
              <a:rPr lang="en-US" sz="1700" dirty="0">
                <a:solidFill>
                  <a:srgbClr val="1E1208"/>
                </a:solidFill>
                <a:latin typeface="Impact" pitchFamily="34" charset="0"/>
                <a:ea typeface="Impact" pitchFamily="34" charset="-122"/>
                <a:cs typeface="Impact" pitchFamily="34" charset="-120"/>
              </a:rPr>
              <a:t>EXPERIENCE</a:t>
            </a:r>
            <a:endParaRPr lang="en-US" sz="1700" dirty="0"/>
          </a:p>
        </p:txBody>
      </p:sp>
      <p:sp>
        <p:nvSpPr>
          <p:cNvPr id="19" name="Text 16"/>
          <p:cNvSpPr/>
          <p:nvPr/>
        </p:nvSpPr>
        <p:spPr>
          <a:xfrm>
            <a:off x="1545336" y="3291840"/>
            <a:ext cx="1554480" cy="822960"/>
          </a:xfrm>
          <a:prstGeom prst="rect">
            <a:avLst/>
          </a:prstGeom>
          <a:noFill/>
          <a:ln/>
        </p:spPr>
        <p:txBody>
          <a:bodyPr wrap="square" lIns="0" tIns="0" rIns="0" bIns="0" rtlCol="0" anchor="t"/>
          <a:lstStyle/>
          <a:p>
            <a:pPr algn="l" indent="0" marL="0">
              <a:lnSpc>
                <a:spcPct val="110000"/>
              </a:lnSpc>
              <a:buNone/>
            </a:pPr>
            <a:r>
              <a:rPr lang="en-US" sz="1150" dirty="0">
                <a:solidFill>
                  <a:srgbClr val="555555"/>
                </a:solidFill>
                <a:latin typeface="Arial" pitchFamily="34" charset="0"/>
                <a:ea typeface="Arial" pitchFamily="34" charset="-122"/>
                <a:cs typeface="Arial" pitchFamily="34" charset="-120"/>
              </a:rPr>
              <a:t>Today: use it hands-on and tell us what you see.</a:t>
            </a:r>
            <a:endParaRPr lang="en-US" sz="1150" dirty="0"/>
          </a:p>
        </p:txBody>
      </p:sp>
      <p:sp>
        <p:nvSpPr>
          <p:cNvPr id="20" name="Shape 17"/>
          <p:cNvSpPr/>
          <p:nvPr/>
        </p:nvSpPr>
        <p:spPr>
          <a:xfrm>
            <a:off x="3337560" y="1965960"/>
            <a:ext cx="1783080" cy="2148840"/>
          </a:xfrm>
          <a:prstGeom prst="rect">
            <a:avLst/>
          </a:prstGeom>
          <a:solidFill>
            <a:srgbClr val="FFFFFF"/>
          </a:solidFill>
          <a:ln w="25400">
            <a:solidFill>
              <a:srgbClr val="1E1208"/>
            </a:solidFill>
            <a:prstDash val="solid"/>
          </a:ln>
        </p:spPr>
      </p:sp>
      <p:sp>
        <p:nvSpPr>
          <p:cNvPr id="21" name="Shape 18"/>
          <p:cNvSpPr/>
          <p:nvPr/>
        </p:nvSpPr>
        <p:spPr>
          <a:xfrm>
            <a:off x="3337560" y="1965960"/>
            <a:ext cx="1783080" cy="777240"/>
          </a:xfrm>
          <a:prstGeom prst="rect">
            <a:avLst/>
          </a:prstGeom>
          <a:solidFill>
            <a:srgbClr val="E3B51E"/>
          </a:solidFill>
          <a:ln w="25400">
            <a:solidFill>
              <a:srgbClr val="1E1208"/>
            </a:solidFill>
            <a:prstDash val="solid"/>
          </a:ln>
        </p:spPr>
      </p:sp>
      <p:sp>
        <p:nvSpPr>
          <p:cNvPr id="22" name="Text 19"/>
          <p:cNvSpPr/>
          <p:nvPr/>
        </p:nvSpPr>
        <p:spPr>
          <a:xfrm>
            <a:off x="3337560" y="1965960"/>
            <a:ext cx="1783080" cy="777240"/>
          </a:xfrm>
          <a:prstGeom prst="rect">
            <a:avLst/>
          </a:prstGeom>
          <a:noFill/>
          <a:ln/>
        </p:spPr>
        <p:txBody>
          <a:bodyPr wrap="square" lIns="0" tIns="0" rIns="0" bIns="0" rtlCol="0" anchor="ctr"/>
          <a:lstStyle/>
          <a:p>
            <a:pPr algn="ctr" indent="0" marL="0">
              <a:lnSpc>
                <a:spcPct val="110000"/>
              </a:lnSpc>
              <a:buNone/>
            </a:pPr>
            <a:r>
              <a:rPr lang="en-US" sz="4400" dirty="0">
                <a:solidFill>
                  <a:srgbClr val="1E1208"/>
                </a:solidFill>
                <a:latin typeface="Impact" pitchFamily="34" charset="0"/>
                <a:ea typeface="Impact" pitchFamily="34" charset="-122"/>
                <a:cs typeface="Impact" pitchFamily="34" charset="-120"/>
              </a:rPr>
              <a:t>2</a:t>
            </a:r>
            <a:endParaRPr lang="en-US" sz="4400" dirty="0"/>
          </a:p>
        </p:txBody>
      </p:sp>
      <p:sp>
        <p:nvSpPr>
          <p:cNvPr id="23" name="Text 20"/>
          <p:cNvSpPr/>
          <p:nvPr/>
        </p:nvSpPr>
        <p:spPr>
          <a:xfrm>
            <a:off x="3465576" y="2834640"/>
            <a:ext cx="1554480" cy="365760"/>
          </a:xfrm>
          <a:prstGeom prst="rect">
            <a:avLst/>
          </a:prstGeom>
          <a:noFill/>
          <a:ln/>
        </p:spPr>
        <p:txBody>
          <a:bodyPr wrap="square" lIns="0" tIns="0" rIns="0" bIns="0" rtlCol="0" anchor="t"/>
          <a:lstStyle/>
          <a:p>
            <a:pPr algn="l" indent="0" marL="0">
              <a:lnSpc>
                <a:spcPct val="110000"/>
              </a:lnSpc>
              <a:buNone/>
            </a:pPr>
            <a:r>
              <a:rPr lang="en-US" sz="1700" dirty="0">
                <a:solidFill>
                  <a:srgbClr val="1E1208"/>
                </a:solidFill>
                <a:latin typeface="Impact" pitchFamily="34" charset="0"/>
                <a:ea typeface="Impact" pitchFamily="34" charset="-122"/>
                <a:cs typeface="Impact" pitchFamily="34" charset="-120"/>
              </a:rPr>
              <a:t>CHOOSE A START</a:t>
            </a:r>
            <a:endParaRPr lang="en-US" sz="1700" dirty="0"/>
          </a:p>
        </p:txBody>
      </p:sp>
      <p:sp>
        <p:nvSpPr>
          <p:cNvPr id="24" name="Text 21"/>
          <p:cNvSpPr/>
          <p:nvPr/>
        </p:nvSpPr>
        <p:spPr>
          <a:xfrm>
            <a:off x="3465576" y="3291840"/>
            <a:ext cx="1554480" cy="822960"/>
          </a:xfrm>
          <a:prstGeom prst="rect">
            <a:avLst/>
          </a:prstGeom>
          <a:noFill/>
          <a:ln/>
        </p:spPr>
        <p:txBody>
          <a:bodyPr wrap="square" lIns="0" tIns="0" rIns="0" bIns="0" rtlCol="0" anchor="t"/>
          <a:lstStyle/>
          <a:p>
            <a:pPr algn="l" indent="0" marL="0">
              <a:lnSpc>
                <a:spcPct val="110000"/>
              </a:lnSpc>
              <a:buNone/>
            </a:pPr>
            <a:r>
              <a:rPr lang="en-US" sz="1150" dirty="0">
                <a:solidFill>
                  <a:srgbClr val="555555"/>
                </a:solidFill>
                <a:latin typeface="Arial" pitchFamily="34" charset="0"/>
                <a:ea typeface="Arial" pitchFamily="34" charset="-122"/>
                <a:cs typeface="Arial" pitchFamily="34" charset="-120"/>
              </a:rPr>
              <a:t>Pick departments, classes and assessment types.</a:t>
            </a:r>
            <a:endParaRPr lang="en-US" sz="1150" dirty="0"/>
          </a:p>
        </p:txBody>
      </p:sp>
      <p:sp>
        <p:nvSpPr>
          <p:cNvPr id="25" name="Shape 22"/>
          <p:cNvSpPr/>
          <p:nvPr/>
        </p:nvSpPr>
        <p:spPr>
          <a:xfrm>
            <a:off x="5257800" y="1965960"/>
            <a:ext cx="1783080" cy="2148840"/>
          </a:xfrm>
          <a:prstGeom prst="rect">
            <a:avLst/>
          </a:prstGeom>
          <a:solidFill>
            <a:srgbClr val="FFFFFF"/>
          </a:solidFill>
          <a:ln w="25400">
            <a:solidFill>
              <a:srgbClr val="1E1208"/>
            </a:solidFill>
            <a:prstDash val="solid"/>
          </a:ln>
        </p:spPr>
      </p:sp>
      <p:sp>
        <p:nvSpPr>
          <p:cNvPr id="26" name="Shape 23"/>
          <p:cNvSpPr/>
          <p:nvPr/>
        </p:nvSpPr>
        <p:spPr>
          <a:xfrm>
            <a:off x="5257800" y="1965960"/>
            <a:ext cx="1783080" cy="777240"/>
          </a:xfrm>
          <a:prstGeom prst="rect">
            <a:avLst/>
          </a:prstGeom>
          <a:solidFill>
            <a:srgbClr val="E3B51E"/>
          </a:solidFill>
          <a:ln w="25400">
            <a:solidFill>
              <a:srgbClr val="1E1208"/>
            </a:solidFill>
            <a:prstDash val="solid"/>
          </a:ln>
        </p:spPr>
      </p:sp>
      <p:sp>
        <p:nvSpPr>
          <p:cNvPr id="27" name="Text 24"/>
          <p:cNvSpPr/>
          <p:nvPr/>
        </p:nvSpPr>
        <p:spPr>
          <a:xfrm>
            <a:off x="5257800" y="1965960"/>
            <a:ext cx="1783080" cy="777240"/>
          </a:xfrm>
          <a:prstGeom prst="rect">
            <a:avLst/>
          </a:prstGeom>
          <a:noFill/>
          <a:ln/>
        </p:spPr>
        <p:txBody>
          <a:bodyPr wrap="square" lIns="0" tIns="0" rIns="0" bIns="0" rtlCol="0" anchor="ctr"/>
          <a:lstStyle/>
          <a:p>
            <a:pPr algn="ctr" indent="0" marL="0">
              <a:lnSpc>
                <a:spcPct val="110000"/>
              </a:lnSpc>
              <a:buNone/>
            </a:pPr>
            <a:r>
              <a:rPr lang="en-US" sz="4400" dirty="0">
                <a:solidFill>
                  <a:srgbClr val="1E1208"/>
                </a:solidFill>
                <a:latin typeface="Impact" pitchFamily="34" charset="0"/>
                <a:ea typeface="Impact" pitchFamily="34" charset="-122"/>
                <a:cs typeface="Impact" pitchFamily="34" charset="-120"/>
              </a:rPr>
              <a:t>3</a:t>
            </a:r>
            <a:endParaRPr lang="en-US" sz="4400" dirty="0"/>
          </a:p>
        </p:txBody>
      </p:sp>
      <p:sp>
        <p:nvSpPr>
          <p:cNvPr id="28" name="Text 25"/>
          <p:cNvSpPr/>
          <p:nvPr/>
        </p:nvSpPr>
        <p:spPr>
          <a:xfrm>
            <a:off x="5385816" y="2834640"/>
            <a:ext cx="1554480" cy="365760"/>
          </a:xfrm>
          <a:prstGeom prst="rect">
            <a:avLst/>
          </a:prstGeom>
          <a:noFill/>
          <a:ln/>
        </p:spPr>
        <p:txBody>
          <a:bodyPr wrap="square" lIns="0" tIns="0" rIns="0" bIns="0" rtlCol="0" anchor="t"/>
          <a:lstStyle/>
          <a:p>
            <a:pPr algn="l" indent="0" marL="0">
              <a:lnSpc>
                <a:spcPct val="110000"/>
              </a:lnSpc>
              <a:buNone/>
            </a:pPr>
            <a:r>
              <a:rPr lang="en-US" sz="1700" dirty="0">
                <a:solidFill>
                  <a:srgbClr val="1E1208"/>
                </a:solidFill>
                <a:latin typeface="Impact" pitchFamily="34" charset="0"/>
                <a:ea typeface="Impact" pitchFamily="34" charset="-122"/>
                <a:cs typeface="Impact" pitchFamily="34" charset="-120"/>
              </a:rPr>
              <a:t>PILOT</a:t>
            </a:r>
            <a:endParaRPr lang="en-US" sz="1700" dirty="0"/>
          </a:p>
        </p:txBody>
      </p:sp>
      <p:sp>
        <p:nvSpPr>
          <p:cNvPr id="29" name="Text 26"/>
          <p:cNvSpPr/>
          <p:nvPr/>
        </p:nvSpPr>
        <p:spPr>
          <a:xfrm>
            <a:off x="5385816" y="3291840"/>
            <a:ext cx="1554480" cy="822960"/>
          </a:xfrm>
          <a:prstGeom prst="rect">
            <a:avLst/>
          </a:prstGeom>
          <a:noFill/>
          <a:ln/>
        </p:spPr>
        <p:txBody>
          <a:bodyPr wrap="square" lIns="0" tIns="0" rIns="0" bIns="0" rtlCol="0" anchor="t"/>
          <a:lstStyle/>
          <a:p>
            <a:pPr algn="l" indent="0" marL="0">
              <a:lnSpc>
                <a:spcPct val="110000"/>
              </a:lnSpc>
              <a:buNone/>
            </a:pPr>
            <a:r>
              <a:rPr lang="en-US" sz="1150" dirty="0">
                <a:solidFill>
                  <a:srgbClr val="555555"/>
                </a:solidFill>
                <a:latin typeface="Arial" pitchFamily="34" charset="0"/>
                <a:ea typeface="Arial" pitchFamily="34" charset="-122"/>
                <a:cs typeface="Arial" pitchFamily="34" charset="-120"/>
              </a:rPr>
              <a:t>Run it for a defined period with real classes.</a:t>
            </a:r>
            <a:endParaRPr lang="en-US" sz="1150" dirty="0"/>
          </a:p>
        </p:txBody>
      </p:sp>
      <p:sp>
        <p:nvSpPr>
          <p:cNvPr id="30" name="Shape 27"/>
          <p:cNvSpPr/>
          <p:nvPr/>
        </p:nvSpPr>
        <p:spPr>
          <a:xfrm>
            <a:off x="7178040" y="1965960"/>
            <a:ext cx="1783080" cy="2148840"/>
          </a:xfrm>
          <a:prstGeom prst="rect">
            <a:avLst/>
          </a:prstGeom>
          <a:solidFill>
            <a:srgbClr val="FFFFFF"/>
          </a:solidFill>
          <a:ln w="25400">
            <a:solidFill>
              <a:srgbClr val="1E1208"/>
            </a:solidFill>
            <a:prstDash val="solid"/>
          </a:ln>
        </p:spPr>
      </p:sp>
      <p:sp>
        <p:nvSpPr>
          <p:cNvPr id="31" name="Shape 28"/>
          <p:cNvSpPr/>
          <p:nvPr/>
        </p:nvSpPr>
        <p:spPr>
          <a:xfrm>
            <a:off x="7178040" y="1965960"/>
            <a:ext cx="1783080" cy="777240"/>
          </a:xfrm>
          <a:prstGeom prst="rect">
            <a:avLst/>
          </a:prstGeom>
          <a:solidFill>
            <a:srgbClr val="E3B51E"/>
          </a:solidFill>
          <a:ln w="25400">
            <a:solidFill>
              <a:srgbClr val="1E1208"/>
            </a:solidFill>
            <a:prstDash val="solid"/>
          </a:ln>
        </p:spPr>
      </p:sp>
      <p:sp>
        <p:nvSpPr>
          <p:cNvPr id="32" name="Text 29"/>
          <p:cNvSpPr/>
          <p:nvPr/>
        </p:nvSpPr>
        <p:spPr>
          <a:xfrm>
            <a:off x="7178040" y="1965960"/>
            <a:ext cx="1783080" cy="777240"/>
          </a:xfrm>
          <a:prstGeom prst="rect">
            <a:avLst/>
          </a:prstGeom>
          <a:noFill/>
          <a:ln/>
        </p:spPr>
        <p:txBody>
          <a:bodyPr wrap="square" lIns="0" tIns="0" rIns="0" bIns="0" rtlCol="0" anchor="ctr"/>
          <a:lstStyle/>
          <a:p>
            <a:pPr algn="ctr" indent="0" marL="0">
              <a:lnSpc>
                <a:spcPct val="110000"/>
              </a:lnSpc>
              <a:buNone/>
            </a:pPr>
            <a:r>
              <a:rPr lang="en-US" sz="4400" dirty="0">
                <a:solidFill>
                  <a:srgbClr val="1E1208"/>
                </a:solidFill>
                <a:latin typeface="Impact" pitchFamily="34" charset="0"/>
                <a:ea typeface="Impact" pitchFamily="34" charset="-122"/>
                <a:cs typeface="Impact" pitchFamily="34" charset="-120"/>
              </a:rPr>
              <a:t>4</a:t>
            </a:r>
            <a:endParaRPr lang="en-US" sz="4400" dirty="0"/>
          </a:p>
        </p:txBody>
      </p:sp>
      <p:sp>
        <p:nvSpPr>
          <p:cNvPr id="33" name="Text 30"/>
          <p:cNvSpPr/>
          <p:nvPr/>
        </p:nvSpPr>
        <p:spPr>
          <a:xfrm>
            <a:off x="7306056" y="2834640"/>
            <a:ext cx="1554480" cy="365760"/>
          </a:xfrm>
          <a:prstGeom prst="rect">
            <a:avLst/>
          </a:prstGeom>
          <a:noFill/>
          <a:ln/>
        </p:spPr>
        <p:txBody>
          <a:bodyPr wrap="square" lIns="0" tIns="0" rIns="0" bIns="0" rtlCol="0" anchor="t"/>
          <a:lstStyle/>
          <a:p>
            <a:pPr algn="l" indent="0" marL="0">
              <a:lnSpc>
                <a:spcPct val="110000"/>
              </a:lnSpc>
              <a:buNone/>
            </a:pPr>
            <a:r>
              <a:rPr lang="en-US" sz="1700" dirty="0">
                <a:solidFill>
                  <a:srgbClr val="1E1208"/>
                </a:solidFill>
                <a:latin typeface="Impact" pitchFamily="34" charset="0"/>
                <a:ea typeface="Impact" pitchFamily="34" charset="-122"/>
                <a:cs typeface="Impact" pitchFamily="34" charset="-120"/>
              </a:rPr>
              <a:t>REVIEW</a:t>
            </a:r>
            <a:endParaRPr lang="en-US" sz="1700" dirty="0"/>
          </a:p>
        </p:txBody>
      </p:sp>
      <p:sp>
        <p:nvSpPr>
          <p:cNvPr id="34" name="Text 31"/>
          <p:cNvSpPr/>
          <p:nvPr/>
        </p:nvSpPr>
        <p:spPr>
          <a:xfrm>
            <a:off x="7306056" y="3291840"/>
            <a:ext cx="1554480" cy="822960"/>
          </a:xfrm>
          <a:prstGeom prst="rect">
            <a:avLst/>
          </a:prstGeom>
          <a:noFill/>
          <a:ln/>
        </p:spPr>
        <p:txBody>
          <a:bodyPr wrap="square" lIns="0" tIns="0" rIns="0" bIns="0" rtlCol="0" anchor="t"/>
          <a:lstStyle/>
          <a:p>
            <a:pPr algn="l" indent="0" marL="0">
              <a:lnSpc>
                <a:spcPct val="110000"/>
              </a:lnSpc>
              <a:buNone/>
            </a:pPr>
            <a:r>
              <a:rPr lang="en-US" sz="1150" dirty="0">
                <a:solidFill>
                  <a:srgbClr val="555555"/>
                </a:solidFill>
                <a:latin typeface="Arial" pitchFamily="34" charset="0"/>
                <a:ea typeface="Arial" pitchFamily="34" charset="-122"/>
                <a:cs typeface="Arial" pitchFamily="34" charset="-120"/>
              </a:rPr>
              <a:t>Look at the evidence together.</a:t>
            </a:r>
            <a:endParaRPr lang="en-US" sz="1150" dirty="0"/>
          </a:p>
        </p:txBody>
      </p:sp>
      <p:sp>
        <p:nvSpPr>
          <p:cNvPr id="35" name="Shape 32"/>
          <p:cNvSpPr/>
          <p:nvPr/>
        </p:nvSpPr>
        <p:spPr>
          <a:xfrm>
            <a:off x="9098280" y="1965960"/>
            <a:ext cx="1783080" cy="2148840"/>
          </a:xfrm>
          <a:prstGeom prst="rect">
            <a:avLst/>
          </a:prstGeom>
          <a:solidFill>
            <a:srgbClr val="FFFFFF"/>
          </a:solidFill>
          <a:ln w="25400">
            <a:solidFill>
              <a:srgbClr val="1E1208"/>
            </a:solidFill>
            <a:prstDash val="solid"/>
          </a:ln>
        </p:spPr>
      </p:sp>
      <p:sp>
        <p:nvSpPr>
          <p:cNvPr id="36" name="Shape 33"/>
          <p:cNvSpPr/>
          <p:nvPr/>
        </p:nvSpPr>
        <p:spPr>
          <a:xfrm>
            <a:off x="9098280" y="1965960"/>
            <a:ext cx="1783080" cy="777240"/>
          </a:xfrm>
          <a:prstGeom prst="rect">
            <a:avLst/>
          </a:prstGeom>
          <a:solidFill>
            <a:srgbClr val="E3B51E"/>
          </a:solidFill>
          <a:ln w="25400">
            <a:solidFill>
              <a:srgbClr val="1E1208"/>
            </a:solidFill>
            <a:prstDash val="solid"/>
          </a:ln>
        </p:spPr>
      </p:sp>
      <p:sp>
        <p:nvSpPr>
          <p:cNvPr id="37" name="Text 34"/>
          <p:cNvSpPr/>
          <p:nvPr/>
        </p:nvSpPr>
        <p:spPr>
          <a:xfrm>
            <a:off x="9098280" y="1965960"/>
            <a:ext cx="1783080" cy="777240"/>
          </a:xfrm>
          <a:prstGeom prst="rect">
            <a:avLst/>
          </a:prstGeom>
          <a:noFill/>
          <a:ln/>
        </p:spPr>
        <p:txBody>
          <a:bodyPr wrap="square" lIns="0" tIns="0" rIns="0" bIns="0" rtlCol="0" anchor="ctr"/>
          <a:lstStyle/>
          <a:p>
            <a:pPr algn="ctr" indent="0" marL="0">
              <a:lnSpc>
                <a:spcPct val="110000"/>
              </a:lnSpc>
              <a:buNone/>
            </a:pPr>
            <a:r>
              <a:rPr lang="en-US" sz="4400" dirty="0">
                <a:solidFill>
                  <a:srgbClr val="1E1208"/>
                </a:solidFill>
                <a:latin typeface="Impact" pitchFamily="34" charset="0"/>
                <a:ea typeface="Impact" pitchFamily="34" charset="-122"/>
                <a:cs typeface="Impact" pitchFamily="34" charset="-120"/>
              </a:rPr>
              <a:t>5</a:t>
            </a:r>
            <a:endParaRPr lang="en-US" sz="4400" dirty="0"/>
          </a:p>
        </p:txBody>
      </p:sp>
      <p:sp>
        <p:nvSpPr>
          <p:cNvPr id="38" name="Text 35"/>
          <p:cNvSpPr/>
          <p:nvPr/>
        </p:nvSpPr>
        <p:spPr>
          <a:xfrm>
            <a:off x="9226296" y="2834640"/>
            <a:ext cx="1554480" cy="365760"/>
          </a:xfrm>
          <a:prstGeom prst="rect">
            <a:avLst/>
          </a:prstGeom>
          <a:noFill/>
          <a:ln/>
        </p:spPr>
        <p:txBody>
          <a:bodyPr wrap="square" lIns="0" tIns="0" rIns="0" bIns="0" rtlCol="0" anchor="t"/>
          <a:lstStyle/>
          <a:p>
            <a:pPr algn="l" indent="0" marL="0">
              <a:lnSpc>
                <a:spcPct val="110000"/>
              </a:lnSpc>
              <a:buNone/>
            </a:pPr>
            <a:r>
              <a:rPr lang="en-US" sz="1700" dirty="0">
                <a:solidFill>
                  <a:srgbClr val="1E1208"/>
                </a:solidFill>
                <a:latin typeface="Impact" pitchFamily="34" charset="0"/>
                <a:ea typeface="Impact" pitchFamily="34" charset="-122"/>
                <a:cs typeface="Impact" pitchFamily="34" charset="-120"/>
              </a:rPr>
              <a:t>EXPAND</a:t>
            </a:r>
            <a:endParaRPr lang="en-US" sz="1700" dirty="0"/>
          </a:p>
        </p:txBody>
      </p:sp>
      <p:sp>
        <p:nvSpPr>
          <p:cNvPr id="39" name="Text 36"/>
          <p:cNvSpPr/>
          <p:nvPr/>
        </p:nvSpPr>
        <p:spPr>
          <a:xfrm>
            <a:off x="9226296" y="3291840"/>
            <a:ext cx="1554480" cy="822960"/>
          </a:xfrm>
          <a:prstGeom prst="rect">
            <a:avLst/>
          </a:prstGeom>
          <a:noFill/>
          <a:ln/>
        </p:spPr>
        <p:txBody>
          <a:bodyPr wrap="square" lIns="0" tIns="0" rIns="0" bIns="0" rtlCol="0" anchor="t"/>
          <a:lstStyle/>
          <a:p>
            <a:pPr algn="l" indent="0" marL="0">
              <a:lnSpc>
                <a:spcPct val="110000"/>
              </a:lnSpc>
              <a:buNone/>
            </a:pPr>
            <a:r>
              <a:rPr lang="en-US" sz="1150" dirty="0">
                <a:solidFill>
                  <a:srgbClr val="555555"/>
                </a:solidFill>
                <a:latin typeface="Arial" pitchFamily="34" charset="0"/>
                <a:ea typeface="Arial" pitchFamily="34" charset="-122"/>
                <a:cs typeface="Arial" pitchFamily="34" charset="-120"/>
              </a:rPr>
              <a:t>Decide how and when to widen it.</a:t>
            </a:r>
            <a:endParaRPr lang="en-US" sz="1150" dirty="0"/>
          </a:p>
        </p:txBody>
      </p:sp>
      <p:sp>
        <p:nvSpPr>
          <p:cNvPr id="40" name="Text 37"/>
          <p:cNvSpPr/>
          <p:nvPr/>
        </p:nvSpPr>
        <p:spPr>
          <a:xfrm>
            <a:off x="1417320" y="4434840"/>
            <a:ext cx="9144000" cy="274320"/>
          </a:xfrm>
          <a:prstGeom prst="rect">
            <a:avLst/>
          </a:prstGeom>
          <a:noFill/>
          <a:ln/>
        </p:spPr>
        <p:txBody>
          <a:bodyPr wrap="square" lIns="0" tIns="0" rIns="0" bIns="0" rtlCol="0" anchor="t"/>
          <a:lstStyle/>
          <a:p>
            <a:pPr algn="l" indent="0" marL="0">
              <a:lnSpc>
                <a:spcPct val="110000"/>
              </a:lnSpc>
              <a:buNone/>
            </a:pPr>
            <a:r>
              <a:rPr lang="en-US" sz="1100" b="1" spc="200" kern="0" dirty="0">
                <a:solidFill>
                  <a:srgbClr val="1E1208"/>
                </a:solidFill>
                <a:latin typeface="Courier New" pitchFamily="34" charset="0"/>
                <a:ea typeface="Courier New" pitchFamily="34" charset="-122"/>
                <a:cs typeface="Courier New" pitchFamily="34" charset="-120"/>
              </a:rPr>
              <a:t>HOW WE WOULD MEASURE SUCCESS</a:t>
            </a:r>
            <a:endParaRPr lang="en-US" sz="1100" dirty="0"/>
          </a:p>
        </p:txBody>
      </p:sp>
      <p:sp>
        <p:nvSpPr>
          <p:cNvPr id="41" name="Shape 38"/>
          <p:cNvSpPr/>
          <p:nvPr/>
        </p:nvSpPr>
        <p:spPr>
          <a:xfrm>
            <a:off x="1417320" y="4800600"/>
            <a:ext cx="1783080" cy="1005840"/>
          </a:xfrm>
          <a:prstGeom prst="rect">
            <a:avLst/>
          </a:prstGeom>
          <a:solidFill>
            <a:srgbClr val="FBE9D6"/>
          </a:solidFill>
          <a:ln w="25400">
            <a:solidFill>
              <a:srgbClr val="1E1208"/>
            </a:solidFill>
            <a:prstDash val="solid"/>
          </a:ln>
        </p:spPr>
      </p:sp>
      <p:sp>
        <p:nvSpPr>
          <p:cNvPr id="42" name="Text 39"/>
          <p:cNvSpPr/>
          <p:nvPr/>
        </p:nvSpPr>
        <p:spPr>
          <a:xfrm>
            <a:off x="1527048" y="4800600"/>
            <a:ext cx="1572768" cy="1005840"/>
          </a:xfrm>
          <a:prstGeom prst="rect">
            <a:avLst/>
          </a:prstGeom>
          <a:noFill/>
          <a:ln/>
        </p:spPr>
        <p:txBody>
          <a:bodyPr wrap="square" lIns="0" tIns="0" rIns="0" bIns="0" rtlCol="0" anchor="ctr"/>
          <a:lstStyle/>
          <a:p>
            <a:pPr algn="l" indent="0" marL="0">
              <a:lnSpc>
                <a:spcPct val="110000"/>
              </a:lnSpc>
              <a:buNone/>
            </a:pPr>
            <a:r>
              <a:rPr lang="en-US" sz="1100" b="1" dirty="0">
                <a:solidFill>
                  <a:srgbClr val="1E1208"/>
                </a:solidFill>
                <a:latin typeface="Arial" pitchFamily="34" charset="0"/>
                <a:ea typeface="Arial" pitchFamily="34" charset="-122"/>
                <a:cs typeface="Arial" pitchFamily="34" charset="-120"/>
              </a:rPr>
              <a:t>Teacher hours saved marking and preparing</a:t>
            </a:r>
            <a:endParaRPr lang="en-US" sz="1100" dirty="0"/>
          </a:p>
        </p:txBody>
      </p:sp>
      <p:sp>
        <p:nvSpPr>
          <p:cNvPr id="43" name="Shape 40"/>
          <p:cNvSpPr/>
          <p:nvPr/>
        </p:nvSpPr>
        <p:spPr>
          <a:xfrm>
            <a:off x="3337560" y="4800600"/>
            <a:ext cx="1783080" cy="1005840"/>
          </a:xfrm>
          <a:prstGeom prst="rect">
            <a:avLst/>
          </a:prstGeom>
          <a:solidFill>
            <a:srgbClr val="FBE9D6"/>
          </a:solidFill>
          <a:ln w="25400">
            <a:solidFill>
              <a:srgbClr val="1E1208"/>
            </a:solidFill>
            <a:prstDash val="solid"/>
          </a:ln>
        </p:spPr>
      </p:sp>
      <p:sp>
        <p:nvSpPr>
          <p:cNvPr id="44" name="Text 41"/>
          <p:cNvSpPr/>
          <p:nvPr/>
        </p:nvSpPr>
        <p:spPr>
          <a:xfrm>
            <a:off x="3447288" y="4800600"/>
            <a:ext cx="1572768" cy="1005840"/>
          </a:xfrm>
          <a:prstGeom prst="rect">
            <a:avLst/>
          </a:prstGeom>
          <a:noFill/>
          <a:ln/>
        </p:spPr>
        <p:txBody>
          <a:bodyPr wrap="square" lIns="0" tIns="0" rIns="0" bIns="0" rtlCol="0" anchor="ctr"/>
          <a:lstStyle/>
          <a:p>
            <a:pPr algn="l" indent="0" marL="0">
              <a:lnSpc>
                <a:spcPct val="110000"/>
              </a:lnSpc>
              <a:buNone/>
            </a:pPr>
            <a:r>
              <a:rPr lang="en-US" sz="1100" b="1" dirty="0">
                <a:solidFill>
                  <a:srgbClr val="1E1208"/>
                </a:solidFill>
                <a:latin typeface="Arial" pitchFamily="34" charset="0"/>
                <a:ea typeface="Arial" pitchFamily="34" charset="-122"/>
                <a:cs typeface="Arial" pitchFamily="34" charset="-120"/>
              </a:rPr>
              <a:t>Paper no longer printed and copied</a:t>
            </a:r>
            <a:endParaRPr lang="en-US" sz="1100" dirty="0"/>
          </a:p>
        </p:txBody>
      </p:sp>
      <p:sp>
        <p:nvSpPr>
          <p:cNvPr id="45" name="Shape 42"/>
          <p:cNvSpPr/>
          <p:nvPr/>
        </p:nvSpPr>
        <p:spPr>
          <a:xfrm>
            <a:off x="5257800" y="4800600"/>
            <a:ext cx="1783080" cy="1005840"/>
          </a:xfrm>
          <a:prstGeom prst="rect">
            <a:avLst/>
          </a:prstGeom>
          <a:solidFill>
            <a:srgbClr val="FBE9D6"/>
          </a:solidFill>
          <a:ln w="25400">
            <a:solidFill>
              <a:srgbClr val="1E1208"/>
            </a:solidFill>
            <a:prstDash val="solid"/>
          </a:ln>
        </p:spPr>
      </p:sp>
      <p:sp>
        <p:nvSpPr>
          <p:cNvPr id="46" name="Text 43"/>
          <p:cNvSpPr/>
          <p:nvPr/>
        </p:nvSpPr>
        <p:spPr>
          <a:xfrm>
            <a:off x="5367528" y="4800600"/>
            <a:ext cx="1572768" cy="1005840"/>
          </a:xfrm>
          <a:prstGeom prst="rect">
            <a:avLst/>
          </a:prstGeom>
          <a:noFill/>
          <a:ln/>
        </p:spPr>
        <p:txBody>
          <a:bodyPr wrap="square" lIns="0" tIns="0" rIns="0" bIns="0" rtlCol="0" anchor="ctr"/>
          <a:lstStyle/>
          <a:p>
            <a:pPr algn="l" indent="0" marL="0">
              <a:lnSpc>
                <a:spcPct val="110000"/>
              </a:lnSpc>
              <a:buNone/>
            </a:pPr>
            <a:r>
              <a:rPr lang="en-US" sz="1100" b="1" dirty="0">
                <a:solidFill>
                  <a:srgbClr val="1E1208"/>
                </a:solidFill>
                <a:latin typeface="Arial" pitchFamily="34" charset="0"/>
                <a:ea typeface="Arial" pitchFamily="34" charset="-122"/>
                <a:cs typeface="Arial" pitchFamily="34" charset="-120"/>
              </a:rPr>
              <a:t>Time from exam to usable results</a:t>
            </a:r>
            <a:endParaRPr lang="en-US" sz="1100" dirty="0"/>
          </a:p>
        </p:txBody>
      </p:sp>
      <p:sp>
        <p:nvSpPr>
          <p:cNvPr id="47" name="Shape 44"/>
          <p:cNvSpPr/>
          <p:nvPr/>
        </p:nvSpPr>
        <p:spPr>
          <a:xfrm>
            <a:off x="7178040" y="4800600"/>
            <a:ext cx="1783080" cy="1005840"/>
          </a:xfrm>
          <a:prstGeom prst="rect">
            <a:avLst/>
          </a:prstGeom>
          <a:solidFill>
            <a:srgbClr val="FBE9D6"/>
          </a:solidFill>
          <a:ln w="25400">
            <a:solidFill>
              <a:srgbClr val="1E1208"/>
            </a:solidFill>
            <a:prstDash val="solid"/>
          </a:ln>
        </p:spPr>
      </p:sp>
      <p:sp>
        <p:nvSpPr>
          <p:cNvPr id="48" name="Text 45"/>
          <p:cNvSpPr/>
          <p:nvPr/>
        </p:nvSpPr>
        <p:spPr>
          <a:xfrm>
            <a:off x="7287768" y="4800600"/>
            <a:ext cx="1572768" cy="1005840"/>
          </a:xfrm>
          <a:prstGeom prst="rect">
            <a:avLst/>
          </a:prstGeom>
          <a:noFill/>
          <a:ln/>
        </p:spPr>
        <p:txBody>
          <a:bodyPr wrap="square" lIns="0" tIns="0" rIns="0" bIns="0" rtlCol="0" anchor="ctr"/>
          <a:lstStyle/>
          <a:p>
            <a:pPr algn="l" indent="0" marL="0">
              <a:lnSpc>
                <a:spcPct val="110000"/>
              </a:lnSpc>
              <a:buNone/>
            </a:pPr>
            <a:r>
              <a:rPr lang="en-US" sz="1100" b="1" dirty="0">
                <a:solidFill>
                  <a:srgbClr val="1E1208"/>
                </a:solidFill>
                <a:latin typeface="Arial" pitchFamily="34" charset="0"/>
                <a:ea typeface="Arial" pitchFamily="34" charset="-122"/>
                <a:cs typeface="Arial" pitchFamily="34" charset="-120"/>
              </a:rPr>
              <a:t>Learning gaps found and acted on</a:t>
            </a:r>
            <a:endParaRPr lang="en-US" sz="1100" dirty="0"/>
          </a:p>
        </p:txBody>
      </p:sp>
      <p:sp>
        <p:nvSpPr>
          <p:cNvPr id="49" name="Shape 46"/>
          <p:cNvSpPr/>
          <p:nvPr/>
        </p:nvSpPr>
        <p:spPr>
          <a:xfrm>
            <a:off x="9098280" y="4800600"/>
            <a:ext cx="1783080" cy="1005840"/>
          </a:xfrm>
          <a:prstGeom prst="rect">
            <a:avLst/>
          </a:prstGeom>
          <a:solidFill>
            <a:srgbClr val="FBE9D6"/>
          </a:solidFill>
          <a:ln w="25400">
            <a:solidFill>
              <a:srgbClr val="1E1208"/>
            </a:solidFill>
            <a:prstDash val="solid"/>
          </a:ln>
        </p:spPr>
      </p:sp>
      <p:sp>
        <p:nvSpPr>
          <p:cNvPr id="50" name="Text 47"/>
          <p:cNvSpPr/>
          <p:nvPr/>
        </p:nvSpPr>
        <p:spPr>
          <a:xfrm>
            <a:off x="9208008" y="4800600"/>
            <a:ext cx="1572768" cy="1005840"/>
          </a:xfrm>
          <a:prstGeom prst="rect">
            <a:avLst/>
          </a:prstGeom>
          <a:noFill/>
          <a:ln/>
        </p:spPr>
        <p:txBody>
          <a:bodyPr wrap="square" lIns="0" tIns="0" rIns="0" bIns="0" rtlCol="0" anchor="ctr"/>
          <a:lstStyle/>
          <a:p>
            <a:pPr algn="l" indent="0" marL="0">
              <a:lnSpc>
                <a:spcPct val="110000"/>
              </a:lnSpc>
              <a:buNone/>
            </a:pPr>
            <a:r>
              <a:rPr lang="en-US" sz="1100" b="1" dirty="0">
                <a:solidFill>
                  <a:srgbClr val="1E1208"/>
                </a:solidFill>
                <a:latin typeface="Arial" pitchFamily="34" charset="0"/>
                <a:ea typeface="Arial" pitchFamily="34" charset="-122"/>
                <a:cs typeface="Arial" pitchFamily="34" charset="-120"/>
              </a:rPr>
              <a:t>Teacher and student feedback</a:t>
            </a:r>
            <a:endParaRPr lang="en-US" sz="1100" dirty="0"/>
          </a:p>
        </p:txBody>
      </p:sp>
      <p:sp>
        <p:nvSpPr>
          <p:cNvPr id="51" name="Text 48"/>
          <p:cNvSpPr/>
          <p:nvPr/>
        </p:nvSpPr>
        <p:spPr>
          <a:xfrm>
            <a:off x="1417320" y="6080760"/>
            <a:ext cx="9509760" cy="365760"/>
          </a:xfrm>
          <a:prstGeom prst="rect">
            <a:avLst/>
          </a:prstGeom>
          <a:noFill/>
          <a:ln/>
        </p:spPr>
        <p:txBody>
          <a:bodyPr wrap="square" lIns="0" tIns="0" rIns="0" bIns="0" rtlCol="0" anchor="t"/>
          <a:lstStyle/>
          <a:p>
            <a:pPr algn="l" indent="0" marL="0">
              <a:lnSpc>
                <a:spcPct val="110000"/>
              </a:lnSpc>
              <a:buNone/>
            </a:pPr>
            <a:r>
              <a:rPr lang="en-US" sz="1400" dirty="0">
                <a:solidFill>
                  <a:srgbClr val="555555"/>
                </a:solidFill>
                <a:latin typeface="Arial" pitchFamily="34" charset="0"/>
                <a:ea typeface="Arial" pitchFamily="34" charset="-122"/>
                <a:cs typeface="Arial" pitchFamily="34" charset="-120"/>
              </a:rPr>
              <a:t>Scope, timing and measures are decided with you. This is a starting proposal.</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Shape 10"/>
          <p:cNvSpPr/>
          <p:nvPr/>
        </p:nvSpPr>
        <p:spPr>
          <a:xfrm>
            <a:off x="1417320" y="777240"/>
            <a:ext cx="9509760" cy="3931920"/>
          </a:xfrm>
          <a:prstGeom prst="rect">
            <a:avLst/>
          </a:prstGeom>
          <a:solidFill>
            <a:srgbClr val="1E1208"/>
          </a:solidFill>
          <a:ln/>
        </p:spPr>
      </p:sp>
      <p:sp>
        <p:nvSpPr>
          <p:cNvPr id="14" name="Shape 11"/>
          <p:cNvSpPr/>
          <p:nvPr/>
        </p:nvSpPr>
        <p:spPr>
          <a:xfrm>
            <a:off x="1417320" y="4800600"/>
            <a:ext cx="9509760" cy="128016"/>
          </a:xfrm>
          <a:prstGeom prst="rect">
            <a:avLst/>
          </a:prstGeom>
          <a:solidFill>
            <a:srgbClr val="E3B51E"/>
          </a:solidFill>
          <a:ln/>
        </p:spPr>
      </p:sp>
      <p:sp>
        <p:nvSpPr>
          <p:cNvPr id="15" name="Text 12"/>
          <p:cNvSpPr/>
          <p:nvPr/>
        </p:nvSpPr>
        <p:spPr>
          <a:xfrm>
            <a:off x="1828800" y="1188720"/>
            <a:ext cx="8595360" cy="1280160"/>
          </a:xfrm>
          <a:prstGeom prst="rect">
            <a:avLst/>
          </a:prstGeom>
          <a:noFill/>
          <a:ln/>
        </p:spPr>
        <p:txBody>
          <a:bodyPr wrap="square" lIns="0" tIns="0" rIns="0" bIns="0" rtlCol="0" anchor="t"/>
          <a:lstStyle/>
          <a:p>
            <a:pPr algn="l" indent="0" marL="0">
              <a:lnSpc>
                <a:spcPct val="110000"/>
              </a:lnSpc>
              <a:buNone/>
            </a:pPr>
            <a:r>
              <a:rPr lang="en-US" sz="6800" dirty="0">
                <a:solidFill>
                  <a:srgbClr val="FFFFFF"/>
                </a:solidFill>
                <a:latin typeface="Impact" pitchFamily="34" charset="0"/>
                <a:ea typeface="Impact" pitchFamily="34" charset="-122"/>
                <a:cs typeface="Impact" pitchFamily="34" charset="-120"/>
              </a:rPr>
              <a:t>YOU'VE SEEN IT.</a:t>
            </a:r>
            <a:endParaRPr lang="en-US" sz="6800" dirty="0"/>
          </a:p>
        </p:txBody>
      </p:sp>
      <p:sp>
        <p:nvSpPr>
          <p:cNvPr id="16" name="Text 13"/>
          <p:cNvSpPr/>
          <p:nvPr/>
        </p:nvSpPr>
        <p:spPr>
          <a:xfrm>
            <a:off x="1828800" y="2697480"/>
            <a:ext cx="8595360" cy="1280160"/>
          </a:xfrm>
          <a:prstGeom prst="rect">
            <a:avLst/>
          </a:prstGeom>
          <a:noFill/>
          <a:ln/>
        </p:spPr>
        <p:txBody>
          <a:bodyPr wrap="square" lIns="0" tIns="0" rIns="0" bIns="0" rtlCol="0" anchor="t"/>
          <a:lstStyle/>
          <a:p>
            <a:pPr algn="l" indent="0" marL="0">
              <a:lnSpc>
                <a:spcPct val="110000"/>
              </a:lnSpc>
              <a:buNone/>
            </a:pPr>
            <a:r>
              <a:rPr lang="en-US" sz="6800" dirty="0">
                <a:solidFill>
                  <a:srgbClr val="E3B51E"/>
                </a:solidFill>
                <a:latin typeface="Impact" pitchFamily="34" charset="0"/>
                <a:ea typeface="Impact" pitchFamily="34" charset="-122"/>
                <a:cs typeface="Impact" pitchFamily="34" charset="-120"/>
              </a:rPr>
              <a:t>NOW SEE IT LIVE.</a:t>
            </a:r>
            <a:endParaRPr lang="en-US" sz="6800" dirty="0"/>
          </a:p>
        </p:txBody>
      </p:sp>
      <p:sp>
        <p:nvSpPr>
          <p:cNvPr id="17" name="Text 14"/>
          <p:cNvSpPr/>
          <p:nvPr/>
        </p:nvSpPr>
        <p:spPr>
          <a:xfrm>
            <a:off x="1828800" y="4069080"/>
            <a:ext cx="8595360" cy="457200"/>
          </a:xfrm>
          <a:prstGeom prst="rect">
            <a:avLst/>
          </a:prstGeom>
          <a:noFill/>
          <a:ln/>
        </p:spPr>
        <p:txBody>
          <a:bodyPr wrap="square" lIns="0" tIns="0" rIns="0" bIns="0" rtlCol="0" anchor="t"/>
          <a:lstStyle/>
          <a:p>
            <a:pPr algn="l" indent="0" marL="0">
              <a:lnSpc>
                <a:spcPct val="110000"/>
              </a:lnSpc>
              <a:buNone/>
            </a:pPr>
            <a:r>
              <a:rPr lang="en-US" sz="2200" b="1" dirty="0">
                <a:solidFill>
                  <a:srgbClr val="FFFFFF"/>
                </a:solidFill>
                <a:latin typeface="Arial" pitchFamily="34" charset="0"/>
                <a:ea typeface="Arial" pitchFamily="34" charset="-122"/>
                <a:cs typeface="Arial" pitchFamily="34" charset="-120"/>
              </a:rPr>
              <a:t>Teacher. Student. Leadership.</a:t>
            </a:r>
            <a:endParaRPr lang="en-US" sz="2200" dirty="0"/>
          </a:p>
        </p:txBody>
      </p:sp>
      <p:sp>
        <p:nvSpPr>
          <p:cNvPr id="18" name="Text 15"/>
          <p:cNvSpPr/>
          <p:nvPr/>
        </p:nvSpPr>
        <p:spPr>
          <a:xfrm>
            <a:off x="1417320" y="5303520"/>
            <a:ext cx="9144000" cy="365760"/>
          </a:xfrm>
          <a:prstGeom prst="rect">
            <a:avLst/>
          </a:prstGeom>
          <a:noFill/>
          <a:ln/>
        </p:spPr>
        <p:txBody>
          <a:bodyPr wrap="square" lIns="0" tIns="0" rIns="0" bIns="0" rtlCol="0" anchor="t"/>
          <a:lstStyle/>
          <a:p>
            <a:pPr algn="l" indent="0" marL="0">
              <a:lnSpc>
                <a:spcPct val="110000"/>
              </a:lnSpc>
              <a:buNone/>
            </a:pPr>
            <a:r>
              <a:rPr lang="en-US" sz="1800" dirty="0">
                <a:solidFill>
                  <a:srgbClr val="1E1208"/>
                </a:solidFill>
                <a:latin typeface="Arial" pitchFamily="34" charset="0"/>
                <a:ea typeface="Arial" pitchFamily="34" charset="-122"/>
                <a:cs typeface="Arial" pitchFamily="34" charset="-120"/>
              </a:rPr>
              <a:t>Open page 6 of your guide and sign in at</a:t>
            </a:r>
            <a:endParaRPr lang="en-US" sz="1800" dirty="0"/>
          </a:p>
        </p:txBody>
      </p:sp>
      <p:sp>
        <p:nvSpPr>
          <p:cNvPr id="19" name="Text 16"/>
          <p:cNvSpPr/>
          <p:nvPr/>
        </p:nvSpPr>
        <p:spPr>
          <a:xfrm>
            <a:off x="1417320" y="5715000"/>
            <a:ext cx="9144000" cy="731520"/>
          </a:xfrm>
          <a:prstGeom prst="rect">
            <a:avLst/>
          </a:prstGeom>
          <a:noFill/>
          <a:ln/>
        </p:spPr>
        <p:txBody>
          <a:bodyPr wrap="square" lIns="0" tIns="0" rIns="0" bIns="0" rtlCol="0" anchor="t"/>
          <a:lstStyle/>
          <a:p>
            <a:pPr algn="l" indent="0" marL="0">
              <a:lnSpc>
                <a:spcPct val="110000"/>
              </a:lnSpc>
              <a:buNone/>
            </a:pPr>
            <a:r>
              <a:rPr lang="en-US" sz="4000" dirty="0">
                <a:solidFill>
                  <a:srgbClr val="D4762A"/>
                </a:solidFill>
                <a:latin typeface="Impact" pitchFamily="34" charset="0"/>
                <a:ea typeface="Impact" pitchFamily="34" charset="-122"/>
                <a:cs typeface="Impact" pitchFamily="34" charset="-120"/>
              </a:rPr>
              <a:t>mhs.smartassessja.com</a:t>
            </a:r>
            <a:endParaRPr lang="en-US" sz="4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Assess Ja: Built for Manchester High School</dc:title>
  <dc:subject>PptxGenJS Presentation</dc:subject>
  <dc:creator>Smart Assess Ja</dc:creator>
  <cp:lastModifiedBy>Smart Assess Ja</cp:lastModifiedBy>
  <cp:revision>1</cp:revision>
  <dcterms:created xsi:type="dcterms:W3CDTF">2026-10-07T00:45:54Z</dcterms:created>
  <dcterms:modified xsi:type="dcterms:W3CDTF">2026-10-07T00:45:54Z</dcterms:modified>
</cp:coreProperties>
</file>
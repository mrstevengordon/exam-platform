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Students</c:v>
                </c:pt>
              </c:strCache>
            </c:strRef>
          </c:tx>
          <c:spPr>
            <a:solidFill>
              <a:srgbClr val="D4762A"/>
            </a:solidFill>
            <a:effectLst/>
          </c:spPr>
          <c:invertIfNegative val="0"/>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Sheet1!$A$2:$A$7</c:f>
              <c:multiLvlStrCache>
                <c:ptCount val="6"/>
                <c:lvl>
                  <c:pt idx="0">
                    <c:v>Step-by-step explanations</c:v>
                  </c:pt>
                  <c:pt idx="1">
                    <c:v>Practice questions</c:v>
                  </c:pt>
                  <c:pt idx="2">
                    <c:v>Quizzes</c:v>
                  </c:pt>
                  <c:pt idx="3">
                    <c:v>Games or challenges</c:v>
                  </c:pt>
                  <c:pt idx="4">
                    <c:v>Examples</c:v>
                  </c:pt>
                  <c:pt idx="5">
                    <c:v>Study at my own pace</c:v>
                  </c:pt>
                </c:lvl>
              </c:multiLvlStrCache>
            </c:multiLvlStrRef>
          </c:cat>
          <c:val>
            <c:numRef>
              <c:f>Sheet1!$B$2:$B$7</c:f>
              <c:numCache>
                <c:formatCode>General</c:formatCode>
                <c:ptCount val="6"/>
                <c:pt idx="0">
                  <c:v>11</c:v>
                </c:pt>
                <c:pt idx="1">
                  <c:v>7</c:v>
                </c:pt>
                <c:pt idx="2">
                  <c:v>6</c:v>
                </c:pt>
                <c:pt idx="3">
                  <c:v>4</c:v>
                </c:pt>
                <c:pt idx="4">
                  <c:v>3</c:v>
                </c:pt>
                <c:pt idx="5">
                  <c:v>3</c:v>
                </c:pt>
              </c:numCache>
            </c:numRef>
          </c:val>
        </c:ser>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3"/>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Students</c:v>
                </c:pt>
              </c:strCache>
            </c:strRef>
          </c:tx>
          <c:spPr>
            <a:solidFill>
              <a:srgbClr val="1F8A84"/>
            </a:solidFill>
            <a:effectLst/>
          </c:spPr>
          <c:invertIfNegative val="0"/>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Topics I need to improve</c:v>
                  </c:pt>
                  <c:pt idx="1">
                    <c:v>Grades</c:v>
                  </c:pt>
                  <c:pt idx="2">
                    <c:v>Compare with previous results</c:v>
                  </c:pt>
                  <c:pt idx="3">
                    <c:v>Strongest topics</c:v>
                  </c:pt>
                  <c:pt idx="4">
                    <c:v>Progress toward goals</c:v>
                  </c:pt>
                </c:lvl>
              </c:multiLvlStrCache>
            </c:multiLvlStrRef>
          </c:cat>
          <c:val>
            <c:numRef>
              <c:f>Sheet1!$B$2:$B$6</c:f>
              <c:numCache>
                <c:formatCode>General</c:formatCode>
                <c:ptCount val="5"/>
                <c:pt idx="0">
                  <c:v>9</c:v>
                </c:pt>
                <c:pt idx="1">
                  <c:v>7</c:v>
                </c:pt>
                <c:pt idx="2">
                  <c:v>6</c:v>
                </c:pt>
                <c:pt idx="3">
                  <c:v>5</c:v>
                </c:pt>
                <c:pt idx="4">
                  <c:v>5</c:v>
                </c:pt>
              </c:numCache>
            </c:numRef>
          </c:val>
        </c:ser>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3"/>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Teachers</c:v>
                </c:pt>
              </c:strCache>
            </c:strRef>
          </c:tx>
          <c:spPr>
            <a:solidFill>
              <a:srgbClr val="D4762A"/>
            </a:solidFill>
            <a:effectLst/>
          </c:spPr>
          <c:invertIfNegative val="0"/>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Marking</c:v>
                  </c:pt>
                  <c:pt idx="1">
                    <c:v>Creating questions</c:v>
                  </c:pt>
                  <c:pt idx="2">
                    <c:v>Analysing performance</c:v>
                  </c:pt>
                  <c:pt idx="3">
                    <c:v>Calculating results</c:v>
                  </c:pt>
                  <c:pt idx="4">
                    <c:v>Recording grades</c:v>
                  </c:pt>
                </c:lvl>
              </c:multiLvlStrCache>
            </c:multiLvlStrRef>
          </c:cat>
          <c:val>
            <c:numRef>
              <c:f>Sheet1!$B$2:$B$6</c:f>
              <c:numCache>
                <c:formatCode>General</c:formatCode>
                <c:ptCount val="5"/>
                <c:pt idx="0">
                  <c:v>8</c:v>
                </c:pt>
                <c:pt idx="1">
                  <c:v>6</c:v>
                </c:pt>
                <c:pt idx="2">
                  <c:v>5</c:v>
                </c:pt>
                <c:pt idx="3">
                  <c:v>4</c:v>
                </c:pt>
                <c:pt idx="4">
                  <c:v>3</c:v>
                </c:pt>
              </c:numCache>
            </c:numRef>
          </c:val>
        </c:ser>
        <c:dLbls>
          <c:numFmt formatCode="#,##0"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Every test, lesson and class produces information. The question is whether teachers and leaders can see it, in time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 of 10). Nine of ten want the system to show what an absent student missed, and nine of ten want activities for different ability levels. Eight of ten want AI-assisted lesson planning. Everything on this slide is something we have now built; the last two slides before the demo show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school, three products with three different jobs. Assess measures learning. Learning delivers and recovers it. Play makes practice engaging. Two are already built and in use at Manchester; Play is built and held back until you choose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One line: Smart Assess is for assessment only. The next four slides show building, marking, results and security. 8 of 10 teachers named marking as their biggest time cost,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 and 7 of 10).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Assessment tells you what happened; Smart Learning helps you act on it. The next slides cover lessons, catch-up, study support and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 of 10 who asked for different activities for different ability levels. The AI drafts a lesson plan from a subject, grade and topic; the teacher reviews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 of 10 teachers asked for exactly this. The screen on the left is a real lesson from the Manchester demo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(7 of 12 students chose them) with review spacing, so cards you miss come back sooner; support, core and stretch practice per lesson; a "Current and future" page for students and teachers (what is happening now and what is coming, including upcoming assignment reminders, with no email); and the teacher resource space. The screen on the right is a real lesson builder from the demo school, with the optional AI drafting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how they would know whether lessons are landing. Each week, every student gives a one-minute evaluation of each class on their timetable: how well they understood, which topic was hardest, whether they want help, the pace, and what helped. Each teacher writes a short end-of-week reflection. The system then builds a progress report for each class with plain advice, for example "many students said the lessons went too fast", and an optional AI summary the teacher checks. Privacy is built into the database, not just the screen: the class teacher and head of department see names against the first three answers so they can help; everything else is anonymous and appears only once five students have answered. The principal team sees anonymous results only. A teacher who still has reflections to write gets one email on Friday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You asked how to focus on students below the school average. Four parts. One: a staff list that shows, in plain words, who may need help and why: results well below the school average or falling, absences, lessons left unfinished, a long time since sign-in, or asking for help in class feedback. Two: a support plan for each student with a goal, a review date and a record of what was done, and it shows whether their results moved afterwards. Three: for the student, a My progress page that compares them only with their own earlier results, never with classmates. Four: gentle nudges to the student, such as lessons past their date. The school average is only shown once five students have results. Teachers see marks only in the subjects they teach; heads of department see their department; the principal team sees all subjects. Students never see the staff list, a plan or the school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Videos: teachers and heads of department add links to videos that already exist on YouTube, Vimeo or Khan Academy. Nothing is uploaded or hosted by the school. A teacher's video waits for the head of department to approve it; a head's video is live at once. Students get a short-video feed by subject and for their grade, and a YouTube or Vimeo video plays right inside Smart Learning. Low-data mode shows no pictures and loads a video only when tapped, and turns on by itself for a phone that is saving data or on a slow connection. Students can report a problem: two reports hide the video until a teacher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Built and tested, held back until the school chooses to launch it. The next slide shows the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Be fair to the other tools: they are strong at their own jobs. Each has its own way of locking down an exam: Google needs school-managed Chromebooks, Microsoft the Windows Take a Test app, Moodle uses Safe Exam Browser, Canvas uses a third-party browser. All four auto-mark objective questions, and Moodle and Canvas report on each question, quiz by quiz. Kahoot and Quizizz are built for live games and practice. Our point is not that others cannot do one of these things; it is how many tools and handoffs a school needs. Sources are in Competitor-claims-verified.md.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Slide-5-image-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6-image-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507492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E3B51E"/>
                </a:solidFill>
                <a:latin typeface="Courier New" pitchFamily="34" charset="0"/>
                <a:ea typeface="Courier New" pitchFamily="34" charset="-122"/>
                <a:cs typeface="Courier New" pitchFamily="34" charset="-120"/>
              </a:rPr>
              <a:t>STRATEGY SESSION AND LIVE DEMONSTRATION</a:t>
            </a:r>
            <a:endParaRPr lang="en-US" sz="12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indent="0" marL="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indent="0" marL="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indent="0" marL="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577840"/>
            <a:ext cx="8412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6172200"/>
            <a:ext cx="82296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WHY WE BUILT IT</a:t>
            </a:r>
            <a:endParaRPr lang="en-US" sz="1150"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indent="0" marL="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526280"/>
            <a:ext cx="822960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34924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34924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34924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943600"/>
            <a:ext cx="9144000" cy="365760"/>
          </a:xfrm>
          <a:prstGeom prst="rect">
            <a:avLst/>
          </a:prstGeom>
          <a:noFill/>
          <a:ln/>
        </p:spPr>
        <p:txBody>
          <a:bodyPr wrap="square" lIns="0" tIns="0" rIns="0" bIns="0" rtlCol="0" anchor="t"/>
          <a:lstStyle/>
          <a:p>
            <a:pPr algn="l" indent="0" marL="0">
              <a:lnSpc>
                <a:spcPct val="110000"/>
              </a:lnSpc>
              <a:buNone/>
            </a:pPr>
            <a:r>
              <a:rPr lang="en-US" sz="1600" dirty="0">
                <a:solidFill>
                  <a:srgbClr val="555555"/>
                </a:solidFill>
                <a:latin typeface="Arial" pitchFamily="34" charset="0"/>
                <a:ea typeface="Arial" pitchFamily="34" charset="-122"/>
                <a:cs typeface="Arial" pitchFamily="34" charset="-120"/>
              </a:rPr>
              <a:t>One school. One set of people. One shared topic list.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PROBLEM</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EVERY TERM, LEARNING TRAVELS ONTO PAPER, AND BACK AGAIN</a:t>
            </a:r>
            <a:endParaRPr lang="en-US" sz="4300" dirty="0"/>
          </a:p>
        </p:txBody>
      </p:sp>
      <p:sp>
        <p:nvSpPr>
          <p:cNvPr id="15" name="Shape 12"/>
          <p:cNvSpPr/>
          <p:nvPr/>
        </p:nvSpPr>
        <p:spPr>
          <a:xfrm>
            <a:off x="1417320" y="214884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214884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214884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214884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214884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214884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214884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214884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84048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84048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84048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84048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84048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84048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84048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84048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623560"/>
            <a:ext cx="9509760" cy="502920"/>
          </a:xfrm>
          <a:prstGeom prst="rect">
            <a:avLst/>
          </a:prstGeom>
          <a:solidFill>
            <a:srgbClr val="1E1208"/>
          </a:solidFill>
          <a:ln/>
        </p:spPr>
      </p:sp>
      <p:sp>
        <p:nvSpPr>
          <p:cNvPr id="56" name="Text 53"/>
          <p:cNvSpPr/>
          <p:nvPr/>
        </p:nvSpPr>
        <p:spPr>
          <a:xfrm>
            <a:off x="1600200" y="562356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Time. Cost. Paper. Administration. Repetition.</a:t>
            </a:r>
            <a:endParaRPr lang="en-US" sz="1500" dirty="0"/>
          </a:p>
        </p:txBody>
      </p:sp>
      <p:sp>
        <p:nvSpPr>
          <p:cNvPr id="57" name="Text 54"/>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can take much longer.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YOUR SCHOOL</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ONE SCHOOL OF ABOUT 1,800 STUDENTS</a:t>
            </a:r>
            <a:endParaRPr lang="en-US" sz="4600" dirty="0"/>
          </a:p>
        </p:txBody>
      </p:sp>
      <p:sp>
        <p:nvSpPr>
          <p:cNvPr id="15" name="Shape 12"/>
          <p:cNvSpPr/>
          <p:nvPr/>
        </p:nvSpPr>
        <p:spPr>
          <a:xfrm>
            <a:off x="1417320" y="196596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194560"/>
            <a:ext cx="3474720" cy="1645920"/>
          </a:xfrm>
          <a:prstGeom prst="rect">
            <a:avLst/>
          </a:prstGeom>
          <a:noFill/>
          <a:ln/>
        </p:spPr>
        <p:txBody>
          <a:bodyPr wrap="square" lIns="0" tIns="0" rIns="0" bIns="0" rtlCol="0" anchor="t"/>
          <a:lstStyle/>
          <a:p>
            <a:pPr algn="l" indent="0" marL="0">
              <a:lnSpc>
                <a:spcPct val="110000"/>
              </a:lnSpc>
              <a:buNone/>
            </a:pPr>
            <a:r>
              <a:rPr lang="en-US" sz="8800" dirty="0">
                <a:solidFill>
                  <a:srgbClr val="1E1208"/>
                </a:solidFill>
                <a:latin typeface="Impact" pitchFamily="34" charset="0"/>
                <a:ea typeface="Impact" pitchFamily="34" charset="-122"/>
                <a:cs typeface="Impact" pitchFamily="34" charset="-120"/>
              </a:rPr>
              <a:t>≈1,800</a:t>
            </a:r>
            <a:endParaRPr lang="en-US" sz="8800" dirty="0"/>
          </a:p>
        </p:txBody>
      </p:sp>
      <p:sp>
        <p:nvSpPr>
          <p:cNvPr id="17" name="Text 14"/>
          <p:cNvSpPr/>
          <p:nvPr/>
        </p:nvSpPr>
        <p:spPr>
          <a:xfrm>
            <a:off x="1645920" y="3840480"/>
            <a:ext cx="3383280" cy="640080"/>
          </a:xfrm>
          <a:prstGeom prst="rect">
            <a:avLst/>
          </a:prstGeom>
          <a:noFill/>
          <a:ln/>
        </p:spPr>
        <p:txBody>
          <a:bodyPr wrap="square" lIns="0" tIns="0" rIns="0" bIns="0" rtlCol="0" anchor="t"/>
          <a:lstStyle/>
          <a:p>
            <a:pPr algn="l" indent="0" marL="0">
              <a:lnSpc>
                <a:spcPct val="110000"/>
              </a:lnSpc>
              <a:buNone/>
            </a:pPr>
            <a:r>
              <a:rPr lang="en-US" sz="3000" dirty="0">
                <a:solidFill>
                  <a:srgbClr val="1E1208"/>
                </a:solidFill>
                <a:latin typeface="Impact" pitchFamily="34" charset="0"/>
                <a:ea typeface="Impact" pitchFamily="34" charset="-122"/>
                <a:cs typeface="Impact" pitchFamily="34" charset="-120"/>
              </a:rPr>
              <a:t>STUDENTS</a:t>
            </a:r>
            <a:endParaRPr lang="en-US" sz="3000" dirty="0"/>
          </a:p>
        </p:txBody>
      </p:sp>
      <p:sp>
        <p:nvSpPr>
          <p:cNvPr id="18" name="Text 15"/>
          <p:cNvSpPr/>
          <p:nvPr/>
        </p:nvSpPr>
        <p:spPr>
          <a:xfrm>
            <a:off x="1645920" y="4526280"/>
            <a:ext cx="3383280" cy="1005840"/>
          </a:xfrm>
          <a:prstGeom prst="rect">
            <a:avLst/>
          </a:prstGeom>
          <a:noFill/>
          <a:ln/>
        </p:spPr>
        <p:txBody>
          <a:bodyPr wrap="square" lIns="0" tIns="0" rIns="0" bIns="0" rtlCol="0" anchor="t"/>
          <a:lstStyle/>
          <a:p>
            <a:pPr algn="l" indent="0" marL="0">
              <a:lnSpc>
                <a:spcPct val="110000"/>
              </a:lnSpc>
              <a:buNone/>
            </a:pPr>
            <a:r>
              <a:rPr lang="en-US" sz="1400" b="1" dirty="0">
                <a:solidFill>
                  <a:srgbClr val="1E1208"/>
                </a:solidFill>
                <a:latin typeface="Arial" pitchFamily="34" charset="0"/>
                <a:ea typeface="Arial" pitchFamily="34" charset="-122"/>
                <a:cs typeface="Arial" pitchFamily="34" charset="-120"/>
              </a:rPr>
              <a:t>Every test, lesson and class creates information. The question is whether teachers and leaders can see it.</a:t>
            </a:r>
            <a:endParaRPr lang="en-US" sz="1400" dirty="0"/>
          </a:p>
        </p:txBody>
      </p:sp>
      <p:sp>
        <p:nvSpPr>
          <p:cNvPr id="19" name="Shape 16"/>
          <p:cNvSpPr/>
          <p:nvPr/>
        </p:nvSpPr>
        <p:spPr>
          <a:xfrm>
            <a:off x="5486400" y="1965960"/>
            <a:ext cx="5440680" cy="841248"/>
          </a:xfrm>
          <a:prstGeom prst="rect">
            <a:avLst/>
          </a:prstGeom>
          <a:solidFill>
            <a:srgbClr val="FFFFFF"/>
          </a:solidFill>
          <a:ln w="25400">
            <a:solidFill>
              <a:srgbClr val="1E1208"/>
            </a:solidFill>
            <a:prstDash val="solid"/>
          </a:ln>
        </p:spPr>
      </p:sp>
      <p:sp>
        <p:nvSpPr>
          <p:cNvPr id="20" name="Text 17"/>
          <p:cNvSpPr/>
          <p:nvPr/>
        </p:nvSpPr>
        <p:spPr>
          <a:xfrm>
            <a:off x="5669280" y="207568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1" name="Text 18"/>
          <p:cNvSpPr/>
          <p:nvPr/>
        </p:nvSpPr>
        <p:spPr>
          <a:xfrm>
            <a:off x="5669280" y="242316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2" name="Shape 19"/>
          <p:cNvSpPr/>
          <p:nvPr/>
        </p:nvSpPr>
        <p:spPr>
          <a:xfrm>
            <a:off x="5486400" y="2926080"/>
            <a:ext cx="5440680" cy="841248"/>
          </a:xfrm>
          <a:prstGeom prst="rect">
            <a:avLst/>
          </a:prstGeom>
          <a:solidFill>
            <a:srgbClr val="FFFFFF"/>
          </a:solidFill>
          <a:ln w="25400">
            <a:solidFill>
              <a:srgbClr val="1E1208"/>
            </a:solidFill>
            <a:prstDash val="solid"/>
          </a:ln>
        </p:spPr>
      </p:sp>
      <p:sp>
        <p:nvSpPr>
          <p:cNvPr id="23" name="Text 20"/>
          <p:cNvSpPr/>
          <p:nvPr/>
        </p:nvSpPr>
        <p:spPr>
          <a:xfrm>
            <a:off x="5669280" y="303580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4" name="Text 21"/>
          <p:cNvSpPr/>
          <p:nvPr/>
        </p:nvSpPr>
        <p:spPr>
          <a:xfrm>
            <a:off x="5669280" y="338328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5" name="Shape 22"/>
          <p:cNvSpPr/>
          <p:nvPr/>
        </p:nvSpPr>
        <p:spPr>
          <a:xfrm>
            <a:off x="5486400" y="3886200"/>
            <a:ext cx="5440680" cy="841248"/>
          </a:xfrm>
          <a:prstGeom prst="rect">
            <a:avLst/>
          </a:prstGeom>
          <a:solidFill>
            <a:srgbClr val="FFFFFF"/>
          </a:solidFill>
          <a:ln w="25400">
            <a:solidFill>
              <a:srgbClr val="1E1208"/>
            </a:solidFill>
            <a:prstDash val="solid"/>
          </a:ln>
        </p:spPr>
      </p:sp>
      <p:sp>
        <p:nvSpPr>
          <p:cNvPr id="26" name="Text 23"/>
          <p:cNvSpPr/>
          <p:nvPr/>
        </p:nvSpPr>
        <p:spPr>
          <a:xfrm>
            <a:off x="5669280" y="399592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7" name="Text 24"/>
          <p:cNvSpPr/>
          <p:nvPr/>
        </p:nvSpPr>
        <p:spPr>
          <a:xfrm>
            <a:off x="5669280" y="434340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28" name="Shape 25"/>
          <p:cNvSpPr/>
          <p:nvPr/>
        </p:nvSpPr>
        <p:spPr>
          <a:xfrm>
            <a:off x="5486400" y="4846320"/>
            <a:ext cx="5440680" cy="841248"/>
          </a:xfrm>
          <a:prstGeom prst="rect">
            <a:avLst/>
          </a:prstGeom>
          <a:solidFill>
            <a:srgbClr val="FFFFFF"/>
          </a:solidFill>
          <a:ln w="25400">
            <a:solidFill>
              <a:srgbClr val="1E1208"/>
            </a:solidFill>
            <a:prstDash val="solid"/>
          </a:ln>
        </p:spPr>
      </p:sp>
      <p:sp>
        <p:nvSpPr>
          <p:cNvPr id="29" name="Text 26"/>
          <p:cNvSpPr/>
          <p:nvPr/>
        </p:nvSpPr>
        <p:spPr>
          <a:xfrm>
            <a:off x="5669280" y="495604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0" name="Text 27"/>
          <p:cNvSpPr/>
          <p:nvPr/>
        </p:nvSpPr>
        <p:spPr>
          <a:xfrm>
            <a:off x="5669280" y="530352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12 MANCHESTER STUDENTS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STUDENTS WANT TO BE SHOWN HOW</a:t>
            </a:r>
            <a:endParaRPr lang="en-US" sz="4600" dirty="0"/>
          </a:p>
        </p:txBody>
      </p:sp>
      <p:sp>
        <p:nvSpPr>
          <p:cNvPr id="15" name="Text 12"/>
          <p:cNvSpPr/>
          <p:nvPr/>
        </p:nvSpPr>
        <p:spPr>
          <a:xfrm>
            <a:off x="1417320" y="1874520"/>
            <a:ext cx="47548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descr=""/>
          <p:cNvGraphicFramePr/>
          <p:nvPr/>
        </p:nvGraphicFramePr>
        <p:xfrm>
          <a:off x="1325880" y="214884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400800" y="1874520"/>
            <a:ext cx="457200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descr=""/>
          <p:cNvGraphicFramePr/>
          <p:nvPr/>
        </p:nvGraphicFramePr>
        <p:xfrm>
          <a:off x="6309360" y="2148840"/>
          <a:ext cx="4663440" cy="3200400"/>
        </p:xfrm>
        <a:graphic xmlns:a="http://schemas.openxmlformats.org/drawingml/2006/main">
          <a:graphicData uri="http://schemas.openxmlformats.org/drawingml/2006/chart">
            <c:chart xmlns:c="http://schemas.openxmlformats.org/drawingml/2006/chart" r:id="rId3"/>
          </a:graphicData>
        </a:graphic>
      </p:graphicFrame>
      <p:sp>
        <p:nvSpPr>
          <p:cNvPr id="19" name="Shape 14"/>
          <p:cNvSpPr/>
          <p:nvPr/>
        </p:nvSpPr>
        <p:spPr>
          <a:xfrm>
            <a:off x="1417320" y="5532120"/>
            <a:ext cx="9509760" cy="502920"/>
          </a:xfrm>
          <a:prstGeom prst="rect">
            <a:avLst/>
          </a:prstGeom>
          <a:solidFill>
            <a:srgbClr val="1E1208"/>
          </a:solidFill>
          <a:ln/>
        </p:spPr>
      </p:sp>
      <p:sp>
        <p:nvSpPr>
          <p:cNvPr id="20" name="Text 15"/>
          <p:cNvSpPr/>
          <p:nvPr/>
        </p:nvSpPr>
        <p:spPr>
          <a:xfrm>
            <a:off x="1600200" y="553212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10 of 12 want help studying for exams. 7 of 12 chose flashcards for practice.</a:t>
            </a:r>
            <a:endParaRPr lang="en-US" sz="1500" dirty="0"/>
          </a:p>
        </p:txBody>
      </p:sp>
      <p:sp>
        <p:nvSpPr>
          <p:cNvPr id="21" name="Text 16"/>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student survey, 12 students, who ticked as many answers as they liked. A small sample: read it as a signal.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10 MANCHESTER TEACHERS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MARKING IS WHERE THE TIME GOES</a:t>
            </a:r>
            <a:endParaRPr lang="en-US" sz="4600" dirty="0"/>
          </a:p>
        </p:txBody>
      </p:sp>
      <p:sp>
        <p:nvSpPr>
          <p:cNvPr id="15" name="Text 12"/>
          <p:cNvSpPr/>
          <p:nvPr/>
        </p:nvSpPr>
        <p:spPr>
          <a:xfrm>
            <a:off x="1417320" y="1874520"/>
            <a:ext cx="56692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descr=""/>
          <p:cNvGraphicFramePr/>
          <p:nvPr/>
        </p:nvGraphicFramePr>
        <p:xfrm>
          <a:off x="1325880" y="2148840"/>
          <a:ext cx="5669280" cy="30175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7315200" y="196596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965960"/>
            <a:ext cx="640080" cy="960120"/>
          </a:xfrm>
          <a:prstGeom prst="rect">
            <a:avLst/>
          </a:prstGeom>
          <a:noFill/>
          <a:ln/>
        </p:spPr>
        <p:txBody>
          <a:bodyPr wrap="square" lIns="0" tIns="0" rIns="0" bIns="0" rtlCol="0" anchor="ctr"/>
          <a:lstStyle/>
          <a:p>
            <a:pPr algn="l" indent="0" marL="0">
              <a:lnSpc>
                <a:spcPct val="110000"/>
              </a:lnSpc>
              <a:buNone/>
            </a:pPr>
            <a:r>
              <a:rPr lang="en-US" sz="4600" dirty="0">
                <a:solidFill>
                  <a:srgbClr val="1E1208"/>
                </a:solidFill>
                <a:latin typeface="Impact" pitchFamily="34" charset="0"/>
                <a:ea typeface="Impact" pitchFamily="34" charset="-122"/>
                <a:cs typeface="Impact" pitchFamily="34" charset="-120"/>
              </a:rPr>
              <a:t>9</a:t>
            </a:r>
            <a:endParaRPr lang="en-US" sz="4600" dirty="0"/>
          </a:p>
        </p:txBody>
      </p:sp>
      <p:sp>
        <p:nvSpPr>
          <p:cNvPr id="19" name="Text 15"/>
          <p:cNvSpPr/>
          <p:nvPr/>
        </p:nvSpPr>
        <p:spPr>
          <a:xfrm>
            <a:off x="8092440" y="2075688"/>
            <a:ext cx="914400" cy="274320"/>
          </a:xfrm>
          <a:prstGeom prst="rect">
            <a:avLst/>
          </a:prstGeom>
          <a:noFill/>
          <a:ln/>
        </p:spPr>
        <p:txBody>
          <a:bodyPr wrap="square" lIns="0" tIns="0" rIns="0" bIns="0" rtlCol="0" anchor="t"/>
          <a:lstStyle/>
          <a:p>
            <a:pPr algn="l" indent="0" marL="0">
              <a:lnSpc>
                <a:spcPct val="110000"/>
              </a:lnSpc>
              <a:buNone/>
            </a:pPr>
            <a:r>
              <a:rPr lang="en-US" sz="1400" dirty="0">
                <a:solidFill>
                  <a:srgbClr val="1E1208"/>
                </a:solidFill>
                <a:latin typeface="Impact" pitchFamily="34" charset="0"/>
                <a:ea typeface="Impact" pitchFamily="34" charset="-122"/>
                <a:cs typeface="Impact" pitchFamily="34" charset="-120"/>
              </a:rPr>
              <a:t>OF 10</a:t>
            </a:r>
            <a:endParaRPr lang="en-US" sz="1400" dirty="0"/>
          </a:p>
        </p:txBody>
      </p:sp>
      <p:sp>
        <p:nvSpPr>
          <p:cNvPr id="20" name="Text 16"/>
          <p:cNvSpPr/>
          <p:nvPr/>
        </p:nvSpPr>
        <p:spPr>
          <a:xfrm>
            <a:off x="8092440" y="2313432"/>
            <a:ext cx="2743200" cy="59436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want the system to show what an absent student missed</a:t>
            </a:r>
            <a:endParaRPr lang="en-US" sz="1150" dirty="0"/>
          </a:p>
        </p:txBody>
      </p:sp>
      <p:sp>
        <p:nvSpPr>
          <p:cNvPr id="21" name="Shape 17"/>
          <p:cNvSpPr/>
          <p:nvPr/>
        </p:nvSpPr>
        <p:spPr>
          <a:xfrm>
            <a:off x="7315200" y="3063240"/>
            <a:ext cx="3611880" cy="960120"/>
          </a:xfrm>
          <a:prstGeom prst="rect">
            <a:avLst/>
          </a:prstGeom>
          <a:solidFill>
            <a:srgbClr val="E3B51E"/>
          </a:solidFill>
          <a:ln w="25400">
            <a:solidFill>
              <a:srgbClr val="1E1208"/>
            </a:solidFill>
            <a:prstDash val="solid"/>
          </a:ln>
        </p:spPr>
      </p:sp>
      <p:sp>
        <p:nvSpPr>
          <p:cNvPr id="22" name="Text 18"/>
          <p:cNvSpPr/>
          <p:nvPr/>
        </p:nvSpPr>
        <p:spPr>
          <a:xfrm>
            <a:off x="7452360" y="3063240"/>
            <a:ext cx="640080" cy="960120"/>
          </a:xfrm>
          <a:prstGeom prst="rect">
            <a:avLst/>
          </a:prstGeom>
          <a:noFill/>
          <a:ln/>
        </p:spPr>
        <p:txBody>
          <a:bodyPr wrap="square" lIns="0" tIns="0" rIns="0" bIns="0" rtlCol="0" anchor="ctr"/>
          <a:lstStyle/>
          <a:p>
            <a:pPr algn="l" indent="0" marL="0">
              <a:lnSpc>
                <a:spcPct val="110000"/>
              </a:lnSpc>
              <a:buNone/>
            </a:pPr>
            <a:r>
              <a:rPr lang="en-US" sz="4600" dirty="0">
                <a:solidFill>
                  <a:srgbClr val="1E1208"/>
                </a:solidFill>
                <a:latin typeface="Impact" pitchFamily="34" charset="0"/>
                <a:ea typeface="Impact" pitchFamily="34" charset="-122"/>
                <a:cs typeface="Impact" pitchFamily="34" charset="-120"/>
              </a:rPr>
              <a:t>9</a:t>
            </a:r>
            <a:endParaRPr lang="en-US" sz="4600" dirty="0"/>
          </a:p>
        </p:txBody>
      </p:sp>
      <p:sp>
        <p:nvSpPr>
          <p:cNvPr id="23" name="Text 19"/>
          <p:cNvSpPr/>
          <p:nvPr/>
        </p:nvSpPr>
        <p:spPr>
          <a:xfrm>
            <a:off x="8092440" y="3172968"/>
            <a:ext cx="914400" cy="274320"/>
          </a:xfrm>
          <a:prstGeom prst="rect">
            <a:avLst/>
          </a:prstGeom>
          <a:noFill/>
          <a:ln/>
        </p:spPr>
        <p:txBody>
          <a:bodyPr wrap="square" lIns="0" tIns="0" rIns="0" bIns="0" rtlCol="0" anchor="t"/>
          <a:lstStyle/>
          <a:p>
            <a:pPr algn="l" indent="0" marL="0">
              <a:lnSpc>
                <a:spcPct val="110000"/>
              </a:lnSpc>
              <a:buNone/>
            </a:pPr>
            <a:r>
              <a:rPr lang="en-US" sz="1400" dirty="0">
                <a:solidFill>
                  <a:srgbClr val="1E1208"/>
                </a:solidFill>
                <a:latin typeface="Impact" pitchFamily="34" charset="0"/>
                <a:ea typeface="Impact" pitchFamily="34" charset="-122"/>
                <a:cs typeface="Impact" pitchFamily="34" charset="-120"/>
              </a:rPr>
              <a:t>OF 10</a:t>
            </a:r>
            <a:endParaRPr lang="en-US" sz="1400" dirty="0"/>
          </a:p>
        </p:txBody>
      </p:sp>
      <p:sp>
        <p:nvSpPr>
          <p:cNvPr id="24" name="Text 20"/>
          <p:cNvSpPr/>
          <p:nvPr/>
        </p:nvSpPr>
        <p:spPr>
          <a:xfrm>
            <a:off x="8092440" y="3410712"/>
            <a:ext cx="2743200" cy="59436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want different activities for different ability levels</a:t>
            </a:r>
            <a:endParaRPr lang="en-US" sz="1150" dirty="0"/>
          </a:p>
        </p:txBody>
      </p:sp>
      <p:sp>
        <p:nvSpPr>
          <p:cNvPr id="25" name="Shape 21"/>
          <p:cNvSpPr/>
          <p:nvPr/>
        </p:nvSpPr>
        <p:spPr>
          <a:xfrm>
            <a:off x="7315200" y="4160520"/>
            <a:ext cx="3611880" cy="960120"/>
          </a:xfrm>
          <a:prstGeom prst="rect">
            <a:avLst/>
          </a:prstGeom>
          <a:solidFill>
            <a:srgbClr val="FBE9D6"/>
          </a:solidFill>
          <a:ln w="25400">
            <a:solidFill>
              <a:srgbClr val="1E1208"/>
            </a:solidFill>
            <a:prstDash val="solid"/>
          </a:ln>
        </p:spPr>
      </p:sp>
      <p:sp>
        <p:nvSpPr>
          <p:cNvPr id="26" name="Text 22"/>
          <p:cNvSpPr/>
          <p:nvPr/>
        </p:nvSpPr>
        <p:spPr>
          <a:xfrm>
            <a:off x="7452360" y="4160520"/>
            <a:ext cx="640080" cy="960120"/>
          </a:xfrm>
          <a:prstGeom prst="rect">
            <a:avLst/>
          </a:prstGeom>
          <a:noFill/>
          <a:ln/>
        </p:spPr>
        <p:txBody>
          <a:bodyPr wrap="square" lIns="0" tIns="0" rIns="0" bIns="0" rtlCol="0" anchor="ctr"/>
          <a:lstStyle/>
          <a:p>
            <a:pPr algn="l" indent="0" marL="0">
              <a:lnSpc>
                <a:spcPct val="110000"/>
              </a:lnSpc>
              <a:buNone/>
            </a:pPr>
            <a:r>
              <a:rPr lang="en-US" sz="4600" dirty="0">
                <a:solidFill>
                  <a:srgbClr val="1E1208"/>
                </a:solidFill>
                <a:latin typeface="Impact" pitchFamily="34" charset="0"/>
                <a:ea typeface="Impact" pitchFamily="34" charset="-122"/>
                <a:cs typeface="Impact" pitchFamily="34" charset="-120"/>
              </a:rPr>
              <a:t>8</a:t>
            </a:r>
            <a:endParaRPr lang="en-US" sz="4600" dirty="0"/>
          </a:p>
        </p:txBody>
      </p:sp>
      <p:sp>
        <p:nvSpPr>
          <p:cNvPr id="27" name="Text 23"/>
          <p:cNvSpPr/>
          <p:nvPr/>
        </p:nvSpPr>
        <p:spPr>
          <a:xfrm>
            <a:off x="8092440" y="4270248"/>
            <a:ext cx="914400" cy="274320"/>
          </a:xfrm>
          <a:prstGeom prst="rect">
            <a:avLst/>
          </a:prstGeom>
          <a:noFill/>
          <a:ln/>
        </p:spPr>
        <p:txBody>
          <a:bodyPr wrap="square" lIns="0" tIns="0" rIns="0" bIns="0" rtlCol="0" anchor="t"/>
          <a:lstStyle/>
          <a:p>
            <a:pPr algn="l" indent="0" marL="0">
              <a:lnSpc>
                <a:spcPct val="110000"/>
              </a:lnSpc>
              <a:buNone/>
            </a:pPr>
            <a:r>
              <a:rPr lang="en-US" sz="1400" dirty="0">
                <a:solidFill>
                  <a:srgbClr val="1E1208"/>
                </a:solidFill>
                <a:latin typeface="Impact" pitchFamily="34" charset="0"/>
                <a:ea typeface="Impact" pitchFamily="34" charset="-122"/>
                <a:cs typeface="Impact" pitchFamily="34" charset="-120"/>
              </a:rPr>
              <a:t>OF 10</a:t>
            </a:r>
            <a:endParaRPr lang="en-US" sz="1400" dirty="0"/>
          </a:p>
        </p:txBody>
      </p:sp>
      <p:sp>
        <p:nvSpPr>
          <p:cNvPr id="28" name="Text 24"/>
          <p:cNvSpPr/>
          <p:nvPr/>
        </p:nvSpPr>
        <p:spPr>
          <a:xfrm>
            <a:off x="8092440" y="4507992"/>
            <a:ext cx="2743200" cy="59436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want AI-assisted lesson planning</a:t>
            </a:r>
            <a:endParaRPr lang="en-US" sz="1150" dirty="0"/>
          </a:p>
        </p:txBody>
      </p:sp>
      <p:sp>
        <p:nvSpPr>
          <p:cNvPr id="29" name="Shape 25"/>
          <p:cNvSpPr/>
          <p:nvPr/>
        </p:nvSpPr>
        <p:spPr>
          <a:xfrm>
            <a:off x="1417320" y="5394960"/>
            <a:ext cx="9509760" cy="502920"/>
          </a:xfrm>
          <a:prstGeom prst="rect">
            <a:avLst/>
          </a:prstGeom>
          <a:solidFill>
            <a:srgbClr val="1E1208"/>
          </a:solidFill>
          <a:ln/>
        </p:spPr>
      </p:sp>
      <p:sp>
        <p:nvSpPr>
          <p:cNvPr id="30" name="Text 26"/>
          <p:cNvSpPr/>
          <p:nvPr/>
        </p:nvSpPr>
        <p:spPr>
          <a:xfrm>
            <a:off x="1600200" y="539496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
        <p:nvSpPr>
          <p:cNvPr id="31" name="Text 27"/>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teacher survey, 10 teachers, who could tick as many answers as they liked. A small sample, so read it as a signal.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ONE SCHOOL, THREE PRODUCTS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ALREADY BUILT. READY TO USE.</a:t>
            </a:r>
            <a:endParaRPr lang="en-US" sz="5000" dirty="0"/>
          </a:p>
        </p:txBody>
      </p:sp>
      <p:sp>
        <p:nvSpPr>
          <p:cNvPr id="15" name="Shape 12"/>
          <p:cNvSpPr/>
          <p:nvPr/>
        </p:nvSpPr>
        <p:spPr>
          <a:xfrm>
            <a:off x="1417320" y="201168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201168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201168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217627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67004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45059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45059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33756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33756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33756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50215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99592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77647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77647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66344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66344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66344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82803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32180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510235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510235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one topic list.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D4762A"/>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1</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ASSESS</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Measure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Set, sit, mark and understand tests and exams in one secure record. Teachers save time on marking, students see exactly what to work on, and leaders see how every class and department is doing.</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Build tests and exams, with AI help you always review</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Mark automatically, with AI-suggested essay marks you decide on</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See what the class missed and who needs support</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EVERY ASSESSMENT, ONE SECURE RECORD</a:t>
            </a:r>
            <a:endParaRPr lang="en-US" sz="46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D4762A"/>
          </a:solidFill>
          <a:ln/>
        </p:spPr>
      </p:sp>
      <p:sp>
        <p:nvSpPr>
          <p:cNvPr id="19" name="Text 16"/>
          <p:cNvSpPr/>
          <p:nvPr/>
        </p:nvSpPr>
        <p:spPr>
          <a:xfrm>
            <a:off x="16002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EXAMS, TESTS AND TASKS</a:t>
            </a:r>
            <a:endParaRPr lang="en-US" sz="1700" dirty="0"/>
          </a:p>
        </p:txBody>
      </p:sp>
      <p:sp>
        <p:nvSpPr>
          <p:cNvPr id="20" name="Text 17"/>
          <p:cNvSpPr/>
          <p:nvPr/>
        </p:nvSpPr>
        <p:spPr>
          <a:xfrm>
            <a:off x="16002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1965960"/>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D4762A"/>
          </a:solidFill>
          <a:ln/>
        </p:spPr>
      </p:sp>
      <p:sp>
        <p:nvSpPr>
          <p:cNvPr id="23" name="Text 20"/>
          <p:cNvSpPr/>
          <p:nvPr/>
        </p:nvSpPr>
        <p:spPr>
          <a:xfrm>
            <a:off x="48006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QUESTION BANK</a:t>
            </a:r>
            <a:endParaRPr lang="en-US" sz="1700" dirty="0"/>
          </a:p>
        </p:txBody>
      </p:sp>
      <p:sp>
        <p:nvSpPr>
          <p:cNvPr id="24" name="Text 21"/>
          <p:cNvSpPr/>
          <p:nvPr/>
        </p:nvSpPr>
        <p:spPr>
          <a:xfrm>
            <a:off x="48006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1965960"/>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D4762A"/>
          </a:solidFill>
          <a:ln/>
        </p:spPr>
      </p:sp>
      <p:sp>
        <p:nvSpPr>
          <p:cNvPr id="27" name="Text 24"/>
          <p:cNvSpPr/>
          <p:nvPr/>
        </p:nvSpPr>
        <p:spPr>
          <a:xfrm>
            <a:off x="80010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SUBJECT TOOLS</a:t>
            </a:r>
            <a:endParaRPr lang="en-US" sz="1700" dirty="0"/>
          </a:p>
        </p:txBody>
      </p:sp>
      <p:sp>
        <p:nvSpPr>
          <p:cNvPr id="28" name="Text 25"/>
          <p:cNvSpPr/>
          <p:nvPr/>
        </p:nvSpPr>
        <p:spPr>
          <a:xfrm>
            <a:off x="80010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Built for each subject, starting with an equation toolbar and calculator for maths.</a:t>
            </a:r>
            <a:endParaRPr lang="en-US" sz="1250" dirty="0"/>
          </a:p>
        </p:txBody>
      </p:sp>
      <p:sp>
        <p:nvSpPr>
          <p:cNvPr id="29" name="Shape 26"/>
          <p:cNvSpPr/>
          <p:nvPr/>
        </p:nvSpPr>
        <p:spPr>
          <a:xfrm>
            <a:off x="1417320" y="3931920"/>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3931920"/>
            <a:ext cx="3017520" cy="109728"/>
          </a:xfrm>
          <a:prstGeom prst="rect">
            <a:avLst/>
          </a:prstGeom>
          <a:solidFill>
            <a:srgbClr val="D4762A"/>
          </a:solidFill>
          <a:ln/>
        </p:spPr>
      </p:sp>
      <p:sp>
        <p:nvSpPr>
          <p:cNvPr id="31" name="Text 28"/>
          <p:cNvSpPr/>
          <p:nvPr/>
        </p:nvSpPr>
        <p:spPr>
          <a:xfrm>
            <a:off x="16002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PDF IMPORT AND AI DRAFTING</a:t>
            </a:r>
            <a:endParaRPr lang="en-US" sz="1700" dirty="0"/>
          </a:p>
        </p:txBody>
      </p:sp>
      <p:sp>
        <p:nvSpPr>
          <p:cNvPr id="32" name="Text 29"/>
          <p:cNvSpPr/>
          <p:nvPr/>
        </p:nvSpPr>
        <p:spPr>
          <a:xfrm>
            <a:off x="16002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3931920"/>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3931920"/>
            <a:ext cx="3017520" cy="109728"/>
          </a:xfrm>
          <a:prstGeom prst="rect">
            <a:avLst/>
          </a:prstGeom>
          <a:solidFill>
            <a:srgbClr val="D4762A"/>
          </a:solidFill>
          <a:ln/>
        </p:spPr>
      </p:sp>
      <p:sp>
        <p:nvSpPr>
          <p:cNvPr id="35" name="Text 32"/>
          <p:cNvSpPr/>
          <p:nvPr/>
        </p:nvSpPr>
        <p:spPr>
          <a:xfrm>
            <a:off x="48006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SECURE SITTING</a:t>
            </a:r>
            <a:endParaRPr lang="en-US" sz="1700" dirty="0"/>
          </a:p>
        </p:txBody>
      </p:sp>
      <p:sp>
        <p:nvSpPr>
          <p:cNvPr id="36" name="Text 33"/>
          <p:cNvSpPr/>
          <p:nvPr/>
        </p:nvSpPr>
        <p:spPr>
          <a:xfrm>
            <a:off x="48006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3931920"/>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3931920"/>
            <a:ext cx="3017520" cy="109728"/>
          </a:xfrm>
          <a:prstGeom prst="rect">
            <a:avLst/>
          </a:prstGeom>
          <a:solidFill>
            <a:srgbClr val="D4762A"/>
          </a:solidFill>
          <a:ln/>
        </p:spPr>
      </p:sp>
      <p:sp>
        <p:nvSpPr>
          <p:cNvPr id="39" name="Text 36"/>
          <p:cNvSpPr/>
          <p:nvPr/>
        </p:nvSpPr>
        <p:spPr>
          <a:xfrm>
            <a:off x="80010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MARKING AND RESULTS</a:t>
            </a:r>
            <a:endParaRPr lang="en-US" sz="1700" dirty="0"/>
          </a:p>
        </p:txBody>
      </p:sp>
      <p:sp>
        <p:nvSpPr>
          <p:cNvPr id="40" name="Text 37"/>
          <p:cNvSpPr/>
          <p:nvPr/>
        </p:nvSpPr>
        <p:spPr>
          <a:xfrm>
            <a:off x="80010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1" name="Shape 38"/>
          <p:cNvSpPr/>
          <p:nvPr/>
        </p:nvSpPr>
        <p:spPr>
          <a:xfrm>
            <a:off x="1417320" y="5943600"/>
            <a:ext cx="9509760" cy="502920"/>
          </a:xfrm>
          <a:prstGeom prst="rect">
            <a:avLst/>
          </a:prstGeom>
          <a:solidFill>
            <a:srgbClr val="1E1208"/>
          </a:solidFill>
          <a:ln/>
        </p:spPr>
      </p:sp>
      <p:sp>
        <p:nvSpPr>
          <p:cNvPr id="42" name="Text 3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Smart Play.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MARKING THAT SAVES TIME</a:t>
            </a:r>
            <a:endParaRPr lang="en-US" sz="4800" dirty="0"/>
          </a:p>
        </p:txBody>
      </p:sp>
      <p:sp>
        <p:nvSpPr>
          <p:cNvPr id="15" name="Shape 12"/>
          <p:cNvSpPr/>
          <p:nvPr/>
        </p:nvSpPr>
        <p:spPr>
          <a:xfrm>
            <a:off x="1417320" y="201168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201168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201168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201168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201168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201168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201168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201168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201168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201168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70916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818888"/>
            <a:ext cx="9052560" cy="365760"/>
          </a:xfrm>
          <a:prstGeom prst="rect">
            <a:avLst/>
          </a:prstGeom>
          <a:noFill/>
          <a:ln/>
        </p:spPr>
        <p:txBody>
          <a:bodyPr wrap="square" lIns="0" tIns="0" rIns="0" bIns="0" rtlCol="0" anchor="t"/>
          <a:lstStyle/>
          <a:p>
            <a:pPr algn="l" indent="0" marL="0">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212080"/>
            <a:ext cx="9052560" cy="45720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 The school switches it on.</a:t>
            </a:r>
            <a:endParaRPr lang="en-US" sz="1400" dirty="0"/>
          </a:p>
        </p:txBody>
      </p:sp>
      <p:sp>
        <p:nvSpPr>
          <p:cNvPr id="43" name="Text 40"/>
          <p:cNvSpPr/>
          <p:nvPr/>
        </p:nvSpPr>
        <p:spPr>
          <a:xfrm>
            <a:off x="1417320" y="598932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8 of 10 teachers named marking as the biggest drain on their time.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RESULTS THAT TELL YOU WHAT TO DO</a:t>
            </a:r>
            <a:endParaRPr lang="en-US" sz="4600" dirty="0"/>
          </a:p>
        </p:txBody>
      </p:sp>
      <p:sp>
        <p:nvSpPr>
          <p:cNvPr id="15" name="Shape 12"/>
          <p:cNvSpPr/>
          <p:nvPr/>
        </p:nvSpPr>
        <p:spPr>
          <a:xfrm>
            <a:off x="1417320" y="196596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96596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25780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96596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25780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96596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96596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25780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
        <p:nvSpPr>
          <p:cNvPr id="33" name="Text 30"/>
          <p:cNvSpPr/>
          <p:nvPr/>
        </p:nvSpPr>
        <p:spPr>
          <a:xfrm>
            <a:off x="1417320" y="603504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asked who is struggling (8 of 10) and what mistakes are common (7 of 10).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FAIR, SECURE AND ACCESSIBLE BY DESIGN</a:t>
            </a:r>
            <a:endParaRPr lang="en-US" sz="4600" dirty="0"/>
          </a:p>
        </p:txBody>
      </p:sp>
      <p:sp>
        <p:nvSpPr>
          <p:cNvPr id="15" name="Shape 12"/>
          <p:cNvSpPr/>
          <p:nvPr/>
        </p:nvSpPr>
        <p:spPr>
          <a:xfrm>
            <a:off x="1417320" y="196596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965960"/>
            <a:ext cx="128016" cy="1737360"/>
          </a:xfrm>
          <a:prstGeom prst="rect">
            <a:avLst/>
          </a:prstGeom>
          <a:solidFill>
            <a:srgbClr val="D4762A"/>
          </a:solidFill>
          <a:ln/>
        </p:spPr>
      </p:sp>
      <p:sp>
        <p:nvSpPr>
          <p:cNvPr id="17" name="Text 14"/>
          <p:cNvSpPr/>
          <p:nvPr/>
        </p:nvSpPr>
        <p:spPr>
          <a:xfrm>
            <a:off x="17373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96596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37360"/>
          </a:xfrm>
          <a:prstGeom prst="rect">
            <a:avLst/>
          </a:prstGeom>
          <a:solidFill>
            <a:srgbClr val="D4762A"/>
          </a:solidFill>
          <a:ln/>
        </p:spPr>
      </p:sp>
      <p:sp>
        <p:nvSpPr>
          <p:cNvPr id="21" name="Text 18"/>
          <p:cNvSpPr/>
          <p:nvPr/>
        </p:nvSpPr>
        <p:spPr>
          <a:xfrm>
            <a:off x="65379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device only while sitting an exam.</a:t>
            </a:r>
            <a:endParaRPr lang="en-US" sz="1250" dirty="0"/>
          </a:p>
        </p:txBody>
      </p:sp>
      <p:sp>
        <p:nvSpPr>
          <p:cNvPr id="23" name="Shape 20"/>
          <p:cNvSpPr/>
          <p:nvPr/>
        </p:nvSpPr>
        <p:spPr>
          <a:xfrm>
            <a:off x="1417320" y="388620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886200"/>
            <a:ext cx="128016" cy="1737360"/>
          </a:xfrm>
          <a:prstGeom prst="rect">
            <a:avLst/>
          </a:prstGeom>
          <a:solidFill>
            <a:srgbClr val="D4762A"/>
          </a:solidFill>
          <a:ln/>
        </p:spPr>
      </p:sp>
      <p:sp>
        <p:nvSpPr>
          <p:cNvPr id="25" name="Text 22"/>
          <p:cNvSpPr/>
          <p:nvPr/>
        </p:nvSpPr>
        <p:spPr>
          <a:xfrm>
            <a:off x="17373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88620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886200"/>
            <a:ext cx="128016" cy="1737360"/>
          </a:xfrm>
          <a:prstGeom prst="rect">
            <a:avLst/>
          </a:prstGeom>
          <a:solidFill>
            <a:srgbClr val="D4762A"/>
          </a:solidFill>
          <a:ln/>
        </p:spPr>
      </p:sp>
      <p:sp>
        <p:nvSpPr>
          <p:cNvPr id="29" name="Text 26"/>
          <p:cNvSpPr/>
          <p:nvPr/>
        </p:nvSpPr>
        <p:spPr>
          <a:xfrm>
            <a:off x="65379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SUPPORT FOR EACH STUDENT</a:t>
            </a:r>
            <a:endParaRPr lang="en-US" sz="2000" dirty="0"/>
          </a:p>
        </p:txBody>
      </p:sp>
      <p:sp>
        <p:nvSpPr>
          <p:cNvPr id="30" name="Text 27"/>
          <p:cNvSpPr/>
          <p:nvPr/>
        </p:nvSpPr>
        <p:spPr>
          <a:xfrm>
            <a:off x="65379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
        <p:nvSpPr>
          <p:cNvPr id="31" name="Shape 28"/>
          <p:cNvSpPr/>
          <p:nvPr/>
        </p:nvSpPr>
        <p:spPr>
          <a:xfrm>
            <a:off x="1417320" y="5943600"/>
            <a:ext cx="9509760" cy="502920"/>
          </a:xfrm>
          <a:prstGeom prst="rect">
            <a:avLst/>
          </a:prstGeom>
          <a:solidFill>
            <a:srgbClr val="1E1208"/>
          </a:solidFill>
          <a:ln/>
        </p:spPr>
      </p:sp>
      <p:sp>
        <p:nvSpPr>
          <p:cNvPr id="32" name="Text 2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person always decides. Integrity flags are prompts for a teacher or leader, never proof.</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E3B51E"/>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2</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LEARNING</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Deliver and recover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Lessons, lesson plans, catch-up and study support that act on what Smart Assess finds. Students get a clear path back in after a missed lesson, and teachers plan faster with AI help they always review.</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Five-step lessons with checks at three levels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Catch-up for absent students, flashcards and the Library</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AI lesson plans shaped by Jamaica and the national curriculum</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DELIVER AND RECOVER LEARNING</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8308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you found.</a:t>
            </a:r>
            <a:endParaRPr lang="en-US" sz="1500" dirty="0"/>
          </a:p>
        </p:txBody>
      </p:sp>
      <p:sp>
        <p:nvSpPr>
          <p:cNvPr id="18" name="Shape 15"/>
          <p:cNvSpPr/>
          <p:nvPr/>
        </p:nvSpPr>
        <p:spPr>
          <a:xfrm>
            <a:off x="1417320" y="228600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28600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28600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28600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28600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28600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28600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28600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28600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28600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20040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20040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full 5E plan with objectives and a DOK level, shaped by Jamaica. You review it.</a:t>
            </a:r>
            <a:endParaRPr lang="en-US" sz="1250" dirty="0"/>
          </a:p>
        </p:txBody>
      </p:sp>
      <p:sp>
        <p:nvSpPr>
          <p:cNvPr id="44" name="Shape 41"/>
          <p:cNvSpPr/>
          <p:nvPr/>
        </p:nvSpPr>
        <p:spPr>
          <a:xfrm>
            <a:off x="7818120" y="320040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466344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466344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466344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
        <p:nvSpPr>
          <p:cNvPr id="56" name="Text 53"/>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Also in Smart Learning: weekly class feedback, student support and videos (next slides). For learning only; it does not make or mark assessments.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WHEN A STUDENT MISSES THREE DAYS</a:t>
            </a:r>
            <a:endParaRPr lang="en-US" sz="4300" dirty="0"/>
          </a:p>
        </p:txBody>
      </p:sp>
      <p:pic>
        <p:nvPicPr>
          <p:cNvPr id="15" name="Image 0" descr="/Users/boxerboychris/exam-platform/marketing/presentation/assets-v2/shot-lesson.png">    </p:cNvPr>
          <p:cNvPicPr>
            <a:picLocks noChangeAspect="1"/>
          </p:cNvPicPr>
          <p:nvPr/>
        </p:nvPicPr>
        <p:blipFill>
          <a:blip r:embed="rId2"/>
          <a:srcRect l="0" r="0" t="0" b="0"/>
          <a:stretch/>
        </p:blipFill>
        <p:spPr>
          <a:xfrm>
            <a:off x="1417320" y="1874520"/>
            <a:ext cx="4754880" cy="3977640"/>
          </a:xfrm>
          <a:prstGeom prst="rect">
            <a:avLst/>
          </a:prstGeom>
        </p:spPr>
      </p:pic>
      <p:sp>
        <p:nvSpPr>
          <p:cNvPr id="16" name="Shape 12"/>
          <p:cNvSpPr/>
          <p:nvPr/>
        </p:nvSpPr>
        <p:spPr>
          <a:xfrm>
            <a:off x="1417320" y="1874520"/>
            <a:ext cx="4754880" cy="3977640"/>
          </a:xfrm>
          <a:prstGeom prst="rect">
            <a:avLst/>
          </a:prstGeom>
          <a:ln w="25400">
            <a:solidFill>
              <a:srgbClr val="1E1208"/>
            </a:solidFill>
            <a:prstDash val="solid"/>
          </a:ln>
        </p:spPr>
      </p:sp>
      <p:sp>
        <p:nvSpPr>
          <p:cNvPr id="17" name="Shape 13"/>
          <p:cNvSpPr/>
          <p:nvPr/>
        </p:nvSpPr>
        <p:spPr>
          <a:xfrm>
            <a:off x="6446520" y="187452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874520"/>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87452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965960"/>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331720"/>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89864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898648"/>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89864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990088"/>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355848"/>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92277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922776"/>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92277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4014216"/>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PATH BACK IN</a:t>
            </a:r>
            <a:endParaRPr lang="en-US" sz="1600" dirty="0"/>
          </a:p>
        </p:txBody>
      </p:sp>
      <p:sp>
        <p:nvSpPr>
          <p:cNvPr id="31" name="Text 27"/>
          <p:cNvSpPr/>
          <p:nvPr/>
        </p:nvSpPr>
        <p:spPr>
          <a:xfrm>
            <a:off x="7269480" y="4379976"/>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94690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946904"/>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94690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5038344"/>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404104"/>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6035040"/>
            <a:ext cx="9509760" cy="502920"/>
          </a:xfrm>
          <a:prstGeom prst="rect">
            <a:avLst/>
          </a:prstGeom>
          <a:solidFill>
            <a:srgbClr val="1E1208"/>
          </a:solidFill>
          <a:ln/>
        </p:spPr>
      </p:sp>
      <p:sp>
        <p:nvSpPr>
          <p:cNvPr id="38" name="Text 34"/>
          <p:cNvSpPr/>
          <p:nvPr/>
        </p:nvSpPr>
        <p:spPr>
          <a:xfrm>
            <a:off x="1600200" y="603504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the learning.</a:t>
            </a:r>
            <a:endParaRPr lang="en-US" sz="1400" dirty="0"/>
          </a:p>
        </p:txBody>
      </p:sp>
      <p:sp>
        <p:nvSpPr>
          <p:cNvPr id="39" name="Text 35"/>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A real lesson screen from the Manchester demo school, shown with demo data.</a:t>
            </a:r>
            <a:endParaRPr lang="en-US" sz="900" dirty="0"/>
          </a:p>
        </p:txBody>
      </p:sp>
      <p:sp>
        <p:nvSpPr>
          <p:cNvPr id="40" name="Shape 36"/>
          <p:cNvSpPr/>
          <p:nvPr/>
        </p:nvSpPr>
        <p:spPr>
          <a:xfrm>
            <a:off x="1417320" y="6035040"/>
            <a:ext cx="9144" cy="9144"/>
          </a:xfrm>
          <a:prstGeom prst="rect">
            <a:avLst/>
          </a:prstGeom>
          <a:solidFill>
            <a:srgbClr val="FDFDFB"/>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STUDY SUPPORT THAT FITS EACH STUDENT</a:t>
            </a:r>
            <a:endParaRPr lang="en-US" sz="4300" dirty="0"/>
          </a:p>
        </p:txBody>
      </p:sp>
      <p:sp>
        <p:nvSpPr>
          <p:cNvPr id="15" name="Shape 12"/>
          <p:cNvSpPr/>
          <p:nvPr/>
        </p:nvSpPr>
        <p:spPr>
          <a:xfrm>
            <a:off x="1417320" y="187452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874520"/>
            <a:ext cx="128016" cy="914400"/>
          </a:xfrm>
          <a:prstGeom prst="rect">
            <a:avLst/>
          </a:prstGeom>
          <a:solidFill>
            <a:srgbClr val="E3B51E"/>
          </a:solidFill>
          <a:ln/>
        </p:spPr>
      </p:sp>
      <p:sp>
        <p:nvSpPr>
          <p:cNvPr id="17" name="Text 14"/>
          <p:cNvSpPr/>
          <p:nvPr/>
        </p:nvSpPr>
        <p:spPr>
          <a:xfrm>
            <a:off x="1691640" y="1965960"/>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304288"/>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89864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898648"/>
            <a:ext cx="128016" cy="914400"/>
          </a:xfrm>
          <a:prstGeom prst="rect">
            <a:avLst/>
          </a:prstGeom>
          <a:solidFill>
            <a:srgbClr val="E3B51E"/>
          </a:solidFill>
          <a:ln/>
        </p:spPr>
      </p:sp>
      <p:sp>
        <p:nvSpPr>
          <p:cNvPr id="21" name="Text 18"/>
          <p:cNvSpPr/>
          <p:nvPr/>
        </p:nvSpPr>
        <p:spPr>
          <a:xfrm>
            <a:off x="1691640" y="2990088"/>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328416"/>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92277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922776"/>
            <a:ext cx="128016" cy="914400"/>
          </a:xfrm>
          <a:prstGeom prst="rect">
            <a:avLst/>
          </a:prstGeom>
          <a:solidFill>
            <a:srgbClr val="E3B51E"/>
          </a:solidFill>
          <a:ln/>
        </p:spPr>
      </p:sp>
      <p:sp>
        <p:nvSpPr>
          <p:cNvPr id="25" name="Text 22"/>
          <p:cNvSpPr/>
          <p:nvPr/>
        </p:nvSpPr>
        <p:spPr>
          <a:xfrm>
            <a:off x="1691640" y="4014216"/>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CURRENT AND FUTURE</a:t>
            </a:r>
            <a:endParaRPr lang="en-US" sz="1600" dirty="0"/>
          </a:p>
        </p:txBody>
      </p:sp>
      <p:sp>
        <p:nvSpPr>
          <p:cNvPr id="26" name="Text 23"/>
          <p:cNvSpPr/>
          <p:nvPr/>
        </p:nvSpPr>
        <p:spPr>
          <a:xfrm>
            <a:off x="1691640" y="4352544"/>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What is happening now and what is coming, for students and teachers, with upcoming assignment reminders. No email.</a:t>
            </a:r>
            <a:endParaRPr lang="en-US" sz="1100" dirty="0"/>
          </a:p>
        </p:txBody>
      </p:sp>
      <p:sp>
        <p:nvSpPr>
          <p:cNvPr id="27" name="Shape 24"/>
          <p:cNvSpPr/>
          <p:nvPr/>
        </p:nvSpPr>
        <p:spPr>
          <a:xfrm>
            <a:off x="1417320" y="494690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946904"/>
            <a:ext cx="128016" cy="914400"/>
          </a:xfrm>
          <a:prstGeom prst="rect">
            <a:avLst/>
          </a:prstGeom>
          <a:solidFill>
            <a:srgbClr val="E3B51E"/>
          </a:solidFill>
          <a:ln/>
        </p:spPr>
      </p:sp>
      <p:sp>
        <p:nvSpPr>
          <p:cNvPr id="29" name="Text 26"/>
          <p:cNvSpPr/>
          <p:nvPr/>
        </p:nvSpPr>
        <p:spPr>
          <a:xfrm>
            <a:off x="1691640" y="5038344"/>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376672"/>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r>
          <p:cNvPicPr>
            <a:picLocks noChangeAspect="1"/>
          </p:cNvPicPr>
          <p:nvPr/>
        </p:nvPicPr>
        <p:blipFill>
          <a:blip r:embed="rId2"/>
          <a:srcRect l="-89" r="-89" t="0" b="0"/>
          <a:stretch/>
        </p:blipFill>
        <p:spPr>
          <a:xfrm>
            <a:off x="6400800" y="1874520"/>
            <a:ext cx="4526280" cy="2926080"/>
          </a:xfrm>
          <a:prstGeom prst="rect">
            <a:avLst/>
          </a:prstGeom>
        </p:spPr>
      </p:pic>
      <p:sp>
        <p:nvSpPr>
          <p:cNvPr id="32" name="Shape 28"/>
          <p:cNvSpPr/>
          <p:nvPr/>
        </p:nvSpPr>
        <p:spPr>
          <a:xfrm>
            <a:off x="6400800" y="1874520"/>
            <a:ext cx="4526280" cy="2926080"/>
          </a:xfrm>
          <a:prstGeom prst="rect">
            <a:avLst/>
          </a:prstGeom>
          <a:ln w="25400">
            <a:solidFill>
              <a:srgbClr val="1E1208"/>
            </a:solidFill>
            <a:prstDash val="solid"/>
          </a:ln>
        </p:spPr>
      </p:sp>
      <p:sp>
        <p:nvSpPr>
          <p:cNvPr id="33" name="Text 29"/>
          <p:cNvSpPr/>
          <p:nvPr/>
        </p:nvSpPr>
        <p:spPr>
          <a:xfrm>
            <a:off x="6400800" y="4864608"/>
            <a:ext cx="4526280" cy="457200"/>
          </a:xfrm>
          <a:prstGeom prst="rect">
            <a:avLst/>
          </a:prstGeom>
          <a:noFill/>
          <a:ln/>
        </p:spPr>
        <p:txBody>
          <a:bodyPr wrap="square" lIns="0" tIns="0" rIns="0" bIns="0" rtlCol="0" anchor="t"/>
          <a:lstStyle/>
          <a:p>
            <a:pPr algn="l" indent="0" marL="0">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4" name="Shape 30"/>
          <p:cNvSpPr/>
          <p:nvPr/>
        </p:nvSpPr>
        <p:spPr>
          <a:xfrm>
            <a:off x="1417320" y="5943600"/>
            <a:ext cx="9509760" cy="502920"/>
          </a:xfrm>
          <a:prstGeom prst="rect">
            <a:avLst/>
          </a:prstGeom>
          <a:solidFill>
            <a:srgbClr val="1E1208"/>
          </a:solidFill>
          <a:ln/>
        </p:spPr>
      </p:sp>
      <p:sp>
        <p:nvSpPr>
          <p:cNvPr id="35" name="Text 31"/>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7 of 12 students chose flashcards. 9 of 10 teachers asked for activities at different ability levels.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HEAR FROM EVERY CLASS, EVERY WEEK</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233172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777240"/>
          </a:xfrm>
          <a:prstGeom prst="rect">
            <a:avLst/>
          </a:prstGeom>
          <a:solidFill>
            <a:srgbClr val="E3B51E"/>
          </a:solidFill>
          <a:ln w="25400">
            <a:solidFill>
              <a:srgbClr val="1E1208"/>
            </a:solidFill>
            <a:prstDash val="solid"/>
          </a:ln>
        </p:spPr>
      </p:sp>
      <p:sp>
        <p:nvSpPr>
          <p:cNvPr id="19" name="Text 16"/>
          <p:cNvSpPr/>
          <p:nvPr/>
        </p:nvSpPr>
        <p:spPr>
          <a:xfrm>
            <a:off x="14173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Text 17"/>
          <p:cNvSpPr/>
          <p:nvPr/>
        </p:nvSpPr>
        <p:spPr>
          <a:xfrm>
            <a:off x="16002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STUDENTS</a:t>
            </a:r>
            <a:endParaRPr lang="en-US" sz="1800" dirty="0"/>
          </a:p>
        </p:txBody>
      </p:sp>
      <p:sp>
        <p:nvSpPr>
          <p:cNvPr id="21" name="Text 18"/>
          <p:cNvSpPr/>
          <p:nvPr/>
        </p:nvSpPr>
        <p:spPr>
          <a:xfrm>
            <a:off x="16002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One minute per class. How well did you follow? Which topic was hardest? Was the pace right? Anything that helped?</a:t>
            </a:r>
            <a:endParaRPr lang="en-US" sz="1200" dirty="0"/>
          </a:p>
        </p:txBody>
      </p:sp>
      <p:sp>
        <p:nvSpPr>
          <p:cNvPr id="22" name="Shape 19"/>
          <p:cNvSpPr/>
          <p:nvPr/>
        </p:nvSpPr>
        <p:spPr>
          <a:xfrm>
            <a:off x="4617720" y="1965960"/>
            <a:ext cx="3017520" cy="2331720"/>
          </a:xfrm>
          <a:prstGeom prst="rect">
            <a:avLst/>
          </a:prstGeom>
          <a:solidFill>
            <a:srgbClr val="FFFFFF"/>
          </a:solidFill>
          <a:ln w="25400">
            <a:solidFill>
              <a:srgbClr val="1E1208"/>
            </a:solidFill>
            <a:prstDash val="solid"/>
          </a:ln>
        </p:spPr>
      </p:sp>
      <p:sp>
        <p:nvSpPr>
          <p:cNvPr id="23" name="Shape 20"/>
          <p:cNvSpPr/>
          <p:nvPr/>
        </p:nvSpPr>
        <p:spPr>
          <a:xfrm>
            <a:off x="4617720" y="1965960"/>
            <a:ext cx="3017520" cy="777240"/>
          </a:xfrm>
          <a:prstGeom prst="rect">
            <a:avLst/>
          </a:prstGeom>
          <a:solidFill>
            <a:srgbClr val="E3B51E"/>
          </a:solidFill>
          <a:ln w="25400">
            <a:solidFill>
              <a:srgbClr val="1E1208"/>
            </a:solidFill>
            <a:prstDash val="solid"/>
          </a:ln>
        </p:spPr>
      </p:sp>
      <p:sp>
        <p:nvSpPr>
          <p:cNvPr id="24" name="Text 21"/>
          <p:cNvSpPr/>
          <p:nvPr/>
        </p:nvSpPr>
        <p:spPr>
          <a:xfrm>
            <a:off x="46177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5" name="Text 22"/>
          <p:cNvSpPr/>
          <p:nvPr/>
        </p:nvSpPr>
        <p:spPr>
          <a:xfrm>
            <a:off x="48006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TEACHERS</a:t>
            </a:r>
            <a:endParaRPr lang="en-US" sz="1800" dirty="0"/>
          </a:p>
        </p:txBody>
      </p:sp>
      <p:sp>
        <p:nvSpPr>
          <p:cNvPr id="26" name="Text 23"/>
          <p:cNvSpPr/>
          <p:nvPr/>
        </p:nvSpPr>
        <p:spPr>
          <a:xfrm>
            <a:off x="48006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short end-of-week reflection for each class: where you are against plan, what went well, what to do next.</a:t>
            </a:r>
            <a:endParaRPr lang="en-US" sz="1200" dirty="0"/>
          </a:p>
        </p:txBody>
      </p:sp>
      <p:sp>
        <p:nvSpPr>
          <p:cNvPr id="27" name="Shape 24"/>
          <p:cNvSpPr/>
          <p:nvPr/>
        </p:nvSpPr>
        <p:spPr>
          <a:xfrm>
            <a:off x="7818120" y="1965960"/>
            <a:ext cx="3017520" cy="2331720"/>
          </a:xfrm>
          <a:prstGeom prst="rect">
            <a:avLst/>
          </a:prstGeom>
          <a:solidFill>
            <a:srgbClr val="FBE9D6"/>
          </a:solidFill>
          <a:ln w="25400">
            <a:solidFill>
              <a:srgbClr val="1E1208"/>
            </a:solidFill>
            <a:prstDash val="solid"/>
          </a:ln>
        </p:spPr>
      </p:sp>
      <p:sp>
        <p:nvSpPr>
          <p:cNvPr id="28" name="Shape 25"/>
          <p:cNvSpPr/>
          <p:nvPr/>
        </p:nvSpPr>
        <p:spPr>
          <a:xfrm>
            <a:off x="7818120" y="1965960"/>
            <a:ext cx="3017520" cy="777240"/>
          </a:xfrm>
          <a:prstGeom prst="rect">
            <a:avLst/>
          </a:prstGeom>
          <a:solidFill>
            <a:srgbClr val="D4762A"/>
          </a:solidFill>
          <a:ln w="25400">
            <a:solidFill>
              <a:srgbClr val="1E1208"/>
            </a:solidFill>
            <a:prstDash val="solid"/>
          </a:ln>
        </p:spPr>
      </p:sp>
      <p:sp>
        <p:nvSpPr>
          <p:cNvPr id="29" name="Text 26"/>
          <p:cNvSpPr/>
          <p:nvPr/>
        </p:nvSpPr>
        <p:spPr>
          <a:xfrm>
            <a:off x="78181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30" name="Text 27"/>
          <p:cNvSpPr/>
          <p:nvPr/>
        </p:nvSpPr>
        <p:spPr>
          <a:xfrm>
            <a:off x="80010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THE REPORT</a:t>
            </a:r>
            <a:endParaRPr lang="en-US" sz="1800" dirty="0"/>
          </a:p>
        </p:txBody>
      </p:sp>
      <p:sp>
        <p:nvSpPr>
          <p:cNvPr id="31" name="Text 28"/>
          <p:cNvSpPr/>
          <p:nvPr/>
        </p:nvSpPr>
        <p:spPr>
          <a:xfrm>
            <a:off x="80010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progress report for each class, with plain advice and an AI summary you check. Printable.</a:t>
            </a:r>
            <a:endParaRPr lang="en-US" sz="1200" dirty="0"/>
          </a:p>
        </p:txBody>
      </p:sp>
      <p:sp>
        <p:nvSpPr>
          <p:cNvPr id="32" name="Shape 29"/>
          <p:cNvSpPr/>
          <p:nvPr/>
        </p:nvSpPr>
        <p:spPr>
          <a:xfrm>
            <a:off x="1417320" y="4526280"/>
            <a:ext cx="9509760" cy="1280160"/>
          </a:xfrm>
          <a:prstGeom prst="rect">
            <a:avLst/>
          </a:prstGeom>
          <a:solidFill>
            <a:srgbClr val="1E1208"/>
          </a:solidFill>
          <a:ln w="25400">
            <a:solidFill>
              <a:srgbClr val="1E1208"/>
            </a:solidFill>
            <a:prstDash val="solid"/>
          </a:ln>
        </p:spPr>
      </p:sp>
      <p:sp>
        <p:nvSpPr>
          <p:cNvPr id="33" name="Text 30"/>
          <p:cNvSpPr/>
          <p:nvPr/>
        </p:nvSpPr>
        <p:spPr>
          <a:xfrm>
            <a:off x="1645920" y="4617720"/>
            <a:ext cx="9052560" cy="365760"/>
          </a:xfrm>
          <a:prstGeom prst="rect">
            <a:avLst/>
          </a:prstGeom>
          <a:noFill/>
          <a:ln/>
        </p:spPr>
        <p:txBody>
          <a:bodyPr wrap="square" lIns="0" tIns="0" rIns="0" bIns="0" rtlCol="0" anchor="t"/>
          <a:lstStyle/>
          <a:p>
            <a:pPr algn="l" indent="0" marL="0">
              <a:lnSpc>
                <a:spcPct val="110000"/>
              </a:lnSpc>
              <a:buNone/>
            </a:pPr>
            <a:r>
              <a:rPr lang="en-US" sz="2000" dirty="0">
                <a:solidFill>
                  <a:srgbClr val="E3B51E"/>
                </a:solidFill>
                <a:latin typeface="Impact" pitchFamily="34" charset="0"/>
                <a:ea typeface="Impact" pitchFamily="34" charset="-122"/>
                <a:cs typeface="Impact" pitchFamily="34" charset="-120"/>
              </a:rPr>
              <a:t>PRIVATE BY DESIGN</a:t>
            </a:r>
            <a:endParaRPr lang="en-US" sz="2000" dirty="0"/>
          </a:p>
        </p:txBody>
      </p:sp>
      <p:sp>
        <p:nvSpPr>
          <p:cNvPr id="34" name="Text 31"/>
          <p:cNvSpPr/>
          <p:nvPr/>
        </p:nvSpPr>
        <p:spPr>
          <a:xfrm>
            <a:off x="1645920" y="5029200"/>
            <a:ext cx="9052560" cy="7315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Only the class teacher and head of department see names, and only so they can help. Everything else is anonymous and shown only when 5 or more students have answered. The principal team sees anonymous results.</a:t>
            </a:r>
            <a:endParaRPr lang="en-US" sz="1300" dirty="0"/>
          </a:p>
        </p:txBody>
      </p:sp>
      <p:sp>
        <p:nvSpPr>
          <p:cNvPr id="35" name="Shape 32"/>
          <p:cNvSpPr/>
          <p:nvPr/>
        </p:nvSpPr>
        <p:spPr>
          <a:xfrm>
            <a:off x="1417320" y="5989320"/>
            <a:ext cx="9509760" cy="502920"/>
          </a:xfrm>
          <a:prstGeom prst="rect">
            <a:avLst/>
          </a:prstGeom>
          <a:solidFill>
            <a:srgbClr val="1E1208"/>
          </a:solidFill>
          <a:ln/>
        </p:spPr>
      </p:sp>
      <p:sp>
        <p:nvSpPr>
          <p:cNvPr id="36" name="Text 33"/>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teacher with reflections still to write gets one email on Friday afternoon.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HELP STUDENTS BEFORE THEY FALL BEHIND</a:t>
            </a:r>
            <a:endParaRPr lang="en-US" sz="43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4709160" cy="1463040"/>
          </a:xfrm>
          <a:prstGeom prst="rect">
            <a:avLst/>
          </a:prstGeom>
          <a:solidFill>
            <a:srgbClr val="FFFFFF"/>
          </a:solidFill>
          <a:ln w="25400">
            <a:solidFill>
              <a:srgbClr val="1E1208"/>
            </a:solidFill>
            <a:prstDash val="solid"/>
          </a:ln>
        </p:spPr>
      </p:sp>
      <p:sp>
        <p:nvSpPr>
          <p:cNvPr id="18" name="Shape 15"/>
          <p:cNvSpPr/>
          <p:nvPr/>
        </p:nvSpPr>
        <p:spPr>
          <a:xfrm>
            <a:off x="1417320" y="1965960"/>
            <a:ext cx="128016" cy="1463040"/>
          </a:xfrm>
          <a:prstGeom prst="rect">
            <a:avLst/>
          </a:prstGeom>
          <a:solidFill>
            <a:srgbClr val="E3B51E"/>
          </a:solidFill>
          <a:ln/>
        </p:spPr>
      </p:sp>
      <p:sp>
        <p:nvSpPr>
          <p:cNvPr id="19" name="Text 16"/>
          <p:cNvSpPr/>
          <p:nvPr/>
        </p:nvSpPr>
        <p:spPr>
          <a:xfrm>
            <a:off x="17373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CLEAR LIST FOR STAFF</a:t>
            </a:r>
            <a:endParaRPr lang="en-US" sz="1600" dirty="0"/>
          </a:p>
        </p:txBody>
      </p:sp>
      <p:sp>
        <p:nvSpPr>
          <p:cNvPr id="20" name="Text 17"/>
          <p:cNvSpPr/>
          <p:nvPr/>
        </p:nvSpPr>
        <p:spPr>
          <a:xfrm>
            <a:off x="17373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Who may need help, and why, in plain words: marks below the school average or falling, absences, unfinished lessons.</a:t>
            </a:r>
            <a:endParaRPr lang="en-US" sz="1200" dirty="0"/>
          </a:p>
        </p:txBody>
      </p:sp>
      <p:sp>
        <p:nvSpPr>
          <p:cNvPr id="21" name="Shape 18"/>
          <p:cNvSpPr/>
          <p:nvPr/>
        </p:nvSpPr>
        <p:spPr>
          <a:xfrm>
            <a:off x="6217920" y="1965960"/>
            <a:ext cx="4709160" cy="1463040"/>
          </a:xfrm>
          <a:prstGeom prst="rect">
            <a:avLst/>
          </a:prstGeom>
          <a:solidFill>
            <a:srgbClr val="FFFFFF"/>
          </a:solidFill>
          <a:ln w="25400">
            <a:solidFill>
              <a:srgbClr val="1E1208"/>
            </a:solidFill>
            <a:prstDash val="solid"/>
          </a:ln>
        </p:spPr>
      </p:sp>
      <p:sp>
        <p:nvSpPr>
          <p:cNvPr id="22" name="Shape 19"/>
          <p:cNvSpPr/>
          <p:nvPr/>
        </p:nvSpPr>
        <p:spPr>
          <a:xfrm>
            <a:off x="6217920" y="1965960"/>
            <a:ext cx="128016" cy="1463040"/>
          </a:xfrm>
          <a:prstGeom prst="rect">
            <a:avLst/>
          </a:prstGeom>
          <a:solidFill>
            <a:srgbClr val="E3B51E"/>
          </a:solidFill>
          <a:ln/>
        </p:spPr>
      </p:sp>
      <p:sp>
        <p:nvSpPr>
          <p:cNvPr id="23" name="Text 20"/>
          <p:cNvSpPr/>
          <p:nvPr/>
        </p:nvSpPr>
        <p:spPr>
          <a:xfrm>
            <a:off x="65379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SUPPORT PLANS</a:t>
            </a:r>
            <a:endParaRPr lang="en-US" sz="1600" dirty="0"/>
          </a:p>
        </p:txBody>
      </p:sp>
      <p:sp>
        <p:nvSpPr>
          <p:cNvPr id="24" name="Text 21"/>
          <p:cNvSpPr/>
          <p:nvPr/>
        </p:nvSpPr>
        <p:spPr>
          <a:xfrm>
            <a:off x="65379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goal, a review date and what was done. Shows whether results moved: "Up 12 points in Science".</a:t>
            </a:r>
            <a:endParaRPr lang="en-US" sz="1200" dirty="0"/>
          </a:p>
        </p:txBody>
      </p:sp>
      <p:sp>
        <p:nvSpPr>
          <p:cNvPr id="25" name="Shape 22"/>
          <p:cNvSpPr/>
          <p:nvPr/>
        </p:nvSpPr>
        <p:spPr>
          <a:xfrm>
            <a:off x="1417320" y="3566160"/>
            <a:ext cx="4709160" cy="1463040"/>
          </a:xfrm>
          <a:prstGeom prst="rect">
            <a:avLst/>
          </a:prstGeom>
          <a:solidFill>
            <a:srgbClr val="FFFFFF"/>
          </a:solidFill>
          <a:ln w="25400">
            <a:solidFill>
              <a:srgbClr val="1E1208"/>
            </a:solidFill>
            <a:prstDash val="solid"/>
          </a:ln>
        </p:spPr>
      </p:sp>
      <p:sp>
        <p:nvSpPr>
          <p:cNvPr id="26" name="Shape 23"/>
          <p:cNvSpPr/>
          <p:nvPr/>
        </p:nvSpPr>
        <p:spPr>
          <a:xfrm>
            <a:off x="1417320" y="3566160"/>
            <a:ext cx="128016" cy="1463040"/>
          </a:xfrm>
          <a:prstGeom prst="rect">
            <a:avLst/>
          </a:prstGeom>
          <a:solidFill>
            <a:srgbClr val="D4762A"/>
          </a:solidFill>
          <a:ln/>
        </p:spPr>
      </p:sp>
      <p:sp>
        <p:nvSpPr>
          <p:cNvPr id="27" name="Text 24"/>
          <p:cNvSpPr/>
          <p:nvPr/>
        </p:nvSpPr>
        <p:spPr>
          <a:xfrm>
            <a:off x="17373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MY PROGRESS FOR STUDENTS</a:t>
            </a:r>
            <a:endParaRPr lang="en-US" sz="1600" dirty="0"/>
          </a:p>
        </p:txBody>
      </p:sp>
      <p:sp>
        <p:nvSpPr>
          <p:cNvPr id="28" name="Text 25"/>
          <p:cNvSpPr/>
          <p:nvPr/>
        </p:nvSpPr>
        <p:spPr>
          <a:xfrm>
            <a:off x="17373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Compared only with their own earlier results. Never classmates, never the school average.</a:t>
            </a:r>
            <a:endParaRPr lang="en-US" sz="1200" dirty="0"/>
          </a:p>
        </p:txBody>
      </p:sp>
      <p:sp>
        <p:nvSpPr>
          <p:cNvPr id="29" name="Shape 26"/>
          <p:cNvSpPr/>
          <p:nvPr/>
        </p:nvSpPr>
        <p:spPr>
          <a:xfrm>
            <a:off x="6217920" y="3566160"/>
            <a:ext cx="4709160" cy="1463040"/>
          </a:xfrm>
          <a:prstGeom prst="rect">
            <a:avLst/>
          </a:prstGeom>
          <a:solidFill>
            <a:srgbClr val="FFFFFF"/>
          </a:solidFill>
          <a:ln w="25400">
            <a:solidFill>
              <a:srgbClr val="1E1208"/>
            </a:solidFill>
            <a:prstDash val="solid"/>
          </a:ln>
        </p:spPr>
      </p:sp>
      <p:sp>
        <p:nvSpPr>
          <p:cNvPr id="30" name="Shape 27"/>
          <p:cNvSpPr/>
          <p:nvPr/>
        </p:nvSpPr>
        <p:spPr>
          <a:xfrm>
            <a:off x="6217920" y="3566160"/>
            <a:ext cx="128016" cy="1463040"/>
          </a:xfrm>
          <a:prstGeom prst="rect">
            <a:avLst/>
          </a:prstGeom>
          <a:solidFill>
            <a:srgbClr val="E3B51E"/>
          </a:solidFill>
          <a:ln/>
        </p:spPr>
      </p:sp>
      <p:sp>
        <p:nvSpPr>
          <p:cNvPr id="31" name="Text 28"/>
          <p:cNvSpPr/>
          <p:nvPr/>
        </p:nvSpPr>
        <p:spPr>
          <a:xfrm>
            <a:off x="65379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GENTLE NUDGES</a:t>
            </a:r>
            <a:endParaRPr lang="en-US" sz="1600" dirty="0"/>
          </a:p>
        </p:txBody>
      </p:sp>
      <p:sp>
        <p:nvSpPr>
          <p:cNvPr id="32" name="Text 29"/>
          <p:cNvSpPr/>
          <p:nvPr/>
        </p:nvSpPr>
        <p:spPr>
          <a:xfrm>
            <a:off x="65379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Away from school? Lessons past their date? A kind prompt with a button to the right place.</a:t>
            </a:r>
            <a:endParaRPr lang="en-US" sz="1200" dirty="0"/>
          </a:p>
        </p:txBody>
      </p:sp>
      <p:sp>
        <p:nvSpPr>
          <p:cNvPr id="33" name="Shape 30"/>
          <p:cNvSpPr/>
          <p:nvPr/>
        </p:nvSpPr>
        <p:spPr>
          <a:xfrm>
            <a:off x="1417320" y="5212080"/>
            <a:ext cx="9509760" cy="685800"/>
          </a:xfrm>
          <a:prstGeom prst="rect">
            <a:avLst/>
          </a:prstGeom>
          <a:solidFill>
            <a:srgbClr val="1E1208"/>
          </a:solidFill>
          <a:ln w="25400">
            <a:solidFill>
              <a:srgbClr val="1E1208"/>
            </a:solidFill>
            <a:prstDash val="solid"/>
          </a:ln>
        </p:spPr>
      </p:sp>
      <p:sp>
        <p:nvSpPr>
          <p:cNvPr id="34" name="Text 31"/>
          <p:cNvSpPr/>
          <p:nvPr/>
        </p:nvSpPr>
        <p:spPr>
          <a:xfrm>
            <a:off x="1645920" y="5212080"/>
            <a:ext cx="9052560" cy="685800"/>
          </a:xfrm>
          <a:prstGeom prst="rect">
            <a:avLst/>
          </a:prstGeom>
          <a:noFill/>
          <a:ln/>
        </p:spPr>
        <p:txBody>
          <a:bodyPr wrap="square" lIns="0" tIns="0" rIns="0" bIns="0" rtlCol="0" anchor="ctr"/>
          <a:lstStyle/>
          <a:p>
            <a:pPr algn="l" indent="0" marL="0">
              <a:lnSpc>
                <a:spcPct val="110000"/>
              </a:lnSpc>
              <a:buNone/>
            </a:pPr>
            <a:r>
              <a:rPr lang="en-US" sz="1350" b="1" dirty="0">
                <a:solidFill>
                  <a:srgbClr val="FFFFFF"/>
                </a:solidFill>
                <a:latin typeface="Arial" pitchFamily="34" charset="0"/>
                <a:ea typeface="Arial" pitchFamily="34" charset="-122"/>
                <a:cs typeface="Arial" pitchFamily="34" charset="-120"/>
              </a:rPr>
              <a:t>Teachers see marks only in the subjects they teach. Students never see the staff list, a plan or the school average.</a:t>
            </a:r>
            <a:endParaRPr lang="en-US" sz="1350" dirty="0"/>
          </a:p>
        </p:txBody>
      </p:sp>
      <p:sp>
        <p:nvSpPr>
          <p:cNvPr id="35" name="Text 32"/>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For staff to act on, never to label students. The school average appears only once 5 or more students have results.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VIDEOS YOUR TEACHERS HAVE CHOSEN</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20240"/>
            <a:ext cx="685800" cy="676656"/>
          </a:xfrm>
          <a:prstGeom prst="rect">
            <a:avLst/>
          </a:prstGeom>
          <a:solidFill>
            <a:srgbClr val="E3B51E"/>
          </a:solidFill>
          <a:ln w="25400">
            <a:solidFill>
              <a:srgbClr val="1E1208"/>
            </a:solidFill>
            <a:prstDash val="solid"/>
          </a:ln>
        </p:spPr>
      </p:sp>
      <p:sp>
        <p:nvSpPr>
          <p:cNvPr id="18" name="Text 15"/>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6"/>
          <p:cNvSpPr/>
          <p:nvPr/>
        </p:nvSpPr>
        <p:spPr>
          <a:xfrm>
            <a:off x="2103120" y="1920240"/>
            <a:ext cx="8823960" cy="676656"/>
          </a:xfrm>
          <a:prstGeom prst="rect">
            <a:avLst/>
          </a:prstGeom>
          <a:solidFill>
            <a:srgbClr val="FFFFFF"/>
          </a:solidFill>
          <a:ln w="25400">
            <a:solidFill>
              <a:srgbClr val="1E1208"/>
            </a:solidFill>
            <a:prstDash val="solid"/>
          </a:ln>
        </p:spPr>
      </p:sp>
      <p:sp>
        <p:nvSpPr>
          <p:cNvPr id="20" name="Text 17"/>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ADD A LINK</a:t>
            </a:r>
            <a:endParaRPr lang="en-US" sz="1600" dirty="0"/>
          </a:p>
        </p:txBody>
      </p:sp>
      <p:sp>
        <p:nvSpPr>
          <p:cNvPr id="21" name="Text 18"/>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YouTube, Vimeo or Khan Academy. Nothing is uploaded, so the school hosts nothing.</a:t>
            </a:r>
            <a:endParaRPr lang="en-US" sz="1250" dirty="0"/>
          </a:p>
        </p:txBody>
      </p:sp>
      <p:sp>
        <p:nvSpPr>
          <p:cNvPr id="22" name="Shape 19"/>
          <p:cNvSpPr/>
          <p:nvPr/>
        </p:nvSpPr>
        <p:spPr>
          <a:xfrm>
            <a:off x="1417320" y="2706624"/>
            <a:ext cx="685800" cy="676656"/>
          </a:xfrm>
          <a:prstGeom prst="rect">
            <a:avLst/>
          </a:prstGeom>
          <a:solidFill>
            <a:srgbClr val="E3B51E"/>
          </a:solidFill>
          <a:ln w="25400">
            <a:solidFill>
              <a:srgbClr val="1E1208"/>
            </a:solidFill>
            <a:prstDash val="solid"/>
          </a:ln>
        </p:spPr>
      </p:sp>
      <p:sp>
        <p:nvSpPr>
          <p:cNvPr id="23" name="Text 20"/>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2103120" y="2706624"/>
            <a:ext cx="8823960" cy="676656"/>
          </a:xfrm>
          <a:prstGeom prst="rect">
            <a:avLst/>
          </a:prstGeom>
          <a:solidFill>
            <a:srgbClr val="FFFFFF"/>
          </a:solidFill>
          <a:ln w="25400">
            <a:solidFill>
              <a:srgbClr val="1E1208"/>
            </a:solidFill>
            <a:prstDash val="solid"/>
          </a:ln>
        </p:spPr>
      </p:sp>
      <p:sp>
        <p:nvSpPr>
          <p:cNvPr id="25" name="Text 22"/>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APPROVED FIRST</a:t>
            </a:r>
            <a:endParaRPr lang="en-US" sz="1600" dirty="0"/>
          </a:p>
        </p:txBody>
      </p:sp>
      <p:sp>
        <p:nvSpPr>
          <p:cNvPr id="26" name="Text 23"/>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teacher's video waits for the head of department. A head's video is live at once.</a:t>
            </a:r>
            <a:endParaRPr lang="en-US" sz="1250" dirty="0"/>
          </a:p>
        </p:txBody>
      </p:sp>
      <p:sp>
        <p:nvSpPr>
          <p:cNvPr id="27" name="Shape 24"/>
          <p:cNvSpPr/>
          <p:nvPr/>
        </p:nvSpPr>
        <p:spPr>
          <a:xfrm>
            <a:off x="1417320" y="3493008"/>
            <a:ext cx="685800" cy="676656"/>
          </a:xfrm>
          <a:prstGeom prst="rect">
            <a:avLst/>
          </a:prstGeom>
          <a:solidFill>
            <a:srgbClr val="E3B51E"/>
          </a:solidFill>
          <a:ln w="25400">
            <a:solidFill>
              <a:srgbClr val="1E1208"/>
            </a:solidFill>
            <a:prstDash val="solid"/>
          </a:ln>
        </p:spPr>
      </p:sp>
      <p:sp>
        <p:nvSpPr>
          <p:cNvPr id="28" name="Text 25"/>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6"/>
          <p:cNvSpPr/>
          <p:nvPr/>
        </p:nvSpPr>
        <p:spPr>
          <a:xfrm>
            <a:off x="2103120" y="3493008"/>
            <a:ext cx="8823960" cy="676656"/>
          </a:xfrm>
          <a:prstGeom prst="rect">
            <a:avLst/>
          </a:prstGeom>
          <a:solidFill>
            <a:srgbClr val="FFFFFF"/>
          </a:solidFill>
          <a:ln w="25400">
            <a:solidFill>
              <a:srgbClr val="1E1208"/>
            </a:solidFill>
            <a:prstDash val="solid"/>
          </a:ln>
        </p:spPr>
      </p:sp>
      <p:sp>
        <p:nvSpPr>
          <p:cNvPr id="30" name="Text 27"/>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SHORT-VIDEO FEED</a:t>
            </a:r>
            <a:endParaRPr lang="en-US" sz="1600" dirty="0"/>
          </a:p>
        </p:txBody>
      </p:sp>
      <p:sp>
        <p:nvSpPr>
          <p:cNvPr id="31" name="Text 28"/>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subject and grade. YouTube and Vimeo play right inside Smart Learning.</a:t>
            </a:r>
            <a:endParaRPr lang="en-US" sz="1250" dirty="0"/>
          </a:p>
        </p:txBody>
      </p:sp>
      <p:sp>
        <p:nvSpPr>
          <p:cNvPr id="32" name="Shape 29"/>
          <p:cNvSpPr/>
          <p:nvPr/>
        </p:nvSpPr>
        <p:spPr>
          <a:xfrm>
            <a:off x="1417320" y="4279392"/>
            <a:ext cx="685800" cy="676656"/>
          </a:xfrm>
          <a:prstGeom prst="rect">
            <a:avLst/>
          </a:prstGeom>
          <a:solidFill>
            <a:srgbClr val="E3B51E"/>
          </a:solidFill>
          <a:ln w="25400">
            <a:solidFill>
              <a:srgbClr val="1E1208"/>
            </a:solidFill>
            <a:prstDash val="solid"/>
          </a:ln>
        </p:spPr>
      </p:sp>
      <p:sp>
        <p:nvSpPr>
          <p:cNvPr id="33" name="Text 30"/>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1"/>
          <p:cNvSpPr/>
          <p:nvPr/>
        </p:nvSpPr>
        <p:spPr>
          <a:xfrm>
            <a:off x="2103120" y="4279392"/>
            <a:ext cx="8823960" cy="676656"/>
          </a:xfrm>
          <a:prstGeom prst="rect">
            <a:avLst/>
          </a:prstGeom>
          <a:solidFill>
            <a:srgbClr val="FFFFFF"/>
          </a:solidFill>
          <a:ln w="25400">
            <a:solidFill>
              <a:srgbClr val="1E1208"/>
            </a:solidFill>
            <a:prstDash val="solid"/>
          </a:ln>
        </p:spPr>
      </p:sp>
      <p:sp>
        <p:nvSpPr>
          <p:cNvPr id="35" name="Text 32"/>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LOW-DATA MODE</a:t>
            </a:r>
            <a:endParaRPr lang="en-US" sz="1600" dirty="0"/>
          </a:p>
        </p:txBody>
      </p:sp>
      <p:sp>
        <p:nvSpPr>
          <p:cNvPr id="36" name="Text 33"/>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No pictures, and a video loads only when tapped. On by itself for slow connections.</a:t>
            </a:r>
            <a:endParaRPr lang="en-US" sz="1250" dirty="0"/>
          </a:p>
        </p:txBody>
      </p:sp>
      <p:sp>
        <p:nvSpPr>
          <p:cNvPr id="37" name="Shape 34"/>
          <p:cNvSpPr/>
          <p:nvPr/>
        </p:nvSpPr>
        <p:spPr>
          <a:xfrm>
            <a:off x="1417320" y="5065776"/>
            <a:ext cx="685800" cy="676656"/>
          </a:xfrm>
          <a:prstGeom prst="rect">
            <a:avLst/>
          </a:prstGeom>
          <a:solidFill>
            <a:srgbClr val="E3B51E"/>
          </a:solidFill>
          <a:ln w="25400">
            <a:solidFill>
              <a:srgbClr val="1E1208"/>
            </a:solidFill>
            <a:prstDash val="solid"/>
          </a:ln>
        </p:spPr>
      </p:sp>
      <p:sp>
        <p:nvSpPr>
          <p:cNvPr id="38" name="Text 35"/>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9" name="Shape 36"/>
          <p:cNvSpPr/>
          <p:nvPr/>
        </p:nvSpPr>
        <p:spPr>
          <a:xfrm>
            <a:off x="2103120" y="5065776"/>
            <a:ext cx="8823960" cy="676656"/>
          </a:xfrm>
          <a:prstGeom prst="rect">
            <a:avLst/>
          </a:prstGeom>
          <a:solidFill>
            <a:srgbClr val="FFFFFF"/>
          </a:solidFill>
          <a:ln w="25400">
            <a:solidFill>
              <a:srgbClr val="1E1208"/>
            </a:solidFill>
            <a:prstDash val="solid"/>
          </a:ln>
        </p:spPr>
      </p:sp>
      <p:sp>
        <p:nvSpPr>
          <p:cNvPr id="40" name="Text 37"/>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REPORT A PROBLEM</a:t>
            </a:r>
            <a:endParaRPr lang="en-US" sz="1600" dirty="0"/>
          </a:p>
        </p:txBody>
      </p:sp>
      <p:sp>
        <p:nvSpPr>
          <p:cNvPr id="41" name="Text 38"/>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 reports hide a video until a teacher checks it.</a:t>
            </a:r>
            <a:endParaRPr lang="en-US" sz="1250" dirty="0"/>
          </a:p>
        </p:txBody>
      </p:sp>
      <p:sp>
        <p:nvSpPr>
          <p:cNvPr id="42" name="Shape 39"/>
          <p:cNvSpPr/>
          <p:nvPr/>
        </p:nvSpPr>
        <p:spPr>
          <a:xfrm>
            <a:off x="1417320" y="5989320"/>
            <a:ext cx="9509760" cy="502920"/>
          </a:xfrm>
          <a:prstGeom prst="rect">
            <a:avLst/>
          </a:prstGeom>
          <a:solidFill>
            <a:srgbClr val="1E1208"/>
          </a:solidFill>
          <a:ln/>
        </p:spPr>
      </p:sp>
      <p:sp>
        <p:nvSpPr>
          <p:cNvPr id="43" name="Text 40"/>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Videos stay on their own site. Wifi was raised unprompted, so low-data mode is built in.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THE LIBRARY: READ IT, LISTEN TO IT, ASSIGN IT</a:t>
            </a:r>
            <a:endParaRPr lang="en-US" sz="4300" dirty="0"/>
          </a:p>
        </p:txBody>
      </p:sp>
      <p:sp>
        <p:nvSpPr>
          <p:cNvPr id="15" name="Shape 12"/>
          <p:cNvSpPr/>
          <p:nvPr/>
        </p:nvSpPr>
        <p:spPr>
          <a:xfrm>
            <a:off x="1417320" y="192024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92024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70662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70662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BROWSE YOUR WAY</a:t>
            </a:r>
            <a:endParaRPr lang="en-US" sz="1600" dirty="0"/>
          </a:p>
        </p:txBody>
      </p:sp>
      <p:sp>
        <p:nvSpPr>
          <p:cNvPr id="24" name="Text 21"/>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shelf, genre or subject: curriculum books and reading for fun.</a:t>
            </a:r>
            <a:endParaRPr lang="en-US" sz="1250" dirty="0"/>
          </a:p>
        </p:txBody>
      </p:sp>
      <p:sp>
        <p:nvSpPr>
          <p:cNvPr id="25" name="Shape 22"/>
          <p:cNvSpPr/>
          <p:nvPr/>
        </p:nvSpPr>
        <p:spPr>
          <a:xfrm>
            <a:off x="1417320" y="349300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49300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Assign a book or chapter with a due date and see who finished.</a:t>
            </a:r>
            <a:endParaRPr lang="en-US" sz="1250" dirty="0"/>
          </a:p>
        </p:txBody>
      </p:sp>
      <p:sp>
        <p:nvSpPr>
          <p:cNvPr id="30" name="Shape 27"/>
          <p:cNvSpPr/>
          <p:nvPr/>
        </p:nvSpPr>
        <p:spPr>
          <a:xfrm>
            <a:off x="1417320" y="427939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27939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5065776"/>
            <a:ext cx="685800" cy="676656"/>
          </a:xfrm>
          <a:prstGeom prst="rect">
            <a:avLst/>
          </a:prstGeom>
          <a:solidFill>
            <a:srgbClr val="E3B51E"/>
          </a:solidFill>
          <a:ln w="25400">
            <a:solidFill>
              <a:srgbClr val="1E1208"/>
            </a:solidFill>
            <a:prstDash val="solid"/>
          </a:ln>
        </p:spPr>
      </p:sp>
      <p:sp>
        <p:nvSpPr>
          <p:cNvPr id="36" name="Text 33"/>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506577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0" name="Shape 37"/>
          <p:cNvSpPr/>
          <p:nvPr/>
        </p:nvSpPr>
        <p:spPr>
          <a:xfrm>
            <a:off x="1417320" y="5989320"/>
            <a:ext cx="9509760" cy="502920"/>
          </a:xfrm>
          <a:prstGeom prst="rect">
            <a:avLst/>
          </a:prstGeom>
          <a:solidFill>
            <a:srgbClr val="1E1208"/>
          </a:solidFill>
          <a:ln/>
        </p:spPr>
      </p:sp>
      <p:sp>
        <p:nvSpPr>
          <p:cNvPr id="41" name="Text 38"/>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Assess Ja. Schools do not upload books.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1E1208"/>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FFFFFF"/>
                </a:solidFill>
                <a:latin typeface="Impact" pitchFamily="34" charset="0"/>
                <a:ea typeface="Impact" pitchFamily="34" charset="-122"/>
                <a:cs typeface="Impact" pitchFamily="34" charset="-120"/>
              </a:rPr>
              <a:t>3</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PLAY</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FFFFFF"/>
                </a:solidFill>
                <a:latin typeface="Arial" pitchFamily="34" charset="0"/>
                <a:ea typeface="Arial" pitchFamily="34" charset="-122"/>
                <a:cs typeface="Arial" pitchFamily="34" charset="-120"/>
              </a:rPr>
              <a:t>Make practice fun.</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Quick classroom games and challenges that make practice something students want to do. Games and exams are kept apart: Smart Play never holds a school's official results.</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Duels, live quizzes, boards and team games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Points, streaks, badges and class leaderboards</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Questions from the same topic list as lessons and tests</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students and teachers.</a:t>
            </a:r>
            <a:endParaRPr lang="en-US" sz="1200" dirty="0"/>
          </a:p>
        </p:txBody>
      </p:sp>
      <p:sp>
        <p:nvSpPr>
          <p:cNvPr id="27" name="Shape 24"/>
          <p:cNvSpPr/>
          <p:nvPr/>
        </p:nvSpPr>
        <p:spPr>
          <a:xfrm>
            <a:off x="9006840" y="5824728"/>
            <a:ext cx="1920240" cy="310896"/>
          </a:xfrm>
          <a:prstGeom prst="rect">
            <a:avLst/>
          </a:prstGeom>
          <a:solidFill>
            <a:srgbClr val="FDFDFB"/>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PLAY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ENGAGE AND REINFORCE LEARNING</a:t>
            </a:r>
            <a:endParaRPr lang="en-US" sz="46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96596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1E1208"/>
          </a:solidFill>
          <a:ln/>
        </p:spPr>
      </p:sp>
      <p:sp>
        <p:nvSpPr>
          <p:cNvPr id="19" name="Text 16"/>
          <p:cNvSpPr/>
          <p:nvPr/>
        </p:nvSpPr>
        <p:spPr>
          <a:xfrm>
            <a:off x="16002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96596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1E1208"/>
          </a:solidFill>
          <a:ln/>
        </p:spPr>
      </p:sp>
      <p:sp>
        <p:nvSpPr>
          <p:cNvPr id="23" name="Text 20"/>
          <p:cNvSpPr/>
          <p:nvPr/>
        </p:nvSpPr>
        <p:spPr>
          <a:xfrm>
            <a:off x="48006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96596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1E1208"/>
          </a:solidFill>
          <a:ln/>
        </p:spPr>
      </p:sp>
      <p:sp>
        <p:nvSpPr>
          <p:cNvPr id="27" name="Text 24"/>
          <p:cNvSpPr/>
          <p:nvPr/>
        </p:nvSpPr>
        <p:spPr>
          <a:xfrm>
            <a:off x="80010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84048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840480"/>
            <a:ext cx="3017520" cy="109728"/>
          </a:xfrm>
          <a:prstGeom prst="rect">
            <a:avLst/>
          </a:prstGeom>
          <a:solidFill>
            <a:srgbClr val="1E1208"/>
          </a:solidFill>
          <a:ln/>
        </p:spPr>
      </p:sp>
      <p:sp>
        <p:nvSpPr>
          <p:cNvPr id="31" name="Text 28"/>
          <p:cNvSpPr/>
          <p:nvPr/>
        </p:nvSpPr>
        <p:spPr>
          <a:xfrm>
            <a:off x="16002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84048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840480"/>
            <a:ext cx="3017520" cy="109728"/>
          </a:xfrm>
          <a:prstGeom prst="rect">
            <a:avLst/>
          </a:prstGeom>
          <a:solidFill>
            <a:srgbClr val="1E1208"/>
          </a:solidFill>
          <a:ln/>
        </p:spPr>
      </p:sp>
      <p:sp>
        <p:nvSpPr>
          <p:cNvPr id="35" name="Text 32"/>
          <p:cNvSpPr/>
          <p:nvPr/>
        </p:nvSpPr>
        <p:spPr>
          <a:xfrm>
            <a:off x="48006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teams pull a rope by answering questions.</a:t>
            </a:r>
            <a:endParaRPr lang="en-US" sz="1250" dirty="0"/>
          </a:p>
        </p:txBody>
      </p:sp>
      <p:sp>
        <p:nvSpPr>
          <p:cNvPr id="37" name="Shape 34"/>
          <p:cNvSpPr/>
          <p:nvPr/>
        </p:nvSpPr>
        <p:spPr>
          <a:xfrm>
            <a:off x="7818120" y="384048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840480"/>
            <a:ext cx="3017520" cy="109728"/>
          </a:xfrm>
          <a:prstGeom prst="rect">
            <a:avLst/>
          </a:prstGeom>
          <a:solidFill>
            <a:srgbClr val="1E1208"/>
          </a:solidFill>
          <a:ln/>
        </p:spPr>
      </p:sp>
      <p:sp>
        <p:nvSpPr>
          <p:cNvPr id="39" name="Text 36"/>
          <p:cNvSpPr/>
          <p:nvPr/>
        </p:nvSpPr>
        <p:spPr>
          <a:xfrm>
            <a:off x="80010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
        <p:nvSpPr>
          <p:cNvPr id="41" name="Shape 38"/>
          <p:cNvSpPr/>
          <p:nvPr/>
        </p:nvSpPr>
        <p:spPr>
          <a:xfrm>
            <a:off x="1417320" y="5852160"/>
            <a:ext cx="9509760" cy="502920"/>
          </a:xfrm>
          <a:prstGeom prst="rect">
            <a:avLst/>
          </a:prstGeom>
          <a:solidFill>
            <a:srgbClr val="1E1208"/>
          </a:solidFill>
          <a:ln/>
        </p:spPr>
      </p:sp>
      <p:sp>
        <p:nvSpPr>
          <p:cNvPr id="42" name="Text 39"/>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Quick, fun practice. It never holds the school's official results.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JOINED UP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ASSESS, LEARN, PRACTISE, IMPROVE, ASSESS AGAIN</a:t>
            </a:r>
            <a:endParaRPr lang="en-US" sz="4100" dirty="0"/>
          </a:p>
        </p:txBody>
      </p:sp>
      <p:sp>
        <p:nvSpPr>
          <p:cNvPr id="15" name="Shape 12"/>
          <p:cNvSpPr/>
          <p:nvPr/>
        </p:nvSpPr>
        <p:spPr>
          <a:xfrm>
            <a:off x="1417320" y="228600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28600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28600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28600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28600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75488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754880"/>
            <a:ext cx="9052560" cy="9601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BUILT AROUND YOUR ROLES</a:t>
            </a:r>
            <a:endParaRPr lang="en-US" sz="1150" dirty="0"/>
          </a:p>
        </p:txBody>
      </p:sp>
      <p:sp>
        <p:nvSpPr>
          <p:cNvPr id="14" name="Text 11"/>
          <p:cNvSpPr/>
          <p:nvPr/>
        </p:nvSpPr>
        <p:spPr>
          <a:xfrm>
            <a:off x="1417320" y="777240"/>
            <a:ext cx="9509760" cy="109728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600" dirty="0"/>
          </a:p>
        </p:txBody>
      </p:sp>
      <p:sp>
        <p:nvSpPr>
          <p:cNvPr id="15" name="Shape 12"/>
          <p:cNvSpPr/>
          <p:nvPr/>
        </p:nvSpPr>
        <p:spPr>
          <a:xfrm>
            <a:off x="1417320" y="228600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28600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28600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28600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28600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28600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LANDSCAPE</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STRONG TOOLS. DIFFERENT JOBS.</a:t>
            </a:r>
            <a:endParaRPr lang="en-US" sz="4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1417320" y="1783080"/>
          <a:ext cx="9509760" cy="914400"/>
        </p:xfrm>
        <a:graphic>
          <a:graphicData uri="http://schemas.openxmlformats.org/drawingml/2006/table">
            <a:tbl>
              <a:tblPr/>
              <a:tblGrid>
                <a:gridCol w="1737360"/>
                <a:gridCol w="4206240"/>
                <a:gridCol w="3566160"/>
              </a:tblGrid>
              <a:tr h="347472">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WHAT A SCHOOL NEEDS</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HOW THE COMMON TOOLS HANDLE IT</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1050" b="1" dirty="0">
                          <a:solidFill>
                            <a:srgbClr val="1E1208"/>
                          </a:solidFill>
                          <a:latin typeface="Courier New" pitchFamily="34" charset="0"/>
                          <a:ea typeface="Courier New" pitchFamily="34" charset="-122"/>
                          <a:cs typeface="Courier New" pitchFamily="34" charset="-120"/>
                        </a:rPr>
                        <a:t>SMART ASSESS JA</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D4762A"/>
                    </a:solidFill>
                  </a:tcPr>
                </a:tc>
              </a:tr>
              <a:tr h="868680">
                <a:tc>
                  <a:txBody>
                    <a:bodyPr/>
                    <a:lstStyle/>
                    <a:p>
                      <a:pPr indent="0" marL="0">
                        <a:buNone/>
                      </a:pPr>
                      <a:r>
                        <a:rPr lang="en-US" sz="1250" b="1" dirty="0">
                          <a:solidFill>
                            <a:srgbClr val="1E1208"/>
                          </a:solidFill>
                          <a:latin typeface="Arial" pitchFamily="34" charset="0"/>
                          <a:ea typeface="Arial" pitchFamily="34" charset="-122"/>
                          <a:cs typeface="Arial" pitchFamily="34" charset="-120"/>
                        </a:rPr>
                        <a:t>Secure exams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Each has its own lock-down. Google needs managed Chromebooks, Microsoft the Windows Take a Test app, Moodle Safe Exam Browser, Canvas a third-party browser.</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Built in, plus a lock-down desktop app for Windows and Mac</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685800">
                <a:tc>
                  <a:txBody>
                    <a:bodyPr/>
                    <a:lstStyle/>
                    <a:p>
                      <a:pPr indent="0" marL="0">
                        <a:buNone/>
                      </a:pPr>
                      <a:r>
                        <a:rPr lang="en-US" sz="1250" b="1" dirty="0">
                          <a:solidFill>
                            <a:srgbClr val="1E1208"/>
                          </a:solidFill>
                          <a:latin typeface="Arial" pitchFamily="34" charset="0"/>
                          <a:ea typeface="Arial" pitchFamily="34" charset="-122"/>
                          <a:cs typeface="Arial" pitchFamily="34" charset="-120"/>
                        </a:rPr>
                        <a:t>Marking</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Objective questions auto-mark in all four. Google Classroom imports the grades from Forms.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Auto-marks, plus essay marking points and AI-suggested marks a teacher always edits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640080">
                <a:tc>
                  <a:txBody>
                    <a:bodyPr/>
                    <a:lstStyle/>
                    <a:p>
                      <a:pPr indent="0" marL="0">
                        <a:buNone/>
                      </a:pPr>
                      <a:r>
                        <a:rPr lang="en-US" sz="1250" b="1" dirty="0">
                          <a:solidFill>
                            <a:srgbClr val="1E1208"/>
                          </a:solidFill>
                          <a:latin typeface="Arial" pitchFamily="34" charset="0"/>
                          <a:ea typeface="Arial" pitchFamily="34" charset="-122"/>
                          <a:cs typeface="Arial" pitchFamily="34" charset="-120"/>
                        </a:rPr>
                        <a:t>Question-level insight</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Moodle and Canvas report on each question, quiz by quiz.</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Missed questions, the common wrong answer, who needs support, and results by topic</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566928">
                <a:tc>
                  <a:txBody>
                    <a:bodyPr/>
                    <a:lstStyle/>
                    <a:p>
                      <a:pPr indent="0" marL="0">
                        <a:buNone/>
                      </a:pPr>
                      <a:r>
                        <a:rPr lang="en-US" sz="1250" b="1" dirty="0">
                          <a:solidFill>
                            <a:srgbClr val="1E1208"/>
                          </a:solidFill>
                          <a:latin typeface="Arial" pitchFamily="34" charset="0"/>
                          <a:ea typeface="Arial" pitchFamily="34" charset="-122"/>
                          <a:cs typeface="Arial" pitchFamily="34" charset="-120"/>
                        </a:rPr>
                        <a:t>Practice games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Kahoot and Quizizz are built for live games and practice.</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Smart Play, coming soon, shares the school's topic list</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566928">
                <a:tc>
                  <a:txBody>
                    <a:bodyPr/>
                    <a:lstStyle/>
                    <a:p>
                      <a:pPr indent="0" marL="0">
                        <a:buNone/>
                      </a:pPr>
                      <a:r>
                        <a:rPr lang="en-US" sz="1250" b="1" dirty="0">
                          <a:solidFill>
                            <a:srgbClr val="1E1208"/>
                          </a:solidFill>
                          <a:latin typeface="Arial" pitchFamily="34" charset="0"/>
                          <a:ea typeface="Arial" pitchFamily="34" charset="-122"/>
                          <a:cs typeface="Arial" pitchFamily="34" charset="-120"/>
                        </a:rPr>
                        <a:t>One system</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Schools often combine several of these.</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One login, one topic list, plus attendance, timetable and cover</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bl>
          </a:graphicData>
        </a:graphic>
      </p:graphicFrame>
      <p:sp>
        <p:nvSpPr>
          <p:cNvPr id="16" name="Shape 12"/>
          <p:cNvSpPr/>
          <p:nvPr/>
        </p:nvSpPr>
        <p:spPr>
          <a:xfrm>
            <a:off x="1417320" y="5852160"/>
            <a:ext cx="9509760" cy="502920"/>
          </a:xfrm>
          <a:prstGeom prst="rect">
            <a:avLst/>
          </a:prstGeom>
          <a:solidFill>
            <a:srgbClr val="1E1208"/>
          </a:solidFill>
          <a:ln/>
        </p:spPr>
      </p:sp>
      <p:sp>
        <p:nvSpPr>
          <p:cNvPr id="17" name="Text 13"/>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250" b="1" dirty="0">
                <a:solidFill>
                  <a:srgbClr val="FFFFFF"/>
                </a:solidFill>
                <a:latin typeface="Arial" pitchFamily="34" charset="0"/>
                <a:ea typeface="Arial" pitchFamily="34" charset="-122"/>
                <a:cs typeface="Arial" pitchFamily="34" charset="-120"/>
              </a:rPr>
              <a:t>The question is not "can another tool do one of these things?" It is "how many tools and handoffs does the school need?"</a:t>
            </a:r>
            <a:endParaRPr lang="en-US" sz="1250" dirty="0"/>
          </a:p>
        </p:txBody>
      </p:sp>
      <p:sp>
        <p:nvSpPr>
          <p:cNvPr id="18" name="Text 1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Google Classroom, Microsoft Teams, Moodle, Canvas, Kahoot and Quizizz: from public documentation, October 2026. Every school sets them up differently.</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CLARITY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WHAT SMART ASSESS IS NOT</a:t>
            </a:r>
            <a:endParaRPr lang="en-US" sz="5000" dirty="0"/>
          </a:p>
        </p:txBody>
      </p:sp>
      <p:sp>
        <p:nvSpPr>
          <p:cNvPr id="15" name="Shape 12"/>
          <p:cNvSpPr/>
          <p:nvPr/>
        </p:nvSpPr>
        <p:spPr>
          <a:xfrm>
            <a:off x="1417320" y="196596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965960"/>
            <a:ext cx="128016" cy="1783080"/>
          </a:xfrm>
          <a:prstGeom prst="rect">
            <a:avLst/>
          </a:prstGeom>
          <a:solidFill>
            <a:srgbClr val="D4762A"/>
          </a:solidFill>
          <a:ln/>
        </p:spPr>
      </p:sp>
      <p:sp>
        <p:nvSpPr>
          <p:cNvPr id="17" name="Text 14"/>
          <p:cNvSpPr/>
          <p:nvPr/>
        </p:nvSpPr>
        <p:spPr>
          <a:xfrm>
            <a:off x="17830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96596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83080"/>
          </a:xfrm>
          <a:prstGeom prst="rect">
            <a:avLst/>
          </a:prstGeom>
          <a:solidFill>
            <a:srgbClr val="D4762A"/>
          </a:solidFill>
          <a:ln/>
        </p:spPr>
      </p:sp>
      <p:sp>
        <p:nvSpPr>
          <p:cNvPr id="21" name="Text 18"/>
          <p:cNvSpPr/>
          <p:nvPr/>
        </p:nvSpPr>
        <p:spPr>
          <a:xfrm>
            <a:off x="65836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93192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931920"/>
            <a:ext cx="128016" cy="1783080"/>
          </a:xfrm>
          <a:prstGeom prst="rect">
            <a:avLst/>
          </a:prstGeom>
          <a:solidFill>
            <a:srgbClr val="D4762A"/>
          </a:solidFill>
          <a:ln/>
        </p:spPr>
      </p:sp>
      <p:sp>
        <p:nvSpPr>
          <p:cNvPr id="25" name="Text 22"/>
          <p:cNvSpPr/>
          <p:nvPr/>
        </p:nvSpPr>
        <p:spPr>
          <a:xfrm>
            <a:off x="17830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93192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931920"/>
            <a:ext cx="128016" cy="1783080"/>
          </a:xfrm>
          <a:prstGeom prst="rect">
            <a:avLst/>
          </a:prstGeom>
          <a:solidFill>
            <a:srgbClr val="D4762A"/>
          </a:solidFill>
          <a:ln/>
        </p:spPr>
      </p:sp>
      <p:sp>
        <p:nvSpPr>
          <p:cNvPr id="29" name="Text 26"/>
          <p:cNvSpPr/>
          <p:nvPr/>
        </p:nvSpPr>
        <p:spPr>
          <a:xfrm>
            <a:off x="65836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TRUST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TRUST, DATA AND AI WITH A PERSON IN CHARGE</a:t>
            </a:r>
            <a:endParaRPr lang="en-US" sz="4300" dirty="0"/>
          </a:p>
        </p:txBody>
      </p:sp>
      <p:sp>
        <p:nvSpPr>
          <p:cNvPr id="15" name="Shape 12"/>
          <p:cNvSpPr/>
          <p:nvPr/>
        </p:nvSpPr>
        <p:spPr>
          <a:xfrm>
            <a:off x="1417320" y="1965960"/>
            <a:ext cx="4663440" cy="4114800"/>
          </a:xfrm>
          <a:prstGeom prst="rect">
            <a:avLst/>
          </a:prstGeom>
          <a:solidFill>
            <a:srgbClr val="FFFFFF"/>
          </a:solidFill>
          <a:ln w="25400">
            <a:solidFill>
              <a:srgbClr val="1E1208"/>
            </a:solidFill>
            <a:prstDash val="solid"/>
          </a:ln>
        </p:spPr>
      </p:sp>
      <p:sp>
        <p:nvSpPr>
          <p:cNvPr id="16" name="Shape 13"/>
          <p:cNvSpPr/>
          <p:nvPr/>
        </p:nvSpPr>
        <p:spPr>
          <a:xfrm>
            <a:off x="1417320" y="196596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Each school's data lives in its own separate environment</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Access rules are enforced by the database itself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Two-factor sign-in is required for all staff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Handled in line with Jamaica's Data Protection Act</a:t>
            </a:r>
            <a:endParaRPr lang="en-US" sz="1300" dirty="0"/>
          </a:p>
        </p:txBody>
      </p:sp>
      <p:sp>
        <p:nvSpPr>
          <p:cNvPr id="19" name="Shape 16"/>
          <p:cNvSpPr/>
          <p:nvPr/>
        </p:nvSpPr>
        <p:spPr>
          <a:xfrm>
            <a:off x="6217920" y="1965960"/>
            <a:ext cx="4663440" cy="4114800"/>
          </a:xfrm>
          <a:prstGeom prst="rect">
            <a:avLst/>
          </a:prstGeom>
          <a:solidFill>
            <a:srgbClr val="FFFFFF"/>
          </a:solidFill>
          <a:ln w="25400">
            <a:solidFill>
              <a:srgbClr val="1E1208"/>
            </a:solidFill>
            <a:prstDash val="solid"/>
          </a:ln>
        </p:spPr>
      </p:sp>
      <p:sp>
        <p:nvSpPr>
          <p:cNvPr id="20" name="Shape 17"/>
          <p:cNvSpPr/>
          <p:nvPr/>
        </p:nvSpPr>
        <p:spPr>
          <a:xfrm>
            <a:off x="6217920" y="196596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Every suggestion is reviewed by a person before it is used</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is told to use Jamaican examples, the National Standards Curriculum and Vision 2030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 ASKED. WE BUILT.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WHAT YOU TOLD US, AND WHAT IS BUILT</a:t>
            </a:r>
            <a:endParaRPr lang="en-US" sz="4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1417320" y="1508760"/>
          <a:ext cx="9509760" cy="914400"/>
        </p:xfrm>
        <a:graphic>
          <a:graphicData uri="http://schemas.openxmlformats.org/drawingml/2006/table">
            <a:tbl>
              <a:tblPr/>
              <a:tblGrid>
                <a:gridCol w="4206240"/>
                <a:gridCol w="4114800"/>
                <a:gridCol w="11887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Marking takes the most time (8 of 10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Who is struggling, what mistakes are common (8 and 7 of 10)</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What a missed student missed (9 of 10)</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Activities for different ability levels (9 of 10)</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AI-assisted lesson planning (8 of 10)</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Topics I need to improve (9 of 12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Flashcards (7 of 12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Step-by-step explanations (11 of 12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5E lessons and the optional AI tutor, with more to come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PARTLY</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BE9D6"/>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NEXT STEP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A PATHWAY WE CAN SHAPE TOGETHER</a:t>
            </a:r>
            <a:endParaRPr lang="en-US" sz="4800" dirty="0"/>
          </a:p>
        </p:txBody>
      </p:sp>
      <p:sp>
        <p:nvSpPr>
          <p:cNvPr id="15" name="Shape 12"/>
          <p:cNvSpPr/>
          <p:nvPr/>
        </p:nvSpPr>
        <p:spPr>
          <a:xfrm>
            <a:off x="1417320" y="196596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96596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96596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96596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96596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96596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96596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96596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96596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96596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434840"/>
            <a:ext cx="914400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HOW WE WOULD MEASURE SUCCESS</a:t>
            </a:r>
            <a:endParaRPr lang="en-US" sz="1100" dirty="0"/>
          </a:p>
        </p:txBody>
      </p:sp>
      <p:sp>
        <p:nvSpPr>
          <p:cNvPr id="41" name="Shape 38"/>
          <p:cNvSpPr/>
          <p:nvPr/>
        </p:nvSpPr>
        <p:spPr>
          <a:xfrm>
            <a:off x="1417320" y="480060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80060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80060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80060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80060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
        <p:nvSpPr>
          <p:cNvPr id="51" name="Text 48"/>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Scope, timing and measures are decided with you. This is a starting proposal.</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80060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69748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4069080"/>
            <a:ext cx="85953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303520"/>
            <a:ext cx="914400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715000"/>
            <a:ext cx="9144000" cy="731520"/>
          </a:xfrm>
          <a:prstGeom prst="rect">
            <a:avLst/>
          </a:prstGeom>
          <a:noFill/>
          <a:ln/>
        </p:spPr>
        <p:txBody>
          <a:bodyPr wrap="square" lIns="0" tIns="0" rIns="0" bIns="0" rtlCol="0" anchor="t"/>
          <a:lstStyle/>
          <a:p>
            <a:pPr algn="l" indent="0" marL="0">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Smart Assess Ja</cp:lastModifiedBy>
  <cp:revision>1</cp:revision>
  <dcterms:created xsi:type="dcterms:W3CDTF">2026-10-07T14:20:26Z</dcterms:created>
  <dcterms:modified xsi:type="dcterms:W3CDTF">2026-10-07T14:20:26Z</dcterms:modified>
</cp:coreProperties>
</file>